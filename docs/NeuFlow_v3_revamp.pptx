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EPE (px, lower is better)</c:v>
                </c:pt>
              </c:strCache>
            </c:strRef>
          </c:tx>
          <c:spPr>
            <a:solidFill>
              <a:srgbClr val="5B73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2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3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3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FD0C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v2 ref</c:v>
                  </c:pt>
                  <c:pt idx="1">
                    <c:v>grandmix</c:v>
                  </c:pt>
                  <c:pt idx="2">
                    <c:v>big18</c:v>
                  </c:pt>
                  <c:pt idx="3">
                    <c:v>uncG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2.324</c:v>
                </c:pt>
                <c:pt idx="1">
                  <c:v>2.166</c:v>
                </c:pt>
                <c:pt idx="2">
                  <c:v>2.072</c:v>
                </c:pt>
                <c:pt idx="3">
                  <c:v>2.082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2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2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5"/>
          <c:min val="1.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NeuFlow v2 (dense, every call)</c:v>
                </c:pt>
              </c:strCache>
            </c:strRef>
          </c:tx>
          <c:spPr>
            <a:solidFill>
              <a:srgbClr val="5B7386"/>
            </a:solidFill>
            <a:effectLst/>
          </c:spPr>
          <c:invertIfNegative val="0"/>
          <c:dLbls>
            <c:numFmt formatCode="0.0&quot; ms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 query
on a new frame</c:v>
                  </c:pt>
                  <c:pt idx="1">
                    <c:v>Each additional query
on the same frame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19.6</c:v>
                </c:pt>
                <c:pt idx="1">
                  <c:v>19.6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NeuFlow v3 (cached coarse state)</c:v>
                </c:pt>
              </c:strCache>
            </c:strRef>
          </c:tx>
          <c:spPr>
            <a:solidFill>
              <a:srgbClr val="27A3B4"/>
            </a:solidFill>
            <a:effectLst/>
          </c:spPr>
          <c:invertIfNegative val="0"/>
          <c:dLbls>
            <c:numFmt formatCode="0.0&quot; ms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 query
on a new frame</c:v>
                  </c:pt>
                  <c:pt idx="1">
                    <c:v>Each additional query
on the same frame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19.1</c:v>
                </c:pt>
                <c:pt idx="1">
                  <c:v>2.6</c:v>
                </c:pt>
              </c:numCache>
            </c:numRef>
          </c:val>
        </c:ser>
        <c:dLbls>
          <c:numFmt formatCode="0.0&quot; ms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2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2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2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mean error (px)</c:v>
                </c:pt>
              </c:strCache>
            </c:strRef>
          </c:tx>
          <c:spPr>
            <a:solidFill>
              <a:srgbClr val="5FD0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D0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3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3D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bin 1</c:v>
                  </c:pt>
                  <c:pt idx="1">
                    <c:v>bin 2</c:v>
                  </c:pt>
                  <c:pt idx="2">
                    <c:v>bin 3</c:v>
                  </c:pt>
                  <c:pt idx="3">
                    <c:v>bin 4</c:v>
                  </c:pt>
                  <c:pt idx="4">
                    <c:v>bin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</c:v>
                </c:pt>
                <c:pt idx="1">
                  <c:v>0.33</c:v>
                </c:pt>
                <c:pt idx="2">
                  <c:v>0.6</c:v>
                </c:pt>
                <c:pt idx="3">
                  <c:v>1.41</c:v>
                </c:pt>
                <c:pt idx="4">
                  <c:v>7.38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12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2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EPE</c:v>
                </c:pt>
              </c:strCache>
            </c:strRef>
          </c:tx>
          <c:spPr>
            <a:solidFill>
              <a:srgbClr val="5B73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12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3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3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D5C"/>
              </a:solidFill>
              <a:effectLst/>
            </c:spPr>
          </c:dPt>
          <c:cat>
            <c:strRef>
              <c:f>Sheet1!$A$2:$A$4</c:f>
              <c:strCache>
                <c:ptCount val="3"/>
                <c:pt idx="0">
                  <c:v>3 iters
(no distill)</c:v>
                </c:pt>
                <c:pt idx="1">
                  <c:v>3 iters
(distilled)</c:v>
                </c:pt>
                <c:pt idx="2">
                  <c:v>8 iters
(target)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2.52</c:v>
                </c:pt>
                <c:pt idx="1">
                  <c:v>2.398</c:v>
                </c:pt>
                <c:pt idx="2">
                  <c:v>2.072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50" u="none">
                  <a:solidFill>
                    <a:srgbClr val="12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2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2.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98255"/>
            <a:ext cx="27432" cy="27432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3" name="Shape 1"/>
          <p:cNvSpPr/>
          <p:nvPr/>
        </p:nvSpPr>
        <p:spPr>
          <a:xfrm>
            <a:off x="7773595" y="3584335"/>
            <a:ext cx="42317" cy="4231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" name="Shape 2"/>
          <p:cNvSpPr/>
          <p:nvPr/>
        </p:nvSpPr>
        <p:spPr>
          <a:xfrm>
            <a:off x="7097798" y="6411913"/>
            <a:ext cx="38669" cy="38669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117570" y="5965998"/>
            <a:ext cx="46369" cy="4636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91795" y="1288011"/>
            <a:ext cx="55423" cy="55423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7" name="Shape 5"/>
          <p:cNvSpPr/>
          <p:nvPr/>
        </p:nvSpPr>
        <p:spPr>
          <a:xfrm>
            <a:off x="10322733" y="2967684"/>
            <a:ext cx="53786" cy="53786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8" name="Shape 6"/>
          <p:cNvSpPr/>
          <p:nvPr/>
        </p:nvSpPr>
        <p:spPr>
          <a:xfrm>
            <a:off x="3258968" y="5091446"/>
            <a:ext cx="27553" cy="27553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7553831" y="5465676"/>
            <a:ext cx="68935" cy="68935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0" name="Shape 8"/>
          <p:cNvSpPr/>
          <p:nvPr/>
        </p:nvSpPr>
        <p:spPr>
          <a:xfrm>
            <a:off x="7431198" y="1661278"/>
            <a:ext cx="57668" cy="5766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1" name="Shape 9"/>
          <p:cNvSpPr/>
          <p:nvPr/>
        </p:nvSpPr>
        <p:spPr>
          <a:xfrm>
            <a:off x="5003269" y="4224023"/>
            <a:ext cx="42920" cy="4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52438" y="1172034"/>
            <a:ext cx="38931" cy="38931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109" y="6463080"/>
            <a:ext cx="49198" cy="4919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84246" y="3558681"/>
            <a:ext cx="29126" cy="2912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2903" y="5050058"/>
            <a:ext cx="34325" cy="34325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3411" y="4813031"/>
            <a:ext cx="30196" cy="30196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035625" y="2842435"/>
            <a:ext cx="28855" cy="28855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18" name="Shape 16"/>
          <p:cNvSpPr/>
          <p:nvPr/>
        </p:nvSpPr>
        <p:spPr>
          <a:xfrm>
            <a:off x="8716707" y="3265055"/>
            <a:ext cx="72978" cy="7297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9" name="Shape 17"/>
          <p:cNvSpPr/>
          <p:nvPr/>
        </p:nvSpPr>
        <p:spPr>
          <a:xfrm>
            <a:off x="7527801" y="6414595"/>
            <a:ext cx="72093" cy="72093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9997" y="5848016"/>
            <a:ext cx="58838" cy="5883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3553537" y="1421711"/>
            <a:ext cx="41726" cy="41726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2" name="Shape 20"/>
          <p:cNvSpPr/>
          <p:nvPr/>
        </p:nvSpPr>
        <p:spPr>
          <a:xfrm>
            <a:off x="9816784" y="3714081"/>
            <a:ext cx="53721" cy="53721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23" name="Shape 21"/>
          <p:cNvSpPr/>
          <p:nvPr/>
        </p:nvSpPr>
        <p:spPr>
          <a:xfrm>
            <a:off x="4175169" y="1498936"/>
            <a:ext cx="50499" cy="5049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1709" y="2970278"/>
            <a:ext cx="37883" cy="37883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5" name="Shape 23"/>
          <p:cNvSpPr/>
          <p:nvPr/>
        </p:nvSpPr>
        <p:spPr>
          <a:xfrm>
            <a:off x="399912" y="5281750"/>
            <a:ext cx="52114" cy="52114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25075" y="6383935"/>
            <a:ext cx="29649" cy="2964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8453" y="2457135"/>
            <a:ext cx="43349" cy="43349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40285" y="1195312"/>
            <a:ext cx="54603" cy="54603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9" name="Shape 27"/>
          <p:cNvSpPr/>
          <p:nvPr/>
        </p:nvSpPr>
        <p:spPr>
          <a:xfrm>
            <a:off x="3676225" y="4340190"/>
            <a:ext cx="65325" cy="6532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8886312" y="2048844"/>
            <a:ext cx="37217" cy="3721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1" name="Shape 29"/>
          <p:cNvSpPr/>
          <p:nvPr/>
        </p:nvSpPr>
        <p:spPr>
          <a:xfrm>
            <a:off x="9105123" y="952889"/>
            <a:ext cx="72409" cy="72409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2" name="Shape 30"/>
          <p:cNvSpPr/>
          <p:nvPr/>
        </p:nvSpPr>
        <p:spPr>
          <a:xfrm>
            <a:off x="3700559" y="2007127"/>
            <a:ext cx="36453" cy="36453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33" name="Shape 31"/>
          <p:cNvSpPr/>
          <p:nvPr/>
        </p:nvSpPr>
        <p:spPr>
          <a:xfrm>
            <a:off x="1835851" y="3893704"/>
            <a:ext cx="69897" cy="6989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0268" y="3188927"/>
            <a:ext cx="33344" cy="33344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5" name="Shape 33"/>
          <p:cNvSpPr/>
          <p:nvPr/>
        </p:nvSpPr>
        <p:spPr>
          <a:xfrm>
            <a:off x="4304426" y="3456775"/>
            <a:ext cx="36126" cy="3612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807036" y="4501565"/>
            <a:ext cx="37224" cy="37224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7" name="Shape 35"/>
          <p:cNvSpPr/>
          <p:nvPr/>
        </p:nvSpPr>
        <p:spPr>
          <a:xfrm>
            <a:off x="2036866" y="5415544"/>
            <a:ext cx="66319" cy="66319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38" name="Shape 36"/>
          <p:cNvSpPr/>
          <p:nvPr/>
        </p:nvSpPr>
        <p:spPr>
          <a:xfrm>
            <a:off x="7610559" y="1606111"/>
            <a:ext cx="45300" cy="453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32212" y="435163"/>
            <a:ext cx="39280" cy="39280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94670" y="5242083"/>
            <a:ext cx="58118" cy="5811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2136" y="895936"/>
            <a:ext cx="31803" cy="31803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8631857" y="4394301"/>
            <a:ext cx="51621" cy="51621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43" name="Shape 41"/>
          <p:cNvSpPr/>
          <p:nvPr/>
        </p:nvSpPr>
        <p:spPr>
          <a:xfrm>
            <a:off x="8067855" y="4218294"/>
            <a:ext cx="61459" cy="61459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4" name="Shape 42"/>
          <p:cNvSpPr/>
          <p:nvPr/>
        </p:nvSpPr>
        <p:spPr>
          <a:xfrm>
            <a:off x="4963562" y="2958466"/>
            <a:ext cx="43621" cy="43621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1788747" y="5218339"/>
            <a:ext cx="56752" cy="56752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6" name="Shape 44"/>
          <p:cNvSpPr/>
          <p:nvPr/>
        </p:nvSpPr>
        <p:spPr>
          <a:xfrm>
            <a:off x="3162877" y="1250038"/>
            <a:ext cx="70753" cy="70753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7" name="Shape 45"/>
          <p:cNvSpPr/>
          <p:nvPr/>
        </p:nvSpPr>
        <p:spPr>
          <a:xfrm>
            <a:off x="1701093" y="2354905"/>
            <a:ext cx="33342" cy="33342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48" name="Shape 46"/>
          <p:cNvSpPr/>
          <p:nvPr/>
        </p:nvSpPr>
        <p:spPr>
          <a:xfrm>
            <a:off x="1959097" y="2001427"/>
            <a:ext cx="50999" cy="50999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51172" y="3993815"/>
            <a:ext cx="44570" cy="44570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0" name="Shape 48"/>
          <p:cNvSpPr/>
          <p:nvPr/>
        </p:nvSpPr>
        <p:spPr>
          <a:xfrm>
            <a:off x="9612500" y="4089505"/>
            <a:ext cx="50379" cy="5037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1" name="Shape 49"/>
          <p:cNvSpPr/>
          <p:nvPr/>
        </p:nvSpPr>
        <p:spPr>
          <a:xfrm>
            <a:off x="7001069" y="4055945"/>
            <a:ext cx="32437" cy="3243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2" name="Shape 50"/>
          <p:cNvSpPr/>
          <p:nvPr/>
        </p:nvSpPr>
        <p:spPr>
          <a:xfrm>
            <a:off x="3152400" y="2373899"/>
            <a:ext cx="32082" cy="32082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53" name="Shape 51"/>
          <p:cNvSpPr/>
          <p:nvPr/>
        </p:nvSpPr>
        <p:spPr>
          <a:xfrm>
            <a:off x="2045596" y="565820"/>
            <a:ext cx="37326" cy="3732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4" name="Shape 52"/>
          <p:cNvSpPr/>
          <p:nvPr/>
        </p:nvSpPr>
        <p:spPr>
          <a:xfrm>
            <a:off x="9313551" y="5900131"/>
            <a:ext cx="53623" cy="53623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31043" y="1961228"/>
            <a:ext cx="32178" cy="3217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6" name="Shape 54"/>
          <p:cNvSpPr/>
          <p:nvPr/>
        </p:nvSpPr>
        <p:spPr>
          <a:xfrm>
            <a:off x="3412524" y="951072"/>
            <a:ext cx="35834" cy="3583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10373327" y="2783172"/>
            <a:ext cx="31447" cy="31447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58" name="Shape 56"/>
          <p:cNvSpPr/>
          <p:nvPr/>
        </p:nvSpPr>
        <p:spPr>
          <a:xfrm>
            <a:off x="944490" y="5983541"/>
            <a:ext cx="55395" cy="55395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9" name="Shape 57"/>
          <p:cNvSpPr/>
          <p:nvPr/>
        </p:nvSpPr>
        <p:spPr>
          <a:xfrm>
            <a:off x="8586329" y="2262530"/>
            <a:ext cx="49758" cy="4975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Shape 58"/>
          <p:cNvSpPr/>
          <p:nvPr/>
        </p:nvSpPr>
        <p:spPr>
          <a:xfrm>
            <a:off x="7518523" y="4024640"/>
            <a:ext cx="28044" cy="28044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61" name="Shape 59"/>
          <p:cNvSpPr/>
          <p:nvPr/>
        </p:nvSpPr>
        <p:spPr>
          <a:xfrm>
            <a:off x="9861525" y="4537234"/>
            <a:ext cx="33437" cy="3343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428012" y="3714984"/>
            <a:ext cx="45169" cy="45169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63" name="Shape 61"/>
          <p:cNvSpPr/>
          <p:nvPr/>
        </p:nvSpPr>
        <p:spPr>
          <a:xfrm>
            <a:off x="7339518" y="498422"/>
            <a:ext cx="45370" cy="45370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64" name="Shape 62"/>
          <p:cNvSpPr/>
          <p:nvPr/>
        </p:nvSpPr>
        <p:spPr>
          <a:xfrm>
            <a:off x="5387360" y="2320579"/>
            <a:ext cx="62218" cy="6221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65" name="Shape 63"/>
          <p:cNvSpPr/>
          <p:nvPr/>
        </p:nvSpPr>
        <p:spPr>
          <a:xfrm>
            <a:off x="8692400" y="4781792"/>
            <a:ext cx="33425" cy="3342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6" name="Shape 64"/>
          <p:cNvSpPr/>
          <p:nvPr/>
        </p:nvSpPr>
        <p:spPr>
          <a:xfrm>
            <a:off x="11197768" y="3876958"/>
            <a:ext cx="38024" cy="38024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67" name="Shape 65"/>
          <p:cNvSpPr/>
          <p:nvPr/>
        </p:nvSpPr>
        <p:spPr>
          <a:xfrm>
            <a:off x="2343804" y="867024"/>
            <a:ext cx="35925" cy="35925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68" name="Shape 66"/>
          <p:cNvSpPr/>
          <p:nvPr/>
        </p:nvSpPr>
        <p:spPr>
          <a:xfrm>
            <a:off x="4038285" y="569983"/>
            <a:ext cx="41706" cy="4170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9" name="Shape 67"/>
          <p:cNvSpPr/>
          <p:nvPr/>
        </p:nvSpPr>
        <p:spPr>
          <a:xfrm>
            <a:off x="1496983" y="2583940"/>
            <a:ext cx="44161" cy="44161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70" name="Shape 68"/>
          <p:cNvSpPr/>
          <p:nvPr/>
        </p:nvSpPr>
        <p:spPr>
          <a:xfrm>
            <a:off x="4411807" y="3125698"/>
            <a:ext cx="48168" cy="4816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71" name="Shape 69"/>
          <p:cNvSpPr/>
          <p:nvPr/>
        </p:nvSpPr>
        <p:spPr>
          <a:xfrm>
            <a:off x="2770328" y="5343972"/>
            <a:ext cx="47456" cy="47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2" name="Shape 70"/>
          <p:cNvSpPr/>
          <p:nvPr/>
        </p:nvSpPr>
        <p:spPr>
          <a:xfrm>
            <a:off x="0" y="2331720"/>
            <a:ext cx="12161520" cy="2194560"/>
          </a:xfrm>
          <a:prstGeom prst="rect">
            <a:avLst/>
          </a:prstGeom>
          <a:solidFill>
            <a:srgbClr val="F4F8FA">
              <a:alpha val="9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40080" y="23317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NeuFlow v3</a:t>
            </a:r>
            <a:endParaRPr lang="en-US" sz="6000" dirty="0"/>
          </a:p>
        </p:txBody>
      </p:sp>
      <p:sp>
        <p:nvSpPr>
          <p:cNvPr id="74" name="Text 72"/>
          <p:cNvSpPr/>
          <p:nvPr/>
        </p:nvSpPr>
        <p:spPr>
          <a:xfrm>
            <a:off x="658368" y="34015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optical flow for edge robotics</a:t>
            </a:r>
            <a:endParaRPr lang="en-US" sz="2400" dirty="0"/>
          </a:p>
        </p:txBody>
      </p:sp>
      <p:sp>
        <p:nvSpPr>
          <p:cNvPr id="75" name="Text 73"/>
          <p:cNvSpPr/>
          <p:nvPr/>
        </p:nvSpPr>
        <p:spPr>
          <a:xfrm>
            <a:off x="658368" y="40416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frozen NeuFlow v2 backbone + an implicit decoder that answers flow queries at arbitrary (x, y) coordinates in O(N), not O(H×W).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658368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Shriman Raghav Srinivasan</a:t>
            </a:r>
            <a:pPr algn="l" indent="0" marL="0">
              <a:buNone/>
            </a:pPr>
            <a:r>
              <a:rPr lang="en-US" sz="14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MS Robotics, Northeastern University   ·   Field Robotics 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tasks never use most of a dense flow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gives the motion of every pixel from frame t to t+1. Today's networks always emit the full map at a fixed resolution — even when the task wants a handful of points.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340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608076" y="2793492"/>
            <a:ext cx="137160" cy="13716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791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 </a:t>
            </a:r>
            <a:pPr algn="l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correspondences at self-chosen corners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" y="3360420"/>
            <a:ext cx="137160" cy="13716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461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tracking  </a:t>
            </a:r>
            <a:pPr algn="l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only at feature points, frame to frame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" y="3927348"/>
            <a:ext cx="137160" cy="13716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1304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Mosaicking  </a:t>
            </a:r>
            <a:pPr algn="l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 overlap regions, at sub-pixel positions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3659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 GPU, computing 479,232 values to use 800 of them
</a:t>
            </a:r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difference between real time and not.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1572768"/>
            <a:ext cx="5166360" cy="4279392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572768"/>
            <a:ext cx="516636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5727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24231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in v2 that understands motion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backbone, matching, refinement —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42900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only the last stage. 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 upsampler that always builds the full map, use a decoder that returns flow at whatever coordinates you ask for.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4892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queries — </a:t>
            </a:r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image area  </a:t>
            </a:r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O(H×W)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THE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NeuFlow v2: real-time flow, kept frozen and untouched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0F3D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37460" y="2103120"/>
            <a:ext cx="237744" cy="274320"/>
          </a:xfrm>
          <a:prstGeom prst="chevron">
            <a:avLst/>
          </a:prstGeom>
          <a:solidFill>
            <a:srgbClr val="E9A23B"/>
          </a:solidFill>
          <a:ln/>
        </p:spPr>
      </p:sp>
      <p:sp>
        <p:nvSpPr>
          <p:cNvPr id="7" name="Shape 5"/>
          <p:cNvSpPr/>
          <p:nvPr/>
        </p:nvSpPr>
        <p:spPr>
          <a:xfrm>
            <a:off x="2779776" y="178308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0F3D5C"/>
          </a:solidFill>
          <a:ln/>
        </p:spPr>
      </p:sp>
      <p:sp>
        <p:nvSpPr>
          <p:cNvPr id="8" name="Text 6"/>
          <p:cNvSpPr/>
          <p:nvPr/>
        </p:nvSpPr>
        <p:spPr>
          <a:xfrm>
            <a:off x="2779776" y="17830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 · 1/16 feats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68596" y="2103120"/>
            <a:ext cx="237744" cy="274320"/>
          </a:xfrm>
          <a:prstGeom prst="chevron">
            <a:avLst/>
          </a:prstGeom>
          <a:solidFill>
            <a:srgbClr val="E9A23B"/>
          </a:solidFill>
          <a:ln/>
        </p:spPr>
      </p:sp>
      <p:sp>
        <p:nvSpPr>
          <p:cNvPr id="10" name="Shape 8"/>
          <p:cNvSpPr/>
          <p:nvPr/>
        </p:nvSpPr>
        <p:spPr>
          <a:xfrm>
            <a:off x="5010912" y="178308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0F3D5C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7830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global match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99732" y="2103120"/>
            <a:ext cx="237744" cy="274320"/>
          </a:xfrm>
          <a:prstGeom prst="chevron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7242048" y="178308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0F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7242048" y="17830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 (1/16) · ×8 (1/8)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30868" y="2103120"/>
            <a:ext cx="237744" cy="274320"/>
          </a:xfrm>
          <a:prstGeom prst="chevron">
            <a:avLst/>
          </a:prstGeom>
          <a:solidFill>
            <a:srgbClr val="E9A23B"/>
          </a:solidFill>
          <a:ln/>
        </p:spPr>
      </p:sp>
      <p:sp>
        <p:nvSpPr>
          <p:cNvPr id="16" name="Shape 14"/>
          <p:cNvSpPr/>
          <p:nvPr/>
        </p:nvSpPr>
        <p:spPr>
          <a:xfrm>
            <a:off x="9473184" y="178308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9473184" y="17830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flow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 resolution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8163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above is frozen in v3 — identical weights, identical computation. v3 inherits v2's matching quality by construction.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CNN — features at 1/8 and 1/16 scale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+ global matching at 1/16 for the initial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recurrent refinement: 1 iteration at 1/16, 8 at 1/8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937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convex upsampler — the one stage v3 replaces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0" y="3383280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ALONE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9.03 M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223760" y="44074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05088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 ms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705088" y="44074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 pair (V100)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86416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2.324 px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186416" y="44074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EPE, Virtual KITTI 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23760" y="5029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limit: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and cost are fixed at design time — no cheap way to ask a smaller question, no way to ask a finer one.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Gupta, Jiang, Singh · arXiv:2408.10161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THE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queryable decoder in place of the upsampler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23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outputs softmax weights over a 3×3 neighborhood of the coarse flow plus a bilinear candidate. The output is a bounded convex blend — it cannot hallucinate large flow. Zero-initialized, so an untrained decoder reproduces plain bilinear upsampling exactly (2.476 px EPE, step 0).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64408"/>
            <a:ext cx="237744" cy="237744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API  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infer_coarse_state() once per pair, decode_queries() per batch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237744" cy="237744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2219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 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output matches dense at the same points to 0.00 px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507992"/>
            <a:ext cx="237744" cy="237744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4398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 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7.83 M params vs v2's 9.03 M — despite adding the capability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155448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EE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8288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ONCE per image pair  (~16–17 ms)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21351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coarse, feats = v2_pipeline(img0, img1)   # frozen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24414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27477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QUERY BATCH  (~2.6 ms, up to ~2k pts)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3054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(x, y) in queries:      # continuous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33604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   = sample(feats, x, y)   # bilinear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20840" y="36667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w,b  = head(f)               # softmax +b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20840" y="39730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 = 3x3 coarse window + bilinear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flow = sum(w * cand)  # bounded blend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20840" y="45857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flow, b          # b = per-query error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20840" y="5440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construction · continuous coords · optional confidence 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END-TO-END DATAFLOW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query becomes flow: the full v3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55680" cy="1874520"/>
          </a:xfrm>
          <a:prstGeom prst="roundRect">
            <a:avLst>
              <a:gd name="adj" fmla="val 4390"/>
            </a:avLst>
          </a:prstGeom>
          <a:solidFill>
            <a:srgbClr val="EAF3F6"/>
          </a:solidFill>
          <a:ln w="12700">
            <a:solidFill>
              <a:srgbClr val="C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</a:t>
            </a:r>
            <a:pPr algn="l" indent="0" marL="0">
              <a:buNone/>
            </a:pPr>
            <a:r>
              <a:rPr lang="en-US" sz="12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once per image pair  (~17 ms, frozen v2, cached)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2148840" cy="1051560"/>
          </a:xfrm>
          <a:prstGeom prst="roundRect">
            <a:avLst>
              <a:gd name="adj" fmla="val 6087"/>
            </a:avLst>
          </a:prstGeom>
          <a:solidFill>
            <a:srgbClr val="0F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128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pair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883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img0, img1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9232" y="2610612"/>
            <a:ext cx="51206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84448" y="2084832"/>
            <a:ext cx="2148840" cy="1051560"/>
          </a:xfrm>
          <a:prstGeom prst="roundRect">
            <a:avLst>
              <a:gd name="adj" fmla="val 6087"/>
            </a:avLst>
          </a:prstGeom>
          <a:solidFill>
            <a:srgbClr val="0F3D5C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22128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v2</a:t>
            </a:r>
            <a:endParaRPr lang="en-US" sz="14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4448" y="26883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feats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1/8 · 1/16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2610612"/>
            <a:ext cx="51206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91656" y="2084832"/>
            <a:ext cx="2148840" cy="1051560"/>
          </a:xfrm>
          <a:prstGeom prst="roundRect">
            <a:avLst>
              <a:gd name="adj" fmla="val 6087"/>
            </a:avLst>
          </a:prstGeom>
          <a:solidFill>
            <a:srgbClr val="0F3D5C"/>
          </a:solidFill>
          <a:ln/>
        </p:spPr>
      </p:sp>
      <p:sp>
        <p:nvSpPr>
          <p:cNvPr id="15" name="Text 13"/>
          <p:cNvSpPr/>
          <p:nvPr/>
        </p:nvSpPr>
        <p:spPr>
          <a:xfrm>
            <a:off x="6391656" y="22128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+</a:t>
            </a:r>
            <a:endParaRPr lang="en-US" sz="14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91656" y="26883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cross-attn,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8× recurrent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13648" y="2610612"/>
            <a:ext cx="51206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98864" y="2084832"/>
            <a:ext cx="2148840" cy="1051560"/>
          </a:xfrm>
          <a:prstGeom prst="roundRect">
            <a:avLst>
              <a:gd name="adj" fmla="val 6087"/>
            </a:avLst>
          </a:prstGeom>
          <a:solidFill>
            <a:srgbClr val="E9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9198864" y="22128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flow</a:t>
            </a:r>
            <a:endParaRPr lang="en-US" sz="14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98864" y="26883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4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4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972800" y="3355848"/>
            <a:ext cx="0" cy="566928"/>
          </a:xfrm>
          <a:prstGeom prst="line">
            <a:avLst/>
          </a:prstGeom>
          <a:noFill/>
          <a:ln w="28575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869680" y="3401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— reused by</a:t>
            </a:r>
            <a:endParaRPr lang="en-US" sz="1000" dirty="0"/>
          </a:p>
          <a:p>
            <a:pPr algn="r"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no recompute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11155680" cy="2148840"/>
          </a:xfrm>
          <a:prstGeom prst="roundRect">
            <a:avLst>
              <a:gd name="adj" fmla="val 3830"/>
            </a:avLst>
          </a:prstGeom>
          <a:solidFill>
            <a:srgbClr val="F0FAF8"/>
          </a:solidFill>
          <a:ln w="12700">
            <a:solidFill>
              <a:srgbClr val="CBE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330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</a:t>
            </a:r>
            <a:pPr algn="l" indent="0" marL="0">
              <a:buNone/>
            </a:pPr>
            <a:r>
              <a:rPr lang="en-US" sz="12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 query batch  (~2.6 ms for up to ~2,000 points, O(N))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" y="4709160"/>
            <a:ext cx="1947672" cy="1097280"/>
          </a:xfrm>
          <a:prstGeom prst="roundRect">
            <a:avLst>
              <a:gd name="adj" fmla="val 5833"/>
            </a:avLst>
          </a:prstGeom>
          <a:solidFill>
            <a:srgbClr val="27A3B4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855464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(x, y)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808" y="533095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continuous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 · N free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15768" y="5257800"/>
            <a:ext cx="23774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971800" y="4709160"/>
            <a:ext cx="1947672" cy="1097280"/>
          </a:xfrm>
          <a:prstGeom prst="roundRect">
            <a:avLst>
              <a:gd name="adj" fmla="val 5833"/>
            </a:avLst>
          </a:prstGeom>
          <a:solidFill>
            <a:srgbClr val="27A3B4"/>
          </a:solidFill>
          <a:ln/>
        </p:spPr>
      </p:sp>
      <p:sp>
        <p:nvSpPr>
          <p:cNvPr id="30" name="Text 28"/>
          <p:cNvSpPr/>
          <p:nvPr/>
        </p:nvSpPr>
        <p:spPr>
          <a:xfrm>
            <a:off x="2971800" y="4855464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3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971800" y="533095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bilinear, 4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sources, 260-d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5257800"/>
            <a:ext cx="23774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93792" y="4709160"/>
            <a:ext cx="1947672" cy="1097280"/>
          </a:xfrm>
          <a:prstGeom prst="roundRect">
            <a:avLst>
              <a:gd name="adj" fmla="val 5833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193792" y="4855464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head</a:t>
            </a:r>
            <a:endParaRPr lang="en-US" sz="13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193792" y="533095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 w + b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3×3 + bilin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59752" y="5257800"/>
            <a:ext cx="23774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15784" y="4709160"/>
            <a:ext cx="1947672" cy="1097280"/>
          </a:xfrm>
          <a:prstGeom prst="roundRect">
            <a:avLst>
              <a:gd name="adj" fmla="val 5833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7415784" y="4855464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3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415784" y="533095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w·candidates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9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can't overshoot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381744" y="5257800"/>
            <a:ext cx="23774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37776" y="4709160"/>
            <a:ext cx="1947672" cy="1097280"/>
          </a:xfrm>
          <a:prstGeom prst="roundRect">
            <a:avLst>
              <a:gd name="adj" fmla="val 5833"/>
            </a:avLst>
          </a:prstGeom>
          <a:solidFill>
            <a:srgbClr val="5FD0C4"/>
          </a:solidFill>
          <a:ln/>
        </p:spPr>
      </p:sp>
      <p:sp>
        <p:nvSpPr>
          <p:cNvPr id="42" name="Text 40"/>
          <p:cNvSpPr/>
          <p:nvPr/>
        </p:nvSpPr>
        <p:spPr>
          <a:xfrm>
            <a:off x="9637776" y="4855464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b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637776" y="533095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24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per-point flow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24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confidence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5176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the cached state feed the sampler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6160" y="3355848"/>
            <a:ext cx="0" cy="1316736"/>
          </a:xfrm>
          <a:prstGeom prst="line">
            <a:avLst/>
          </a:prstGeom>
          <a:noFill/>
          <a:ln w="28575">
            <a:solidFill>
              <a:srgbClr val="9BC3CF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48640" y="63276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backbone pass, then cheap repeated queries.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coarse state is computed once and cached; each query is an O(N) decode against it, so asking 5 more points costs ~2.6 ms, not another full pass.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ACCURACY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HPC checkpoint beats v2 on mean EPE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783080"/>
            <a:ext cx="4343400" cy="1874520"/>
          </a:xfrm>
          <a:prstGeom prst="roundRect">
            <a:avLst>
              <a:gd name="adj" fmla="val 4878"/>
            </a:avLst>
          </a:prstGeom>
          <a:solidFill>
            <a:srgbClr val="E4F4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920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2.072 px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498080" y="26974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big18 — best to date.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better EPE than v2, at batch 16 / 100K steps. Scale was a real lever, not noise.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69480" y="3886200"/>
            <a:ext cx="4343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023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39912" y="40233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27464" y="40233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15016" y="40233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52360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39912" y="44805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2.324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427464" y="44805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415016" y="44805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52360" y="4937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big18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439912" y="49377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2.072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427464" y="49377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77.02%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415016" y="49377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89.91%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452360" y="5394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439912" y="53949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427464" y="53949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77.51%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415016" y="53949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90.02%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5742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grandmix</a:t>
            </a:r>
            <a:pPr algn="l" indent="0" marL="0">
              <a:buNone/>
            </a:pPr>
            <a:r>
              <a:rPr lang="en-US" sz="10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FlyingChairs + Virtual KITTI 2 + MPI Sintel      </a:t>
            </a:r>
            <a:pPr algn="l" indent="0" marL="0">
              <a:buNone/>
            </a:pPr>
            <a:r>
              <a:rPr lang="en-US" sz="1050" b="1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big18</a:t>
            </a:r>
            <a:pPr algn="l" indent="0" marL="0">
              <a:buNone/>
            </a:pPr>
            <a:r>
              <a:rPr lang="en-US" sz="10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FlyingChairs + Virtual KITTI 2      </a:t>
            </a:r>
            <a:pPr algn="l" indent="0" marL="0">
              <a:buNone/>
            </a:pPr>
            <a:r>
              <a:rPr lang="en-US" sz="1050" b="1" dirty="0">
                <a:solidFill>
                  <a:srgbClr val="02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uncG</a:t>
            </a:r>
            <a:pPr algn="l" indent="0" marL="0">
              <a:buNone/>
            </a:pPr>
            <a:r>
              <a:rPr lang="en-US" sz="105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big18 mix + uncertainty head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uncG beats v2 on 3px accuracy (90.02 vs 89.8); 1px gap down to 0.09 pts.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SPEED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argument: v2 pays full price on every call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96596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4F4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2103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8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~7.3×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68096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every repeat query — v2 has no cached state to reuse and must redo the full dense pass.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52360" y="384048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same V100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42976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query at parity: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 vs 19.6 ms
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cost flat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N=800 and N=2048 (2.6 ms)
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Dense-fast (stride 2):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 FPS vs v2 5.8 FPS (~7.9×)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is not "6% better EPE" — it is that v3 pays once per frame, then answers follow-ups from cache. This directly answers the lab's original objection.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A CAPABILITY V2 CANNOT EXPRESS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calibrated per-query confidence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decoder output — a per-query error scale b, trained with a self-calibrating Laplace loss (|err|/b + log b). Binning 2.35 M points by predicted b, real error rises monotonically. The confidence output is not noise.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3063240"/>
          <a:ext cx="56692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52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confidence bin  (low b → high b)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46520" y="265176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E4F4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28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0.38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Pearson, predicted b vs real error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6446520" y="4206240"/>
            <a:ext cx="5166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431596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contribution,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accuracy: real error climbs 0.22 → 7.38 px across bins, clean and monotonic. v2 cannot express per-point confidence at all.
</a:t>
            </a:r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auxiliary loss also regularizes the main flow output (uncG's edge). Single run — not yet proven.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REFINEMENT SELF-DISTILLATION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 helps, but not enough end-to-end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532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8-iteration refinement loop is 59% of pipeline runtime, yet iterations 5–8 barely move the answer. Retrained only the refinement module — teacher = the model itself, no ground truth — so 3 iterations approach 8. Measured in isolation it looked strong; measured end-to-end through the real decoder, most of the gain disappeared.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3246120"/>
          <a:ext cx="5623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324612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ECECE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33101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pPr algn="l" indent="0" marL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the gap closed, end-to-end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675120" y="3886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 of 0.448 px recovered end-to-end. The result, 2.398 px, still lands below v2 (2.324).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4617720"/>
            <a:ext cx="5166360" cy="1280160"/>
          </a:xfrm>
          <a:prstGeom prst="roundRect">
            <a:avLst>
              <a:gd name="adj" fmla="val 7143"/>
            </a:avLst>
          </a:prstGeom>
          <a:solidFill>
            <a:srgbClr val="FBEBD0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473659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9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lesson.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isolated coarse-flow test claimed 87.5%. End-to-end through a trained decoder, only 27% held. Deployable only if the decoder is retrained at 3 iterations — not done. Reported as a negative.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 ·  HOW QUERIES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in practice: any N, and how training picks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120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model.infer_coarse_state(img0, img1)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once per pair, ~17 ms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 = model.decode_queries(state, coords=q)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q: [B,N,2] -&gt; [B,N,2]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is one continuous (x, y) — sub-pixel positions are valid. Decode cost is flat at ~2.6 ms for up to ~2,000 queries per call.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53619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ranges from 1 to the full frame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901952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5FD0C4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19019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96912" y="190195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GUI click   </a:t>
            </a:r>
            <a:pPr algn="l" indent="0" marL="0">
              <a:buNone/>
            </a:pPr>
            <a:r>
              <a:rPr lang="en-US" sz="1150" dirty="0">
                <a:solidFill>
                  <a:srgbClr val="5B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 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240030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27A3B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4003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54112" y="240030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demo   </a:t>
            </a:r>
            <a:pPr algn="l" indent="0" marL="0">
              <a:buNone/>
            </a:pPr>
            <a:r>
              <a:rPr lang="en-US" sz="1150" dirty="0">
                <a:solidFill>
                  <a:srgbClr val="5B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 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289864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2898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2,048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11312" y="289864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sweet spot   </a:t>
            </a:r>
            <a:pPr algn="l" indent="0" marL="0">
              <a:buNone/>
            </a:pPr>
            <a:r>
              <a:rPr lang="en-US" sz="1150" dirty="0">
                <a:solidFill>
                  <a:srgbClr val="5B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 ms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396996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5B7386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396996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479,232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14232" y="3396996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dense frame   </a:t>
            </a:r>
            <a:pPr algn="l" indent="0" marL="0">
              <a:buNone/>
            </a:pPr>
            <a:r>
              <a:rPr lang="en-US" sz="1150" dirty="0">
                <a:solidFill>
                  <a:srgbClr val="5B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~293 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1F6F8"/>
          </a:solidFill>
          <a:ln w="12700">
            <a:solidFill>
              <a:srgbClr val="CD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23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QUERIES ARE CHOSEN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61288" y="44074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 per image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3493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training step supervises 4,096 query points on a 256×512 crop — 3.1% of the crop's pixels. Enough signal to train the head cheaply; the decoder never sees a full dense map at train time.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43484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18888" y="44074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boundaries, 50% uniform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5029200"/>
            <a:ext cx="3493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points are drawn at motion boundaries (a weight map built from the coarse-flow gradient, sampled by torch.multinomial), half uniformly at random. Boundaries are where flow is hardest and error concentrates — so supervision is spent where it matters.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09244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76488" y="44074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coarse-flow window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92440" y="5029200"/>
            <a:ext cx="3493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reads the 3×3 neighborhood of 1/8-res coarse flow around its cell. At 8× upsampling one coarse cell covers an 8×8 pixel block, so the true flow of any full-res pixel lies inside the convex hull of that cell + its 8 neighbors. The head blends those 9 (+ a bilinear candidate) — bounded by design.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 ·  WORKING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GUI, and a live run on public video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E7F1F5"/>
          </a:solidFill>
          <a:ln w="12700">
            <a:solidFill>
              <a:srgbClr val="C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167128"/>
            <a:ext cx="237744" cy="237744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query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queries over a dense overlay with magnitude legend; drag-select a region to decode only inside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E7F1F5"/>
          </a:solidFill>
          <a:ln w="12700">
            <a:solidFill>
              <a:srgbClr val="C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2167128"/>
            <a:ext cx="237744" cy="237744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motion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boxes moving regions straight from the coarse flow — ego-motion subtracted, zero extra decode cost.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E7F1F5"/>
          </a:solidFill>
          <a:ln w="12700">
            <a:solidFill>
              <a:srgbClr val="C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30768" y="2167128"/>
            <a:ext cx="237744" cy="237744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v3 ↔ v2 in place: v2 recomputes the full map every interaction; v3 reuses the cached coarse state.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4F4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17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28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29.8 FPS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end-to-end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4114800" y="4709160"/>
            <a:ext cx="0" cy="91440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45720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consecutive frame pairs of a public 640×360 YouTube highway video, processed live in the GUI with motion boxes on moving vehicles. GPU memory stays flat — one cached backbone state serves every interaction.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three goals stand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v2 accuracy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72768" y="239572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5FD0C4"/>
          </a:solidFill>
          <a:ln/>
        </p:spPr>
      </p:sp>
      <p:sp>
        <p:nvSpPr>
          <p:cNvPr id="9" name="Text 7"/>
          <p:cNvSpPr/>
          <p:nvPr/>
        </p:nvSpPr>
        <p:spPr>
          <a:xfrm>
            <a:off x="1572768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1883664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EPE 2.072 vs 2.324 (11% better, big18). 3px now beats v2 (90.02 vs 89.8, uncG). 1px gap nearly closed (0.09 pts).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566160"/>
            <a:ext cx="566928" cy="566928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3364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compute, edge-viable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572768" y="385876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5FD0C4"/>
          </a:solidFill>
          <a:ln/>
        </p:spPr>
      </p:sp>
      <p:sp>
        <p:nvSpPr>
          <p:cNvPr id="16" name="Text 14"/>
          <p:cNvSpPr/>
          <p:nvPr/>
        </p:nvSpPr>
        <p:spPr>
          <a:xfrm>
            <a:off x="1572768" y="3858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(sparse)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3346704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query at parity on V100 (19.1 vs 19.6 ms); every additional query on the same frame ~7× cheaper — v2 has no cached state.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029200"/>
            <a:ext cx="566928" cy="566928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54480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what v2 cannot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572768" y="532180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5FD0C4"/>
          </a:solidFill>
          <a:ln/>
        </p:spPr>
      </p:sp>
      <p:sp>
        <p:nvSpPr>
          <p:cNvPr id="23" name="Text 21"/>
          <p:cNvSpPr/>
          <p:nvPr/>
        </p:nvSpPr>
        <p:spPr>
          <a:xfrm>
            <a:off x="1572768" y="5321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4809744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Continuous-coordinate queries, output at any resolution, sparse = dense exactly, an interactive tool, and a calibrated per-query confidence signal.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yet proven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749808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accuracy 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but not fully closed on every checkpoint — grandmix still trails v2 by 1.35 pts; only uncG reaches within noise.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96896"/>
            <a:ext cx="146304" cy="749808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9689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 confound 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grandmix (FlyingChairs + Virtual KITTI 2 + MPI Sintel) was the fair-comparison attempt but scored below big18. Not closed until v2 is retrained on the same mixture.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146304" cy="749808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56432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claim 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uncG's apparent main-accuracy gain from the auxiliary loss is a single run — could be seed noise. Needs a repeat.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315968"/>
            <a:ext cx="146304" cy="749808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15968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edge-device data 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speed number is RTX 4060 / V100. No Jetson or embedded measurement exists yet.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175504"/>
            <a:ext cx="146304" cy="749808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7550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truncated 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at 70K of 100K steps by the 8-h wall (2.080 EPE, strong). Never reached final LR anneal; the 4K-resolution query test has not run.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work, and two requests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distilled refinement with a trained decoder, evaluate end-to-end.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99008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 Spring from step 70K to reach full 100K; run the 4K-GT query test only a queryable decoder can take.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92277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uncertainty-head run to test whether its accuracy gain is real or seed noise.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85546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v2 on the grand-mix data to fully close the training-data confound.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16459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1 — HPC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22128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runs (Spring resume, v2 retrain, repeat run) are 6–8 h jobs, done on Explorer so far. Continued access closes every open item above.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379476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E4F4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959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2 — Lab survey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4361688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SeaBED AUV / UAV survey sequences (overlapping frames, slow motion, GPS/IMU tags) are exactly what this targets: sparse, on-demand correspondences at chosen points — not full dense flow over a whole seafloor mosaic.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NeuFlow v3  ·  S. Raghav Srinivasan  ·  Field Robotics Lab, Northeastern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2681" y="5671213"/>
            <a:ext cx="27432" cy="27432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3" name="Shape 1"/>
          <p:cNvSpPr/>
          <p:nvPr/>
        </p:nvSpPr>
        <p:spPr>
          <a:xfrm>
            <a:off x="4087114" y="3270434"/>
            <a:ext cx="44575" cy="44575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" name="Shape 2"/>
          <p:cNvSpPr/>
          <p:nvPr/>
        </p:nvSpPr>
        <p:spPr>
          <a:xfrm>
            <a:off x="2614273" y="6411913"/>
            <a:ext cx="59764" cy="59764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" name="Shape 3"/>
          <p:cNvSpPr/>
          <p:nvPr/>
        </p:nvSpPr>
        <p:spPr>
          <a:xfrm>
            <a:off x="7693101" y="4370050"/>
            <a:ext cx="69225" cy="6922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448800" y="5539075"/>
            <a:ext cx="68662" cy="68662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7" name="Shape 5"/>
          <p:cNvSpPr/>
          <p:nvPr/>
        </p:nvSpPr>
        <p:spPr>
          <a:xfrm>
            <a:off x="11230606" y="2818291"/>
            <a:ext cx="60698" cy="6069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8" name="Shape 6"/>
          <p:cNvSpPr/>
          <p:nvPr/>
        </p:nvSpPr>
        <p:spPr>
          <a:xfrm>
            <a:off x="4133822" y="2554689"/>
            <a:ext cx="71257" cy="71257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4275732" y="2407603"/>
            <a:ext cx="40252" cy="40252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0" name="Shape 8"/>
          <p:cNvSpPr/>
          <p:nvPr/>
        </p:nvSpPr>
        <p:spPr>
          <a:xfrm>
            <a:off x="2086377" y="4081083"/>
            <a:ext cx="45895" cy="45895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11" name="Shape 9"/>
          <p:cNvSpPr/>
          <p:nvPr/>
        </p:nvSpPr>
        <p:spPr>
          <a:xfrm>
            <a:off x="2020721" y="6229757"/>
            <a:ext cx="41353" cy="41353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6650" y="3143425"/>
            <a:ext cx="65028" cy="65028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60586" y="1997678"/>
            <a:ext cx="56386" cy="56386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9997" y="3671733"/>
            <a:ext cx="54640" cy="54640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8217" y="3184590"/>
            <a:ext cx="48209" cy="48209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57515" y="6277222"/>
            <a:ext cx="68257" cy="6825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62" y="986447"/>
            <a:ext cx="67499" cy="6749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7297333" y="2736501"/>
            <a:ext cx="39408" cy="39408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62311" y="2315628"/>
            <a:ext cx="55327" cy="5532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438250" y="4295575"/>
            <a:ext cx="33845" cy="3384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5450" y="5126545"/>
            <a:ext cx="62380" cy="62380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777550" y="4617893"/>
            <a:ext cx="33446" cy="33446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88774" y="3141753"/>
            <a:ext cx="55489" cy="5548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328310" y="2964351"/>
            <a:ext cx="35082" cy="35082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5" name="Shape 23"/>
          <p:cNvSpPr/>
          <p:nvPr/>
        </p:nvSpPr>
        <p:spPr>
          <a:xfrm>
            <a:off x="8904200" y="2950643"/>
            <a:ext cx="27801" cy="27801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6" name="Shape 24"/>
          <p:cNvSpPr/>
          <p:nvPr/>
        </p:nvSpPr>
        <p:spPr>
          <a:xfrm>
            <a:off x="7079307" y="3057338"/>
            <a:ext cx="29367" cy="29367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28010" y="2172381"/>
            <a:ext cx="27805" cy="27805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5294" y="4171965"/>
            <a:ext cx="40566" cy="40566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29" name="Shape 27"/>
          <p:cNvSpPr/>
          <p:nvPr/>
        </p:nvSpPr>
        <p:spPr>
          <a:xfrm>
            <a:off x="5656751" y="1204898"/>
            <a:ext cx="43916" cy="439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65332" y="4784912"/>
            <a:ext cx="68237" cy="68237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31" name="Shape 29"/>
          <p:cNvSpPr/>
          <p:nvPr/>
        </p:nvSpPr>
        <p:spPr>
          <a:xfrm>
            <a:off x="8067855" y="432182"/>
            <a:ext cx="47606" cy="47606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2" name="Shape 30"/>
          <p:cNvSpPr/>
          <p:nvPr/>
        </p:nvSpPr>
        <p:spPr>
          <a:xfrm>
            <a:off x="3036124" y="6127703"/>
            <a:ext cx="64195" cy="6419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11769996" y="6079425"/>
            <a:ext cx="28361" cy="28361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4" name="Shape 32"/>
          <p:cNvSpPr/>
          <p:nvPr/>
        </p:nvSpPr>
        <p:spPr>
          <a:xfrm>
            <a:off x="9655641" y="2067480"/>
            <a:ext cx="30401" cy="30401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35" name="Shape 33"/>
          <p:cNvSpPr/>
          <p:nvPr/>
        </p:nvSpPr>
        <p:spPr>
          <a:xfrm>
            <a:off x="6524886" y="5218339"/>
            <a:ext cx="40082" cy="4008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8539732" y="625018"/>
            <a:ext cx="53635" cy="53635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8850" y="4997744"/>
            <a:ext cx="50867" cy="5086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38" name="Shape 36"/>
          <p:cNvSpPr/>
          <p:nvPr/>
        </p:nvSpPr>
        <p:spPr>
          <a:xfrm>
            <a:off x="9321548" y="2568986"/>
            <a:ext cx="39671" cy="39671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16574" y="4752924"/>
            <a:ext cx="53873" cy="53873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637241" y="2103274"/>
            <a:ext cx="61837" cy="61837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1" name="Shape 39"/>
          <p:cNvSpPr/>
          <p:nvPr/>
        </p:nvSpPr>
        <p:spPr>
          <a:xfrm>
            <a:off x="7780742" y="3300407"/>
            <a:ext cx="63195" cy="6319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7419754" y="5932766"/>
            <a:ext cx="56556" cy="56556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43" name="Shape 41"/>
          <p:cNvSpPr/>
          <p:nvPr/>
        </p:nvSpPr>
        <p:spPr>
          <a:xfrm>
            <a:off x="6461772" y="1374500"/>
            <a:ext cx="63671" cy="63671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4" name="Shape 42"/>
          <p:cNvSpPr/>
          <p:nvPr/>
        </p:nvSpPr>
        <p:spPr>
          <a:xfrm>
            <a:off x="774209" y="2850610"/>
            <a:ext cx="29443" cy="29443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2097776" y="1990466"/>
            <a:ext cx="56775" cy="56775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6" name="Shape 44"/>
          <p:cNvSpPr/>
          <p:nvPr/>
        </p:nvSpPr>
        <p:spPr>
          <a:xfrm>
            <a:off x="8938023" y="1330285"/>
            <a:ext cx="63205" cy="63205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836364" y="1731204"/>
            <a:ext cx="48802" cy="4880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97768" y="473991"/>
            <a:ext cx="61154" cy="61154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51847" y="2413457"/>
            <a:ext cx="39962" cy="39962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0" name="Shape 48"/>
          <p:cNvSpPr/>
          <p:nvPr/>
        </p:nvSpPr>
        <p:spPr>
          <a:xfrm>
            <a:off x="7751916" y="4062581"/>
            <a:ext cx="43250" cy="43250"/>
          </a:xfrm>
          <a:prstGeom prst="ellipse">
            <a:avLst/>
          </a:prstGeom>
          <a:solidFill>
            <a:srgbClr val="27A3B4"/>
          </a:solidFill>
          <a:ln/>
        </p:spPr>
      </p:sp>
      <p:sp>
        <p:nvSpPr>
          <p:cNvPr id="51" name="Shape 49"/>
          <p:cNvSpPr/>
          <p:nvPr/>
        </p:nvSpPr>
        <p:spPr>
          <a:xfrm>
            <a:off x="2239093" y="3149742"/>
            <a:ext cx="30769" cy="30769"/>
          </a:xfrm>
          <a:prstGeom prst="ellipse">
            <a:avLst/>
          </a:prstGeom>
          <a:solidFill>
            <a:srgbClr val="CFE6EE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233172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backbone pass. Correspondences on demand,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points you choose, at any resolution.</a:t>
            </a:r>
            <a:endParaRPr lang="en-US" sz="3400" dirty="0"/>
          </a:p>
        </p:txBody>
      </p:sp>
      <p:sp>
        <p:nvSpPr>
          <p:cNvPr id="53" name="Text 51"/>
          <p:cNvSpPr/>
          <p:nvPr/>
        </p:nvSpPr>
        <p:spPr>
          <a:xfrm>
            <a:off x="749808" y="4023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better EPE than v2  ·  </a:t>
            </a:r>
            <a:pPr algn="l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3px accuracy beats v2  ·  </a:t>
            </a:r>
            <a:pPr algn="l" indent="0" marL="0">
              <a:buNone/>
            </a:pPr>
            <a:r>
              <a:rPr lang="en-US" sz="1500" b="1" dirty="0">
                <a:solidFill>
                  <a:srgbClr val="02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~7× cheaper repeat queries  ·  </a:t>
            </a:r>
            <a:pPr algn="l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 v2 can't express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49808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Shriman Raghav Srinivasan   ·   github.com/shrirag10/Neuflowv3   ·   Field Robotics Lab, Northeastern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2026-07-26T19:10:07Z</dcterms:created>
  <dcterms:modified xsi:type="dcterms:W3CDTF">2026-07-26T19:10:07Z</dcterms:modified>
</cp:coreProperties>
</file>