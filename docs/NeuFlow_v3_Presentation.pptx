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replaced NeuFlow v2's fixed upsampler with a decoder you can query at any coordinate. The headline is that this buys three capabilities v2 cannot express, and costs 2.6 percent of mean accuracy. I will show you both sides. The result I would most like your reaction to is selective accuracy, which is slide eleven, so I will keep the earlier material tight.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with the situation rather than the network. A drone or a fast vehicle has a millisecond budget per frame and a dense flow field does not fit in it. So it flows only the region that matters. Three situations it meets. First, something worth tracking enters the field of view. Second, the platform turns and that region now overlaps a second object. Third, a new object appears in a frame you are already part way through processing. On the right is what the model actually computes: flow inside the marked regions only. Everything in this deck is in service of that third case, which is the one a dense network cannot answer cheaply.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modern flow network computes a displacement for every pixel at one fixed resolution, and that contract is rarely questioned. It forecloses two things the platform on the last slide needs. It cannot be asked for a position between pixels, and it cannot be asked a second question about a frame it has already processed without paying for the whole thing again. On top of that, the consumers that matter here select a few hundred points themselves and discard the rest. On a small GPU that waste is the difference between real time and not.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question, stated precisely. Not whether I can build a better flow network, but whether the final stage of a real-time one can be made queryable, and what that costs. The approach is to keep everything that understands motion frozen and change only the output, so that any difference you see is attributable to one thing.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is confined to the last stage. Phase one is v2 exactly as published, run once and cached. Phase two takes a coordinate, samples feature windows around it, and predicts weights that blend the nine neighbouring coarse flow values plus a bilinear sample. Because it is a convex blend it cannot hallucinate motion. And because phase one is cached, asking a second question about the same frame is cheap. That caching turns out to be the property that matters most, and it is the second of the two foreclosures from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make the rest of the deck interpretable. First, the front end is frozen and I verify per checkpoint that all 137 shared tensors are bit-identical to v2, so any difference you see is the decoder and nothing else. Second, both evaluation scenes are held out of every training set, checked at pair and frame level before each run. The zero-initialisation property is worth noting too: an untrained decoder is exactly bilinear upsampling, so it starts from a known-good operating point.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central cost, and I am leading with it rather than burying it. Every v3 configuration is less accurate than the baseline on mean end-point error. The best is 2.384 against 2.324, so 2.6 percent worse. The like-for-like comparison, trained on FlyingChairs alone as v2 was trained on FlyingThings alone, is 7.6 percent behind. The model is 13 percent smaller, which is worth something but does not excuse it. Four slides on, the same model is more than twice as accurate as v2 over most of the frame, once it is allowed to abstain. That is the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the cost actually sits. On one-pixel accuracy v3 is below v2 in every configuration. Mean error partly hides it, because v3 makes fewer catastrophic errors, which drags the average down while it is less exact on the majority of pixels. I know the mechanism: the decoder's finest input is at one-eighth resolution, so inside an eight by eight cell it is looking at almost the same evidence wherever you query, while the v2 upsampler reads the full-resolution frame directly. I tested the competing explanation, that it was simply missing positional information, by adding a Fourier encoding. It changed nothing, which rules that out.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speed I want to be precise about which claim I am making. Dense output is ten percent slower than v2, and that mode is not what the decoder is for. A first sparse query is level with v2, because 96 percent of the cost is the coarse pass, which both share and which cannot be skipped since global matching needs the whole image. The win is repeat access. Asking a second question about a frame you have already processed costs 1.25 milliseconds against 33.3, because v2 keeps no state and has to redo everything. Anything that revisits a frame gets that: iterative registration, RANSAC refinement, an operator inspecting a scene. That is structural, not a margin.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 predicts an error scale for every query alongside the flow itself, trained under a Laplace likelihood. When you bin queries by predicted uncertainty, actual error rises monotonically across all five bins, from 0.48 pixels in the most confident to 7.10 in the least, a fifteen-fold span, over 2.35 million queries. It is not perfectly correlated, r is 0.318, but it is clearly informative and directly usable: weight correspondences, drop unreliable ones, or send more queries where the model is unsure. v2 has no equivalent output, so there is nothing to compare against.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most like your reaction to. The accuracy table earlier reports mean error over every pixel, which is the only operating point v2 has, because it cannot tell you which of its outputs to trust. v3 can, so instead of a point it has a curve. Discard the least confident fifth and error on what remains falls to 1.06 pixels against v2's 2.32 over the whole frame. More than twice as accurate over eighty percent of the image. Keep only the most confident fifth and it is 0.48. Why this is not a statistical trick: for registration and mapping you are choosing a few hundred points anyway, so declining to answer where the model is unsure costs you nothing you would otherwise have used.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flowing only a region actually buys. Keep full resolution, process fourteen percent of the frame, and it costs thirty-four thousandths of a pixel. That is the enabling result for the whole scenario. The margin is the part worth dwelling on. Without one, error jumps sixty-five percent and a quarter of the large-motion pixels fail completely, because this network finds large displacement using attention over the whole image and a tight crop takes that away. I should be clear that this applies to any flow network including v2 unchanged. It is a platform technique, not something my decoder provides. What the decoder adds comes two slides from here.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know whether the margin rule was a curve fitted to one dataset or something more general, so I tested it on aerial sequences, which move very differently: nine point three pixels per frame against twenty-six point six for driving. The prediction was that the required margin should scale with motion, so the knee should move from thirty-two pixels down to about nine. It did. On the left the two need different absolute margins. On the right, divided by mean motion, both start at the same penalty and both have lost most of it by the point where the margin equals one frame of motion. I will be precise about the limits: the agreement is good up to that point and residuals differ beyond it, so this predicts the scale rather than the exact curve. That is still enough to size a margin from speed and frame rate before running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third situation from the opening slide, and the one result specific to this architecture rather than to cropping. A frame is already in flight when a new object enters the field of view. Because the coarse pass is cached, answering costs one point seven milliseconds. A cropped pipeline cannot reuse anything, since the new object is outside its box, so it runs a whole new pass at seven point three milliseconds, four times more, and the answer is worse, three point six pixels against two point one, because a fresh crop has lost the surrounding context. v2 keeps no state at all between calls. The general point is that this buys the ability to answer a question you did not know you would have when the frame arrived, which on a moving platform is most of them.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result I did not expect, and I am putting it last in the evidence because it is the cleanest. Everything else in this deck is measured on driving sequences, and v3 trained on driving data while v2 did not, which is a confound I have flagged throughout. Aerial data is neutral ground: neither model has seen anything like it. On that neutral ground v3 comes out ahead at all seven margin settings. Appendix E has the same three situations from the opening slide in that domain, with the region geometry and decoder configuration held identical, if anyone wants to see them. The likely reason v3 leads is that the decoder saw three datasets where v2 saw one, and the convex head is bounded so it cannot invent motion its inputs do not support, which should degrade more gracefully out of domain. I want to be careful about how much weight this carries: the margins are small, it is forty pairs and one seed, and v3 is still slightly worse on the large-motion pixels. What makes it worth showing is that it is consistent across seven independent settings.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the contribution. It is an operating point, not a leaderboard position. For an application that consumes one complete dense field per frame and nothing else, v2 remains the correct choice and I will say so plainly: it is more accurate and ten percent faster in that mode. The decoder earns its place when the consumer picks its own points, revisits a frame, needs a position between pixels, or needs a confidence value. And the selective prediction result reframes the whole accuracy comparison, because mean error over all pixels is exactly the metric a model without confidence is stuck with.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stated plainly rather than buried. The accuracy gap is structural: the decoder never sees full-resolution features. Three separate experiments returned null for the same reason, which is what makes me confident in the diagnosis rather than merely suspicious. Sub-pixel querying is thinner than it sounds for the same reason: the interface is exact but the extra information recoverable between pixels is small until the decoder gets full-resolution input. There is no embedded measurement at all, so the word edge is a design target. And one seed per configuration, so please do not read much into differences below about five hundredths of a pixel.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conclusions. Queryable output is affordable: arbitrary continuous coordinates for 2.6 percent of mean accuracy, from a smaller model. Confidence is worth more than the mean, because abstaining on a fifth of queries more than halves the error on the rest. And the region margin a fast platform needs is predictable from speed and frame rate before any flow is computed. The next experiment is the full-resolution stem, which is the direct attack on the one gap I have not closed. I will stop there. Are there questions or feedback?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 this builds on. NeuFlow v2 is the baseline and the frozen front end, and it comes from this lab. AnyFlow is where the convex-weight formulation comes from, the part that stops the decoder predicting motion its inputs do not support. InfiniDepth is where the gated multi-scale fusion comes from. Kendall and Gal is the uncertainty loss. Virtual KITTI 2 and TartanAir are the two evaluation datasets.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two calls: one coarse pass per frame pair, then as many decode calls as you like against it. The plot shows decode cost is flat between 800 and 2,048 queries, which tells you it is dominated by kernel launch overhead rather than arithmetic, so you get two thousand points for the price of eight hundred. Above about ten thousand points it becomes compute bound and dense mode is the better choice.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tool, not a mock-up. Load a video, step to a frame, drag a box, and it computes flow in that box. Query mode runs the full coarse pass and decodes only inside the box, which is exact. Crop mode feeds just the box through the whole pipeline, so cost scales with the area requested but it loses the surrounding context that global matching uses. The panel shows the actual breakdown live, including the parts where v3 is not the faster option.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scorecard against what I set out to do, and two of three are not met. Better accuracy: not met. Less compute: partly, dense is slower, a first query is level, but repeat queries are twenty-seven times cheaper. Edge capable: unproven, everything is on a laptop 4060. What the project does deliver is the three things at the bottom, and those are measured.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questions I expect, with the answers on a slide rather than recalled under pressure. The first is the one I most want to get right: the pixel grid is a sampling decision, not a property of the motion, so asking for a position between pixels is a well-posed request even though the current decoder answers it less fully than I would like. The last one is the honest summary of the whole project: 2.6 percent is not worth paying for nothing, and it is worth paying for the three capabilities on the scorecard.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situations on aerial data, held here rather than in the main line because it is context rather than a claim. Region geometry and decoder configuration are identical to the driving figure; only the domain changes. Two things to notice. The flow inside each region is much closer to uniform than in the driving frames, because a drone rotating through a static scene produces near-constant displacement over a small window. And no model in this study trained on this imagery, which is exactly what makes the seven-margin comparison on slide fifteen the cleanest number in the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1691640"/>
            <a:ext cx="10820095" cy="2103120"/>
          </a:xfrm>
          <a:prstGeom prst="rect">
            <a:avLst/>
          </a:prstGeom>
          <a:noFill/>
        </p:spPr>
        <p:txBody>
          <a:bodyPr wrap="square" lIns="0" rIns="0" tIns="0" bIns="0">
            <a:spAutoFit/>
          </a:bodyPr>
          <a:lstStyle/>
          <a:p>
            <a:pPr algn="l">
              <a:lnSpc>
                <a:spcPct val="122000"/>
              </a:lnSpc>
            </a:pPr>
            <a:r>
              <a:rPr sz="3200" b="1">
                <a:solidFill>
                  <a:srgbClr val="1A1A1A"/>
                </a:solidFill>
                <a:latin typeface="DejaVu Serif"/>
              </a:rPr>
              <a:t>Optical flow you can query:</a:t>
            </a:r>
          </a:p>
          <a:p>
            <a:pPr algn="l">
              <a:lnSpc>
                <a:spcPct val="122000"/>
              </a:lnSpc>
            </a:pPr>
            <a:r>
              <a:rPr sz="3200" b="1">
                <a:solidFill>
                  <a:srgbClr val="1A1A1A"/>
                </a:solidFill>
                <a:latin typeface="DejaVu Serif"/>
              </a:rPr>
              <a:t>calibrated confidence and 27x cheaper repeat</a:t>
            </a:r>
          </a:p>
          <a:p>
            <a:pPr algn="l">
              <a:lnSpc>
                <a:spcPct val="122000"/>
              </a:lnSpc>
            </a:pPr>
            <a:r>
              <a:rPr sz="3200" b="1">
                <a:solidFill>
                  <a:srgbClr val="1A1A1A"/>
                </a:solidFill>
                <a:latin typeface="DejaVu Serif"/>
              </a:rPr>
              <a:t>access for 2.6% of mean accuracy</a:t>
            </a:r>
          </a:p>
        </p:txBody>
      </p:sp>
      <p:sp>
        <p:nvSpPr>
          <p:cNvPr id="3" name="Rectangle 2"/>
          <p:cNvSpPr/>
          <p:nvPr/>
        </p:nvSpPr>
        <p:spPr>
          <a:xfrm>
            <a:off x="685800" y="3968496"/>
            <a:ext cx="2377440" cy="4445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4206240"/>
            <a:ext cx="10820095" cy="822960"/>
          </a:xfrm>
          <a:prstGeom prst="rect">
            <a:avLst/>
          </a:prstGeom>
          <a:noFill/>
        </p:spPr>
        <p:txBody>
          <a:bodyPr wrap="square" lIns="0" rIns="0" tIns="0" bIns="0">
            <a:spAutoFit/>
          </a:bodyPr>
          <a:lstStyle/>
          <a:p>
            <a:pPr algn="l">
              <a:lnSpc>
                <a:spcPct val="135000"/>
              </a:lnSpc>
            </a:pPr>
            <a:r>
              <a:rPr sz="1650" b="0">
                <a:solidFill>
                  <a:srgbClr val="1A1A1A"/>
                </a:solidFill>
                <a:latin typeface="DejaVu Serif"/>
              </a:rPr>
              <a:t>Shriman Raghav Srinivasan</a:t>
            </a:r>
          </a:p>
          <a:p>
            <a:pPr algn="l">
              <a:lnSpc>
                <a:spcPct val="135000"/>
              </a:lnSpc>
            </a:pPr>
            <a:r>
              <a:rPr sz="1650" b="0">
                <a:solidFill>
                  <a:srgbClr val="1A1A1A"/>
                </a:solidFill>
                <a:latin typeface="DejaVu Serif"/>
              </a:rPr>
              <a:t>MS Robotics, Northeastern University   |   Field Robotics Lab</a:t>
            </a:r>
          </a:p>
        </p:txBody>
      </p:sp>
      <p:sp>
        <p:nvSpPr>
          <p:cNvPr id="5" name="TextBox 4"/>
          <p:cNvSpPr txBox="1"/>
          <p:nvPr/>
        </p:nvSpPr>
        <p:spPr>
          <a:xfrm>
            <a:off x="685800" y="5257800"/>
            <a:ext cx="10820095" cy="365760"/>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Final project presentation   |   12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2</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A fast platform cannot afford the frame</a:t>
            </a:r>
          </a:p>
          <a:p>
            <a:pPr algn="l">
              <a:lnSpc>
                <a:spcPct val="110000"/>
              </a:lnSpc>
            </a:pPr>
            <a:r>
              <a:rPr sz="3000" b="1">
                <a:solidFill>
                  <a:srgbClr val="1A1A1A"/>
                </a:solidFill>
                <a:latin typeface="DejaVu Serif"/>
              </a:rPr>
              <a:t>it is given</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enarios_illustrated_tight.png"/>
          <p:cNvPicPr>
            <a:picLocks noChangeAspect="1"/>
          </p:cNvPicPr>
          <p:nvPr/>
        </p:nvPicPr>
        <p:blipFill>
          <a:blip r:embed="rId2"/>
          <a:stretch>
            <a:fillRect/>
          </a:stretch>
        </p:blipFill>
        <p:spPr>
          <a:xfrm>
            <a:off x="1463040" y="1627632"/>
            <a:ext cx="9235440" cy="4323383"/>
          </a:xfrm>
          <a:prstGeom prst="rect">
            <a:avLst/>
          </a:prstGeom>
        </p:spPr>
      </p:pic>
      <p:sp>
        <p:nvSpPr>
          <p:cNvPr id="6" name="TextBox 5"/>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Left: the region a tracker nominates. Right: the flow returned. The grey area is never computed. Held-out Virtual KITTI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3</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A dense output forecloses the two questions</a:t>
            </a:r>
          </a:p>
          <a:p>
            <a:pPr algn="l">
              <a:lnSpc>
                <a:spcPct val="110000"/>
              </a:lnSpc>
            </a:pPr>
            <a:r>
              <a:rPr sz="3000" b="1">
                <a:solidFill>
                  <a:srgbClr val="1A1A1A"/>
                </a:solidFill>
                <a:latin typeface="DejaVu Serif"/>
              </a:rPr>
              <a:t>that platform actually asks</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64208"/>
            <a:ext cx="10820095" cy="2377440"/>
          </a:xfrm>
          <a:prstGeom prst="rect">
            <a:avLst/>
          </a:prstGeom>
          <a:noFill/>
        </p:spPr>
        <p:txBody>
          <a:bodyPr wrap="square" lIns="0" rIns="0">
            <a:spAutoFit/>
          </a:bodyPr>
          <a:lstStyle/>
          <a:p>
            <a:pPr>
              <a:lnSpc>
                <a:spcPct val="114000"/>
              </a:lnSpc>
              <a:spcAft>
                <a:spcPts val="1300"/>
              </a:spcAft>
            </a:pPr>
            <a:r>
              <a:rPr sz="1800" b="1">
                <a:solidFill>
                  <a:srgbClr val="1A1A1A"/>
                </a:solidFill>
                <a:latin typeface="DejaVu Serif"/>
              </a:rPr>
              <a:t>Where exactly? </a:t>
            </a:r>
            <a:r>
              <a:rPr sz="1800" b="0">
                <a:solidFill>
                  <a:srgbClr val="1A1A1A"/>
                </a:solidFill>
                <a:latin typeface="DejaVu Serif"/>
              </a:rPr>
              <a:t>A corner tracked to (312.7, 188.2) cannot be requested. The pixel grid is a sampling artefact; the motion underneath it is continuous.</a:t>
            </a:r>
          </a:p>
          <a:p>
            <a:pPr>
              <a:lnSpc>
                <a:spcPct val="114000"/>
              </a:lnSpc>
              <a:spcAft>
                <a:spcPts val="1300"/>
              </a:spcAft>
            </a:pPr>
            <a:r>
              <a:rPr sz="1800" b="1">
                <a:solidFill>
                  <a:srgbClr val="1A1A1A"/>
                </a:solidFill>
                <a:latin typeface="DejaVu Serif"/>
              </a:rPr>
              <a:t>And again, on a frame already processed? </a:t>
            </a:r>
            <a:r>
              <a:rPr sz="1800" b="0">
                <a:solidFill>
                  <a:srgbClr val="1A1A1A"/>
                </a:solidFill>
                <a:latin typeface="DejaVu Serif"/>
              </a:rPr>
              <a:t>A second question about the same pair costs the entire computation a second time, because nothing is kept between calls.</a:t>
            </a:r>
          </a:p>
          <a:p>
            <a:pPr>
              <a:lnSpc>
                <a:spcPct val="114000"/>
              </a:lnSpc>
              <a:spcAft>
                <a:spcPts val="1300"/>
              </a:spcAft>
            </a:pPr>
            <a:r>
              <a:rPr sz="1800" b="1">
                <a:solidFill>
                  <a:srgbClr val="1A1A1A"/>
                </a:solidFill>
                <a:latin typeface="DejaVu Serif"/>
              </a:rPr>
              <a:t>Meanwhile every consumer discards most of the answer. </a:t>
            </a:r>
            <a:r>
              <a:rPr sz="1800" b="0">
                <a:solidFill>
                  <a:srgbClr val="1A1A1A"/>
                </a:solidFill>
                <a:latin typeface="DejaVu Serif"/>
              </a:rPr>
              <a:t>Registration, sparse tracking and survey mosaicking each select a few hundred points and throw away the other 478,000.</a:t>
            </a:r>
          </a:p>
        </p:txBody>
      </p:sp>
      <p:sp>
        <p:nvSpPr>
          <p:cNvPr id="6" name="Rectangle 5"/>
          <p:cNvSpPr/>
          <p:nvPr/>
        </p:nvSpPr>
        <p:spPr>
          <a:xfrm>
            <a:off x="685800" y="4892040"/>
            <a:ext cx="10820095" cy="78638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On constrained hardware, computing 479,232 correspondences in order to consume 800 is the difference between operating in real time and not.</a:t>
            </a:r>
          </a:p>
        </p:txBody>
      </p:sp>
      <p:sp>
        <p:nvSpPr>
          <p:cNvPr id="7" name="TextBox 6"/>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Frame size 384 x 1248. Baseline: Zhang, Gupta, Jiang and Singh (2024), NeuFlow v2.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4</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Can the output stage be made queryable</a:t>
            </a:r>
          </a:p>
          <a:p>
            <a:pPr algn="l">
              <a:lnSpc>
                <a:spcPct val="110000"/>
              </a:lnSpc>
            </a:pPr>
            <a:r>
              <a:rPr sz="3000" b="1">
                <a:solidFill>
                  <a:srgbClr val="1A1A1A"/>
                </a:solidFill>
                <a:latin typeface="DejaVu Serif"/>
              </a:rPr>
              <a:t>without surrendering accuracy or speed?</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64208"/>
            <a:ext cx="10820095" cy="11887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Can NeuFlow v2’s fixed upsampler be replaced by a decoder evaluated at</a:t>
            </a:r>
          </a:p>
          <a:p>
            <a:pPr algn="ctr">
              <a:lnSpc>
                <a:spcPct val="120000"/>
              </a:lnSpc>
            </a:pPr>
            <a:r>
              <a:rPr sz="1800" b="0">
                <a:solidFill>
                  <a:srgbClr val="1A1A1A"/>
                </a:solidFill>
                <a:latin typeface="DejaVu Serif"/>
              </a:rPr>
              <a:t>arbitrary continuous coordinates, and what does that cost?</a:t>
            </a:r>
          </a:p>
        </p:txBody>
      </p:sp>
      <p:sp>
        <p:nvSpPr>
          <p:cNvPr id="6" name="TextBox 5"/>
          <p:cNvSpPr txBox="1"/>
          <p:nvPr/>
        </p:nvSpPr>
        <p:spPr>
          <a:xfrm>
            <a:off x="685800" y="3310128"/>
            <a:ext cx="10820095" cy="1737360"/>
          </a:xfrm>
          <a:prstGeom prst="rect">
            <a:avLst/>
          </a:prstGeom>
          <a:noFill/>
        </p:spPr>
        <p:txBody>
          <a:bodyPr wrap="square" lIns="0" rIns="0">
            <a:spAutoFit/>
          </a:bodyPr>
          <a:lstStyle/>
          <a:p>
            <a:pPr>
              <a:lnSpc>
                <a:spcPct val="114000"/>
              </a:lnSpc>
              <a:spcAft>
                <a:spcPts val="1300"/>
              </a:spcAft>
            </a:pPr>
            <a:r>
              <a:rPr sz="1800" b="1">
                <a:solidFill>
                  <a:srgbClr val="1A1A1A"/>
                </a:solidFill>
                <a:latin typeface="DejaVu Serif"/>
              </a:rPr>
              <a:t>Approach. </a:t>
            </a:r>
            <a:r>
              <a:rPr sz="1800" b="0">
                <a:solidFill>
                  <a:srgbClr val="1A1A1A"/>
                </a:solidFill>
                <a:latin typeface="DejaVu Serif"/>
              </a:rPr>
              <a:t>Freeze everything in v2 that understands motion. Change only the last stage.</a:t>
            </a:r>
          </a:p>
          <a:p>
            <a:pPr>
              <a:lnSpc>
                <a:spcPct val="114000"/>
              </a:lnSpc>
              <a:spcAft>
                <a:spcPts val="1300"/>
              </a:spcAft>
            </a:pPr>
            <a:r>
              <a:rPr sz="1800" b="1">
                <a:solidFill>
                  <a:srgbClr val="1A1A1A"/>
                </a:solidFill>
                <a:latin typeface="DejaVu Serif"/>
              </a:rPr>
              <a:t>Consequence. </a:t>
            </a:r>
            <a:r>
              <a:rPr sz="1800" b="0">
                <a:solidFill>
                  <a:srgbClr val="1A1A1A"/>
                </a:solidFill>
                <a:latin typeface="DejaVu Serif"/>
              </a:rPr>
              <a:t>Cost scales with the number of queries, O(N), not with image area, O(HxW).</a:t>
            </a:r>
          </a:p>
          <a:p>
            <a:pPr>
              <a:lnSpc>
                <a:spcPct val="114000"/>
              </a:lnSpc>
              <a:spcAft>
                <a:spcPts val="1300"/>
              </a:spcAft>
            </a:pPr>
            <a:r>
              <a:rPr sz="1800" b="1">
                <a:solidFill>
                  <a:srgbClr val="1A1A1A"/>
                </a:solidFill>
                <a:latin typeface="DejaVu Serif"/>
              </a:rPr>
              <a:t>Test. </a:t>
            </a:r>
            <a:r>
              <a:rPr sz="1800" b="0">
                <a:solidFill>
                  <a:srgbClr val="1A1A1A"/>
                </a:solidFill>
                <a:latin typeface="DejaVu Serif"/>
              </a:rPr>
              <a:t>One variable per training run, and a front end verified unchanged.</a:t>
            </a:r>
          </a:p>
        </p:txBody>
      </p:sp>
      <p:sp>
        <p:nvSpPr>
          <p:cNvPr id="7" name="TextBox 6"/>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Evaluated on 1,174 held-out Virtual KITTI 2 pairs, 460,573,660 valid pixels, and on TartanAir aerial sequences.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5</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v3 keeps NeuFlow v2 frozen and replaces</a:t>
            </a:r>
          </a:p>
          <a:p>
            <a:pPr algn="l">
              <a:lnSpc>
                <a:spcPct val="110000"/>
              </a:lnSpc>
            </a:pPr>
            <a:r>
              <a:rPr sz="3000" b="1">
                <a:solidFill>
                  <a:srgbClr val="1A1A1A"/>
                </a:solidFill>
                <a:latin typeface="DejaVu Serif"/>
              </a:rPr>
              <a:t>only its fixed upsampler</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64208"/>
            <a:ext cx="10820095" cy="237744"/>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Phase 1   once per frame pair, 33 ms, cached</a:t>
            </a:r>
          </a:p>
        </p:txBody>
      </p:sp>
      <p:sp>
        <p:nvSpPr>
          <p:cNvPr id="6" name="Rectangle 5"/>
          <p:cNvSpPr/>
          <p:nvPr/>
        </p:nvSpPr>
        <p:spPr>
          <a:xfrm>
            <a:off x="685800" y="1993392"/>
            <a:ext cx="1915302" cy="841248"/>
          </a:xfrm>
          <a:prstGeom prst="rect">
            <a:avLst/>
          </a:prstGeom>
          <a:solidFill>
            <a:srgbClr val="FFFFFF"/>
          </a:solidFill>
          <a:ln w="1143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lnSpc>
                <a:spcPct val="112000"/>
              </a:lnSpc>
            </a:pPr>
            <a:r>
              <a:rPr sz="1250" b="0">
                <a:solidFill>
                  <a:srgbClr val="1A1A1A"/>
                </a:solidFill>
                <a:latin typeface="DejaVu Serif"/>
              </a:rPr>
              <a:t>Image pair</a:t>
            </a:r>
          </a:p>
        </p:txBody>
      </p:sp>
      <p:sp>
        <p:nvSpPr>
          <p:cNvPr id="7" name="TextBox 6"/>
          <p:cNvSpPr txBox="1"/>
          <p:nvPr/>
        </p:nvSpPr>
        <p:spPr>
          <a:xfrm>
            <a:off x="2601102" y="2267712"/>
            <a:ext cx="310896" cy="274320"/>
          </a:xfrm>
          <a:prstGeom prst="rect">
            <a:avLst/>
          </a:prstGeom>
          <a:noFill/>
        </p:spPr>
        <p:txBody>
          <a:bodyPr wrap="square" lIns="0" rIns="0" tIns="0" bIns="0">
            <a:spAutoFit/>
          </a:bodyPr>
          <a:lstStyle/>
          <a:p>
            <a:pPr algn="ctr">
              <a:lnSpc>
                <a:spcPct val="100000"/>
              </a:lnSpc>
            </a:pPr>
            <a:r>
              <a:rPr sz="1400" b="1">
                <a:solidFill>
                  <a:srgbClr val="808080"/>
                </a:solidFill>
                <a:latin typeface="DejaVu Serif"/>
              </a:rPr>
              <a:t>&gt;</a:t>
            </a:r>
          </a:p>
        </p:txBody>
      </p:sp>
      <p:sp>
        <p:nvSpPr>
          <p:cNvPr id="8" name="Rectangle 7"/>
          <p:cNvSpPr/>
          <p:nvPr/>
        </p:nvSpPr>
        <p:spPr>
          <a:xfrm>
            <a:off x="2911998" y="1993392"/>
            <a:ext cx="1915302" cy="841248"/>
          </a:xfrm>
          <a:prstGeom prst="rect">
            <a:avLst/>
          </a:prstGeom>
          <a:solidFill>
            <a:srgbClr val="FFFFFF"/>
          </a:solidFill>
          <a:ln w="1143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lnSpc>
                <a:spcPct val="112000"/>
              </a:lnSpc>
            </a:pPr>
            <a:r>
              <a:rPr sz="1250" b="0">
                <a:solidFill>
                  <a:srgbClr val="1A1A1A"/>
                </a:solidFill>
                <a:latin typeface="DejaVu Serif"/>
              </a:rPr>
              <a:t>CNN backbone</a:t>
            </a:r>
          </a:p>
          <a:p>
            <a:pPr algn="ctr">
              <a:lnSpc>
                <a:spcPct val="112000"/>
              </a:lnSpc>
            </a:pPr>
            <a:r>
              <a:rPr sz="1250" b="0">
                <a:solidFill>
                  <a:srgbClr val="1A1A1A"/>
                </a:solidFill>
                <a:latin typeface="DejaVu Serif"/>
              </a:rPr>
              <a:t>1/8 and 1/16</a:t>
            </a:r>
          </a:p>
        </p:txBody>
      </p:sp>
      <p:sp>
        <p:nvSpPr>
          <p:cNvPr id="9" name="TextBox 8"/>
          <p:cNvSpPr txBox="1"/>
          <p:nvPr/>
        </p:nvSpPr>
        <p:spPr>
          <a:xfrm>
            <a:off x="4827300" y="2267712"/>
            <a:ext cx="310896" cy="274320"/>
          </a:xfrm>
          <a:prstGeom prst="rect">
            <a:avLst/>
          </a:prstGeom>
          <a:noFill/>
        </p:spPr>
        <p:txBody>
          <a:bodyPr wrap="square" lIns="0" rIns="0" tIns="0" bIns="0">
            <a:spAutoFit/>
          </a:bodyPr>
          <a:lstStyle/>
          <a:p>
            <a:pPr algn="ctr">
              <a:lnSpc>
                <a:spcPct val="100000"/>
              </a:lnSpc>
            </a:pPr>
            <a:r>
              <a:rPr sz="1400" b="1">
                <a:solidFill>
                  <a:srgbClr val="808080"/>
                </a:solidFill>
                <a:latin typeface="DejaVu Serif"/>
              </a:rPr>
              <a:t>&gt;</a:t>
            </a:r>
          </a:p>
        </p:txBody>
      </p:sp>
      <p:sp>
        <p:nvSpPr>
          <p:cNvPr id="10" name="Rectangle 9"/>
          <p:cNvSpPr/>
          <p:nvPr/>
        </p:nvSpPr>
        <p:spPr>
          <a:xfrm>
            <a:off x="5138196" y="1993392"/>
            <a:ext cx="1915302" cy="841248"/>
          </a:xfrm>
          <a:prstGeom prst="rect">
            <a:avLst/>
          </a:prstGeom>
          <a:solidFill>
            <a:srgbClr val="FFFFFF"/>
          </a:solidFill>
          <a:ln w="1143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lnSpc>
                <a:spcPct val="112000"/>
              </a:lnSpc>
            </a:pPr>
            <a:r>
              <a:rPr sz="1250" b="0">
                <a:solidFill>
                  <a:srgbClr val="1A1A1A"/>
                </a:solidFill>
                <a:latin typeface="DejaVu Serif"/>
              </a:rPr>
              <a:t>Cross-attention</a:t>
            </a:r>
          </a:p>
          <a:p>
            <a:pPr algn="ctr">
              <a:lnSpc>
                <a:spcPct val="112000"/>
              </a:lnSpc>
            </a:pPr>
            <a:r>
              <a:rPr sz="1250" b="0">
                <a:solidFill>
                  <a:srgbClr val="1A1A1A"/>
                </a:solidFill>
                <a:latin typeface="DejaVu Serif"/>
              </a:rPr>
              <a:t>global match</a:t>
            </a:r>
          </a:p>
        </p:txBody>
      </p:sp>
      <p:sp>
        <p:nvSpPr>
          <p:cNvPr id="11" name="TextBox 10"/>
          <p:cNvSpPr txBox="1"/>
          <p:nvPr/>
        </p:nvSpPr>
        <p:spPr>
          <a:xfrm>
            <a:off x="7053498" y="2267712"/>
            <a:ext cx="310896" cy="274320"/>
          </a:xfrm>
          <a:prstGeom prst="rect">
            <a:avLst/>
          </a:prstGeom>
          <a:noFill/>
        </p:spPr>
        <p:txBody>
          <a:bodyPr wrap="square" lIns="0" rIns="0" tIns="0" bIns="0">
            <a:spAutoFit/>
          </a:bodyPr>
          <a:lstStyle/>
          <a:p>
            <a:pPr algn="ctr">
              <a:lnSpc>
                <a:spcPct val="100000"/>
              </a:lnSpc>
            </a:pPr>
            <a:r>
              <a:rPr sz="1400" b="1">
                <a:solidFill>
                  <a:srgbClr val="808080"/>
                </a:solidFill>
                <a:latin typeface="DejaVu Serif"/>
              </a:rPr>
              <a:t>&gt;</a:t>
            </a:r>
          </a:p>
        </p:txBody>
      </p:sp>
      <p:sp>
        <p:nvSpPr>
          <p:cNvPr id="12" name="Rectangle 11"/>
          <p:cNvSpPr/>
          <p:nvPr/>
        </p:nvSpPr>
        <p:spPr>
          <a:xfrm>
            <a:off x="7364394" y="1993392"/>
            <a:ext cx="1915302" cy="841248"/>
          </a:xfrm>
          <a:prstGeom prst="rect">
            <a:avLst/>
          </a:prstGeom>
          <a:solidFill>
            <a:srgbClr val="FFFFFF"/>
          </a:solidFill>
          <a:ln w="1143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lnSpc>
                <a:spcPct val="112000"/>
              </a:lnSpc>
            </a:pPr>
            <a:r>
              <a:rPr sz="1250" b="0">
                <a:solidFill>
                  <a:srgbClr val="1A1A1A"/>
                </a:solidFill>
                <a:latin typeface="DejaVu Serif"/>
              </a:rPr>
              <a:t>Refinement</a:t>
            </a:r>
          </a:p>
          <a:p>
            <a:pPr algn="ctr">
              <a:lnSpc>
                <a:spcPct val="112000"/>
              </a:lnSpc>
            </a:pPr>
            <a:r>
              <a:rPr sz="1250" b="0">
                <a:solidFill>
                  <a:srgbClr val="1A1A1A"/>
                </a:solidFill>
                <a:latin typeface="DejaVu Serif"/>
              </a:rPr>
              <a:t>1x s16, 8x s8</a:t>
            </a:r>
          </a:p>
        </p:txBody>
      </p:sp>
      <p:sp>
        <p:nvSpPr>
          <p:cNvPr id="13" name="TextBox 12"/>
          <p:cNvSpPr txBox="1"/>
          <p:nvPr/>
        </p:nvSpPr>
        <p:spPr>
          <a:xfrm>
            <a:off x="9279696" y="2267712"/>
            <a:ext cx="310896" cy="274320"/>
          </a:xfrm>
          <a:prstGeom prst="rect">
            <a:avLst/>
          </a:prstGeom>
          <a:noFill/>
        </p:spPr>
        <p:txBody>
          <a:bodyPr wrap="square" lIns="0" rIns="0" tIns="0" bIns="0">
            <a:spAutoFit/>
          </a:bodyPr>
          <a:lstStyle/>
          <a:p>
            <a:pPr algn="ctr">
              <a:lnSpc>
                <a:spcPct val="100000"/>
              </a:lnSpc>
            </a:pPr>
            <a:r>
              <a:rPr sz="1400" b="1">
                <a:solidFill>
                  <a:srgbClr val="808080"/>
                </a:solidFill>
                <a:latin typeface="DejaVu Serif"/>
              </a:rPr>
              <a:t>&gt;</a:t>
            </a:r>
          </a:p>
        </p:txBody>
      </p:sp>
      <p:sp>
        <p:nvSpPr>
          <p:cNvPr id="14" name="Rectangle 13"/>
          <p:cNvSpPr/>
          <p:nvPr/>
        </p:nvSpPr>
        <p:spPr>
          <a:xfrm>
            <a:off x="9590592" y="1993392"/>
            <a:ext cx="1915302" cy="841248"/>
          </a:xfrm>
          <a:prstGeom prst="rect">
            <a:avLst/>
          </a:prstGeom>
          <a:solidFill>
            <a:srgbClr val="1A1A1A"/>
          </a:solidFill>
          <a:ln w="1143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lnSpc>
                <a:spcPct val="112000"/>
              </a:lnSpc>
            </a:pPr>
            <a:r>
              <a:rPr sz="1250" b="1">
                <a:solidFill>
                  <a:srgbClr val="FFFFFF"/>
                </a:solidFill>
                <a:latin typeface="DejaVu Serif"/>
              </a:rPr>
              <a:t>Coarse flow</a:t>
            </a:r>
          </a:p>
          <a:p>
            <a:pPr algn="ctr">
              <a:lnSpc>
                <a:spcPct val="112000"/>
              </a:lnSpc>
            </a:pPr>
            <a:r>
              <a:rPr sz="1250" b="1">
                <a:solidFill>
                  <a:srgbClr val="FFFFFF"/>
                </a:solidFill>
                <a:latin typeface="DejaVu Serif"/>
              </a:rPr>
              <a:t>at 1/8</a:t>
            </a:r>
          </a:p>
        </p:txBody>
      </p:sp>
      <p:sp>
        <p:nvSpPr>
          <p:cNvPr id="15" name="TextBox 14"/>
          <p:cNvSpPr txBox="1"/>
          <p:nvPr/>
        </p:nvSpPr>
        <p:spPr>
          <a:xfrm>
            <a:off x="685800" y="3145536"/>
            <a:ext cx="10820095" cy="237744"/>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Phase 2   once per query batch, 1.25 ms, O(N)</a:t>
            </a:r>
          </a:p>
        </p:txBody>
      </p:sp>
      <p:sp>
        <p:nvSpPr>
          <p:cNvPr id="16" name="Rectangle 15"/>
          <p:cNvSpPr/>
          <p:nvPr/>
        </p:nvSpPr>
        <p:spPr>
          <a:xfrm>
            <a:off x="685800" y="3493008"/>
            <a:ext cx="1915302" cy="841248"/>
          </a:xfrm>
          <a:prstGeom prst="rect">
            <a:avLst/>
          </a:prstGeom>
          <a:solidFill>
            <a:srgbClr val="FFFFFF"/>
          </a:solidFill>
          <a:ln w="1143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lnSpc>
                <a:spcPct val="112000"/>
              </a:lnSpc>
            </a:pPr>
            <a:r>
              <a:rPr sz="1250" b="0">
                <a:solidFill>
                  <a:srgbClr val="1A1A1A"/>
                </a:solidFill>
                <a:latin typeface="DejaVu Serif"/>
              </a:rPr>
              <a:t>Query (x, y)</a:t>
            </a:r>
          </a:p>
          <a:p>
            <a:pPr algn="ctr">
              <a:lnSpc>
                <a:spcPct val="112000"/>
              </a:lnSpc>
            </a:pPr>
            <a:r>
              <a:rPr sz="1250" b="0">
                <a:solidFill>
                  <a:srgbClr val="1A1A1A"/>
                </a:solidFill>
                <a:latin typeface="DejaVu Serif"/>
              </a:rPr>
              <a:t>continuous</a:t>
            </a:r>
          </a:p>
        </p:txBody>
      </p:sp>
      <p:sp>
        <p:nvSpPr>
          <p:cNvPr id="17" name="TextBox 16"/>
          <p:cNvSpPr txBox="1"/>
          <p:nvPr/>
        </p:nvSpPr>
        <p:spPr>
          <a:xfrm>
            <a:off x="2601102" y="3767328"/>
            <a:ext cx="310896" cy="274320"/>
          </a:xfrm>
          <a:prstGeom prst="rect">
            <a:avLst/>
          </a:prstGeom>
          <a:noFill/>
        </p:spPr>
        <p:txBody>
          <a:bodyPr wrap="square" lIns="0" rIns="0" tIns="0" bIns="0">
            <a:spAutoFit/>
          </a:bodyPr>
          <a:lstStyle/>
          <a:p>
            <a:pPr algn="ctr">
              <a:lnSpc>
                <a:spcPct val="100000"/>
              </a:lnSpc>
            </a:pPr>
            <a:r>
              <a:rPr sz="1400" b="1">
                <a:solidFill>
                  <a:srgbClr val="808080"/>
                </a:solidFill>
                <a:latin typeface="DejaVu Serif"/>
              </a:rPr>
              <a:t>&gt;</a:t>
            </a:r>
          </a:p>
        </p:txBody>
      </p:sp>
      <p:sp>
        <p:nvSpPr>
          <p:cNvPr id="18" name="Rectangle 17"/>
          <p:cNvSpPr/>
          <p:nvPr/>
        </p:nvSpPr>
        <p:spPr>
          <a:xfrm>
            <a:off x="2911998" y="3493008"/>
            <a:ext cx="1915302" cy="841248"/>
          </a:xfrm>
          <a:prstGeom prst="rect">
            <a:avLst/>
          </a:prstGeom>
          <a:solidFill>
            <a:srgbClr val="FFFFFF"/>
          </a:solidFill>
          <a:ln w="1143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lnSpc>
                <a:spcPct val="112000"/>
              </a:lnSpc>
            </a:pPr>
            <a:r>
              <a:rPr sz="1250" b="0">
                <a:solidFill>
                  <a:srgbClr val="1A1A1A"/>
                </a:solidFill>
                <a:latin typeface="DejaVu Serif"/>
              </a:rPr>
              <a:t>Sample 3x3</a:t>
            </a:r>
          </a:p>
          <a:p>
            <a:pPr algn="ctr">
              <a:lnSpc>
                <a:spcPct val="112000"/>
              </a:lnSpc>
            </a:pPr>
            <a:r>
              <a:rPr sz="1250" b="0">
                <a:solidFill>
                  <a:srgbClr val="1A1A1A"/>
                </a:solidFill>
                <a:latin typeface="DejaVu Serif"/>
              </a:rPr>
              <a:t>four sources</a:t>
            </a:r>
          </a:p>
        </p:txBody>
      </p:sp>
      <p:sp>
        <p:nvSpPr>
          <p:cNvPr id="19" name="TextBox 18"/>
          <p:cNvSpPr txBox="1"/>
          <p:nvPr/>
        </p:nvSpPr>
        <p:spPr>
          <a:xfrm>
            <a:off x="4827300" y="3767328"/>
            <a:ext cx="310896" cy="274320"/>
          </a:xfrm>
          <a:prstGeom prst="rect">
            <a:avLst/>
          </a:prstGeom>
          <a:noFill/>
        </p:spPr>
        <p:txBody>
          <a:bodyPr wrap="square" lIns="0" rIns="0" tIns="0" bIns="0">
            <a:spAutoFit/>
          </a:bodyPr>
          <a:lstStyle/>
          <a:p>
            <a:pPr algn="ctr">
              <a:lnSpc>
                <a:spcPct val="100000"/>
              </a:lnSpc>
            </a:pPr>
            <a:r>
              <a:rPr sz="1400" b="1">
                <a:solidFill>
                  <a:srgbClr val="808080"/>
                </a:solidFill>
                <a:latin typeface="DejaVu Serif"/>
              </a:rPr>
              <a:t>&gt;</a:t>
            </a:r>
          </a:p>
        </p:txBody>
      </p:sp>
      <p:sp>
        <p:nvSpPr>
          <p:cNvPr id="20" name="Rectangle 19"/>
          <p:cNvSpPr/>
          <p:nvPr/>
        </p:nvSpPr>
        <p:spPr>
          <a:xfrm>
            <a:off x="5138196" y="3493008"/>
            <a:ext cx="1915302" cy="841248"/>
          </a:xfrm>
          <a:prstGeom prst="rect">
            <a:avLst/>
          </a:prstGeom>
          <a:solidFill>
            <a:srgbClr val="FFFFFF"/>
          </a:solidFill>
          <a:ln w="1143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lnSpc>
                <a:spcPct val="112000"/>
              </a:lnSpc>
            </a:pPr>
            <a:r>
              <a:rPr sz="1250" b="0">
                <a:solidFill>
                  <a:srgbClr val="1A1A1A"/>
                </a:solidFill>
                <a:latin typeface="DejaVu Serif"/>
              </a:rPr>
              <a:t>Gated fusion</a:t>
            </a:r>
          </a:p>
          <a:p>
            <a:pPr algn="ctr">
              <a:lnSpc>
                <a:spcPct val="112000"/>
              </a:lnSpc>
            </a:pPr>
            <a:r>
              <a:rPr sz="1250" b="0">
                <a:solidFill>
                  <a:srgbClr val="1A1A1A"/>
                </a:solidFill>
                <a:latin typeface="DejaVu Serif"/>
              </a:rPr>
              <a:t>MLP</a:t>
            </a:r>
          </a:p>
        </p:txBody>
      </p:sp>
      <p:sp>
        <p:nvSpPr>
          <p:cNvPr id="21" name="TextBox 20"/>
          <p:cNvSpPr txBox="1"/>
          <p:nvPr/>
        </p:nvSpPr>
        <p:spPr>
          <a:xfrm>
            <a:off x="7053498" y="3767328"/>
            <a:ext cx="310896" cy="274320"/>
          </a:xfrm>
          <a:prstGeom prst="rect">
            <a:avLst/>
          </a:prstGeom>
          <a:noFill/>
        </p:spPr>
        <p:txBody>
          <a:bodyPr wrap="square" lIns="0" rIns="0" tIns="0" bIns="0">
            <a:spAutoFit/>
          </a:bodyPr>
          <a:lstStyle/>
          <a:p>
            <a:pPr algn="ctr">
              <a:lnSpc>
                <a:spcPct val="100000"/>
              </a:lnSpc>
            </a:pPr>
            <a:r>
              <a:rPr sz="1400" b="1">
                <a:solidFill>
                  <a:srgbClr val="808080"/>
                </a:solidFill>
                <a:latin typeface="DejaVu Serif"/>
              </a:rPr>
              <a:t>&gt;</a:t>
            </a:r>
          </a:p>
        </p:txBody>
      </p:sp>
      <p:sp>
        <p:nvSpPr>
          <p:cNvPr id="22" name="Rectangle 21"/>
          <p:cNvSpPr/>
          <p:nvPr/>
        </p:nvSpPr>
        <p:spPr>
          <a:xfrm>
            <a:off x="7364394" y="3493008"/>
            <a:ext cx="1915302" cy="841248"/>
          </a:xfrm>
          <a:prstGeom prst="rect">
            <a:avLst/>
          </a:prstGeom>
          <a:solidFill>
            <a:srgbClr val="FFFFFF"/>
          </a:solidFill>
          <a:ln w="11430">
            <a:solidFill>
              <a:srgbClr val="C8C8C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lnSpc>
                <a:spcPct val="112000"/>
              </a:lnSpc>
            </a:pPr>
            <a:r>
              <a:rPr sz="1250" b="0">
                <a:solidFill>
                  <a:srgbClr val="1A1A1A"/>
                </a:solidFill>
                <a:latin typeface="DejaVu Serif"/>
              </a:rPr>
              <a:t>Convex blend</a:t>
            </a:r>
          </a:p>
          <a:p>
            <a:pPr algn="ctr">
              <a:lnSpc>
                <a:spcPct val="112000"/>
              </a:lnSpc>
            </a:pPr>
            <a:r>
              <a:rPr sz="1250" b="0">
                <a:solidFill>
                  <a:srgbClr val="1A1A1A"/>
                </a:solidFill>
                <a:latin typeface="DejaVu Serif"/>
              </a:rPr>
              <a:t>nine plus one</a:t>
            </a:r>
          </a:p>
        </p:txBody>
      </p:sp>
      <p:sp>
        <p:nvSpPr>
          <p:cNvPr id="23" name="TextBox 22"/>
          <p:cNvSpPr txBox="1"/>
          <p:nvPr/>
        </p:nvSpPr>
        <p:spPr>
          <a:xfrm>
            <a:off x="9279696" y="3767328"/>
            <a:ext cx="310896" cy="274320"/>
          </a:xfrm>
          <a:prstGeom prst="rect">
            <a:avLst/>
          </a:prstGeom>
          <a:noFill/>
        </p:spPr>
        <p:txBody>
          <a:bodyPr wrap="square" lIns="0" rIns="0" tIns="0" bIns="0">
            <a:spAutoFit/>
          </a:bodyPr>
          <a:lstStyle/>
          <a:p>
            <a:pPr algn="ctr">
              <a:lnSpc>
                <a:spcPct val="100000"/>
              </a:lnSpc>
            </a:pPr>
            <a:r>
              <a:rPr sz="1400" b="1">
                <a:solidFill>
                  <a:srgbClr val="808080"/>
                </a:solidFill>
                <a:latin typeface="DejaVu Serif"/>
              </a:rPr>
              <a:t>&gt;</a:t>
            </a:r>
          </a:p>
        </p:txBody>
      </p:sp>
      <p:sp>
        <p:nvSpPr>
          <p:cNvPr id="24" name="Rectangle 23"/>
          <p:cNvSpPr/>
          <p:nvPr/>
        </p:nvSpPr>
        <p:spPr>
          <a:xfrm>
            <a:off x="9590592" y="3493008"/>
            <a:ext cx="1915302" cy="841248"/>
          </a:xfrm>
          <a:prstGeom prst="rect">
            <a:avLst/>
          </a:prstGeom>
          <a:solidFill>
            <a:srgbClr val="1A1A1A"/>
          </a:solidFill>
          <a:ln w="11430">
            <a:solidFill>
              <a:srgbClr val="1A1A1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lnSpc>
                <a:spcPct val="112000"/>
              </a:lnSpc>
            </a:pPr>
            <a:r>
              <a:rPr sz="1250" b="1">
                <a:solidFill>
                  <a:srgbClr val="FFFFFF"/>
                </a:solidFill>
                <a:latin typeface="DejaVu Serif"/>
              </a:rPr>
              <a:t>Flow and</a:t>
            </a:r>
          </a:p>
          <a:p>
            <a:pPr algn="ctr">
              <a:lnSpc>
                <a:spcPct val="112000"/>
              </a:lnSpc>
            </a:pPr>
            <a:r>
              <a:rPr sz="1250" b="1">
                <a:solidFill>
                  <a:srgbClr val="FFFFFF"/>
                </a:solidFill>
                <a:latin typeface="DejaVu Serif"/>
              </a:rPr>
              <a:t>confidence</a:t>
            </a:r>
          </a:p>
        </p:txBody>
      </p:sp>
      <p:sp>
        <p:nvSpPr>
          <p:cNvPr id="25" name="Rectangle 24"/>
          <p:cNvSpPr/>
          <p:nvPr/>
        </p:nvSpPr>
        <p:spPr>
          <a:xfrm>
            <a:off x="685800" y="4754880"/>
            <a:ext cx="10820095" cy="822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The output is a convex combination of neighbouring coarse-flow values, so the decoder cannot predict motion its inputs do not locally support.</a:t>
            </a:r>
          </a:p>
        </p:txBody>
      </p:sp>
      <p:sp>
        <p:nvSpPr>
          <p:cNvPr id="26" name="TextBox 25"/>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Convex-weight formulation follows Jung et al. (2023), AnyFlow. Gated fusion follows InfiniDepth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6</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The front end is verified bit-identical to v2,</a:t>
            </a:r>
          </a:p>
          <a:p>
            <a:pPr algn="l">
              <a:lnSpc>
                <a:spcPct val="110000"/>
              </a:lnSpc>
            </a:pPr>
            <a:r>
              <a:rPr sz="3000" b="1">
                <a:solidFill>
                  <a:srgbClr val="1A1A1A"/>
                </a:solidFill>
                <a:latin typeface="DejaVu Serif"/>
              </a:rPr>
              <a:t>so the comparison isolates the decoder</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64208"/>
            <a:ext cx="6035040" cy="2834640"/>
          </a:xfrm>
          <a:prstGeom prst="rect">
            <a:avLst/>
          </a:prstGeom>
          <a:noFill/>
        </p:spPr>
        <p:txBody>
          <a:bodyPr wrap="square" lIns="0" rIns="0">
            <a:spAutoFit/>
          </a:bodyPr>
          <a:lstStyle/>
          <a:p>
            <a:pPr>
              <a:lnSpc>
                <a:spcPct val="114000"/>
              </a:lnSpc>
              <a:spcAft>
                <a:spcPts val="1300"/>
              </a:spcAft>
            </a:pPr>
            <a:r>
              <a:rPr sz="1650" b="1">
                <a:solidFill>
                  <a:srgbClr val="1A1A1A"/>
                </a:solidFill>
                <a:latin typeface="DejaVu Serif"/>
              </a:rPr>
              <a:t>Frozen front end. </a:t>
            </a:r>
            <a:r>
              <a:rPr sz="1650" b="0">
                <a:solidFill>
                  <a:srgbClr val="1A1A1A"/>
                </a:solidFill>
                <a:latin typeface="DejaVu Serif"/>
              </a:rPr>
              <a:t>All 137 shared tensors verified bit-identical, per checkpoint.</a:t>
            </a:r>
          </a:p>
          <a:p>
            <a:pPr>
              <a:lnSpc>
                <a:spcPct val="114000"/>
              </a:lnSpc>
              <a:spcAft>
                <a:spcPts val="1300"/>
              </a:spcAft>
            </a:pPr>
            <a:r>
              <a:rPr sz="1650" b="1">
                <a:solidFill>
                  <a:srgbClr val="1A1A1A"/>
                </a:solidFill>
                <a:latin typeface="DejaVu Serif"/>
              </a:rPr>
              <a:t>Disjoint splits. </a:t>
            </a:r>
            <a:r>
              <a:rPr sz="1650" b="0">
                <a:solidFill>
                  <a:srgbClr val="1A1A1A"/>
                </a:solidFill>
                <a:latin typeface="DejaVu Serif"/>
              </a:rPr>
              <a:t>Both evaluation scenes are excluded from every training set, checked at pair and frame level before each run.</a:t>
            </a:r>
          </a:p>
          <a:p>
            <a:pPr>
              <a:lnSpc>
                <a:spcPct val="114000"/>
              </a:lnSpc>
              <a:spcAft>
                <a:spcPts val="1300"/>
              </a:spcAft>
            </a:pPr>
            <a:r>
              <a:rPr sz="1650" b="1">
                <a:solidFill>
                  <a:srgbClr val="1A1A1A"/>
                </a:solidFill>
                <a:latin typeface="DejaVu Serif"/>
              </a:rPr>
              <a:t>One variable per run. </a:t>
            </a:r>
            <a:r>
              <a:rPr sz="1650" b="0">
                <a:solidFill>
                  <a:srgbClr val="1A1A1A"/>
                </a:solidFill>
                <a:latin typeface="DejaVu Serif"/>
              </a:rPr>
              <a:t>Same seed, schedule, batch size and query budget throughout.</a:t>
            </a:r>
          </a:p>
        </p:txBody>
      </p:sp>
      <p:sp>
        <p:nvSpPr>
          <p:cNvPr id="6" name="Rectangle 5"/>
          <p:cNvSpPr/>
          <p:nvPr/>
        </p:nvSpPr>
        <p:spPr>
          <a:xfrm>
            <a:off x="6903720" y="1682496"/>
            <a:ext cx="4599432"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903720" y="1728216"/>
            <a:ext cx="2834640" cy="270510"/>
          </a:xfrm>
          <a:prstGeom prst="rect">
            <a:avLst/>
          </a:prstGeom>
          <a:noFill/>
        </p:spPr>
        <p:txBody>
          <a:bodyPr wrap="square" lIns="0" rIns="0" tIns="0" bIns="0">
            <a:spAutoFit/>
          </a:bodyPr>
          <a:lstStyle/>
          <a:p>
            <a:pPr algn="l">
              <a:lnSpc>
                <a:spcPct val="100000"/>
              </a:lnSpc>
            </a:pPr>
            <a:r>
              <a:rPr sz="1500" b="1">
                <a:solidFill>
                  <a:srgbClr val="5A5A5A"/>
                </a:solidFill>
                <a:latin typeface="DejaVu Serif"/>
              </a:rPr>
              <a:t>Evaluation</a:t>
            </a:r>
          </a:p>
        </p:txBody>
      </p:sp>
      <p:sp>
        <p:nvSpPr>
          <p:cNvPr id="8" name="TextBox 7"/>
          <p:cNvSpPr txBox="1"/>
          <p:nvPr/>
        </p:nvSpPr>
        <p:spPr>
          <a:xfrm>
            <a:off x="9738360" y="1728216"/>
            <a:ext cx="1764792"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
            </a:r>
          </a:p>
        </p:txBody>
      </p:sp>
      <p:sp>
        <p:nvSpPr>
          <p:cNvPr id="9" name="Rectangle 8"/>
          <p:cNvSpPr/>
          <p:nvPr/>
        </p:nvSpPr>
        <p:spPr>
          <a:xfrm>
            <a:off x="6903720" y="2026158"/>
            <a:ext cx="4599432"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03720" y="2099310"/>
            <a:ext cx="283464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Held-out pairs</a:t>
            </a:r>
          </a:p>
        </p:txBody>
      </p:sp>
      <p:sp>
        <p:nvSpPr>
          <p:cNvPr id="11" name="TextBox 10"/>
          <p:cNvSpPr txBox="1"/>
          <p:nvPr/>
        </p:nvSpPr>
        <p:spPr>
          <a:xfrm>
            <a:off x="9738360" y="2099310"/>
            <a:ext cx="176479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1,174</a:t>
            </a:r>
          </a:p>
        </p:txBody>
      </p:sp>
      <p:sp>
        <p:nvSpPr>
          <p:cNvPr id="12" name="TextBox 11"/>
          <p:cNvSpPr txBox="1"/>
          <p:nvPr/>
        </p:nvSpPr>
        <p:spPr>
          <a:xfrm>
            <a:off x="6903720" y="2369820"/>
            <a:ext cx="283464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Valid pixels</a:t>
            </a:r>
          </a:p>
        </p:txBody>
      </p:sp>
      <p:sp>
        <p:nvSpPr>
          <p:cNvPr id="13" name="TextBox 12"/>
          <p:cNvSpPr txBox="1"/>
          <p:nvPr/>
        </p:nvSpPr>
        <p:spPr>
          <a:xfrm>
            <a:off x="9738360" y="2369820"/>
            <a:ext cx="176479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460.6 M</a:t>
            </a:r>
          </a:p>
        </p:txBody>
      </p:sp>
      <p:sp>
        <p:nvSpPr>
          <p:cNvPr id="14" name="TextBox 13"/>
          <p:cNvSpPr txBox="1"/>
          <p:nvPr/>
        </p:nvSpPr>
        <p:spPr>
          <a:xfrm>
            <a:off x="6903720" y="2640330"/>
            <a:ext cx="283464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Cross-domain</a:t>
            </a:r>
          </a:p>
        </p:txBody>
      </p:sp>
      <p:sp>
        <p:nvSpPr>
          <p:cNvPr id="15" name="TextBox 14"/>
          <p:cNvSpPr txBox="1"/>
          <p:nvPr/>
        </p:nvSpPr>
        <p:spPr>
          <a:xfrm>
            <a:off x="9738360" y="2640330"/>
            <a:ext cx="176479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TartanAir</a:t>
            </a:r>
          </a:p>
        </p:txBody>
      </p:sp>
      <p:sp>
        <p:nvSpPr>
          <p:cNvPr id="16" name="TextBox 15"/>
          <p:cNvSpPr txBox="1"/>
          <p:nvPr/>
        </p:nvSpPr>
        <p:spPr>
          <a:xfrm>
            <a:off x="6903720" y="2910840"/>
            <a:ext cx="283464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Hardware</a:t>
            </a:r>
          </a:p>
        </p:txBody>
      </p:sp>
      <p:sp>
        <p:nvSpPr>
          <p:cNvPr id="17" name="TextBox 16"/>
          <p:cNvSpPr txBox="1"/>
          <p:nvPr/>
        </p:nvSpPr>
        <p:spPr>
          <a:xfrm>
            <a:off x="9738360" y="2910840"/>
            <a:ext cx="176479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RTX 4060</a:t>
            </a:r>
          </a:p>
        </p:txBody>
      </p:sp>
      <p:sp>
        <p:nvSpPr>
          <p:cNvPr id="18" name="TextBox 17"/>
          <p:cNvSpPr txBox="1"/>
          <p:nvPr/>
        </p:nvSpPr>
        <p:spPr>
          <a:xfrm>
            <a:off x="6903720" y="3181350"/>
            <a:ext cx="283464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Precision</a:t>
            </a:r>
          </a:p>
        </p:txBody>
      </p:sp>
      <p:sp>
        <p:nvSpPr>
          <p:cNvPr id="19" name="TextBox 18"/>
          <p:cNvSpPr txBox="1"/>
          <p:nvPr/>
        </p:nvSpPr>
        <p:spPr>
          <a:xfrm>
            <a:off x="9738360" y="3181350"/>
            <a:ext cx="176479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fp16</a:t>
            </a:r>
          </a:p>
        </p:txBody>
      </p:sp>
      <p:sp>
        <p:nvSpPr>
          <p:cNvPr id="20" name="Rectangle 19"/>
          <p:cNvSpPr/>
          <p:nvPr/>
        </p:nvSpPr>
        <p:spPr>
          <a:xfrm>
            <a:off x="6903720" y="3488436"/>
            <a:ext cx="4599432"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85800" y="4956048"/>
            <a:ext cx="10820095"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Zero-initialised, the decoder is exactly bilinear upsampling: training can only move away from a known-good operating point by learning something.</a:t>
            </a:r>
          </a:p>
        </p:txBody>
      </p:sp>
      <p:sp>
        <p:nvSpPr>
          <p:cNvPr id="22" name="TextBox 21"/>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Cabon et al. (2020), Virtual KITTI 2. Wang et al. (2020), TartanAir.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7</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The decoder costs 2.6 percent of mean error,</a:t>
            </a:r>
          </a:p>
          <a:p>
            <a:pPr algn="l">
              <a:lnSpc>
                <a:spcPct val="110000"/>
              </a:lnSpc>
            </a:pPr>
            <a:r>
              <a:rPr sz="3000" b="1">
                <a:solidFill>
                  <a:srgbClr val="1A1A1A"/>
                </a:solidFill>
                <a:latin typeface="DejaVu Serif"/>
              </a:rPr>
              <a:t>from a model 13 percent smaller</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ccuracy_bars.png"/>
          <p:cNvPicPr>
            <a:picLocks noChangeAspect="1"/>
          </p:cNvPicPr>
          <p:nvPr/>
        </p:nvPicPr>
        <p:blipFill>
          <a:blip r:embed="rId2"/>
          <a:stretch>
            <a:fillRect/>
          </a:stretch>
        </p:blipFill>
        <p:spPr>
          <a:xfrm>
            <a:off x="685800" y="1783080"/>
            <a:ext cx="6766560" cy="3725409"/>
          </a:xfrm>
          <a:prstGeom prst="rect">
            <a:avLst/>
          </a:prstGeom>
        </p:spPr>
      </p:pic>
      <p:sp>
        <p:nvSpPr>
          <p:cNvPr id="6" name="TextBox 5"/>
          <p:cNvSpPr txBox="1"/>
          <p:nvPr/>
        </p:nvSpPr>
        <p:spPr>
          <a:xfrm>
            <a:off x="7726679" y="1664208"/>
            <a:ext cx="377647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THE COST, STATED FIRST</a:t>
            </a:r>
          </a:p>
        </p:txBody>
      </p:sp>
      <p:sp>
        <p:nvSpPr>
          <p:cNvPr id="7" name="TextBox 6"/>
          <p:cNvSpPr txBox="1"/>
          <p:nvPr/>
        </p:nvSpPr>
        <p:spPr>
          <a:xfrm>
            <a:off x="7726679" y="1993392"/>
            <a:ext cx="3776472" cy="3108960"/>
          </a:xfrm>
          <a:prstGeom prst="rect">
            <a:avLst/>
          </a:prstGeom>
          <a:noFill/>
        </p:spPr>
        <p:txBody>
          <a:bodyPr wrap="square" lIns="0" rIns="0">
            <a:spAutoFit/>
          </a:bodyPr>
          <a:lstStyle/>
          <a:p>
            <a:pPr>
              <a:lnSpc>
                <a:spcPct val="114000"/>
              </a:lnSpc>
              <a:spcAft>
                <a:spcPts val="1200"/>
              </a:spcAft>
            </a:pPr>
            <a:r>
              <a:rPr sz="1650" b="0">
                <a:solidFill>
                  <a:srgbClr val="1A1A1A"/>
                </a:solidFill>
                <a:latin typeface="DejaVu Serif"/>
              </a:rPr>
              <a:t>Every v3 configuration sits above v2.</a:t>
            </a:r>
          </a:p>
          <a:p>
            <a:pPr>
              <a:lnSpc>
                <a:spcPct val="114000"/>
              </a:lnSpc>
              <a:spcAft>
                <a:spcPts val="1200"/>
              </a:spcAft>
            </a:pPr>
            <a:r>
              <a:rPr sz="1650" b="0">
                <a:solidFill>
                  <a:srgbClr val="1A1A1A"/>
                </a:solidFill>
                <a:latin typeface="DejaVu Serif"/>
              </a:rPr>
              <a:t>Like-for-like on FlyingChairs alone: 2.500, or 7.6% behind.</a:t>
            </a:r>
          </a:p>
          <a:p>
            <a:pPr>
              <a:lnSpc>
                <a:spcPct val="114000"/>
              </a:lnSpc>
              <a:spcAft>
                <a:spcPts val="1200"/>
              </a:spcAft>
            </a:pPr>
            <a:r>
              <a:rPr sz="1650" b="0">
                <a:solidFill>
                  <a:srgbClr val="1A1A1A"/>
                </a:solidFill>
                <a:latin typeface="DejaVu Serif"/>
              </a:rPr>
              <a:t>7.83 M parameters against 9.03 M.</a:t>
            </a:r>
          </a:p>
        </p:txBody>
      </p:sp>
      <p:sp>
        <p:nvSpPr>
          <p:cNvPr id="8" name="Rectangle 7"/>
          <p:cNvSpPr/>
          <p:nvPr/>
        </p:nvSpPr>
        <p:spPr>
          <a:xfrm>
            <a:off x="7726679" y="4855455"/>
            <a:ext cx="31750" cy="65303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59" y="4828023"/>
            <a:ext cx="3593591" cy="653034"/>
          </a:xfrm>
          <a:prstGeom prst="rect">
            <a:avLst/>
          </a:prstGeom>
          <a:noFill/>
        </p:spPr>
        <p:txBody>
          <a:bodyPr wrap="square" lIns="0" rIns="0" tIns="0" bIns="0">
            <a:spAutoFit/>
          </a:bodyPr>
          <a:lstStyle/>
          <a:p>
            <a:pPr algn="l">
              <a:lnSpc>
                <a:spcPct val="130000"/>
              </a:lnSpc>
            </a:pPr>
            <a:r>
              <a:rPr sz="1650" b="1">
                <a:solidFill>
                  <a:srgbClr val="1A1A1A"/>
                </a:solidFill>
                <a:latin typeface="DejaVu Serif"/>
              </a:rPr>
              <a:t>2.384</a:t>
            </a:r>
          </a:p>
          <a:p>
            <a:pPr algn="l">
              <a:lnSpc>
                <a:spcPct val="130000"/>
              </a:lnSpc>
            </a:pPr>
            <a:r>
              <a:rPr sz="1650" b="1">
                <a:solidFill>
                  <a:srgbClr val="1A1A1A"/>
                </a:solidFill>
                <a:latin typeface="DejaVu Serif"/>
              </a:rPr>
              <a:t>against 2.324</a:t>
            </a:r>
          </a:p>
        </p:txBody>
      </p:sp>
      <p:sp>
        <p:nvSpPr>
          <p:cNvPr id="10" name="TextBox 9"/>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Mean end-point error per pixel, 1,174 held-out VKITTI 2 pairs. Lower is better.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8</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The cost concentrates in sub-pixel precision,</a:t>
            </a:r>
          </a:p>
          <a:p>
            <a:pPr algn="l">
              <a:lnSpc>
                <a:spcPct val="110000"/>
              </a:lnSpc>
            </a:pPr>
            <a:r>
              <a:rPr sz="3000" b="1">
                <a:solidFill>
                  <a:srgbClr val="1A1A1A"/>
                </a:solidFill>
                <a:latin typeface="DejaVu Serif"/>
              </a:rPr>
              <a:t>not in large errors</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ecision_bars.png"/>
          <p:cNvPicPr>
            <a:picLocks noChangeAspect="1"/>
          </p:cNvPicPr>
          <p:nvPr/>
        </p:nvPicPr>
        <p:blipFill>
          <a:blip r:embed="rId2"/>
          <a:stretch>
            <a:fillRect/>
          </a:stretch>
        </p:blipFill>
        <p:spPr>
          <a:xfrm>
            <a:off x="685800" y="1783080"/>
            <a:ext cx="6766560" cy="3728202"/>
          </a:xfrm>
          <a:prstGeom prst="rect">
            <a:avLst/>
          </a:prstGeom>
        </p:spPr>
      </p:pic>
      <p:sp>
        <p:nvSpPr>
          <p:cNvPr id="6" name="TextBox 5"/>
          <p:cNvSpPr txBox="1"/>
          <p:nvPr/>
        </p:nvSpPr>
        <p:spPr>
          <a:xfrm>
            <a:off x="7726679" y="1664208"/>
            <a:ext cx="377647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DIAGNOSED CAUSE</a:t>
            </a:r>
          </a:p>
        </p:txBody>
      </p:sp>
      <p:sp>
        <p:nvSpPr>
          <p:cNvPr id="7" name="TextBox 6"/>
          <p:cNvSpPr txBox="1"/>
          <p:nvPr/>
        </p:nvSpPr>
        <p:spPr>
          <a:xfrm>
            <a:off x="7726679" y="1993392"/>
            <a:ext cx="3776472" cy="3108960"/>
          </a:xfrm>
          <a:prstGeom prst="rect">
            <a:avLst/>
          </a:prstGeom>
          <a:noFill/>
        </p:spPr>
        <p:txBody>
          <a:bodyPr wrap="square" lIns="0" rIns="0">
            <a:spAutoFit/>
          </a:bodyPr>
          <a:lstStyle/>
          <a:p>
            <a:pPr>
              <a:lnSpc>
                <a:spcPct val="114000"/>
              </a:lnSpc>
              <a:spcAft>
                <a:spcPts val="1200"/>
              </a:spcAft>
            </a:pPr>
            <a:r>
              <a:rPr sz="1650" b="0">
                <a:solidFill>
                  <a:srgbClr val="1A1A1A"/>
                </a:solidFill>
                <a:latin typeface="DejaVu Serif"/>
              </a:rPr>
              <a:t>The decoder’s finest input is 1/8 scale, so evidence barely varies inside an 8x8 cell. The upsampler it replaces reads the full-resolution frame.</a:t>
            </a:r>
          </a:p>
          <a:p>
            <a:pPr>
              <a:lnSpc>
                <a:spcPct val="114000"/>
              </a:lnSpc>
              <a:spcAft>
                <a:spcPts val="1200"/>
              </a:spcAft>
            </a:pPr>
            <a:r>
              <a:rPr sz="1650" b="0">
                <a:solidFill>
                  <a:srgbClr val="1A1A1A"/>
                </a:solidFill>
                <a:latin typeface="DejaVu Serif"/>
              </a:rPr>
              <a:t>A Fourier positional encoding changed nothing, which rules out a missing position signal.</a:t>
            </a:r>
          </a:p>
        </p:txBody>
      </p:sp>
      <p:sp>
        <p:nvSpPr>
          <p:cNvPr id="8" name="Rectangle 7"/>
          <p:cNvSpPr/>
          <p:nvPr/>
        </p:nvSpPr>
        <p:spPr>
          <a:xfrm>
            <a:off x="7726679" y="4858248"/>
            <a:ext cx="31750" cy="65303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59" y="4830816"/>
            <a:ext cx="3593591" cy="653034"/>
          </a:xfrm>
          <a:prstGeom prst="rect">
            <a:avLst/>
          </a:prstGeom>
          <a:noFill/>
        </p:spPr>
        <p:txBody>
          <a:bodyPr wrap="square" lIns="0" rIns="0" tIns="0" bIns="0">
            <a:spAutoFit/>
          </a:bodyPr>
          <a:lstStyle/>
          <a:p>
            <a:pPr algn="l">
              <a:lnSpc>
                <a:spcPct val="130000"/>
              </a:lnSpc>
            </a:pPr>
            <a:r>
              <a:rPr sz="1650" b="1">
                <a:solidFill>
                  <a:srgbClr val="1A1A1A"/>
                </a:solidFill>
                <a:latin typeface="DejaVu Serif"/>
              </a:rPr>
              <a:t>1.5 points below v2</a:t>
            </a:r>
          </a:p>
          <a:p>
            <a:pPr algn="l">
              <a:lnSpc>
                <a:spcPct val="130000"/>
              </a:lnSpc>
            </a:pPr>
            <a:r>
              <a:rPr sz="1650" b="1">
                <a:solidFill>
                  <a:srgbClr val="1A1A1A"/>
                </a:solidFill>
                <a:latin typeface="DejaVu Serif"/>
              </a:rPr>
              <a:t>on 1 px accuracy</a:t>
            </a:r>
          </a:p>
        </p:txBody>
      </p:sp>
      <p:sp>
        <p:nvSpPr>
          <p:cNvPr id="10" name="TextBox 9"/>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Percentage of pixels with end-point error below 1 px. Higher is better.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9</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A repeat query on a cached frame costs</a:t>
            </a:r>
          </a:p>
          <a:p>
            <a:pPr algn="l">
              <a:lnSpc>
                <a:spcPct val="110000"/>
              </a:lnSpc>
            </a:pPr>
            <a:r>
              <a:rPr sz="3000" b="1">
                <a:solidFill>
                  <a:srgbClr val="1A1A1A"/>
                </a:solidFill>
                <a:latin typeface="DejaVu Serif"/>
              </a:rPr>
              <a:t>1.25 ms, against 33.3 ms for a fresh pass</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peed_bars.png"/>
          <p:cNvPicPr>
            <a:picLocks noChangeAspect="1"/>
          </p:cNvPicPr>
          <p:nvPr/>
        </p:nvPicPr>
        <p:blipFill>
          <a:blip r:embed="rId2"/>
          <a:stretch>
            <a:fillRect/>
          </a:stretch>
        </p:blipFill>
        <p:spPr>
          <a:xfrm>
            <a:off x="685800" y="1847088"/>
            <a:ext cx="6766560" cy="3349105"/>
          </a:xfrm>
          <a:prstGeom prst="rect">
            <a:avLst/>
          </a:prstGeom>
        </p:spPr>
      </p:pic>
      <p:sp>
        <p:nvSpPr>
          <p:cNvPr id="6" name="TextBox 5"/>
          <p:cNvSpPr txBox="1"/>
          <p:nvPr/>
        </p:nvSpPr>
        <p:spPr>
          <a:xfrm>
            <a:off x="7726679" y="1664208"/>
            <a:ext cx="377647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WHERE THE WIN IS</a:t>
            </a:r>
          </a:p>
        </p:txBody>
      </p:sp>
      <p:sp>
        <p:nvSpPr>
          <p:cNvPr id="7" name="TextBox 6"/>
          <p:cNvSpPr txBox="1"/>
          <p:nvPr/>
        </p:nvSpPr>
        <p:spPr>
          <a:xfrm>
            <a:off x="7726679" y="1993392"/>
            <a:ext cx="3776472" cy="3108960"/>
          </a:xfrm>
          <a:prstGeom prst="rect">
            <a:avLst/>
          </a:prstGeom>
          <a:noFill/>
        </p:spPr>
        <p:txBody>
          <a:bodyPr wrap="square" lIns="0" rIns="0">
            <a:spAutoFit/>
          </a:bodyPr>
          <a:lstStyle/>
          <a:p>
            <a:pPr>
              <a:lnSpc>
                <a:spcPct val="114000"/>
              </a:lnSpc>
              <a:spcAft>
                <a:spcPts val="1200"/>
              </a:spcAft>
            </a:pPr>
            <a:r>
              <a:rPr sz="1650" b="0">
                <a:solidFill>
                  <a:srgbClr val="1A1A1A"/>
                </a:solidFill>
                <a:latin typeface="DejaVu Serif"/>
              </a:rPr>
              <a:t>A first sparse query is level with v2: both pay the coarse pass, and global matching needs the whole image, so it cannot be skipped.</a:t>
            </a:r>
          </a:p>
          <a:p>
            <a:pPr>
              <a:lnSpc>
                <a:spcPct val="114000"/>
              </a:lnSpc>
              <a:spcAft>
                <a:spcPts val="1200"/>
              </a:spcAft>
            </a:pPr>
            <a:r>
              <a:rPr sz="1650" b="0">
                <a:solidFill>
                  <a:srgbClr val="1A1A1A"/>
                </a:solidFill>
                <a:latin typeface="DejaVu Serif"/>
              </a:rPr>
              <a:t>v2 keeps no state, so a second question costs a full recomputation.</a:t>
            </a:r>
          </a:p>
        </p:txBody>
      </p:sp>
      <p:sp>
        <p:nvSpPr>
          <p:cNvPr id="8" name="Rectangle 7"/>
          <p:cNvSpPr/>
          <p:nvPr/>
        </p:nvSpPr>
        <p:spPr>
          <a:xfrm>
            <a:off x="7726679" y="4823956"/>
            <a:ext cx="31750" cy="372237"/>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59" y="4796524"/>
            <a:ext cx="3593591" cy="372237"/>
          </a:xfrm>
          <a:prstGeom prst="rect">
            <a:avLst/>
          </a:prstGeom>
          <a:noFill/>
        </p:spPr>
        <p:txBody>
          <a:bodyPr wrap="square" lIns="0" rIns="0" tIns="0" bIns="0">
            <a:spAutoFit/>
          </a:bodyPr>
          <a:lstStyle/>
          <a:p>
            <a:pPr algn="l">
              <a:lnSpc>
                <a:spcPct val="130000"/>
              </a:lnSpc>
            </a:pPr>
            <a:r>
              <a:rPr sz="1650" b="1">
                <a:solidFill>
                  <a:srgbClr val="1A1A1A"/>
                </a:solidFill>
                <a:latin typeface="DejaVu Serif"/>
              </a:rPr>
              <a:t>27x on repeat access</a:t>
            </a:r>
          </a:p>
        </p:txBody>
      </p:sp>
      <p:sp>
        <p:nvSpPr>
          <p:cNvPr id="10" name="TextBox 9"/>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RTX 4060 laptop, fp16, 384 x 1248, median of 50 runs after warm-up.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10</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Predicted confidence tracks real error</a:t>
            </a:r>
          </a:p>
          <a:p>
            <a:pPr algn="l">
              <a:lnSpc>
                <a:spcPct val="110000"/>
              </a:lnSpc>
            </a:pPr>
            <a:r>
              <a:rPr sz="3000" b="1">
                <a:solidFill>
                  <a:srgbClr val="1A1A1A"/>
                </a:solidFill>
                <a:latin typeface="DejaVu Serif"/>
              </a:rPr>
              <a:t>monotonically across a 15-fold span</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alibration_bars.png"/>
          <p:cNvPicPr>
            <a:picLocks noChangeAspect="1"/>
          </p:cNvPicPr>
          <p:nvPr/>
        </p:nvPicPr>
        <p:blipFill>
          <a:blip r:embed="rId2"/>
          <a:stretch>
            <a:fillRect/>
          </a:stretch>
        </p:blipFill>
        <p:spPr>
          <a:xfrm>
            <a:off x="685800" y="1783080"/>
            <a:ext cx="6766560" cy="3563215"/>
          </a:xfrm>
          <a:prstGeom prst="rect">
            <a:avLst/>
          </a:prstGeom>
        </p:spPr>
      </p:pic>
      <p:sp>
        <p:nvSpPr>
          <p:cNvPr id="6" name="TextBox 5"/>
          <p:cNvSpPr txBox="1"/>
          <p:nvPr/>
        </p:nvSpPr>
        <p:spPr>
          <a:xfrm>
            <a:off x="7726679" y="1664208"/>
            <a:ext cx="377647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WHY IT IS USABLE</a:t>
            </a:r>
          </a:p>
        </p:txBody>
      </p:sp>
      <p:sp>
        <p:nvSpPr>
          <p:cNvPr id="7" name="TextBox 6"/>
          <p:cNvSpPr txBox="1"/>
          <p:nvPr/>
        </p:nvSpPr>
        <p:spPr>
          <a:xfrm>
            <a:off x="7726679" y="1993392"/>
            <a:ext cx="3776472" cy="3108960"/>
          </a:xfrm>
          <a:prstGeom prst="rect">
            <a:avLst/>
          </a:prstGeom>
          <a:noFill/>
        </p:spPr>
        <p:txBody>
          <a:bodyPr wrap="square" lIns="0" rIns="0">
            <a:spAutoFit/>
          </a:bodyPr>
          <a:lstStyle/>
          <a:p>
            <a:pPr>
              <a:lnSpc>
                <a:spcPct val="114000"/>
              </a:lnSpc>
              <a:spcAft>
                <a:spcPts val="1200"/>
              </a:spcAft>
            </a:pPr>
            <a:r>
              <a:rPr sz="1650" b="0">
                <a:solidFill>
                  <a:srgbClr val="1A1A1A"/>
                </a:solidFill>
                <a:latin typeface="DejaVu Serif"/>
              </a:rPr>
              <a:t>Weight correspondences in RANSAC by predicted scale.</a:t>
            </a:r>
          </a:p>
          <a:p>
            <a:pPr>
              <a:lnSpc>
                <a:spcPct val="114000"/>
              </a:lnSpc>
              <a:spcAft>
                <a:spcPts val="1200"/>
              </a:spcAft>
            </a:pPr>
            <a:r>
              <a:rPr sz="1650" b="0">
                <a:solidFill>
                  <a:srgbClr val="1A1A1A"/>
                </a:solidFill>
                <a:latin typeface="DejaVu Serif"/>
              </a:rPr>
              <a:t>Reject unreliable matches before they reach a solver.</a:t>
            </a:r>
          </a:p>
          <a:p>
            <a:pPr>
              <a:lnSpc>
                <a:spcPct val="114000"/>
              </a:lnSpc>
              <a:spcAft>
                <a:spcPts val="1200"/>
              </a:spcAft>
            </a:pPr>
            <a:r>
              <a:rPr sz="1650" b="0">
                <a:solidFill>
                  <a:srgbClr val="1A1A1A"/>
                </a:solidFill>
                <a:latin typeface="DejaVu Serif"/>
              </a:rPr>
              <a:t>v2 emits flow alone. There is no equivalent quantity to compare against.</a:t>
            </a:r>
          </a:p>
        </p:txBody>
      </p:sp>
      <p:sp>
        <p:nvSpPr>
          <p:cNvPr id="8" name="Rectangle 7"/>
          <p:cNvSpPr/>
          <p:nvPr/>
        </p:nvSpPr>
        <p:spPr>
          <a:xfrm>
            <a:off x="7726679" y="4693260"/>
            <a:ext cx="31750" cy="65303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59" y="4665828"/>
            <a:ext cx="3593591" cy="653034"/>
          </a:xfrm>
          <a:prstGeom prst="rect">
            <a:avLst/>
          </a:prstGeom>
          <a:noFill/>
        </p:spPr>
        <p:txBody>
          <a:bodyPr wrap="square" lIns="0" rIns="0" tIns="0" bIns="0">
            <a:spAutoFit/>
          </a:bodyPr>
          <a:lstStyle/>
          <a:p>
            <a:pPr algn="l">
              <a:lnSpc>
                <a:spcPct val="130000"/>
              </a:lnSpc>
            </a:pPr>
            <a:r>
              <a:rPr sz="1650" b="1">
                <a:solidFill>
                  <a:srgbClr val="1A1A1A"/>
                </a:solidFill>
                <a:latin typeface="DejaVu Serif"/>
              </a:rPr>
              <a:t>0.48 px to 7.10 px</a:t>
            </a:r>
          </a:p>
          <a:p>
            <a:pPr algn="l">
              <a:lnSpc>
                <a:spcPct val="130000"/>
              </a:lnSpc>
            </a:pPr>
            <a:r>
              <a:rPr sz="1650" b="1">
                <a:solidFill>
                  <a:srgbClr val="1A1A1A"/>
                </a:solidFill>
                <a:latin typeface="DejaVu Serif"/>
              </a:rPr>
              <a:t>across five bins</a:t>
            </a:r>
          </a:p>
        </p:txBody>
      </p:sp>
      <p:sp>
        <p:nvSpPr>
          <p:cNvPr id="10" name="TextBox 9"/>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Per-query error scale under a Laplace likelihood. 2,348,000 queries, Pearson r = 0.318.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11</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Abstaining on 20 percent of queries makes</a:t>
            </a:r>
          </a:p>
          <a:p>
            <a:pPr algn="l">
              <a:lnSpc>
                <a:spcPct val="110000"/>
              </a:lnSpc>
            </a:pPr>
            <a:r>
              <a:rPr sz="3000" b="1">
                <a:solidFill>
                  <a:srgbClr val="1A1A1A"/>
                </a:solidFill>
                <a:latin typeface="DejaVu Serif"/>
              </a:rPr>
              <a:t>v3 2.2x more accurate than v2</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lective_accuracy.png"/>
          <p:cNvPicPr>
            <a:picLocks noChangeAspect="1"/>
          </p:cNvPicPr>
          <p:nvPr/>
        </p:nvPicPr>
        <p:blipFill>
          <a:blip r:embed="rId2"/>
          <a:stretch>
            <a:fillRect/>
          </a:stretch>
        </p:blipFill>
        <p:spPr>
          <a:xfrm>
            <a:off x="685800" y="1828800"/>
            <a:ext cx="6766560" cy="3671219"/>
          </a:xfrm>
          <a:prstGeom prst="rect">
            <a:avLst/>
          </a:prstGeom>
        </p:spPr>
      </p:pic>
      <p:sp>
        <p:nvSpPr>
          <p:cNvPr id="6" name="TextBox 5"/>
          <p:cNvSpPr txBox="1"/>
          <p:nvPr/>
        </p:nvSpPr>
        <p:spPr>
          <a:xfrm>
            <a:off x="7726679" y="1664208"/>
            <a:ext cx="377647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WHY THIS IS THE RIGHT COMPARISON</a:t>
            </a:r>
          </a:p>
        </p:txBody>
      </p:sp>
      <p:sp>
        <p:nvSpPr>
          <p:cNvPr id="7" name="TextBox 6"/>
          <p:cNvSpPr txBox="1"/>
          <p:nvPr/>
        </p:nvSpPr>
        <p:spPr>
          <a:xfrm>
            <a:off x="7726679" y="1993392"/>
            <a:ext cx="3776472" cy="3108960"/>
          </a:xfrm>
          <a:prstGeom prst="rect">
            <a:avLst/>
          </a:prstGeom>
          <a:noFill/>
        </p:spPr>
        <p:txBody>
          <a:bodyPr wrap="square" lIns="0" rIns="0">
            <a:spAutoFit/>
          </a:bodyPr>
          <a:lstStyle/>
          <a:p>
            <a:pPr>
              <a:lnSpc>
                <a:spcPct val="114000"/>
              </a:lnSpc>
              <a:spcAft>
                <a:spcPts val="1200"/>
              </a:spcAft>
            </a:pPr>
            <a:r>
              <a:rPr sz="1650" b="0">
                <a:solidFill>
                  <a:srgbClr val="1A1A1A"/>
                </a:solidFill>
                <a:latin typeface="DejaVu Serif"/>
              </a:rPr>
              <a:t>Mean error over all pixels is one operating point, and the only one a model without confidence has.</a:t>
            </a:r>
          </a:p>
          <a:p>
            <a:pPr>
              <a:lnSpc>
                <a:spcPct val="114000"/>
              </a:lnSpc>
              <a:spcAft>
                <a:spcPts val="1200"/>
              </a:spcAft>
            </a:pPr>
            <a:r>
              <a:rPr sz="1650" b="0">
                <a:solidFill>
                  <a:srgbClr val="1A1A1A"/>
                </a:solidFill>
                <a:latin typeface="DejaVu Serif"/>
              </a:rPr>
              <a:t>Registration picks a few hundred points anyway, so declining to answer costs nothing it would have used.</a:t>
            </a:r>
          </a:p>
        </p:txBody>
      </p:sp>
      <p:sp>
        <p:nvSpPr>
          <p:cNvPr id="8" name="Rectangle 7"/>
          <p:cNvSpPr/>
          <p:nvPr/>
        </p:nvSpPr>
        <p:spPr>
          <a:xfrm>
            <a:off x="7726679" y="4846984"/>
            <a:ext cx="31750" cy="653034"/>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09559" y="4819552"/>
            <a:ext cx="3593591" cy="653034"/>
          </a:xfrm>
          <a:prstGeom prst="rect">
            <a:avLst/>
          </a:prstGeom>
          <a:noFill/>
        </p:spPr>
        <p:txBody>
          <a:bodyPr wrap="square" lIns="0" rIns="0" tIns="0" bIns="0">
            <a:spAutoFit/>
          </a:bodyPr>
          <a:lstStyle/>
          <a:p>
            <a:pPr algn="l">
              <a:lnSpc>
                <a:spcPct val="130000"/>
              </a:lnSpc>
            </a:pPr>
            <a:r>
              <a:rPr sz="1650" b="1">
                <a:solidFill>
                  <a:srgbClr val="1A1A1A"/>
                </a:solidFill>
                <a:latin typeface="DejaVu Serif"/>
              </a:rPr>
              <a:t>1.06 px at 80% coverage</a:t>
            </a:r>
          </a:p>
          <a:p>
            <a:pPr algn="l">
              <a:lnSpc>
                <a:spcPct val="130000"/>
              </a:lnSpc>
            </a:pPr>
            <a:r>
              <a:rPr sz="1650" b="1">
                <a:solidFill>
                  <a:srgbClr val="1A1A1A"/>
                </a:solidFill>
                <a:latin typeface="DejaVu Serif"/>
              </a:rPr>
              <a:t>against v2 at 2.32</a:t>
            </a:r>
          </a:p>
        </p:txBody>
      </p:sp>
      <p:sp>
        <p:nvSpPr>
          <p:cNvPr id="10" name="TextBox 9"/>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Same 2,348,000 queries as the calibration bins. Coverage is the share of queries answered.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12</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Processing 14 percent of the frame costs</a:t>
            </a:r>
          </a:p>
          <a:p>
            <a:pPr algn="l">
              <a:lnSpc>
                <a:spcPct val="110000"/>
              </a:lnSpc>
            </a:pPr>
            <a:r>
              <a:rPr sz="3000" b="1">
                <a:solidFill>
                  <a:srgbClr val="1A1A1A"/>
                </a:solidFill>
                <a:latin typeface="DejaVu Serif"/>
              </a:rPr>
              <a:t>0.034 px and runs 4.4x faster</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664208"/>
            <a:ext cx="7013448"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09928"/>
            <a:ext cx="2697480" cy="270510"/>
          </a:xfrm>
          <a:prstGeom prst="rect">
            <a:avLst/>
          </a:prstGeom>
          <a:noFill/>
        </p:spPr>
        <p:txBody>
          <a:bodyPr wrap="square" lIns="0" rIns="0" tIns="0" bIns="0">
            <a:spAutoFit/>
          </a:bodyPr>
          <a:lstStyle/>
          <a:p>
            <a:pPr algn="l">
              <a:lnSpc>
                <a:spcPct val="100000"/>
              </a:lnSpc>
            </a:pPr>
            <a:r>
              <a:rPr sz="1500" b="1">
                <a:solidFill>
                  <a:srgbClr val="5A5A5A"/>
                </a:solidFill>
                <a:latin typeface="DejaVu Serif"/>
              </a:rPr>
              <a:t>Region processed</a:t>
            </a:r>
          </a:p>
        </p:txBody>
      </p:sp>
      <p:sp>
        <p:nvSpPr>
          <p:cNvPr id="7" name="TextBox 6"/>
          <p:cNvSpPr txBox="1"/>
          <p:nvPr/>
        </p:nvSpPr>
        <p:spPr>
          <a:xfrm>
            <a:off x="3383280" y="1709928"/>
            <a:ext cx="758952"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Area</a:t>
            </a:r>
          </a:p>
        </p:txBody>
      </p:sp>
      <p:sp>
        <p:nvSpPr>
          <p:cNvPr id="8" name="TextBox 7"/>
          <p:cNvSpPr txBox="1"/>
          <p:nvPr/>
        </p:nvSpPr>
        <p:spPr>
          <a:xfrm>
            <a:off x="4142232" y="1709928"/>
            <a:ext cx="950976"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Latency</a:t>
            </a:r>
          </a:p>
        </p:txBody>
      </p:sp>
      <p:sp>
        <p:nvSpPr>
          <p:cNvPr id="9" name="TextBox 8"/>
          <p:cNvSpPr txBox="1"/>
          <p:nvPr/>
        </p:nvSpPr>
        <p:spPr>
          <a:xfrm>
            <a:off x="5093208" y="1709928"/>
            <a:ext cx="1024128"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Speedup</a:t>
            </a:r>
          </a:p>
        </p:txBody>
      </p:sp>
      <p:sp>
        <p:nvSpPr>
          <p:cNvPr id="10" name="TextBox 9"/>
          <p:cNvSpPr txBox="1"/>
          <p:nvPr/>
        </p:nvSpPr>
        <p:spPr>
          <a:xfrm>
            <a:off x="6117336" y="1709928"/>
            <a:ext cx="1581912"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EPE in region</a:t>
            </a:r>
          </a:p>
        </p:txBody>
      </p:sp>
      <p:sp>
        <p:nvSpPr>
          <p:cNvPr id="11" name="Rectangle 10"/>
          <p:cNvSpPr/>
          <p:nvPr/>
        </p:nvSpPr>
        <p:spPr>
          <a:xfrm>
            <a:off x="685800" y="2007870"/>
            <a:ext cx="7013448"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081022"/>
            <a:ext cx="269748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Full frame</a:t>
            </a:r>
          </a:p>
        </p:txBody>
      </p:sp>
      <p:sp>
        <p:nvSpPr>
          <p:cNvPr id="13" name="TextBox 12"/>
          <p:cNvSpPr txBox="1"/>
          <p:nvPr/>
        </p:nvSpPr>
        <p:spPr>
          <a:xfrm>
            <a:off x="3383280" y="2081022"/>
            <a:ext cx="75895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100%</a:t>
            </a:r>
          </a:p>
        </p:txBody>
      </p:sp>
      <p:sp>
        <p:nvSpPr>
          <p:cNvPr id="14" name="TextBox 13"/>
          <p:cNvSpPr txBox="1"/>
          <p:nvPr/>
        </p:nvSpPr>
        <p:spPr>
          <a:xfrm>
            <a:off x="4142232" y="2081022"/>
            <a:ext cx="950976"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33.3 ms</a:t>
            </a:r>
          </a:p>
        </p:txBody>
      </p:sp>
      <p:sp>
        <p:nvSpPr>
          <p:cNvPr id="15" name="TextBox 14"/>
          <p:cNvSpPr txBox="1"/>
          <p:nvPr/>
        </p:nvSpPr>
        <p:spPr>
          <a:xfrm>
            <a:off x="5093208" y="2081022"/>
            <a:ext cx="1024128"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1.0x</a:t>
            </a:r>
          </a:p>
        </p:txBody>
      </p:sp>
      <p:sp>
        <p:nvSpPr>
          <p:cNvPr id="16" name="TextBox 15"/>
          <p:cNvSpPr txBox="1"/>
          <p:nvPr/>
        </p:nvSpPr>
        <p:spPr>
          <a:xfrm>
            <a:off x="6117336" y="2081022"/>
            <a:ext cx="158191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0.657</a:t>
            </a:r>
          </a:p>
        </p:txBody>
      </p:sp>
      <p:sp>
        <p:nvSpPr>
          <p:cNvPr id="17" name="TextBox 16"/>
          <p:cNvSpPr txBox="1"/>
          <p:nvPr/>
        </p:nvSpPr>
        <p:spPr>
          <a:xfrm>
            <a:off x="685800" y="2351532"/>
            <a:ext cx="269748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Region, no margin</a:t>
            </a:r>
          </a:p>
        </p:txBody>
      </p:sp>
      <p:sp>
        <p:nvSpPr>
          <p:cNvPr id="18" name="TextBox 17"/>
          <p:cNvSpPr txBox="1"/>
          <p:nvPr/>
        </p:nvSpPr>
        <p:spPr>
          <a:xfrm>
            <a:off x="3383280" y="2351532"/>
            <a:ext cx="75895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7.9%</a:t>
            </a:r>
          </a:p>
        </p:txBody>
      </p:sp>
      <p:sp>
        <p:nvSpPr>
          <p:cNvPr id="19" name="TextBox 18"/>
          <p:cNvSpPr txBox="1"/>
          <p:nvPr/>
        </p:nvSpPr>
        <p:spPr>
          <a:xfrm>
            <a:off x="4142232" y="2351532"/>
            <a:ext cx="950976"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7.8 ms</a:t>
            </a:r>
          </a:p>
        </p:txBody>
      </p:sp>
      <p:sp>
        <p:nvSpPr>
          <p:cNvPr id="20" name="TextBox 19"/>
          <p:cNvSpPr txBox="1"/>
          <p:nvPr/>
        </p:nvSpPr>
        <p:spPr>
          <a:xfrm>
            <a:off x="5093208" y="2351532"/>
            <a:ext cx="1024128"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4.3x</a:t>
            </a:r>
          </a:p>
        </p:txBody>
      </p:sp>
      <p:sp>
        <p:nvSpPr>
          <p:cNvPr id="21" name="TextBox 20"/>
          <p:cNvSpPr txBox="1"/>
          <p:nvPr/>
        </p:nvSpPr>
        <p:spPr>
          <a:xfrm>
            <a:off x="6117336" y="2351532"/>
            <a:ext cx="158191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1.089</a:t>
            </a:r>
          </a:p>
        </p:txBody>
      </p:sp>
      <p:sp>
        <p:nvSpPr>
          <p:cNvPr id="22" name="TextBox 21"/>
          <p:cNvSpPr txBox="1"/>
          <p:nvPr/>
        </p:nvSpPr>
        <p:spPr>
          <a:xfrm>
            <a:off x="685800" y="2622042"/>
            <a:ext cx="2697480" cy="270510"/>
          </a:xfrm>
          <a:prstGeom prst="rect">
            <a:avLst/>
          </a:prstGeom>
          <a:noFill/>
        </p:spPr>
        <p:txBody>
          <a:bodyPr wrap="square" lIns="0" rIns="0" tIns="0" bIns="0">
            <a:spAutoFit/>
          </a:bodyPr>
          <a:lstStyle/>
          <a:p>
            <a:pPr algn="l">
              <a:lnSpc>
                <a:spcPct val="100000"/>
              </a:lnSpc>
            </a:pPr>
            <a:r>
              <a:rPr sz="1500" b="1">
                <a:solidFill>
                  <a:srgbClr val="1A1A1A"/>
                </a:solidFill>
                <a:latin typeface="DejaVu Serif"/>
              </a:rPr>
              <a:t>Region + 32 px margin</a:t>
            </a:r>
          </a:p>
        </p:txBody>
      </p:sp>
      <p:sp>
        <p:nvSpPr>
          <p:cNvPr id="23" name="TextBox 22"/>
          <p:cNvSpPr txBox="1"/>
          <p:nvPr/>
        </p:nvSpPr>
        <p:spPr>
          <a:xfrm>
            <a:off x="3383280" y="2622042"/>
            <a:ext cx="758952" cy="270510"/>
          </a:xfrm>
          <a:prstGeom prst="rect">
            <a:avLst/>
          </a:prstGeom>
          <a:noFill/>
        </p:spPr>
        <p:txBody>
          <a:bodyPr wrap="square" lIns="0" rIns="0" tIns="0" bIns="0">
            <a:spAutoFit/>
          </a:bodyPr>
          <a:lstStyle/>
          <a:p>
            <a:pPr algn="r">
              <a:lnSpc>
                <a:spcPct val="100000"/>
              </a:lnSpc>
            </a:pPr>
            <a:r>
              <a:rPr sz="1500" b="1">
                <a:solidFill>
                  <a:srgbClr val="1A1A1A"/>
                </a:solidFill>
                <a:latin typeface="DejaVu Serif"/>
              </a:rPr>
              <a:t>13.8%</a:t>
            </a:r>
          </a:p>
        </p:txBody>
      </p:sp>
      <p:sp>
        <p:nvSpPr>
          <p:cNvPr id="24" name="TextBox 23"/>
          <p:cNvSpPr txBox="1"/>
          <p:nvPr/>
        </p:nvSpPr>
        <p:spPr>
          <a:xfrm>
            <a:off x="4142232" y="2622042"/>
            <a:ext cx="950976" cy="270510"/>
          </a:xfrm>
          <a:prstGeom prst="rect">
            <a:avLst/>
          </a:prstGeom>
          <a:noFill/>
        </p:spPr>
        <p:txBody>
          <a:bodyPr wrap="square" lIns="0" rIns="0" tIns="0" bIns="0">
            <a:spAutoFit/>
          </a:bodyPr>
          <a:lstStyle/>
          <a:p>
            <a:pPr algn="r">
              <a:lnSpc>
                <a:spcPct val="100000"/>
              </a:lnSpc>
            </a:pPr>
            <a:r>
              <a:rPr sz="1500" b="1">
                <a:solidFill>
                  <a:srgbClr val="1A1A1A"/>
                </a:solidFill>
                <a:latin typeface="DejaVu Serif"/>
              </a:rPr>
              <a:t>7.6 ms</a:t>
            </a:r>
          </a:p>
        </p:txBody>
      </p:sp>
      <p:sp>
        <p:nvSpPr>
          <p:cNvPr id="25" name="TextBox 24"/>
          <p:cNvSpPr txBox="1"/>
          <p:nvPr/>
        </p:nvSpPr>
        <p:spPr>
          <a:xfrm>
            <a:off x="5093208" y="2622042"/>
            <a:ext cx="1024128" cy="270510"/>
          </a:xfrm>
          <a:prstGeom prst="rect">
            <a:avLst/>
          </a:prstGeom>
          <a:noFill/>
        </p:spPr>
        <p:txBody>
          <a:bodyPr wrap="square" lIns="0" rIns="0" tIns="0" bIns="0">
            <a:spAutoFit/>
          </a:bodyPr>
          <a:lstStyle/>
          <a:p>
            <a:pPr algn="r">
              <a:lnSpc>
                <a:spcPct val="100000"/>
              </a:lnSpc>
            </a:pPr>
            <a:r>
              <a:rPr sz="1500" b="1">
                <a:solidFill>
                  <a:srgbClr val="1A1A1A"/>
                </a:solidFill>
                <a:latin typeface="DejaVu Serif"/>
              </a:rPr>
              <a:t>4.4x</a:t>
            </a:r>
          </a:p>
        </p:txBody>
      </p:sp>
      <p:sp>
        <p:nvSpPr>
          <p:cNvPr id="26" name="TextBox 25"/>
          <p:cNvSpPr txBox="1"/>
          <p:nvPr/>
        </p:nvSpPr>
        <p:spPr>
          <a:xfrm>
            <a:off x="6117336" y="2622042"/>
            <a:ext cx="1581912" cy="270510"/>
          </a:xfrm>
          <a:prstGeom prst="rect">
            <a:avLst/>
          </a:prstGeom>
          <a:noFill/>
        </p:spPr>
        <p:txBody>
          <a:bodyPr wrap="square" lIns="0" rIns="0" tIns="0" bIns="0">
            <a:spAutoFit/>
          </a:bodyPr>
          <a:lstStyle/>
          <a:p>
            <a:pPr algn="r">
              <a:lnSpc>
                <a:spcPct val="100000"/>
              </a:lnSpc>
            </a:pPr>
            <a:r>
              <a:rPr sz="1500" b="1">
                <a:solidFill>
                  <a:srgbClr val="1A1A1A"/>
                </a:solidFill>
                <a:latin typeface="DejaVu Serif"/>
              </a:rPr>
              <a:t>0.691</a:t>
            </a:r>
          </a:p>
        </p:txBody>
      </p:sp>
      <p:sp>
        <p:nvSpPr>
          <p:cNvPr id="27" name="TextBox 26"/>
          <p:cNvSpPr txBox="1"/>
          <p:nvPr/>
        </p:nvSpPr>
        <p:spPr>
          <a:xfrm>
            <a:off x="685800" y="2892552"/>
            <a:ext cx="269748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Region + 64 px margin</a:t>
            </a:r>
          </a:p>
        </p:txBody>
      </p:sp>
      <p:sp>
        <p:nvSpPr>
          <p:cNvPr id="28" name="TextBox 27"/>
          <p:cNvSpPr txBox="1"/>
          <p:nvPr/>
        </p:nvSpPr>
        <p:spPr>
          <a:xfrm>
            <a:off x="3383280" y="2892552"/>
            <a:ext cx="75895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20.1%</a:t>
            </a:r>
          </a:p>
        </p:txBody>
      </p:sp>
      <p:sp>
        <p:nvSpPr>
          <p:cNvPr id="29" name="TextBox 28"/>
          <p:cNvSpPr txBox="1"/>
          <p:nvPr/>
        </p:nvSpPr>
        <p:spPr>
          <a:xfrm>
            <a:off x="4142232" y="2892552"/>
            <a:ext cx="950976"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8.1 ms</a:t>
            </a:r>
          </a:p>
        </p:txBody>
      </p:sp>
      <p:sp>
        <p:nvSpPr>
          <p:cNvPr id="30" name="TextBox 29"/>
          <p:cNvSpPr txBox="1"/>
          <p:nvPr/>
        </p:nvSpPr>
        <p:spPr>
          <a:xfrm>
            <a:off x="5093208" y="2892552"/>
            <a:ext cx="1024128"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4.1x</a:t>
            </a:r>
          </a:p>
        </p:txBody>
      </p:sp>
      <p:sp>
        <p:nvSpPr>
          <p:cNvPr id="31" name="TextBox 30"/>
          <p:cNvSpPr txBox="1"/>
          <p:nvPr/>
        </p:nvSpPr>
        <p:spPr>
          <a:xfrm>
            <a:off x="6117336" y="2892552"/>
            <a:ext cx="158191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0.667</a:t>
            </a:r>
          </a:p>
        </p:txBody>
      </p:sp>
      <p:sp>
        <p:nvSpPr>
          <p:cNvPr id="32" name="TextBox 31"/>
          <p:cNvSpPr txBox="1"/>
          <p:nvPr/>
        </p:nvSpPr>
        <p:spPr>
          <a:xfrm>
            <a:off x="685800" y="3163062"/>
            <a:ext cx="269748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Region + 128 px margin</a:t>
            </a:r>
          </a:p>
        </p:txBody>
      </p:sp>
      <p:sp>
        <p:nvSpPr>
          <p:cNvPr id="33" name="TextBox 32"/>
          <p:cNvSpPr txBox="1"/>
          <p:nvPr/>
        </p:nvSpPr>
        <p:spPr>
          <a:xfrm>
            <a:off x="3383280" y="3163062"/>
            <a:ext cx="75895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34.2%</a:t>
            </a:r>
          </a:p>
        </p:txBody>
      </p:sp>
      <p:sp>
        <p:nvSpPr>
          <p:cNvPr id="34" name="TextBox 33"/>
          <p:cNvSpPr txBox="1"/>
          <p:nvPr/>
        </p:nvSpPr>
        <p:spPr>
          <a:xfrm>
            <a:off x="4142232" y="3163062"/>
            <a:ext cx="950976"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9.9 ms</a:t>
            </a:r>
          </a:p>
        </p:txBody>
      </p:sp>
      <p:sp>
        <p:nvSpPr>
          <p:cNvPr id="35" name="TextBox 34"/>
          <p:cNvSpPr txBox="1"/>
          <p:nvPr/>
        </p:nvSpPr>
        <p:spPr>
          <a:xfrm>
            <a:off x="5093208" y="3163062"/>
            <a:ext cx="1024128"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3.4x</a:t>
            </a:r>
          </a:p>
        </p:txBody>
      </p:sp>
      <p:sp>
        <p:nvSpPr>
          <p:cNvPr id="36" name="TextBox 35"/>
          <p:cNvSpPr txBox="1"/>
          <p:nvPr/>
        </p:nvSpPr>
        <p:spPr>
          <a:xfrm>
            <a:off x="6117336" y="3163062"/>
            <a:ext cx="1581912"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0.655</a:t>
            </a:r>
          </a:p>
        </p:txBody>
      </p:sp>
      <p:sp>
        <p:nvSpPr>
          <p:cNvPr id="37" name="Rectangle 36"/>
          <p:cNvSpPr/>
          <p:nvPr/>
        </p:nvSpPr>
        <p:spPr>
          <a:xfrm>
            <a:off x="685800" y="3470148"/>
            <a:ext cx="7013448"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01000" y="1664208"/>
            <a:ext cx="3502152" cy="18105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650" b="0">
                <a:solidFill>
                  <a:srgbClr val="1A1A1A"/>
                </a:solidFill>
                <a:latin typeface="DejaVu Serif"/>
              </a:rPr>
              <a:t>Design rule</a:t>
            </a:r>
          </a:p>
          <a:p>
            <a:pPr algn="ctr">
              <a:lnSpc>
                <a:spcPct val="120000"/>
              </a:lnSpc>
            </a:pPr>
            <a:r>
              <a:rPr sz="1650" b="0">
                <a:solidFill>
                  <a:srgbClr val="1A1A1A"/>
                </a:solidFill>
                <a:latin typeface="DejaVu Serif"/>
              </a:rPr>
              <a:t/>
            </a:r>
          </a:p>
          <a:p>
            <a:pPr algn="ctr">
              <a:lnSpc>
                <a:spcPct val="120000"/>
              </a:lnSpc>
            </a:pPr>
            <a:r>
              <a:rPr sz="1650" b="0">
                <a:solidFill>
                  <a:srgbClr val="1A1A1A"/>
                </a:solidFill>
                <a:latin typeface="DejaVu Serif"/>
              </a:rPr>
              <a:t>margin ≈ expected motion</a:t>
            </a:r>
          </a:p>
          <a:p>
            <a:pPr algn="ctr">
              <a:lnSpc>
                <a:spcPct val="120000"/>
              </a:lnSpc>
            </a:pPr>
            <a:r>
              <a:rPr sz="1650" b="0">
                <a:solidFill>
                  <a:srgbClr val="1A1A1A"/>
                </a:solidFill>
                <a:latin typeface="DejaVu Serif"/>
              </a:rPr>
              <a:t>≈ speed / frame rate</a:t>
            </a:r>
          </a:p>
        </p:txBody>
      </p:sp>
      <p:sp>
        <p:nvSpPr>
          <p:cNvPr id="39" name="Rectangle 38"/>
          <p:cNvSpPr/>
          <p:nvPr/>
        </p:nvSpPr>
        <p:spPr>
          <a:xfrm>
            <a:off x="685800" y="4480560"/>
            <a:ext cx="10820095"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The margin is not optional. Without one, error rises 65 percent and a quarter of large-motion pixels fail outright, because global matching loses the context it uses to locate distant correspondences.</a:t>
            </a:r>
          </a:p>
        </p:txBody>
      </p:sp>
      <p:sp>
        <p:nvSpPr>
          <p:cNvPr id="40" name="TextBox 39"/>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Applies to any network in this family, v2 included. A platform technique, not a property of the decoder.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13</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The margin a region needs is set by motion,</a:t>
            </a:r>
          </a:p>
          <a:p>
            <a:pPr algn="l">
              <a:lnSpc>
                <a:spcPct val="110000"/>
              </a:lnSpc>
            </a:pPr>
            <a:r>
              <a:rPr sz="3000" b="1">
                <a:solidFill>
                  <a:srgbClr val="1A1A1A"/>
                </a:solidFill>
                <a:latin typeface="DejaVu Serif"/>
              </a:rPr>
              <a:t>not by image size</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argin_rule.png"/>
          <p:cNvPicPr>
            <a:picLocks noChangeAspect="1"/>
          </p:cNvPicPr>
          <p:nvPr/>
        </p:nvPicPr>
        <p:blipFill>
          <a:blip r:embed="rId2"/>
          <a:stretch>
            <a:fillRect/>
          </a:stretch>
        </p:blipFill>
        <p:spPr>
          <a:xfrm>
            <a:off x="1435608" y="1719072"/>
            <a:ext cx="9326880" cy="3459634"/>
          </a:xfrm>
          <a:prstGeom prst="rect">
            <a:avLst/>
          </a:prstGeom>
        </p:spPr>
      </p:pic>
      <p:sp>
        <p:nvSpPr>
          <p:cNvPr id="6" name="Rectangle 5"/>
          <p:cNvSpPr/>
          <p:nvPr/>
        </p:nvSpPr>
        <p:spPr>
          <a:xfrm>
            <a:off x="685800" y="5248656"/>
            <a:ext cx="10820095"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Driving averages 26.6 px of motion and needs about 32 px of margin. Aerial averages 9.26 px and needs about 8. Both shed most of the penalty by one frame of motion.</a:t>
            </a:r>
          </a:p>
        </p:txBody>
      </p:sp>
      <p:sp>
        <p:nvSpPr>
          <p:cNvPr id="7" name="TextBox 6"/>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Measured with the baseline network. Agreement holds to a ratio of one; residuals beyond that differ by scene.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14</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A region discovered mid-frame costs 1.7 ms,</a:t>
            </a:r>
          </a:p>
          <a:p>
            <a:pPr algn="l">
              <a:lnSpc>
                <a:spcPct val="110000"/>
              </a:lnSpc>
            </a:pPr>
            <a:r>
              <a:rPr sz="3000" b="1">
                <a:solidFill>
                  <a:srgbClr val="1A1A1A"/>
                </a:solidFill>
                <a:latin typeface="DejaVu Serif"/>
              </a:rPr>
              <a:t>against 7.3 ms for a fresh crop</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enario3_marginal.png"/>
          <p:cNvPicPr>
            <a:picLocks noChangeAspect="1"/>
          </p:cNvPicPr>
          <p:nvPr/>
        </p:nvPicPr>
        <p:blipFill>
          <a:blip r:embed="rId2"/>
          <a:stretch>
            <a:fillRect/>
          </a:stretch>
        </p:blipFill>
        <p:spPr>
          <a:xfrm>
            <a:off x="1435608" y="1719072"/>
            <a:ext cx="9326880" cy="3453819"/>
          </a:xfrm>
          <a:prstGeom prst="rect">
            <a:avLst/>
          </a:prstGeom>
        </p:spPr>
      </p:pic>
      <p:sp>
        <p:nvSpPr>
          <p:cNvPr id="6" name="Rectangle 5"/>
          <p:cNvSpPr/>
          <p:nvPr/>
        </p:nvSpPr>
        <p:spPr>
          <a:xfrm>
            <a:off x="685800" y="5248656"/>
            <a:ext cx="10820095" cy="91440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The cached coarse state answers a question the platform did not have when the frame arrived. A cropped pipeline must run a whole new pass, and is less accurate doing it.</a:t>
            </a:r>
          </a:p>
        </p:txBody>
      </p:sp>
      <p:sp>
        <p:nvSpPr>
          <p:cNvPr id="7" name="TextBox 6"/>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Two disjoint crops cost more than one full frame, which gives a simple policy: crop once, or not at all.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15</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On a domain neither model trained for,</a:t>
            </a:r>
          </a:p>
          <a:p>
            <a:pPr algn="l">
              <a:lnSpc>
                <a:spcPct val="110000"/>
              </a:lnSpc>
            </a:pPr>
            <a:r>
              <a:rPr sz="3000" b="1">
                <a:solidFill>
                  <a:srgbClr val="1A1A1A"/>
                </a:solidFill>
                <a:latin typeface="DejaVu Serif"/>
              </a:rPr>
              <a:t>v3 leads at all seven margin settings</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975104"/>
            <a:ext cx="6263640"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20824"/>
            <a:ext cx="2331720" cy="270510"/>
          </a:xfrm>
          <a:prstGeom prst="rect">
            <a:avLst/>
          </a:prstGeom>
          <a:noFill/>
        </p:spPr>
        <p:txBody>
          <a:bodyPr wrap="square" lIns="0" rIns="0" tIns="0" bIns="0">
            <a:spAutoFit/>
          </a:bodyPr>
          <a:lstStyle/>
          <a:p>
            <a:pPr algn="l">
              <a:lnSpc>
                <a:spcPct val="100000"/>
              </a:lnSpc>
            </a:pPr>
            <a:r>
              <a:rPr sz="1500" b="1">
                <a:solidFill>
                  <a:srgbClr val="5A5A5A"/>
                </a:solidFill>
                <a:latin typeface="DejaVu Serif"/>
              </a:rPr>
              <a:t>Crop margin</a:t>
            </a:r>
          </a:p>
        </p:txBody>
      </p:sp>
      <p:sp>
        <p:nvSpPr>
          <p:cNvPr id="7" name="TextBox 6"/>
          <p:cNvSpPr txBox="1"/>
          <p:nvPr/>
        </p:nvSpPr>
        <p:spPr>
          <a:xfrm>
            <a:off x="3017520" y="2020824"/>
            <a:ext cx="1965960"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NeuFlow v2</a:t>
            </a:r>
          </a:p>
        </p:txBody>
      </p:sp>
      <p:sp>
        <p:nvSpPr>
          <p:cNvPr id="8" name="TextBox 7"/>
          <p:cNvSpPr txBox="1"/>
          <p:nvPr/>
        </p:nvSpPr>
        <p:spPr>
          <a:xfrm>
            <a:off x="4983479" y="2020824"/>
            <a:ext cx="1965960" cy="270510"/>
          </a:xfrm>
          <a:prstGeom prst="rect">
            <a:avLst/>
          </a:prstGeom>
          <a:noFill/>
        </p:spPr>
        <p:txBody>
          <a:bodyPr wrap="square" lIns="0" rIns="0" tIns="0" bIns="0">
            <a:spAutoFit/>
          </a:bodyPr>
          <a:lstStyle/>
          <a:p>
            <a:pPr algn="r">
              <a:lnSpc>
                <a:spcPct val="100000"/>
              </a:lnSpc>
            </a:pPr>
            <a:r>
              <a:rPr sz="1500" b="1">
                <a:solidFill>
                  <a:srgbClr val="5A5A5A"/>
                </a:solidFill>
                <a:latin typeface="DejaVu Serif"/>
              </a:rPr>
              <a:t>NeuFlow v3</a:t>
            </a:r>
          </a:p>
        </p:txBody>
      </p:sp>
      <p:sp>
        <p:nvSpPr>
          <p:cNvPr id="9" name="Rectangle 8"/>
          <p:cNvSpPr/>
          <p:nvPr/>
        </p:nvSpPr>
        <p:spPr>
          <a:xfrm>
            <a:off x="685800" y="2318766"/>
            <a:ext cx="6263640"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39191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full frame</a:t>
            </a:r>
          </a:p>
        </p:txBody>
      </p:sp>
      <p:sp>
        <p:nvSpPr>
          <p:cNvPr id="11" name="TextBox 10"/>
          <p:cNvSpPr txBox="1"/>
          <p:nvPr/>
        </p:nvSpPr>
        <p:spPr>
          <a:xfrm>
            <a:off x="3017520" y="239191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0.781</a:t>
            </a:r>
          </a:p>
        </p:txBody>
      </p:sp>
      <p:sp>
        <p:nvSpPr>
          <p:cNvPr id="12" name="TextBox 11"/>
          <p:cNvSpPr txBox="1"/>
          <p:nvPr/>
        </p:nvSpPr>
        <p:spPr>
          <a:xfrm>
            <a:off x="4983479" y="239191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0.777</a:t>
            </a:r>
          </a:p>
        </p:txBody>
      </p:sp>
      <p:sp>
        <p:nvSpPr>
          <p:cNvPr id="13" name="TextBox 12"/>
          <p:cNvSpPr txBox="1"/>
          <p:nvPr/>
        </p:nvSpPr>
        <p:spPr>
          <a:xfrm>
            <a:off x="685800" y="266242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0 px</a:t>
            </a:r>
          </a:p>
        </p:txBody>
      </p:sp>
      <p:sp>
        <p:nvSpPr>
          <p:cNvPr id="14" name="TextBox 13"/>
          <p:cNvSpPr txBox="1"/>
          <p:nvPr/>
        </p:nvSpPr>
        <p:spPr>
          <a:xfrm>
            <a:off x="3017520" y="266242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1.205</a:t>
            </a:r>
          </a:p>
        </p:txBody>
      </p:sp>
      <p:sp>
        <p:nvSpPr>
          <p:cNvPr id="15" name="TextBox 14"/>
          <p:cNvSpPr txBox="1"/>
          <p:nvPr/>
        </p:nvSpPr>
        <p:spPr>
          <a:xfrm>
            <a:off x="4983479" y="266242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1.176</a:t>
            </a:r>
          </a:p>
        </p:txBody>
      </p:sp>
      <p:sp>
        <p:nvSpPr>
          <p:cNvPr id="16" name="TextBox 15"/>
          <p:cNvSpPr txBox="1"/>
          <p:nvPr/>
        </p:nvSpPr>
        <p:spPr>
          <a:xfrm>
            <a:off x="685800" y="293293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8 px</a:t>
            </a:r>
          </a:p>
        </p:txBody>
      </p:sp>
      <p:sp>
        <p:nvSpPr>
          <p:cNvPr id="17" name="TextBox 16"/>
          <p:cNvSpPr txBox="1"/>
          <p:nvPr/>
        </p:nvSpPr>
        <p:spPr>
          <a:xfrm>
            <a:off x="3017520" y="293293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0.901</a:t>
            </a:r>
          </a:p>
        </p:txBody>
      </p:sp>
      <p:sp>
        <p:nvSpPr>
          <p:cNvPr id="18" name="TextBox 17"/>
          <p:cNvSpPr txBox="1"/>
          <p:nvPr/>
        </p:nvSpPr>
        <p:spPr>
          <a:xfrm>
            <a:off x="4983479" y="293293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0.881</a:t>
            </a:r>
          </a:p>
        </p:txBody>
      </p:sp>
      <p:sp>
        <p:nvSpPr>
          <p:cNvPr id="19" name="TextBox 18"/>
          <p:cNvSpPr txBox="1"/>
          <p:nvPr/>
        </p:nvSpPr>
        <p:spPr>
          <a:xfrm>
            <a:off x="685800" y="320344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16 px</a:t>
            </a:r>
          </a:p>
        </p:txBody>
      </p:sp>
      <p:sp>
        <p:nvSpPr>
          <p:cNvPr id="20" name="TextBox 19"/>
          <p:cNvSpPr txBox="1"/>
          <p:nvPr/>
        </p:nvSpPr>
        <p:spPr>
          <a:xfrm>
            <a:off x="3017520" y="320344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0.872</a:t>
            </a:r>
          </a:p>
        </p:txBody>
      </p:sp>
      <p:sp>
        <p:nvSpPr>
          <p:cNvPr id="21" name="TextBox 20"/>
          <p:cNvSpPr txBox="1"/>
          <p:nvPr/>
        </p:nvSpPr>
        <p:spPr>
          <a:xfrm>
            <a:off x="4983479" y="320344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0.865</a:t>
            </a:r>
          </a:p>
        </p:txBody>
      </p:sp>
      <p:sp>
        <p:nvSpPr>
          <p:cNvPr id="22" name="TextBox 21"/>
          <p:cNvSpPr txBox="1"/>
          <p:nvPr/>
        </p:nvSpPr>
        <p:spPr>
          <a:xfrm>
            <a:off x="685800" y="347395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24 px</a:t>
            </a:r>
          </a:p>
        </p:txBody>
      </p:sp>
      <p:sp>
        <p:nvSpPr>
          <p:cNvPr id="23" name="TextBox 22"/>
          <p:cNvSpPr txBox="1"/>
          <p:nvPr/>
        </p:nvSpPr>
        <p:spPr>
          <a:xfrm>
            <a:off x="3017520" y="347395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0.879</a:t>
            </a:r>
          </a:p>
        </p:txBody>
      </p:sp>
      <p:sp>
        <p:nvSpPr>
          <p:cNvPr id="24" name="TextBox 23"/>
          <p:cNvSpPr txBox="1"/>
          <p:nvPr/>
        </p:nvSpPr>
        <p:spPr>
          <a:xfrm>
            <a:off x="4983479" y="347395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0.854</a:t>
            </a:r>
          </a:p>
        </p:txBody>
      </p:sp>
      <p:sp>
        <p:nvSpPr>
          <p:cNvPr id="25" name="TextBox 24"/>
          <p:cNvSpPr txBox="1"/>
          <p:nvPr/>
        </p:nvSpPr>
        <p:spPr>
          <a:xfrm>
            <a:off x="685800" y="374446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32 px</a:t>
            </a:r>
          </a:p>
        </p:txBody>
      </p:sp>
      <p:sp>
        <p:nvSpPr>
          <p:cNvPr id="26" name="TextBox 25"/>
          <p:cNvSpPr txBox="1"/>
          <p:nvPr/>
        </p:nvSpPr>
        <p:spPr>
          <a:xfrm>
            <a:off x="3017520" y="374446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0.834</a:t>
            </a:r>
          </a:p>
        </p:txBody>
      </p:sp>
      <p:sp>
        <p:nvSpPr>
          <p:cNvPr id="27" name="TextBox 26"/>
          <p:cNvSpPr txBox="1"/>
          <p:nvPr/>
        </p:nvSpPr>
        <p:spPr>
          <a:xfrm>
            <a:off x="4983479" y="374446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0.814</a:t>
            </a:r>
          </a:p>
        </p:txBody>
      </p:sp>
      <p:sp>
        <p:nvSpPr>
          <p:cNvPr id="28" name="TextBox 27"/>
          <p:cNvSpPr txBox="1"/>
          <p:nvPr/>
        </p:nvSpPr>
        <p:spPr>
          <a:xfrm>
            <a:off x="685800" y="4014978"/>
            <a:ext cx="2331720" cy="270510"/>
          </a:xfrm>
          <a:prstGeom prst="rect">
            <a:avLst/>
          </a:prstGeom>
          <a:noFill/>
        </p:spPr>
        <p:txBody>
          <a:bodyPr wrap="square" lIns="0" rIns="0" tIns="0" bIns="0">
            <a:spAutoFit/>
          </a:bodyPr>
          <a:lstStyle/>
          <a:p>
            <a:pPr algn="l">
              <a:lnSpc>
                <a:spcPct val="100000"/>
              </a:lnSpc>
            </a:pPr>
            <a:r>
              <a:rPr sz="1500" b="0">
                <a:solidFill>
                  <a:srgbClr val="1A1A1A"/>
                </a:solidFill>
                <a:latin typeface="DejaVu Serif"/>
              </a:rPr>
              <a:t>64 px</a:t>
            </a:r>
          </a:p>
        </p:txBody>
      </p:sp>
      <p:sp>
        <p:nvSpPr>
          <p:cNvPr id="29" name="TextBox 28"/>
          <p:cNvSpPr txBox="1"/>
          <p:nvPr/>
        </p:nvSpPr>
        <p:spPr>
          <a:xfrm>
            <a:off x="3017520" y="401497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0.793</a:t>
            </a:r>
          </a:p>
        </p:txBody>
      </p:sp>
      <p:sp>
        <p:nvSpPr>
          <p:cNvPr id="30" name="TextBox 29"/>
          <p:cNvSpPr txBox="1"/>
          <p:nvPr/>
        </p:nvSpPr>
        <p:spPr>
          <a:xfrm>
            <a:off x="4983479" y="4014978"/>
            <a:ext cx="1965960" cy="270510"/>
          </a:xfrm>
          <a:prstGeom prst="rect">
            <a:avLst/>
          </a:prstGeom>
          <a:noFill/>
        </p:spPr>
        <p:txBody>
          <a:bodyPr wrap="square" lIns="0" rIns="0" tIns="0" bIns="0">
            <a:spAutoFit/>
          </a:bodyPr>
          <a:lstStyle/>
          <a:p>
            <a:pPr algn="r">
              <a:lnSpc>
                <a:spcPct val="100000"/>
              </a:lnSpc>
            </a:pPr>
            <a:r>
              <a:rPr sz="1500" b="0">
                <a:solidFill>
                  <a:srgbClr val="1A1A1A"/>
                </a:solidFill>
                <a:latin typeface="DejaVu Serif"/>
              </a:rPr>
              <a:t>0.778</a:t>
            </a:r>
          </a:p>
        </p:txBody>
      </p:sp>
      <p:sp>
        <p:nvSpPr>
          <p:cNvPr id="31" name="Rectangle 30"/>
          <p:cNvSpPr/>
          <p:nvPr/>
        </p:nvSpPr>
        <p:spPr>
          <a:xfrm>
            <a:off x="685800" y="4322064"/>
            <a:ext cx="6263640"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26679" y="1664208"/>
            <a:ext cx="377647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HOW MUCH IT COUNTS</a:t>
            </a:r>
          </a:p>
        </p:txBody>
      </p:sp>
      <p:sp>
        <p:nvSpPr>
          <p:cNvPr id="33" name="TextBox 32"/>
          <p:cNvSpPr txBox="1"/>
          <p:nvPr/>
        </p:nvSpPr>
        <p:spPr>
          <a:xfrm>
            <a:off x="7726679" y="1993392"/>
            <a:ext cx="3776472" cy="3108960"/>
          </a:xfrm>
          <a:prstGeom prst="rect">
            <a:avLst/>
          </a:prstGeom>
          <a:noFill/>
        </p:spPr>
        <p:txBody>
          <a:bodyPr wrap="square" lIns="0" rIns="0">
            <a:spAutoFit/>
          </a:bodyPr>
          <a:lstStyle/>
          <a:p>
            <a:pPr>
              <a:lnSpc>
                <a:spcPct val="114000"/>
              </a:lnSpc>
              <a:spcAft>
                <a:spcPts val="1200"/>
              </a:spcAft>
            </a:pPr>
            <a:r>
              <a:rPr sz="1650" b="0">
                <a:solidFill>
                  <a:srgbClr val="1A1A1A"/>
                </a:solidFill>
                <a:latin typeface="DejaVu Serif"/>
              </a:rPr>
              <a:t>The only unconfounded comparison in the deck. Every other table is on a domain v3 trained on and v2 did not.</a:t>
            </a:r>
          </a:p>
          <a:p>
            <a:pPr>
              <a:lnSpc>
                <a:spcPct val="114000"/>
              </a:lnSpc>
              <a:spcAft>
                <a:spcPts val="1200"/>
              </a:spcAft>
            </a:pPr>
            <a:r>
              <a:rPr sz="1650" b="0">
                <a:solidFill>
                  <a:srgbClr val="1A1A1A"/>
                </a:solidFill>
                <a:latin typeface="DejaVu Serif"/>
              </a:rPr>
              <a:t>Consistent rather than large: 0.004 to 0.029 px, over 40 pairs and one seed.</a:t>
            </a:r>
          </a:p>
          <a:p>
            <a:pPr>
              <a:lnSpc>
                <a:spcPct val="114000"/>
              </a:lnSpc>
              <a:spcAft>
                <a:spcPts val="1200"/>
              </a:spcAft>
            </a:pPr>
            <a:r>
              <a:rPr sz="1650" b="0">
                <a:solidFill>
                  <a:srgbClr val="1A1A1A"/>
                </a:solidFill>
                <a:latin typeface="DejaVu Serif"/>
              </a:rPr>
              <a:t>v3 is still worse on large-motion failures, 7.2% against 6.5%.</a:t>
            </a:r>
          </a:p>
        </p:txBody>
      </p:sp>
      <p:sp>
        <p:nvSpPr>
          <p:cNvPr id="34" name="TextBox 33"/>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Mean end-point error, px. v2 trained on FlyingThings; v3 on FlyingChairs, VKITTI 2 and Sintel. Neither trained on aerial imagery.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16</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The decoder earns its place when the</a:t>
            </a:r>
          </a:p>
          <a:p>
            <a:pPr algn="l">
              <a:lnSpc>
                <a:spcPct val="110000"/>
              </a:lnSpc>
            </a:pPr>
            <a:r>
              <a:rPr sz="3000" b="1">
                <a:solidFill>
                  <a:srgbClr val="1A1A1A"/>
                </a:solidFill>
                <a:latin typeface="DejaVu Serif"/>
              </a:rPr>
              <a:t>consumer chooses its own points</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64208"/>
            <a:ext cx="5120640"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USE THE DECODER WHEN</a:t>
            </a:r>
          </a:p>
        </p:txBody>
      </p:sp>
      <p:sp>
        <p:nvSpPr>
          <p:cNvPr id="6" name="TextBox 5"/>
          <p:cNvSpPr txBox="1"/>
          <p:nvPr/>
        </p:nvSpPr>
        <p:spPr>
          <a:xfrm>
            <a:off x="685800" y="2011680"/>
            <a:ext cx="5120640" cy="2377440"/>
          </a:xfrm>
          <a:prstGeom prst="rect">
            <a:avLst/>
          </a:prstGeom>
          <a:noFill/>
        </p:spPr>
        <p:txBody>
          <a:bodyPr wrap="square" lIns="0" rIns="0">
            <a:spAutoFit/>
          </a:bodyPr>
          <a:lstStyle/>
          <a:p>
            <a:pPr>
              <a:lnSpc>
                <a:spcPct val="114000"/>
              </a:lnSpc>
              <a:spcAft>
                <a:spcPts val="1300"/>
              </a:spcAft>
            </a:pPr>
            <a:r>
              <a:rPr sz="1650" b="0">
                <a:solidFill>
                  <a:srgbClr val="1A1A1A"/>
                </a:solidFill>
                <a:latin typeface="DejaVu Serif"/>
              </a:rPr>
              <a:t>The consumer selects its own query points.</a:t>
            </a:r>
          </a:p>
          <a:p>
            <a:pPr>
              <a:lnSpc>
                <a:spcPct val="114000"/>
              </a:lnSpc>
              <a:spcAft>
                <a:spcPts val="1300"/>
              </a:spcAft>
            </a:pPr>
            <a:r>
              <a:rPr sz="1650" b="0">
                <a:solidFill>
                  <a:srgbClr val="1A1A1A"/>
                </a:solidFill>
                <a:latin typeface="DejaVu Serif"/>
              </a:rPr>
              <a:t>A frame is revisited after it has been processed.</a:t>
            </a:r>
          </a:p>
          <a:p>
            <a:pPr>
              <a:lnSpc>
                <a:spcPct val="114000"/>
              </a:lnSpc>
              <a:spcAft>
                <a:spcPts val="1300"/>
              </a:spcAft>
            </a:pPr>
            <a:r>
              <a:rPr sz="1650" b="0">
                <a:solidFill>
                  <a:srgbClr val="1A1A1A"/>
                </a:solidFill>
                <a:latin typeface="DejaVu Serif"/>
              </a:rPr>
              <a:t>Each correspondence needs a confidence value.</a:t>
            </a:r>
          </a:p>
          <a:p>
            <a:pPr>
              <a:lnSpc>
                <a:spcPct val="114000"/>
              </a:lnSpc>
              <a:spcAft>
                <a:spcPts val="1300"/>
              </a:spcAft>
            </a:pPr>
            <a:r>
              <a:rPr sz="1650" b="0">
                <a:solidFill>
                  <a:srgbClr val="1A1A1A"/>
                </a:solidFill>
                <a:latin typeface="DejaVu Serif"/>
              </a:rPr>
              <a:t>A position between pixels is required.</a:t>
            </a:r>
          </a:p>
        </p:txBody>
      </p:sp>
      <p:sp>
        <p:nvSpPr>
          <p:cNvPr id="7" name="Rectangle 6"/>
          <p:cNvSpPr/>
          <p:nvPr/>
        </p:nvSpPr>
        <p:spPr>
          <a:xfrm>
            <a:off x="6263640" y="1664208"/>
            <a:ext cx="9525" cy="2743200"/>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1664208"/>
            <a:ext cx="496519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USE THE BASELINE WHEN</a:t>
            </a:r>
          </a:p>
        </p:txBody>
      </p:sp>
      <p:sp>
        <p:nvSpPr>
          <p:cNvPr id="9" name="TextBox 8"/>
          <p:cNvSpPr txBox="1"/>
          <p:nvPr/>
        </p:nvSpPr>
        <p:spPr>
          <a:xfrm>
            <a:off x="6537960" y="2011680"/>
            <a:ext cx="4965192" cy="2377440"/>
          </a:xfrm>
          <a:prstGeom prst="rect">
            <a:avLst/>
          </a:prstGeom>
          <a:noFill/>
        </p:spPr>
        <p:txBody>
          <a:bodyPr wrap="square" lIns="0" rIns="0">
            <a:spAutoFit/>
          </a:bodyPr>
          <a:lstStyle/>
          <a:p>
            <a:pPr>
              <a:lnSpc>
                <a:spcPct val="114000"/>
              </a:lnSpc>
              <a:spcAft>
                <a:spcPts val="1300"/>
              </a:spcAft>
            </a:pPr>
            <a:r>
              <a:rPr sz="1650" b="0">
                <a:solidFill>
                  <a:srgbClr val="1A1A1A"/>
                </a:solidFill>
                <a:latin typeface="DejaVu Serif"/>
              </a:rPr>
              <a:t>One complete dense field per frame is consumed, and nothing else is needed.</a:t>
            </a:r>
          </a:p>
          <a:p>
            <a:pPr>
              <a:lnSpc>
                <a:spcPct val="114000"/>
              </a:lnSpc>
              <a:spcAft>
                <a:spcPts val="1300"/>
              </a:spcAft>
            </a:pPr>
            <a:r>
              <a:rPr sz="1650" b="0">
                <a:solidFill>
                  <a:srgbClr val="1A1A1A"/>
                </a:solidFill>
                <a:latin typeface="DejaVu Serif"/>
              </a:rPr>
              <a:t>v2 is more accurate and 10% faster in exactly that mode, and remains the correct choice for it.</a:t>
            </a:r>
          </a:p>
        </p:txBody>
      </p:sp>
      <p:sp>
        <p:nvSpPr>
          <p:cNvPr id="10" name="Rectangle 9"/>
          <p:cNvSpPr/>
          <p:nvPr/>
        </p:nvSpPr>
        <p:spPr>
          <a:xfrm>
            <a:off x="685800" y="4864608"/>
            <a:ext cx="10820095" cy="822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Selective prediction reframes the comparison: mean error over all pixels is the metric the decoder loses on, and the only one a model without confidence can report.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17</a:t>
            </a:r>
          </a:p>
        </p:txBody>
      </p:sp>
      <p:sp>
        <p:nvSpPr>
          <p:cNvPr id="3" name="TextBox 2"/>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The accuracy gap has a single cause, and</a:t>
            </a:r>
          </a:p>
          <a:p>
            <a:pPr algn="l">
              <a:lnSpc>
                <a:spcPct val="110000"/>
              </a:lnSpc>
            </a:pPr>
            <a:r>
              <a:rPr sz="3000" b="1">
                <a:solidFill>
                  <a:srgbClr val="1A1A1A"/>
                </a:solidFill>
                <a:latin typeface="DejaVu Serif"/>
              </a:rPr>
              <a:t>three experiments converge on it</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64208"/>
            <a:ext cx="10820095" cy="2743200"/>
          </a:xfrm>
          <a:prstGeom prst="rect">
            <a:avLst/>
          </a:prstGeom>
          <a:noFill/>
        </p:spPr>
        <p:txBody>
          <a:bodyPr wrap="square" lIns="0" rIns="0">
            <a:spAutoFit/>
          </a:bodyPr>
          <a:lstStyle/>
          <a:p>
            <a:pPr>
              <a:lnSpc>
                <a:spcPct val="114000"/>
              </a:lnSpc>
              <a:spcAft>
                <a:spcPts val="1100"/>
              </a:spcAft>
            </a:pPr>
            <a:r>
              <a:rPr sz="1650" b="1">
                <a:solidFill>
                  <a:srgbClr val="1A1A1A"/>
                </a:solidFill>
                <a:latin typeface="DejaVu Serif"/>
              </a:rPr>
              <a:t>Accuracy. </a:t>
            </a:r>
            <a:r>
              <a:rPr sz="1650" b="0">
                <a:solidFill>
                  <a:srgbClr val="1A1A1A"/>
                </a:solidFill>
                <a:latin typeface="DejaVu Serif"/>
              </a:rPr>
              <a:t>The decoder’s finest input is 1/8 resolution; the upsampler it replaces reads the full-resolution frame.</a:t>
            </a:r>
          </a:p>
          <a:p>
            <a:pPr>
              <a:lnSpc>
                <a:spcPct val="114000"/>
              </a:lnSpc>
              <a:spcAft>
                <a:spcPts val="1100"/>
              </a:spcAft>
            </a:pPr>
            <a:r>
              <a:rPr sz="1650" b="1">
                <a:solidFill>
                  <a:srgbClr val="1A1A1A"/>
                </a:solidFill>
                <a:latin typeface="DejaVu Serif"/>
              </a:rPr>
              <a:t>Sub-pixel querying. </a:t>
            </a:r>
            <a:r>
              <a:rPr sz="1650" b="0">
                <a:solidFill>
                  <a:srgbClr val="1A1A1A"/>
                </a:solidFill>
                <a:latin typeface="DejaVu Serif"/>
              </a:rPr>
              <a:t>For the same reason, evaluation between pixels is presently closer to interpolation than inference. The interface is exact; the extra information recoverable is small.</a:t>
            </a:r>
          </a:p>
          <a:p>
            <a:pPr>
              <a:lnSpc>
                <a:spcPct val="114000"/>
              </a:lnSpc>
              <a:spcAft>
                <a:spcPts val="1100"/>
              </a:spcAft>
            </a:pPr>
            <a:r>
              <a:rPr sz="1650" b="1">
                <a:solidFill>
                  <a:srgbClr val="1A1A1A"/>
                </a:solidFill>
                <a:latin typeface="DejaVu Serif"/>
              </a:rPr>
              <a:t>Embedded validation. </a:t>
            </a:r>
            <a:r>
              <a:rPr sz="1650" b="0">
                <a:solidFill>
                  <a:srgbClr val="1A1A1A"/>
                </a:solidFill>
                <a:latin typeface="DejaVu Serif"/>
              </a:rPr>
              <a:t>All latency is from a laptop GPU. The edge premise is a design target, not a result.</a:t>
            </a:r>
          </a:p>
          <a:p>
            <a:pPr>
              <a:lnSpc>
                <a:spcPct val="114000"/>
              </a:lnSpc>
              <a:spcAft>
                <a:spcPts val="1100"/>
              </a:spcAft>
            </a:pPr>
            <a:r>
              <a:rPr sz="1650" b="1">
                <a:solidFill>
                  <a:srgbClr val="1A1A1A"/>
                </a:solidFill>
                <a:latin typeface="DejaVu Serif"/>
              </a:rPr>
              <a:t>Statistical resolution. </a:t>
            </a:r>
            <a:r>
              <a:rPr sz="1650" b="0">
                <a:solidFill>
                  <a:srgbClr val="1A1A1A"/>
                </a:solidFill>
                <a:latin typeface="DejaVu Serif"/>
              </a:rPr>
              <a:t>One seed per configuration. Differences below about 0.05 px are not resolved by this study.</a:t>
            </a:r>
          </a:p>
        </p:txBody>
      </p:sp>
      <p:sp>
        <p:nvSpPr>
          <p:cNvPr id="6" name="Rectangle 5"/>
          <p:cNvSpPr/>
          <p:nvPr/>
        </p:nvSpPr>
        <p:spPr>
          <a:xfrm>
            <a:off x="685800" y="4937760"/>
            <a:ext cx="10820095" cy="74980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800" b="0">
                <a:solidFill>
                  <a:srgbClr val="1A1A1A"/>
                </a:solidFill>
                <a:latin typeface="DejaVu Serif"/>
              </a:rPr>
              <a:t>Three independent nulls point at the same mechanism: Fourier encoding, sub-pixel querying, and reduced-resolution querying. The remedy is a full-resolution stem.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18</a:t>
            </a:r>
          </a:p>
        </p:txBody>
      </p:sp>
      <p:sp>
        <p:nvSpPr>
          <p:cNvPr id="3" name="TextBox 2"/>
          <p:cNvSpPr txBox="1"/>
          <p:nvPr/>
        </p:nvSpPr>
        <p:spPr>
          <a:xfrm>
            <a:off x="685800" y="365760"/>
            <a:ext cx="10820095" cy="548640"/>
          </a:xfrm>
          <a:prstGeom prst="rect">
            <a:avLst/>
          </a:prstGeom>
          <a:noFill/>
        </p:spPr>
        <p:txBody>
          <a:bodyPr wrap="square" lIns="0" rIns="0" tIns="0" bIns="0">
            <a:spAutoFit/>
          </a:bodyPr>
          <a:lstStyle/>
          <a:p>
            <a:pPr algn="l">
              <a:lnSpc>
                <a:spcPct val="100000"/>
              </a:lnSpc>
            </a:pPr>
            <a:r>
              <a:rPr sz="3000" b="1">
                <a:solidFill>
                  <a:srgbClr val="1A1A1A"/>
                </a:solidFill>
                <a:latin typeface="DejaVu Serif"/>
              </a:rPr>
              <a:t>Conclusions</a:t>
            </a:r>
          </a:p>
        </p:txBody>
      </p:sp>
      <p:sp>
        <p:nvSpPr>
          <p:cNvPr id="4" name="Rectangle 3"/>
          <p:cNvSpPr/>
          <p:nvPr/>
        </p:nvSpPr>
        <p:spPr>
          <a:xfrm>
            <a:off x="685800" y="1408176"/>
            <a:ext cx="10820095" cy="4445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10820095" cy="3108960"/>
          </a:xfrm>
          <a:prstGeom prst="rect">
            <a:avLst/>
          </a:prstGeom>
          <a:noFill/>
        </p:spPr>
        <p:txBody>
          <a:bodyPr wrap="square" lIns="0" rIns="0">
            <a:spAutoFit/>
          </a:bodyPr>
          <a:lstStyle/>
          <a:p>
            <a:pPr>
              <a:lnSpc>
                <a:spcPct val="114000"/>
              </a:lnSpc>
              <a:spcAft>
                <a:spcPts val="2000"/>
              </a:spcAft>
            </a:pPr>
            <a:r>
              <a:rPr sz="1650" b="1">
                <a:solidFill>
                  <a:srgbClr val="1A1A1A"/>
                </a:solidFill>
                <a:latin typeface="DejaVu Serif"/>
              </a:rPr>
              <a:t>1.  Queryable output is affordable. </a:t>
            </a:r>
            <a:r>
              <a:rPr sz="1650" b="0">
                <a:solidFill>
                  <a:srgbClr val="1A1A1A"/>
                </a:solidFill>
                <a:latin typeface="DejaVu Serif"/>
              </a:rPr>
              <a:t>Arbitrary continuous coordinates in O(N), for 2.6% of mean accuracy, from a model 13% smaller.</a:t>
            </a:r>
          </a:p>
          <a:p>
            <a:pPr>
              <a:lnSpc>
                <a:spcPct val="114000"/>
              </a:lnSpc>
              <a:spcAft>
                <a:spcPts val="2000"/>
              </a:spcAft>
            </a:pPr>
            <a:r>
              <a:rPr sz="1650" b="1">
                <a:solidFill>
                  <a:srgbClr val="1A1A1A"/>
                </a:solidFill>
                <a:latin typeface="DejaVu Serif"/>
              </a:rPr>
              <a:t>2.  Confidence is worth more than the mean. </a:t>
            </a:r>
            <a:r>
              <a:rPr sz="1650" b="0">
                <a:solidFill>
                  <a:srgbClr val="1A1A1A"/>
                </a:solidFill>
                <a:latin typeface="DejaVu Serif"/>
              </a:rPr>
              <a:t>Abstaining on 20% of queries gives 2.2x lower error over the remaining 80% of the frame.</a:t>
            </a:r>
          </a:p>
          <a:p>
            <a:pPr>
              <a:lnSpc>
                <a:spcPct val="114000"/>
              </a:lnSpc>
              <a:spcAft>
                <a:spcPts val="2000"/>
              </a:spcAft>
            </a:pPr>
            <a:r>
              <a:rPr sz="1650" b="1">
                <a:solidFill>
                  <a:srgbClr val="1A1A1A"/>
                </a:solidFill>
                <a:latin typeface="DejaVu Serif"/>
              </a:rPr>
              <a:t>3.  Region margins are predictable in advance. </a:t>
            </a:r>
            <a:r>
              <a:rPr sz="1650" b="0">
                <a:solidFill>
                  <a:srgbClr val="1A1A1A"/>
                </a:solidFill>
                <a:latin typeface="DejaVu Serif"/>
              </a:rPr>
              <a:t>Margin ≈ speed / frame rate, verified across a threefold difference in motion scale.</a:t>
            </a:r>
          </a:p>
        </p:txBody>
      </p:sp>
      <p:sp>
        <p:nvSpPr>
          <p:cNvPr id="6" name="Rectangle 5"/>
          <p:cNvSpPr/>
          <p:nvPr/>
        </p:nvSpPr>
        <p:spPr>
          <a:xfrm>
            <a:off x="685800" y="5166360"/>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5349240"/>
            <a:ext cx="10820095" cy="640080"/>
          </a:xfrm>
          <a:prstGeom prst="rect">
            <a:avLst/>
          </a:prstGeom>
          <a:noFill/>
        </p:spPr>
        <p:txBody>
          <a:bodyPr wrap="square" lIns="0" rIns="0" tIns="0" bIns="0">
            <a:spAutoFit/>
          </a:bodyPr>
          <a:lstStyle/>
          <a:p>
            <a:pPr algn="l">
              <a:lnSpc>
                <a:spcPct val="140000"/>
              </a:lnSpc>
            </a:pPr>
            <a:r>
              <a:rPr sz="1150" b="0">
                <a:solidFill>
                  <a:srgbClr val="808080"/>
                </a:solidFill>
                <a:latin typeface="DejaVu Serif"/>
              </a:rPr>
              <a:t>Next: a full-resolution feature stem, then embedded measurement.</a:t>
            </a:r>
          </a:p>
          <a:p>
            <a:pPr algn="l">
              <a:lnSpc>
                <a:spcPct val="140000"/>
              </a:lnSpc>
            </a:pPr>
            <a:r>
              <a:rPr sz="1150" b="0">
                <a:solidFill>
                  <a:srgbClr val="808080"/>
                </a:solidFill>
                <a:latin typeface="DejaVu Serif"/>
              </a:rPr>
              <a:t>srinivasan.shrim@northeastern.edu   |   Code and report: github.com/shrirag10/Neuflowv3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19</a:t>
            </a:r>
          </a:p>
        </p:txBody>
      </p:sp>
      <p:sp>
        <p:nvSpPr>
          <p:cNvPr id="3" name="TextBox 2"/>
          <p:cNvSpPr txBox="1"/>
          <p:nvPr/>
        </p:nvSpPr>
        <p:spPr>
          <a:xfrm>
            <a:off x="685800" y="365760"/>
            <a:ext cx="10820095" cy="548640"/>
          </a:xfrm>
          <a:prstGeom prst="rect">
            <a:avLst/>
          </a:prstGeom>
          <a:noFill/>
        </p:spPr>
        <p:txBody>
          <a:bodyPr wrap="square" lIns="0" rIns="0" tIns="0" bIns="0">
            <a:spAutoFit/>
          </a:bodyPr>
          <a:lstStyle/>
          <a:p>
            <a:pPr algn="l">
              <a:lnSpc>
                <a:spcPct val="100000"/>
              </a:lnSpc>
            </a:pPr>
            <a:r>
              <a:rPr sz="3000" b="1">
                <a:solidFill>
                  <a:srgbClr val="1A1A1A"/>
                </a:solidFill>
                <a:latin typeface="DejaVu Serif"/>
              </a:rPr>
              <a:t>References</a:t>
            </a:r>
          </a:p>
        </p:txBody>
      </p:sp>
      <p:sp>
        <p:nvSpPr>
          <p:cNvPr id="4" name="Rectangle 3"/>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10820095" cy="457200"/>
          </a:xfrm>
          <a:prstGeom prst="rect">
            <a:avLst/>
          </a:prstGeom>
          <a:noFill/>
        </p:spPr>
        <p:txBody>
          <a:bodyPr wrap="square">
            <a:spAutoFit/>
          </a:bodyPr>
          <a:lstStyle/>
          <a:p>
            <a:pPr algn="l">
              <a:lnSpc>
                <a:spcPct val="120000"/>
              </a:lnSpc>
            </a:pPr>
            <a:r>
              <a:rPr sz="1150" b="0">
                <a:solidFill>
                  <a:srgbClr val="1A1A1A"/>
                </a:solidFill>
                <a:latin typeface="DejaVu Serif"/>
              </a:rPr>
              <a:t>Zhang, Z., Gupta, A., Jiang, H., &amp; Singh, H. (2024). NeuFlow v2: High-Efficiency Optical Flow Estimation on Edge Devices. arXiv:2408.10161.</a:t>
            </a:r>
          </a:p>
        </p:txBody>
      </p:sp>
      <p:sp>
        <p:nvSpPr>
          <p:cNvPr id="6" name="TextBox 5"/>
          <p:cNvSpPr txBox="1"/>
          <p:nvPr/>
        </p:nvSpPr>
        <p:spPr>
          <a:xfrm>
            <a:off x="685800" y="2286000"/>
            <a:ext cx="10820095" cy="457200"/>
          </a:xfrm>
          <a:prstGeom prst="rect">
            <a:avLst/>
          </a:prstGeom>
          <a:noFill/>
        </p:spPr>
        <p:txBody>
          <a:bodyPr wrap="square">
            <a:spAutoFit/>
          </a:bodyPr>
          <a:lstStyle/>
          <a:p>
            <a:pPr algn="l">
              <a:lnSpc>
                <a:spcPct val="120000"/>
              </a:lnSpc>
            </a:pPr>
            <a:r>
              <a:rPr sz="1150" b="0">
                <a:solidFill>
                  <a:srgbClr val="1A1A1A"/>
                </a:solidFill>
                <a:latin typeface="DejaVu Serif"/>
              </a:rPr>
              <a:t>Jung, H., Hui, Z., Luo, L., Yang, H., Liu, F., Yoo, S., Ranjan, R., &amp; Demandolx, D. (2023). AnyFlow: Arbitrary Scale Optical Flow with Implicit Neural Representation. CVPR.</a:t>
            </a:r>
          </a:p>
        </p:txBody>
      </p:sp>
      <p:sp>
        <p:nvSpPr>
          <p:cNvPr id="7" name="TextBox 6"/>
          <p:cNvSpPr txBox="1"/>
          <p:nvPr/>
        </p:nvSpPr>
        <p:spPr>
          <a:xfrm>
            <a:off x="685800" y="2834640"/>
            <a:ext cx="10820095" cy="457200"/>
          </a:xfrm>
          <a:prstGeom prst="rect">
            <a:avLst/>
          </a:prstGeom>
          <a:noFill/>
        </p:spPr>
        <p:txBody>
          <a:bodyPr wrap="square">
            <a:spAutoFit/>
          </a:bodyPr>
          <a:lstStyle/>
          <a:p>
            <a:pPr algn="l">
              <a:lnSpc>
                <a:spcPct val="120000"/>
              </a:lnSpc>
            </a:pPr>
            <a:r>
              <a:rPr sz="1150" b="0">
                <a:solidFill>
                  <a:srgbClr val="1A1A1A"/>
                </a:solidFill>
                <a:latin typeface="DejaVu Serif"/>
              </a:rPr>
              <a:t>Teed, Z., &amp; Deng, J. (2020). RAFT: Recurrent All-Pairs Field Transforms for Optical Flow. ECCV.</a:t>
            </a:r>
          </a:p>
        </p:txBody>
      </p:sp>
      <p:sp>
        <p:nvSpPr>
          <p:cNvPr id="8" name="TextBox 7"/>
          <p:cNvSpPr txBox="1"/>
          <p:nvPr/>
        </p:nvSpPr>
        <p:spPr>
          <a:xfrm>
            <a:off x="685800" y="3383280"/>
            <a:ext cx="10820095" cy="457200"/>
          </a:xfrm>
          <a:prstGeom prst="rect">
            <a:avLst/>
          </a:prstGeom>
          <a:noFill/>
        </p:spPr>
        <p:txBody>
          <a:bodyPr wrap="square">
            <a:spAutoFit/>
          </a:bodyPr>
          <a:lstStyle/>
          <a:p>
            <a:pPr algn="l">
              <a:lnSpc>
                <a:spcPct val="120000"/>
              </a:lnSpc>
            </a:pPr>
            <a:r>
              <a:rPr sz="1150" b="0">
                <a:solidFill>
                  <a:srgbClr val="1A1A1A"/>
                </a:solidFill>
                <a:latin typeface="DejaVu Serif"/>
              </a:rPr>
              <a:t>Yu et al. (2025). InfiniDepth: Implicit Neural Upsampling for Monocular Depth Estimation.</a:t>
            </a:r>
          </a:p>
        </p:txBody>
      </p:sp>
      <p:sp>
        <p:nvSpPr>
          <p:cNvPr id="9" name="TextBox 8"/>
          <p:cNvSpPr txBox="1"/>
          <p:nvPr/>
        </p:nvSpPr>
        <p:spPr>
          <a:xfrm>
            <a:off x="685800" y="3931920"/>
            <a:ext cx="10820095" cy="457200"/>
          </a:xfrm>
          <a:prstGeom prst="rect">
            <a:avLst/>
          </a:prstGeom>
          <a:noFill/>
        </p:spPr>
        <p:txBody>
          <a:bodyPr wrap="square">
            <a:spAutoFit/>
          </a:bodyPr>
          <a:lstStyle/>
          <a:p>
            <a:pPr algn="l">
              <a:lnSpc>
                <a:spcPct val="120000"/>
              </a:lnSpc>
            </a:pPr>
            <a:r>
              <a:rPr sz="1150" b="0">
                <a:solidFill>
                  <a:srgbClr val="1A1A1A"/>
                </a:solidFill>
                <a:latin typeface="DejaVu Serif"/>
              </a:rPr>
              <a:t>Kendall, A., &amp; Gal, Y. (2017). What Uncertainties Do We Need in Bayesian Deep Learning for Computer Vision? NeurIPS.</a:t>
            </a:r>
          </a:p>
        </p:txBody>
      </p:sp>
      <p:sp>
        <p:nvSpPr>
          <p:cNvPr id="10" name="TextBox 9"/>
          <p:cNvSpPr txBox="1"/>
          <p:nvPr/>
        </p:nvSpPr>
        <p:spPr>
          <a:xfrm>
            <a:off x="685800" y="4480559"/>
            <a:ext cx="10820095" cy="457200"/>
          </a:xfrm>
          <a:prstGeom prst="rect">
            <a:avLst/>
          </a:prstGeom>
          <a:noFill/>
        </p:spPr>
        <p:txBody>
          <a:bodyPr wrap="square">
            <a:spAutoFit/>
          </a:bodyPr>
          <a:lstStyle/>
          <a:p>
            <a:pPr algn="l">
              <a:lnSpc>
                <a:spcPct val="120000"/>
              </a:lnSpc>
            </a:pPr>
            <a:r>
              <a:rPr sz="1150" b="0">
                <a:solidFill>
                  <a:srgbClr val="1A1A1A"/>
                </a:solidFill>
                <a:latin typeface="DejaVu Serif"/>
              </a:rPr>
              <a:t>Cabon, Y., Murray, N., &amp; Humenberger, M. (2020). Virtual KITTI 2. arXiv:2001.10773.</a:t>
            </a:r>
          </a:p>
        </p:txBody>
      </p:sp>
      <p:sp>
        <p:nvSpPr>
          <p:cNvPr id="11" name="TextBox 10"/>
          <p:cNvSpPr txBox="1"/>
          <p:nvPr/>
        </p:nvSpPr>
        <p:spPr>
          <a:xfrm>
            <a:off x="685800" y="5029199"/>
            <a:ext cx="10820095" cy="457200"/>
          </a:xfrm>
          <a:prstGeom prst="rect">
            <a:avLst/>
          </a:prstGeom>
          <a:noFill/>
        </p:spPr>
        <p:txBody>
          <a:bodyPr wrap="square">
            <a:spAutoFit/>
          </a:bodyPr>
          <a:lstStyle/>
          <a:p>
            <a:pPr algn="l">
              <a:lnSpc>
                <a:spcPct val="120000"/>
              </a:lnSpc>
            </a:pPr>
            <a:r>
              <a:rPr sz="1150" b="0">
                <a:solidFill>
                  <a:srgbClr val="1A1A1A"/>
                </a:solidFill>
                <a:latin typeface="DejaVu Serif"/>
              </a:rPr>
              <a:t>Wang, W., Zhu, D., Wang, X., Hu, Y., Qiu, Y., Wang, C., Hu, Y., Kapoor, A., &amp; Scherer, S. (2020). TartanAir: A Dataset to Push the Limits of Visual SLAM. IROS.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91440"/>
            <a:ext cx="10820095" cy="201168"/>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Appendix A:  query cost and interface</a:t>
            </a:r>
          </a:p>
        </p:txBody>
      </p:sp>
      <p:sp>
        <p:nvSpPr>
          <p:cNvPr id="3" name="TextBox 2"/>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20</a:t>
            </a:r>
          </a:p>
        </p:txBody>
      </p:sp>
      <p:sp>
        <p:nvSpPr>
          <p:cNvPr id="4" name="TextBox 3"/>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Decode cost is flat to 2,048 queries:</a:t>
            </a:r>
          </a:p>
          <a:p>
            <a:pPr algn="l">
              <a:lnSpc>
                <a:spcPct val="110000"/>
              </a:lnSpc>
            </a:pPr>
            <a:r>
              <a:rPr sz="3000" b="1">
                <a:solidFill>
                  <a:srgbClr val="1A1A1A"/>
                </a:solidFill>
                <a:latin typeface="DejaVu Serif"/>
              </a:rPr>
              <a:t>2,048 points cost what 800 do</a:t>
            </a:r>
          </a:p>
        </p:txBody>
      </p:sp>
      <p:sp>
        <p:nvSpPr>
          <p:cNvPr id="5" name="Rectangle 4"/>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ode_flat.png"/>
          <p:cNvPicPr>
            <a:picLocks noChangeAspect="1"/>
          </p:cNvPicPr>
          <p:nvPr/>
        </p:nvPicPr>
        <p:blipFill>
          <a:blip r:embed="rId2"/>
          <a:stretch>
            <a:fillRect/>
          </a:stretch>
        </p:blipFill>
        <p:spPr>
          <a:xfrm>
            <a:off x="685800" y="1874519"/>
            <a:ext cx="6766560" cy="3416226"/>
          </a:xfrm>
          <a:prstGeom prst="rect">
            <a:avLst/>
          </a:prstGeom>
        </p:spPr>
      </p:pic>
      <p:sp>
        <p:nvSpPr>
          <p:cNvPr id="7" name="TextBox 6"/>
          <p:cNvSpPr txBox="1"/>
          <p:nvPr/>
        </p:nvSpPr>
        <p:spPr>
          <a:xfrm>
            <a:off x="7726679" y="1664208"/>
            <a:ext cx="377647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THE ENTIRE API</a:t>
            </a:r>
          </a:p>
        </p:txBody>
      </p:sp>
      <p:sp>
        <p:nvSpPr>
          <p:cNvPr id="8" name="Rectangle 7"/>
          <p:cNvSpPr/>
          <p:nvPr/>
        </p:nvSpPr>
        <p:spPr>
          <a:xfrm>
            <a:off x="7726679" y="2029968"/>
            <a:ext cx="3776472" cy="16916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l">
              <a:lnSpc>
                <a:spcPct val="114000"/>
              </a:lnSpc>
            </a:pPr>
            <a:r>
              <a:rPr sz="1100" b="0">
                <a:solidFill>
                  <a:srgbClr val="1A1A1A"/>
                </a:solidFill>
                <a:latin typeface="DejaVu Serif"/>
              </a:rPr>
              <a:t>state = model.infer_coarse_state(</a:t>
            </a:r>
          </a:p>
          <a:p>
            <a:pPr algn="l">
              <a:lnSpc>
                <a:spcPct val="114000"/>
              </a:lnSpc>
            </a:pPr>
            <a:r>
              <a:rPr sz="1100" b="0">
                <a:solidFill>
                  <a:srgbClr val="1A1A1A"/>
                </a:solidFill>
                <a:latin typeface="DejaVu Serif"/>
              </a:rPr>
              <a:t>            img0, img1)</a:t>
            </a:r>
          </a:p>
          <a:p>
            <a:pPr algn="l">
              <a:lnSpc>
                <a:spcPct val="114000"/>
              </a:lnSpc>
            </a:pPr>
            <a:r>
              <a:rPr sz="1100" b="0">
                <a:solidFill>
                  <a:srgbClr val="1A1A1A"/>
                </a:solidFill>
                <a:latin typeface="DejaVu Serif"/>
              </a:rPr>
              <a:t/>
            </a:r>
          </a:p>
          <a:p>
            <a:pPr algn="l">
              <a:lnSpc>
                <a:spcPct val="114000"/>
              </a:lnSpc>
            </a:pPr>
            <a:r>
              <a:rPr sz="1100" b="0">
                <a:solidFill>
                  <a:srgbClr val="1A1A1A"/>
                </a:solidFill>
                <a:latin typeface="DejaVu Serif"/>
              </a:rPr>
              <a:t>flow  = model.decode_queries(</a:t>
            </a:r>
          </a:p>
          <a:p>
            <a:pPr algn="l">
              <a:lnSpc>
                <a:spcPct val="114000"/>
              </a:lnSpc>
            </a:pPr>
            <a:r>
              <a:rPr sz="1100" b="0">
                <a:solidFill>
                  <a:srgbClr val="1A1A1A"/>
                </a:solidFill>
                <a:latin typeface="DejaVu Serif"/>
              </a:rPr>
              <a:t>            state, query_coords=q)</a:t>
            </a:r>
          </a:p>
          <a:p>
            <a:pPr algn="l">
              <a:lnSpc>
                <a:spcPct val="114000"/>
              </a:lnSpc>
            </a:pPr>
            <a:r>
              <a:rPr sz="1100" b="0">
                <a:solidFill>
                  <a:srgbClr val="1A1A1A"/>
                </a:solidFill>
                <a:latin typeface="DejaVu Serif"/>
              </a:rPr>
              <a:t/>
            </a:r>
          </a:p>
          <a:p>
            <a:pPr algn="l">
              <a:lnSpc>
                <a:spcPct val="114000"/>
              </a:lnSpc>
            </a:pPr>
            <a:r>
              <a:rPr sz="1100" b="0">
                <a:solidFill>
                  <a:srgbClr val="1A1A1A"/>
                </a:solidFill>
                <a:latin typeface="DejaVu Serif"/>
              </a:rPr>
              <a:t>flow, b = ... return_uncertainty=True</a:t>
            </a:r>
          </a:p>
        </p:txBody>
      </p:sp>
      <p:sp>
        <p:nvSpPr>
          <p:cNvPr id="9" name="TextBox 8"/>
          <p:cNvSpPr txBox="1"/>
          <p:nvPr/>
        </p:nvSpPr>
        <p:spPr>
          <a:xfrm>
            <a:off x="7726679" y="3931920"/>
            <a:ext cx="3776472" cy="1280160"/>
          </a:xfrm>
          <a:prstGeom prst="rect">
            <a:avLst/>
          </a:prstGeom>
          <a:noFill/>
        </p:spPr>
        <p:txBody>
          <a:bodyPr wrap="square" lIns="0" rIns="0">
            <a:spAutoFit/>
          </a:bodyPr>
          <a:lstStyle/>
          <a:p>
            <a:pPr>
              <a:lnSpc>
                <a:spcPct val="114000"/>
              </a:lnSpc>
              <a:spcAft>
                <a:spcPts val="1300"/>
              </a:spcAft>
            </a:pPr>
            <a:r>
              <a:rPr sz="1300" b="0">
                <a:solidFill>
                  <a:srgbClr val="1A1A1A"/>
                </a:solidFill>
                <a:latin typeface="DejaVu Serif"/>
              </a:rPr>
              <a:t>Launch-overhead bound below roughly 10,000 points, compute-bound above, where dense decoding is the better choice.</a:t>
            </a:r>
          </a:p>
        </p:txBody>
      </p:sp>
      <p:sp>
        <p:nvSpPr>
          <p:cNvPr id="10" name="TextBox 9"/>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1.254 ms at N = 800; 1.285 ms at N = 2,048. RTX 4060 laptop, fp16.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91440"/>
            <a:ext cx="10820095" cy="201168"/>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Appendix B:  working implementation</a:t>
            </a:r>
          </a:p>
        </p:txBody>
      </p:sp>
      <p:sp>
        <p:nvSpPr>
          <p:cNvPr id="3" name="TextBox 2"/>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21</a:t>
            </a:r>
          </a:p>
        </p:txBody>
      </p:sp>
      <p:sp>
        <p:nvSpPr>
          <p:cNvPr id="4" name="TextBox 3"/>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The decoder runs as an interactive tool:</a:t>
            </a:r>
          </a:p>
          <a:p>
            <a:pPr algn="l">
              <a:lnSpc>
                <a:spcPct val="110000"/>
              </a:lnSpc>
            </a:pPr>
            <a:r>
              <a:rPr sz="3000" b="1">
                <a:solidFill>
                  <a:srgbClr val="1A1A1A"/>
                </a:solidFill>
                <a:latin typeface="DejaVu Serif"/>
              </a:rPr>
              <a:t>draw a region, get flow there</a:t>
            </a:r>
          </a:p>
        </p:txBody>
      </p:sp>
      <p:sp>
        <p:nvSpPr>
          <p:cNvPr id="5" name="Rectangle 4"/>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gion_gui_window.png"/>
          <p:cNvPicPr>
            <a:picLocks noChangeAspect="1"/>
          </p:cNvPicPr>
          <p:nvPr/>
        </p:nvPicPr>
        <p:blipFill>
          <a:blip r:embed="rId2"/>
          <a:stretch>
            <a:fillRect/>
          </a:stretch>
        </p:blipFill>
        <p:spPr>
          <a:xfrm>
            <a:off x="685800" y="1874519"/>
            <a:ext cx="6766560" cy="3618686"/>
          </a:xfrm>
          <a:prstGeom prst="rect">
            <a:avLst/>
          </a:prstGeom>
        </p:spPr>
      </p:pic>
      <p:sp>
        <p:nvSpPr>
          <p:cNvPr id="7" name="TextBox 6"/>
          <p:cNvSpPr txBox="1"/>
          <p:nvPr/>
        </p:nvSpPr>
        <p:spPr>
          <a:xfrm>
            <a:off x="7726679" y="1664208"/>
            <a:ext cx="3776472"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TWO TIMED MODES</a:t>
            </a:r>
          </a:p>
        </p:txBody>
      </p:sp>
      <p:sp>
        <p:nvSpPr>
          <p:cNvPr id="8" name="TextBox 7"/>
          <p:cNvSpPr txBox="1"/>
          <p:nvPr/>
        </p:nvSpPr>
        <p:spPr>
          <a:xfrm>
            <a:off x="7726679" y="2029968"/>
            <a:ext cx="3776472" cy="2743200"/>
          </a:xfrm>
          <a:prstGeom prst="rect">
            <a:avLst/>
          </a:prstGeom>
          <a:noFill/>
        </p:spPr>
        <p:txBody>
          <a:bodyPr wrap="square" lIns="0" rIns="0">
            <a:spAutoFit/>
          </a:bodyPr>
          <a:lstStyle/>
          <a:p>
            <a:pPr>
              <a:lnSpc>
                <a:spcPct val="114000"/>
              </a:lnSpc>
              <a:spcAft>
                <a:spcPts val="1300"/>
              </a:spcAft>
            </a:pPr>
            <a:r>
              <a:rPr sz="1650" b="1">
                <a:solidFill>
                  <a:srgbClr val="1A1A1A"/>
                </a:solidFill>
                <a:latin typeface="DejaVu Serif"/>
              </a:rPr>
              <a:t>QUERY </a:t>
            </a:r>
            <a:r>
              <a:rPr sz="1650" b="0">
                <a:solidFill>
                  <a:srgbClr val="1A1A1A"/>
                </a:solidFill>
                <a:latin typeface="DejaVu Serif"/>
              </a:rPr>
              <a:t>decodes only inside the box against a full-frame coarse pass. Exact, and identical to the full-frame result inside the box.</a:t>
            </a:r>
          </a:p>
          <a:p>
            <a:pPr>
              <a:lnSpc>
                <a:spcPct val="114000"/>
              </a:lnSpc>
              <a:spcAft>
                <a:spcPts val="1300"/>
              </a:spcAft>
            </a:pPr>
            <a:r>
              <a:rPr sz="1650" b="1">
                <a:solidFill>
                  <a:srgbClr val="1A1A1A"/>
                </a:solidFill>
                <a:latin typeface="DejaVu Serif"/>
              </a:rPr>
              <a:t>CROP </a:t>
            </a:r>
            <a:r>
              <a:rPr sz="1650" b="0">
                <a:solidFill>
                  <a:srgbClr val="1A1A1A"/>
                </a:solidFill>
                <a:latin typeface="DejaVu Serif"/>
              </a:rPr>
              <a:t>feeds only the box through the pipeline, so cost scales with area, at the price of the lost context.</a:t>
            </a:r>
          </a:p>
        </p:txBody>
      </p:sp>
      <p:sp>
        <p:nvSpPr>
          <p:cNvPr id="9" name="TextBox 8"/>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The panel reports the measured breakdown live, including where the decoder is not the faster option.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91440"/>
            <a:ext cx="10820095" cy="201168"/>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Appendix C:  objectives set at the start</a:t>
            </a:r>
          </a:p>
        </p:txBody>
      </p:sp>
      <p:sp>
        <p:nvSpPr>
          <p:cNvPr id="3" name="TextBox 2"/>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22</a:t>
            </a:r>
          </a:p>
        </p:txBody>
      </p:sp>
      <p:sp>
        <p:nvSpPr>
          <p:cNvPr id="4" name="TextBox 3"/>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Two of three original objectives were not met;</a:t>
            </a:r>
          </a:p>
          <a:p>
            <a:pPr algn="l">
              <a:lnSpc>
                <a:spcPct val="110000"/>
              </a:lnSpc>
            </a:pPr>
            <a:r>
              <a:rPr sz="3000" b="1">
                <a:solidFill>
                  <a:srgbClr val="1A1A1A"/>
                </a:solidFill>
                <a:latin typeface="DejaVu Serif"/>
              </a:rPr>
              <a:t>the project delivers three others</a:t>
            </a:r>
          </a:p>
        </p:txBody>
      </p:sp>
      <p:sp>
        <p:nvSpPr>
          <p:cNvPr id="5" name="Rectangle 4"/>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1664208"/>
            <a:ext cx="10817352"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709928"/>
            <a:ext cx="3108960" cy="23444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Objective</a:t>
            </a:r>
          </a:p>
        </p:txBody>
      </p:sp>
      <p:sp>
        <p:nvSpPr>
          <p:cNvPr id="8" name="TextBox 7"/>
          <p:cNvSpPr txBox="1"/>
          <p:nvPr/>
        </p:nvSpPr>
        <p:spPr>
          <a:xfrm>
            <a:off x="3794760" y="1709928"/>
            <a:ext cx="1417320" cy="234442"/>
          </a:xfrm>
          <a:prstGeom prst="rect">
            <a:avLst/>
          </a:prstGeom>
          <a:noFill/>
        </p:spPr>
        <p:txBody>
          <a:bodyPr wrap="square" lIns="0" rIns="0" tIns="0" bIns="0">
            <a:spAutoFit/>
          </a:bodyPr>
          <a:lstStyle/>
          <a:p>
            <a:pPr algn="r">
              <a:lnSpc>
                <a:spcPct val="100000"/>
              </a:lnSpc>
            </a:pPr>
            <a:r>
              <a:rPr sz="1300" b="1">
                <a:solidFill>
                  <a:srgbClr val="5A5A5A"/>
                </a:solidFill>
                <a:latin typeface="DejaVu Serif"/>
              </a:rPr>
              <a:t>Verdict</a:t>
            </a:r>
          </a:p>
        </p:txBody>
      </p:sp>
      <p:sp>
        <p:nvSpPr>
          <p:cNvPr id="9" name="TextBox 8"/>
          <p:cNvSpPr txBox="1"/>
          <p:nvPr/>
        </p:nvSpPr>
        <p:spPr>
          <a:xfrm>
            <a:off x="5212080" y="1709928"/>
            <a:ext cx="6291072" cy="234442"/>
          </a:xfrm>
          <a:prstGeom prst="rect">
            <a:avLst/>
          </a:prstGeom>
          <a:noFill/>
        </p:spPr>
        <p:txBody>
          <a:bodyPr wrap="square" lIns="0" rIns="0" tIns="0" bIns="0">
            <a:spAutoFit/>
          </a:bodyPr>
          <a:lstStyle/>
          <a:p>
            <a:pPr algn="r">
              <a:lnSpc>
                <a:spcPct val="100000"/>
              </a:lnSpc>
            </a:pPr>
            <a:r>
              <a:rPr sz="1300" b="1">
                <a:solidFill>
                  <a:srgbClr val="5A5A5A"/>
                </a:solidFill>
                <a:latin typeface="DejaVu Serif"/>
              </a:rPr>
              <a:t>Evidence</a:t>
            </a:r>
          </a:p>
        </p:txBody>
      </p:sp>
      <p:sp>
        <p:nvSpPr>
          <p:cNvPr id="10" name="Rectangle 9"/>
          <p:cNvSpPr/>
          <p:nvPr/>
        </p:nvSpPr>
        <p:spPr>
          <a:xfrm>
            <a:off x="685800" y="1971802"/>
            <a:ext cx="10817352"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044954"/>
            <a:ext cx="310896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Better accuracy than v2</a:t>
            </a:r>
          </a:p>
        </p:txBody>
      </p:sp>
      <p:sp>
        <p:nvSpPr>
          <p:cNvPr id="12" name="TextBox 11"/>
          <p:cNvSpPr txBox="1"/>
          <p:nvPr/>
        </p:nvSpPr>
        <p:spPr>
          <a:xfrm>
            <a:off x="3794760" y="2044954"/>
            <a:ext cx="141732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not met</a:t>
            </a:r>
          </a:p>
        </p:txBody>
      </p:sp>
      <p:sp>
        <p:nvSpPr>
          <p:cNvPr id="13" name="TextBox 12"/>
          <p:cNvSpPr txBox="1"/>
          <p:nvPr/>
        </p:nvSpPr>
        <p:spPr>
          <a:xfrm>
            <a:off x="5212080" y="2044954"/>
            <a:ext cx="6291072"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best 2.384 against 2.324; like-for-like 7.6% behind</a:t>
            </a:r>
          </a:p>
        </p:txBody>
      </p:sp>
      <p:sp>
        <p:nvSpPr>
          <p:cNvPr id="14" name="TextBox 13"/>
          <p:cNvSpPr txBox="1"/>
          <p:nvPr/>
        </p:nvSpPr>
        <p:spPr>
          <a:xfrm>
            <a:off x="685800" y="2279396"/>
            <a:ext cx="310896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Less compute than v2</a:t>
            </a:r>
          </a:p>
        </p:txBody>
      </p:sp>
      <p:sp>
        <p:nvSpPr>
          <p:cNvPr id="15" name="TextBox 14"/>
          <p:cNvSpPr txBox="1"/>
          <p:nvPr/>
        </p:nvSpPr>
        <p:spPr>
          <a:xfrm>
            <a:off x="3794760" y="2279396"/>
            <a:ext cx="141732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partly</a:t>
            </a:r>
          </a:p>
        </p:txBody>
      </p:sp>
      <p:sp>
        <p:nvSpPr>
          <p:cNvPr id="16" name="TextBox 15"/>
          <p:cNvSpPr txBox="1"/>
          <p:nvPr/>
        </p:nvSpPr>
        <p:spPr>
          <a:xfrm>
            <a:off x="5212080" y="2279396"/>
            <a:ext cx="6291072"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dense 10% slower; repeat query 27x cheaper</a:t>
            </a:r>
          </a:p>
        </p:txBody>
      </p:sp>
      <p:sp>
        <p:nvSpPr>
          <p:cNvPr id="17" name="TextBox 16"/>
          <p:cNvSpPr txBox="1"/>
          <p:nvPr/>
        </p:nvSpPr>
        <p:spPr>
          <a:xfrm>
            <a:off x="685800" y="2513838"/>
            <a:ext cx="3108960" cy="234442"/>
          </a:xfrm>
          <a:prstGeom prst="rect">
            <a:avLst/>
          </a:prstGeom>
          <a:noFill/>
        </p:spPr>
        <p:txBody>
          <a:bodyPr wrap="square" lIns="0" rIns="0" tIns="0" bIns="0">
            <a:spAutoFit/>
          </a:bodyPr>
          <a:lstStyle/>
          <a:p>
            <a:pPr algn="l">
              <a:lnSpc>
                <a:spcPct val="100000"/>
              </a:lnSpc>
            </a:pPr>
            <a:r>
              <a:rPr sz="1300" b="0">
                <a:solidFill>
                  <a:srgbClr val="1A1A1A"/>
                </a:solidFill>
                <a:latin typeface="DejaVu Serif"/>
              </a:rPr>
              <a:t>Runs on edge devices</a:t>
            </a:r>
          </a:p>
        </p:txBody>
      </p:sp>
      <p:sp>
        <p:nvSpPr>
          <p:cNvPr id="18" name="TextBox 17"/>
          <p:cNvSpPr txBox="1"/>
          <p:nvPr/>
        </p:nvSpPr>
        <p:spPr>
          <a:xfrm>
            <a:off x="3794760" y="2513838"/>
            <a:ext cx="1417320"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unproven</a:t>
            </a:r>
          </a:p>
        </p:txBody>
      </p:sp>
      <p:sp>
        <p:nvSpPr>
          <p:cNvPr id="19" name="TextBox 18"/>
          <p:cNvSpPr txBox="1"/>
          <p:nvPr/>
        </p:nvSpPr>
        <p:spPr>
          <a:xfrm>
            <a:off x="5212080" y="2513838"/>
            <a:ext cx="6291072" cy="234442"/>
          </a:xfrm>
          <a:prstGeom prst="rect">
            <a:avLst/>
          </a:prstGeom>
          <a:noFill/>
        </p:spPr>
        <p:txBody>
          <a:bodyPr wrap="square" lIns="0" rIns="0" tIns="0" bIns="0">
            <a:spAutoFit/>
          </a:bodyPr>
          <a:lstStyle/>
          <a:p>
            <a:pPr algn="r">
              <a:lnSpc>
                <a:spcPct val="100000"/>
              </a:lnSpc>
            </a:pPr>
            <a:r>
              <a:rPr sz="1300" b="0">
                <a:solidFill>
                  <a:srgbClr val="1A1A1A"/>
                </a:solidFill>
                <a:latin typeface="DejaVu Serif"/>
              </a:rPr>
              <a:t>every figure is from a laptop RTX 4060</a:t>
            </a:r>
          </a:p>
        </p:txBody>
      </p:sp>
      <p:sp>
        <p:nvSpPr>
          <p:cNvPr id="20" name="Rectangle 19"/>
          <p:cNvSpPr/>
          <p:nvPr/>
        </p:nvSpPr>
        <p:spPr>
          <a:xfrm>
            <a:off x="685800" y="2784856"/>
            <a:ext cx="10817352" cy="1397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429000"/>
            <a:ext cx="10820095" cy="256032"/>
          </a:xfrm>
          <a:prstGeom prst="rect">
            <a:avLst/>
          </a:prstGeom>
          <a:noFill/>
        </p:spPr>
        <p:txBody>
          <a:bodyPr wrap="square" lIns="0" rIns="0" tIns="0" bIns="0">
            <a:spAutoFit/>
          </a:bodyPr>
          <a:lstStyle/>
          <a:p>
            <a:pPr algn="l">
              <a:lnSpc>
                <a:spcPct val="100000"/>
              </a:lnSpc>
            </a:pPr>
            <a:r>
              <a:rPr sz="1300" b="1">
                <a:solidFill>
                  <a:srgbClr val="5A5A5A"/>
                </a:solidFill>
                <a:latin typeface="DejaVu Serif"/>
              </a:rPr>
              <a:t>WHAT IT DOES DELIVER</a:t>
            </a:r>
          </a:p>
        </p:txBody>
      </p:sp>
      <p:sp>
        <p:nvSpPr>
          <p:cNvPr id="22" name="Rectangle 21"/>
          <p:cNvSpPr/>
          <p:nvPr/>
        </p:nvSpPr>
        <p:spPr>
          <a:xfrm>
            <a:off x="685800" y="3822191"/>
            <a:ext cx="3456432" cy="13258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300" b="0">
                <a:solidFill>
                  <a:srgbClr val="1A1A1A"/>
                </a:solidFill>
                <a:latin typeface="DejaVu Serif"/>
              </a:rPr>
              <a:t>Queryable output</a:t>
            </a:r>
          </a:p>
          <a:p>
            <a:pPr algn="ctr">
              <a:lnSpc>
                <a:spcPct val="120000"/>
              </a:lnSpc>
            </a:pPr>
            <a:r>
              <a:rPr sz="1300" b="0">
                <a:solidFill>
                  <a:srgbClr val="1A1A1A"/>
                </a:solidFill>
                <a:latin typeface="DejaVu Serif"/>
              </a:rPr>
              <a:t/>
            </a:r>
          </a:p>
          <a:p>
            <a:pPr algn="ctr">
              <a:lnSpc>
                <a:spcPct val="120000"/>
              </a:lnSpc>
            </a:pPr>
            <a:r>
              <a:rPr sz="1300" b="0">
                <a:solidFill>
                  <a:srgbClr val="1A1A1A"/>
                </a:solidFill>
                <a:latin typeface="DejaVu Serif"/>
              </a:rPr>
              <a:t>any continuous coordinate;</a:t>
            </a:r>
          </a:p>
          <a:p>
            <a:pPr algn="ctr">
              <a:lnSpc>
                <a:spcPct val="120000"/>
              </a:lnSpc>
            </a:pPr>
            <a:r>
              <a:rPr sz="1300" b="0">
                <a:solidFill>
                  <a:srgbClr val="1A1A1A"/>
                </a:solidFill>
                <a:latin typeface="DejaVu Serif"/>
              </a:rPr>
              <a:t>sparse equals dense exactly</a:t>
            </a:r>
          </a:p>
        </p:txBody>
      </p:sp>
      <p:sp>
        <p:nvSpPr>
          <p:cNvPr id="23" name="Rectangle 22"/>
          <p:cNvSpPr/>
          <p:nvPr/>
        </p:nvSpPr>
        <p:spPr>
          <a:xfrm>
            <a:off x="4370832" y="3822191"/>
            <a:ext cx="3456432" cy="13258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300" b="0">
                <a:solidFill>
                  <a:srgbClr val="1A1A1A"/>
                </a:solidFill>
                <a:latin typeface="DejaVu Serif"/>
              </a:rPr>
              <a:t>Cheap repeat access</a:t>
            </a:r>
          </a:p>
          <a:p>
            <a:pPr algn="ctr">
              <a:lnSpc>
                <a:spcPct val="120000"/>
              </a:lnSpc>
            </a:pPr>
            <a:r>
              <a:rPr sz="1300" b="0">
                <a:solidFill>
                  <a:srgbClr val="1A1A1A"/>
                </a:solidFill>
                <a:latin typeface="DejaVu Serif"/>
              </a:rPr>
              <a:t/>
            </a:r>
          </a:p>
          <a:p>
            <a:pPr algn="ctr">
              <a:lnSpc>
                <a:spcPct val="120000"/>
              </a:lnSpc>
            </a:pPr>
            <a:r>
              <a:rPr sz="1300" b="0">
                <a:solidFill>
                  <a:srgbClr val="1A1A1A"/>
                </a:solidFill>
                <a:latin typeface="DejaVu Serif"/>
              </a:rPr>
              <a:t>1.25 ms per further query</a:t>
            </a:r>
          </a:p>
          <a:p>
            <a:pPr algn="ctr">
              <a:lnSpc>
                <a:spcPct val="120000"/>
              </a:lnSpc>
            </a:pPr>
            <a:r>
              <a:rPr sz="1300" b="0">
                <a:solidFill>
                  <a:srgbClr val="1A1A1A"/>
                </a:solidFill>
                <a:latin typeface="DejaVu Serif"/>
              </a:rPr>
              <a:t>batch on a cached frame</a:t>
            </a:r>
          </a:p>
        </p:txBody>
      </p:sp>
      <p:sp>
        <p:nvSpPr>
          <p:cNvPr id="24" name="Rectangle 23"/>
          <p:cNvSpPr/>
          <p:nvPr/>
        </p:nvSpPr>
        <p:spPr>
          <a:xfrm>
            <a:off x="8055864" y="3822191"/>
            <a:ext cx="3456432" cy="132588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73152" bIns="73152"/>
          <a:lstStyle/>
          <a:p>
            <a:pPr algn="ctr">
              <a:lnSpc>
                <a:spcPct val="120000"/>
              </a:lnSpc>
            </a:pPr>
            <a:r>
              <a:rPr sz="1300" b="0">
                <a:solidFill>
                  <a:srgbClr val="1A1A1A"/>
                </a:solidFill>
                <a:latin typeface="DejaVu Serif"/>
              </a:rPr>
              <a:t>Calibrated confidence</a:t>
            </a:r>
          </a:p>
          <a:p>
            <a:pPr algn="ctr">
              <a:lnSpc>
                <a:spcPct val="120000"/>
              </a:lnSpc>
            </a:pPr>
            <a:r>
              <a:rPr sz="1300" b="0">
                <a:solidFill>
                  <a:srgbClr val="1A1A1A"/>
                </a:solidFill>
                <a:latin typeface="DejaVu Serif"/>
              </a:rPr>
              <a:t/>
            </a:r>
          </a:p>
          <a:p>
            <a:pPr algn="ctr">
              <a:lnSpc>
                <a:spcPct val="120000"/>
              </a:lnSpc>
            </a:pPr>
            <a:r>
              <a:rPr sz="1300" b="0">
                <a:solidFill>
                  <a:srgbClr val="1A1A1A"/>
                </a:solidFill>
                <a:latin typeface="DejaVu Serif"/>
              </a:rPr>
              <a:t>a per-query error estimate,</a:t>
            </a:r>
          </a:p>
          <a:p>
            <a:pPr algn="ctr">
              <a:lnSpc>
                <a:spcPct val="120000"/>
              </a:lnSpc>
            </a:pPr>
            <a:r>
              <a:rPr sz="1300" b="0">
                <a:solidFill>
                  <a:srgbClr val="1A1A1A"/>
                </a:solidFill>
                <a:latin typeface="DejaVu Serif"/>
              </a:rPr>
              <a:t>monotonic against real error</a:t>
            </a:r>
          </a:p>
        </p:txBody>
      </p:sp>
      <p:sp>
        <p:nvSpPr>
          <p:cNvPr id="25" name="TextBox 24"/>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Sparse queries reproduce the dense field to 0.00057 px maximum deviation.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91440"/>
            <a:ext cx="10820095" cy="201168"/>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Appendix D:  anticipated questions</a:t>
            </a:r>
          </a:p>
        </p:txBody>
      </p:sp>
      <p:sp>
        <p:nvSpPr>
          <p:cNvPr id="3" name="TextBox 2"/>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23</a:t>
            </a:r>
          </a:p>
        </p:txBody>
      </p:sp>
      <p:sp>
        <p:nvSpPr>
          <p:cNvPr id="4" name="TextBox 3"/>
          <p:cNvSpPr txBox="1"/>
          <p:nvPr/>
        </p:nvSpPr>
        <p:spPr>
          <a:xfrm>
            <a:off x="685800" y="365760"/>
            <a:ext cx="10820095" cy="548640"/>
          </a:xfrm>
          <a:prstGeom prst="rect">
            <a:avLst/>
          </a:prstGeom>
          <a:noFill/>
        </p:spPr>
        <p:txBody>
          <a:bodyPr wrap="square" lIns="0" rIns="0" tIns="0" bIns="0">
            <a:spAutoFit/>
          </a:bodyPr>
          <a:lstStyle/>
          <a:p>
            <a:pPr algn="l">
              <a:lnSpc>
                <a:spcPct val="100000"/>
              </a:lnSpc>
            </a:pPr>
            <a:r>
              <a:rPr sz="3000" b="1">
                <a:solidFill>
                  <a:srgbClr val="1A1A1A"/>
                </a:solidFill>
                <a:latin typeface="DejaVu Serif"/>
              </a:rPr>
              <a:t>Four questions I expect, answered</a:t>
            </a:r>
          </a:p>
        </p:txBody>
      </p:sp>
      <p:sp>
        <p:nvSpPr>
          <p:cNvPr id="5" name="Rectangle 4"/>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0820095" cy="256032"/>
          </a:xfrm>
          <a:prstGeom prst="rect">
            <a:avLst/>
          </a:prstGeom>
          <a:noFill/>
        </p:spPr>
        <p:txBody>
          <a:bodyPr wrap="square" lIns="0" rIns="0" tIns="0" bIns="0">
            <a:spAutoFit/>
          </a:bodyPr>
          <a:lstStyle/>
          <a:p>
            <a:pPr algn="l">
              <a:lnSpc>
                <a:spcPct val="100000"/>
              </a:lnSpc>
            </a:pPr>
            <a:r>
              <a:rPr sz="1650" b="1">
                <a:solidFill>
                  <a:srgbClr val="1A1A1A"/>
                </a:solidFill>
                <a:latin typeface="DejaVu Serif"/>
              </a:rPr>
              <a:t>Why is flow defined between pixels at all?</a:t>
            </a:r>
          </a:p>
        </p:txBody>
      </p:sp>
      <p:sp>
        <p:nvSpPr>
          <p:cNvPr id="7" name="TextBox 6"/>
          <p:cNvSpPr txBox="1"/>
          <p:nvPr/>
        </p:nvSpPr>
        <p:spPr>
          <a:xfrm>
            <a:off x="941832" y="2075688"/>
            <a:ext cx="10564063" cy="502920"/>
          </a:xfrm>
          <a:prstGeom prst="rect">
            <a:avLst/>
          </a:prstGeom>
          <a:noFill/>
        </p:spPr>
        <p:txBody>
          <a:bodyPr wrap="square" lIns="0" rIns="0" tIns="0" bIns="0">
            <a:spAutoFit/>
          </a:bodyPr>
          <a:lstStyle/>
          <a:p>
            <a:pPr algn="l">
              <a:lnSpc>
                <a:spcPct val="120000"/>
              </a:lnSpc>
            </a:pPr>
            <a:r>
              <a:rPr sz="1300" b="0">
                <a:solidFill>
                  <a:srgbClr val="1A1A1A"/>
                </a:solidFill>
                <a:latin typeface="DejaVu Serif"/>
              </a:rPr>
              <a:t>Motion is continuous and the pixel grid is a sampling artefact. A corner tracked to (312.7, 188.2) is a real answer, and registration consumes it directly.</a:t>
            </a:r>
          </a:p>
        </p:txBody>
      </p:sp>
      <p:sp>
        <p:nvSpPr>
          <p:cNvPr id="8" name="TextBox 7"/>
          <p:cNvSpPr txBox="1"/>
          <p:nvPr/>
        </p:nvSpPr>
        <p:spPr>
          <a:xfrm>
            <a:off x="685800" y="2862072"/>
            <a:ext cx="10820095" cy="256032"/>
          </a:xfrm>
          <a:prstGeom prst="rect">
            <a:avLst/>
          </a:prstGeom>
          <a:noFill/>
        </p:spPr>
        <p:txBody>
          <a:bodyPr wrap="square" lIns="0" rIns="0" tIns="0" bIns="0">
            <a:spAutoFit/>
          </a:bodyPr>
          <a:lstStyle/>
          <a:p>
            <a:pPr algn="l">
              <a:lnSpc>
                <a:spcPct val="100000"/>
              </a:lnSpc>
            </a:pPr>
            <a:r>
              <a:rPr sz="1650" b="1">
                <a:solidFill>
                  <a:srgbClr val="1A1A1A"/>
                </a:solidFill>
                <a:latin typeface="DejaVu Serif"/>
              </a:rPr>
              <a:t>Why freeze the backbone?</a:t>
            </a:r>
          </a:p>
        </p:txBody>
      </p:sp>
      <p:sp>
        <p:nvSpPr>
          <p:cNvPr id="9" name="TextBox 8"/>
          <p:cNvSpPr txBox="1"/>
          <p:nvPr/>
        </p:nvSpPr>
        <p:spPr>
          <a:xfrm>
            <a:off x="941832" y="3154679"/>
            <a:ext cx="10564063" cy="502920"/>
          </a:xfrm>
          <a:prstGeom prst="rect">
            <a:avLst/>
          </a:prstGeom>
          <a:noFill/>
        </p:spPr>
        <p:txBody>
          <a:bodyPr wrap="square" lIns="0" rIns="0" tIns="0" bIns="0">
            <a:spAutoFit/>
          </a:bodyPr>
          <a:lstStyle/>
          <a:p>
            <a:pPr algn="l">
              <a:lnSpc>
                <a:spcPct val="120000"/>
              </a:lnSpc>
            </a:pPr>
            <a:r>
              <a:rPr sz="1300" b="0">
                <a:solidFill>
                  <a:srgbClr val="1A1A1A"/>
                </a:solidFill>
                <a:latin typeface="DejaVu Serif"/>
              </a:rPr>
              <a:t>To make the decoder the only variable. Any difference between v2 and v3 is then attributable to the output stage and nothing else.</a:t>
            </a:r>
          </a:p>
        </p:txBody>
      </p:sp>
      <p:sp>
        <p:nvSpPr>
          <p:cNvPr id="10" name="TextBox 9"/>
          <p:cNvSpPr txBox="1"/>
          <p:nvPr/>
        </p:nvSpPr>
        <p:spPr>
          <a:xfrm>
            <a:off x="685800" y="3941063"/>
            <a:ext cx="10820095" cy="256032"/>
          </a:xfrm>
          <a:prstGeom prst="rect">
            <a:avLst/>
          </a:prstGeom>
          <a:noFill/>
        </p:spPr>
        <p:txBody>
          <a:bodyPr wrap="square" lIns="0" rIns="0" tIns="0" bIns="0">
            <a:spAutoFit/>
          </a:bodyPr>
          <a:lstStyle/>
          <a:p>
            <a:pPr algn="l">
              <a:lnSpc>
                <a:spcPct val="100000"/>
              </a:lnSpc>
            </a:pPr>
            <a:r>
              <a:rPr sz="1650" b="1">
                <a:solidFill>
                  <a:srgbClr val="1A1A1A"/>
                </a:solidFill>
                <a:latin typeface="DejaVu Serif"/>
              </a:rPr>
              <a:t>Why is dense v3 slower than v2?</a:t>
            </a:r>
          </a:p>
        </p:txBody>
      </p:sp>
      <p:sp>
        <p:nvSpPr>
          <p:cNvPr id="11" name="TextBox 10"/>
          <p:cNvSpPr txBox="1"/>
          <p:nvPr/>
        </p:nvSpPr>
        <p:spPr>
          <a:xfrm>
            <a:off x="941832" y="4233672"/>
            <a:ext cx="10564063" cy="502920"/>
          </a:xfrm>
          <a:prstGeom prst="rect">
            <a:avLst/>
          </a:prstGeom>
          <a:noFill/>
        </p:spPr>
        <p:txBody>
          <a:bodyPr wrap="square" lIns="0" rIns="0" tIns="0" bIns="0">
            <a:spAutoFit/>
          </a:bodyPr>
          <a:lstStyle/>
          <a:p>
            <a:pPr algn="l">
              <a:lnSpc>
                <a:spcPct val="120000"/>
              </a:lnSpc>
            </a:pPr>
            <a:r>
              <a:rPr sz="1300" b="0">
                <a:solidFill>
                  <a:srgbClr val="1A1A1A"/>
                </a:solidFill>
                <a:latin typeface="DejaVu Serif"/>
              </a:rPr>
              <a:t>v2 upsamples with one convolution that shares work across neighbouring pixels. v3 answers each query independently, which gives up that sharing.</a:t>
            </a:r>
          </a:p>
        </p:txBody>
      </p:sp>
      <p:sp>
        <p:nvSpPr>
          <p:cNvPr id="12" name="TextBox 11"/>
          <p:cNvSpPr txBox="1"/>
          <p:nvPr/>
        </p:nvSpPr>
        <p:spPr>
          <a:xfrm>
            <a:off x="685800" y="5020055"/>
            <a:ext cx="10820095" cy="256032"/>
          </a:xfrm>
          <a:prstGeom prst="rect">
            <a:avLst/>
          </a:prstGeom>
          <a:noFill/>
        </p:spPr>
        <p:txBody>
          <a:bodyPr wrap="square" lIns="0" rIns="0" tIns="0" bIns="0">
            <a:spAutoFit/>
          </a:bodyPr>
          <a:lstStyle/>
          <a:p>
            <a:pPr algn="l">
              <a:lnSpc>
                <a:spcPct val="100000"/>
              </a:lnSpc>
            </a:pPr>
            <a:r>
              <a:rPr sz="1650" b="1">
                <a:solidFill>
                  <a:srgbClr val="1A1A1A"/>
                </a:solidFill>
                <a:latin typeface="DejaVu Serif"/>
              </a:rPr>
              <a:t>Is 2.6 percent worth the added complexity?</a:t>
            </a:r>
          </a:p>
        </p:txBody>
      </p:sp>
      <p:sp>
        <p:nvSpPr>
          <p:cNvPr id="13" name="TextBox 12"/>
          <p:cNvSpPr txBox="1"/>
          <p:nvPr/>
        </p:nvSpPr>
        <p:spPr>
          <a:xfrm>
            <a:off x="941832" y="5312664"/>
            <a:ext cx="10564063" cy="502920"/>
          </a:xfrm>
          <a:prstGeom prst="rect">
            <a:avLst/>
          </a:prstGeom>
          <a:noFill/>
        </p:spPr>
        <p:txBody>
          <a:bodyPr wrap="square" lIns="0" rIns="0" tIns="0" bIns="0">
            <a:spAutoFit/>
          </a:bodyPr>
          <a:lstStyle/>
          <a:p>
            <a:pPr algn="l">
              <a:lnSpc>
                <a:spcPct val="120000"/>
              </a:lnSpc>
            </a:pPr>
            <a:r>
              <a:rPr sz="1300" b="0">
                <a:solidFill>
                  <a:srgbClr val="1A1A1A"/>
                </a:solidFill>
                <a:latin typeface="DejaVu Serif"/>
              </a:rPr>
              <a:t>Not on its own. It is worth it if you need queryability, cheap repeat access, or a confidence value. For plain dense flow, v2 remains the better choice.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91440"/>
            <a:ext cx="10820095" cy="201168"/>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Appendix E:  the three situations in the aerial domain</a:t>
            </a:r>
          </a:p>
        </p:txBody>
      </p:sp>
      <p:sp>
        <p:nvSpPr>
          <p:cNvPr id="3" name="TextBox 2"/>
          <p:cNvSpPr txBox="1"/>
          <p:nvPr/>
        </p:nvSpPr>
        <p:spPr>
          <a:xfrm>
            <a:off x="11094415" y="6327648"/>
            <a:ext cx="411480" cy="219456"/>
          </a:xfrm>
          <a:prstGeom prst="rect">
            <a:avLst/>
          </a:prstGeom>
          <a:noFill/>
        </p:spPr>
        <p:txBody>
          <a:bodyPr wrap="square" lIns="0" rIns="0" tIns="0" bIns="0">
            <a:spAutoFit/>
          </a:bodyPr>
          <a:lstStyle/>
          <a:p>
            <a:pPr algn="r">
              <a:lnSpc>
                <a:spcPct val="100000"/>
              </a:lnSpc>
            </a:pPr>
            <a:r>
              <a:rPr sz="1150" b="0">
                <a:solidFill>
                  <a:srgbClr val="808080"/>
                </a:solidFill>
                <a:latin typeface="DejaVu Serif"/>
              </a:rPr>
              <a:t>24</a:t>
            </a:r>
          </a:p>
        </p:txBody>
      </p:sp>
      <p:sp>
        <p:nvSpPr>
          <p:cNvPr id="4" name="TextBox 3"/>
          <p:cNvSpPr txBox="1"/>
          <p:nvPr/>
        </p:nvSpPr>
        <p:spPr>
          <a:xfrm>
            <a:off x="685800" y="365760"/>
            <a:ext cx="10820095" cy="969264"/>
          </a:xfrm>
          <a:prstGeom prst="rect">
            <a:avLst/>
          </a:prstGeom>
          <a:noFill/>
        </p:spPr>
        <p:txBody>
          <a:bodyPr wrap="square" lIns="0" rIns="0" tIns="0" bIns="0">
            <a:spAutoFit/>
          </a:bodyPr>
          <a:lstStyle/>
          <a:p>
            <a:pPr algn="l">
              <a:lnSpc>
                <a:spcPct val="110000"/>
              </a:lnSpc>
            </a:pPr>
            <a:r>
              <a:rPr sz="3000" b="1">
                <a:solidFill>
                  <a:srgbClr val="1A1A1A"/>
                </a:solidFill>
                <a:latin typeface="DejaVu Serif"/>
              </a:rPr>
              <a:t>Same region geometry, same decoder, only</a:t>
            </a:r>
          </a:p>
          <a:p>
            <a:pPr algn="l">
              <a:lnSpc>
                <a:spcPct val="110000"/>
              </a:lnSpc>
            </a:pPr>
            <a:r>
              <a:rPr sz="3000" b="1">
                <a:solidFill>
                  <a:srgbClr val="1A1A1A"/>
                </a:solidFill>
                <a:latin typeface="DejaVu Serif"/>
              </a:rPr>
              <a:t>the domain changes</a:t>
            </a:r>
          </a:p>
        </p:txBody>
      </p:sp>
      <p:sp>
        <p:nvSpPr>
          <p:cNvPr id="5" name="Rectangle 4"/>
          <p:cNvSpPr/>
          <p:nvPr/>
        </p:nvSpPr>
        <p:spPr>
          <a:xfrm>
            <a:off x="685800" y="1408176"/>
            <a:ext cx="10820095" cy="9525"/>
          </a:xfrm>
          <a:prstGeom prst="rect">
            <a:avLst/>
          </a:prstGeom>
          <a:solidFill>
            <a:srgbClr val="C8C8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enarios_tartanair_tight.png"/>
          <p:cNvPicPr>
            <a:picLocks noChangeAspect="1"/>
          </p:cNvPicPr>
          <p:nvPr/>
        </p:nvPicPr>
        <p:blipFill>
          <a:blip r:embed="rId2"/>
          <a:stretch>
            <a:fillRect/>
          </a:stretch>
        </p:blipFill>
        <p:spPr>
          <a:xfrm>
            <a:off x="685800" y="1700784"/>
            <a:ext cx="4369151" cy="4224528"/>
          </a:xfrm>
          <a:prstGeom prst="rect">
            <a:avLst/>
          </a:prstGeom>
        </p:spPr>
      </p:pic>
      <p:sp>
        <p:nvSpPr>
          <p:cNvPr id="7" name="TextBox 6"/>
          <p:cNvSpPr txBox="1"/>
          <p:nvPr/>
        </p:nvSpPr>
        <p:spPr>
          <a:xfrm>
            <a:off x="5577840" y="1920240"/>
            <a:ext cx="5925312" cy="3108960"/>
          </a:xfrm>
          <a:prstGeom prst="rect">
            <a:avLst/>
          </a:prstGeom>
          <a:noFill/>
        </p:spPr>
        <p:txBody>
          <a:bodyPr wrap="square" lIns="0" rIns="0">
            <a:spAutoFit/>
          </a:bodyPr>
          <a:lstStyle/>
          <a:p>
            <a:pPr>
              <a:lnSpc>
                <a:spcPct val="114000"/>
              </a:lnSpc>
              <a:spcAft>
                <a:spcPts val="1300"/>
              </a:spcAft>
            </a:pPr>
            <a:r>
              <a:rPr sz="1300" b="1">
                <a:solidFill>
                  <a:srgbClr val="1A1A1A"/>
                </a:solidFill>
                <a:latin typeface="DejaVu Serif"/>
              </a:rPr>
              <a:t>What is held fixed. </a:t>
            </a:r>
            <a:r>
              <a:rPr sz="1300" b="0">
                <a:solidFill>
                  <a:srgbClr val="1A1A1A"/>
                </a:solidFill>
                <a:latin typeface="DejaVu Serif"/>
              </a:rPr>
              <a:t>Region geometry, margin, decode stride and checkpoint are identical to the driving figure on slide 2.</a:t>
            </a:r>
          </a:p>
          <a:p>
            <a:pPr>
              <a:lnSpc>
                <a:spcPct val="114000"/>
              </a:lnSpc>
              <a:spcAft>
                <a:spcPts val="1300"/>
              </a:spcAft>
            </a:pPr>
            <a:r>
              <a:rPr sz="1300" b="1">
                <a:solidFill>
                  <a:srgbClr val="1A1A1A"/>
                </a:solidFill>
                <a:latin typeface="DejaVu Serif"/>
              </a:rPr>
              <a:t>What changes. </a:t>
            </a:r>
            <a:r>
              <a:rPr sz="1300" b="0">
                <a:solidFill>
                  <a:srgbClr val="1A1A1A"/>
                </a:solidFill>
                <a:latin typeface="DejaVu Serif"/>
              </a:rPr>
              <a:t>Mean inter-frame motion falls from 26.6 px to 9.26 px, about a third.</a:t>
            </a:r>
          </a:p>
          <a:p>
            <a:pPr>
              <a:lnSpc>
                <a:spcPct val="114000"/>
              </a:lnSpc>
              <a:spcAft>
                <a:spcPts val="1300"/>
              </a:spcAft>
            </a:pPr>
            <a:r>
              <a:rPr sz="1300" b="1">
                <a:solidFill>
                  <a:srgbClr val="1A1A1A"/>
                </a:solidFill>
                <a:latin typeface="DejaVu Serif"/>
              </a:rPr>
              <a:t>What to notice. </a:t>
            </a:r>
            <a:r>
              <a:rPr sz="1300" b="0">
                <a:solidFill>
                  <a:srgbClr val="1A1A1A"/>
                </a:solidFill>
                <a:latin typeface="DejaVu Serif"/>
              </a:rPr>
              <a:t>Flow inside each region is much closer to uniform than in the driving frames, because a drone rotating through a static scene produces near-constant displacement across a small window.</a:t>
            </a:r>
          </a:p>
          <a:p>
            <a:pPr>
              <a:lnSpc>
                <a:spcPct val="114000"/>
              </a:lnSpc>
              <a:spcAft>
                <a:spcPts val="1300"/>
              </a:spcAft>
            </a:pPr>
            <a:r>
              <a:rPr sz="1300" b="1">
                <a:solidFill>
                  <a:srgbClr val="1A1A1A"/>
                </a:solidFill>
                <a:latin typeface="DejaVu Serif"/>
              </a:rPr>
              <a:t>Why it matters. </a:t>
            </a:r>
            <a:r>
              <a:rPr sz="1300" b="0">
                <a:solidFill>
                  <a:srgbClr val="1A1A1A"/>
                </a:solidFill>
                <a:latin typeface="DejaVu Serif"/>
              </a:rPr>
              <a:t>No model in this study trained on this imagery, which is what makes the head-to-head on slide 15 worth having.</a:t>
            </a:r>
          </a:p>
        </p:txBody>
      </p:sp>
      <p:sp>
        <p:nvSpPr>
          <p:cNvPr id="8" name="TextBox 7"/>
          <p:cNvSpPr txBox="1"/>
          <p:nvPr/>
        </p:nvSpPr>
        <p:spPr>
          <a:xfrm>
            <a:off x="685800" y="6327648"/>
            <a:ext cx="10317175" cy="237744"/>
          </a:xfrm>
          <a:prstGeom prst="rect">
            <a:avLst/>
          </a:prstGeom>
          <a:noFill/>
        </p:spPr>
        <p:txBody>
          <a:bodyPr wrap="square" lIns="0" rIns="0" tIns="0" bIns="0">
            <a:spAutoFit/>
          </a:bodyPr>
          <a:lstStyle/>
          <a:p>
            <a:pPr algn="l">
              <a:lnSpc>
                <a:spcPct val="100000"/>
              </a:lnSpc>
            </a:pPr>
            <a:r>
              <a:rPr sz="1150" b="0">
                <a:solidFill>
                  <a:srgbClr val="808080"/>
                </a:solidFill>
                <a:latin typeface="DejaVu Serif"/>
              </a:rPr>
              <a:t>TartanAir aerial sequences. Flow colour encodes direction, so these two panels stay in colour where the rest of the deck does not.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