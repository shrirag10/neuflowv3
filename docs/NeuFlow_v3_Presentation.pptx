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replaced NeuFlow v2's fixed upsampler with a decoder you can query at any coordinate. The headline is that this buys three capabilities v2 cannot express, and costs 2.6 percent of mean accuracy. I will show you both sides. The result I would most like your reaction to is selective accuracy, which is slide ten, so I will keep the earlier material tight.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modern flow network computes a displacement for every pixel at one fixed resolution, and that contract is rarely questioned. It does not match what several important consumers actually need. Registration, sparse tracking and survey mosaicking all select a few hundred points themselves and discard the rest. On a small GPU that waste is the difference between real time and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question this project answers, stated precisely. Not whether I can build a better flow network, but whether the final stage of a real-time one can be made queryable, and what that costs. The approach is to keep everything that understands motion frozen and change only the output, so the comparison isolates one variable.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change is confined to the last stage. Phase one is v2 exactly as published, run once and cached. Phase two takes a coordinate, samples feature windows around it, and predicts weights that blend the nine neighbouring coarse flow values plus a bilinear sample. Because it is a convex blend it cannot hallucinate motion. And because phase one is cached, asking a second question about the same frame is cheap. That caching turns out to be the property that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the rest of the deck interpretable. First, the front end is frozen and I verify per checkpoint that all 137 shared tensors are bit-identical to v2, so any difference you see is the decoder and nothing else. Second, both evaluation scenes are excluded from every training set, checked at pair and frame level before each run. The zero-init property is worth noting too: an untrained decoder is exactly bilinear upsampling, so training can only move away from a known-good operating point by learning something.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central cost, and I am leading with it rather than burying it. Every v3 configuration is less accurate than the baseline on mean end-point error. The best is 2.384 against 2.324, so 2.6 percent worse. The like-for-like comparison, trained on FlyingChairs alone as v2 was trained on FlyingThings alone, is 7.6 percent behind. The model is 13 percent smaller, which is worth something but does not excuse it. Four slides on, the same model is more than twice as accurate as v2 over most of the frame, once it is allowed to abstain. That is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cost actually sits. On one-pixel accuracy v3 is below v2 in every configuration. Mean error partly hides it, because v3 makes fewer catastrophic errors, which drags the average down while it is less exact on the majority of pixels. I know the mechanism: the decoder's finest input is at one-eighth resolution, so inside an eight by eight cell it is looking at almost the same evidence wherever you query, while the v2 upsampler reads the full-resolution frame directly. I tested the competing explanation, that it was simply missing positional information, by adding a Fourier encoding. It changed nothing, which rules that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speed I want to be precise about which claim I am making. Dense output is ten percent slower than v2, and that mode is not what the decoder is for. A first sparse query is level with v2, because 96 percent of the cost is the coarse pass, which both share and which cannot be skipped since global matching needs the whole image. The win is repeat access. Asking a second question about a frame you have already processed costs 1.25 milliseconds against 33.3, because v2 keeps no state and has to redo everything. Anything that revisits a frame gets that: iterative registration, RANSAC refinement, an operator inspecting a scene. That is structural, not a margin.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predicts an error scale for every query alongside the flow itself, trained under a Laplace likelihood. When you bin queries by predicted uncertainty, actual error rises monotonically across all five bins, from 0.48 pixels in the most confident to 7.10 in the least, a fifteen-fold span, over 2.35 million queries. It is not perfectly correlated, r is 0.318, but it is clearly informative and directly usable: weight correspondences, drop unreliable ones, or send more queries where the model is unsure. v2 has no equivalent output, so there is nothing to compare against.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most like your reaction to. The accuracy table earlier reports mean error over every pixel, which is the only operating point v2 has, because it cannot tell you which of its outputs to trust. v3 can, so instead of a point it has a curve. Discard the least confident fifth and error on what remains falls to 1.06 pixels against v2's 2.32 over the whole frame. More than twice as accurate over eighty percent of the image. Keep only the most confident fifth and it is 0.48. Why this is not a statistical trick: for registration and mapping you are choosing a few hundred points anyway, so declining to answer where the model is unsure costs you nothing you would otherwise have used.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situations you described, on real frames. First, something worth flowing enters the field of view and you start tracking it. Second, the platform turns and that region now overlaps a second object. Third, a new object appears in a frame you are already part way through processing. On the right is what the model actually computes: flow inside the marked regions only. The grey area is not computed at all. That is the whole premise, and the next slides put numbers on what it costs and what you get 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flowing only a region actually buys. Keep full resolution, process fourteen percent of the frame, and it costs thirty-four thousandths of a pixel. That is the enabling result for the whole scenario. The margin is the part worth dwelling on. Without one, error jumps sixty-five percent and a quarter of the large-motion pixels fail completely, because this network finds large displacement using attention over the whole image and a tight crop takes that away. I should be clear that this applies to any flow network including v2 unchanged. It is a platform technique, not something my decoder provides. What the decoder adds comes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know whether the margin rule was a curve fitted to one dataset or something more general, so I tested it on aerial sequences, which move very differently: nine point three pixels per frame against twenty-six point six for driving. The prediction was that the required margin should scale with motion, so the knee should move from thirty-two pixels down to about nine. It did. On the left the two need different absolute margins. On the right, divided by mean motion, both start at the same penalty and both have lost most of it by the point where the margin equals one frame of motion. I will be precise about the limits: the agreement is good up to that point and residuals differ beyond it, so this predicts the scale rather than the exact curve. That is still enough to size a margin from speed and frame rate before running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three situations on aerial data, with the region geometry and the decoder configuration held identical. Only the domain changes. Two things to notice. The flow inside each region is much closer to uniform than in the driving frames, because a drone rotating through a static scene produces near-constant displacement over a small window. And no model in this study trained on this imagery, which is what makes the comparison on the next slide worth having.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result I did not expect. Everything else in this deck is measured on driving sequences, and v3 trained on driving data while v2 did not, which is a confound I have flagged throughout. Aerial data is neutral ground: neither model has seen anything like it. On that neutral ground v3 comes out ahead at all seven margin settings. The likely reason is that the decoder saw three datasets where v2 saw one, and the convex head is bounded so it cannot invent motion its inputs do not support, which should degrade more gracefully out of domain. I want to be careful about how much weight this carries: the margins are small, it is forty pairs and one seed, and v3 is still slightly worse on the large-motion pixels. What makes it worth showing is that it is consistent across seven independent settings.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third scenario, and the one result specific to this architecture rather than to cropping. A frame is already in flight when a new object enters the field of view. Because the coarse pass is cached, answering costs one point seven milliseconds. A cropped pipeline cannot reuse anything, since the new object is outside its box, so it runs a whole new pass at seven point three milliseconds, four times more, and the answer is worse, three point six pixels against two point one, because a fresh crop has lost the surrounding context. v2 keeps no state at all between calls. The general point is that this buys the ability to answer a question you did not know you would have when the frame arrived, which on a moving platform is most of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the contribution. It is an operating point, not a leaderboard position. For an application that consumes one complete dense field per frame and nothing else, v2 remains the correct choice and I will say so plainly: it is more accurate and ten percent faster in that mode. The decoder earns its place when the consumer picks its own points, revisits a frame, or needs a confidence value. And the selective prediction result reframes the whole accuracy comparison, because mean error over all pixels is exactly the metric a model without confidence is stuck with.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stated plainly rather than buried. The accuracy gap is structural: the decoder never sees full-resolution features. Three separate experiments returned null for the same reason, which is what makes me confident in the diagnosis rather than merely suspicious. Sub-pixel querying is thinner than it sounds for the same reason: the interface is exact but the extra information recoverable between pixels is small until the decoder gets full-resolution input. There is no embedded measurement at all, so the word edge is a design target. And one seed per configuration, so please do not read much into differences below about five hundredths of a pixel.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Queryable output is affordable: arbitrary continuous coordinates for 2.6 percent of mean accuracy, from a smaller model. Confidence is worth more than the mean, because abstaining on a fifth of queries more than halves the error on the rest. And the region margin a fast platform needs is predictable from speed and frame rate before any flow is computed. The next experiment is the full-resolution stem, which is the direct attack on the one gap I have not closed. I will stop there. Are there questions or feedback?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for everything cited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interface is two calls: one coarse pass per frame pair, then as many decode calls as you like against it. The plot shows decode cost is flat between 800 and 2,048 queries, which tells you it is dominated by kernel launch overhead rather than arithmetic, so you get two thousand points for the price of eight hundred. Above about ten thousand points it becomes compute bound and dense mode is the better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tool, not a mock-up. Load a video, step to a frame, drag a box, and it computes flow in that box. Query mode runs the full coarse pass and decodes only inside the box, which is exact. Crop mode feeds just the box through the whole pipeline, so cost scales with the area requested but it loses the surrounding context that global matching uses. The panel shows the actual breakdown live, including the parts where v3 is not the faster option.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against what I set out to do, and two of three are not met. Better accuracy: not met. Less compute: partly, dense is slower, a first query is level, but repeat queries are twenty-seven times cheaper. Edge capable: unproven, everything is on a laptop 4060. What the project does deliver is the three things at the bottom, and those are measured.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Pre-built answers to the questions I think are most likely.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0"/>
            <a:ext cx="8229600" cy="1600200"/>
          </a:xfrm>
          <a:prstGeom prst="rect">
            <a:avLst/>
          </a:prstGeom>
          <a:noFill/>
        </p:spPr>
        <p:txBody>
          <a:bodyPr wrap="square">
            <a:spAutoFit/>
          </a:bodyPr>
          <a:lstStyle/>
          <a:p>
            <a:pPr algn="l">
              <a:lnSpc>
                <a:spcPct val="118000"/>
              </a:lnSpc>
            </a:pPr>
            <a:r>
              <a:rPr sz="2600" b="1">
                <a:solidFill>
                  <a:srgbClr val="1F4E79"/>
                </a:solidFill>
                <a:latin typeface="Arial"/>
              </a:rPr>
              <a:t>Optical flow you can query:</a:t>
            </a:r>
          </a:p>
          <a:p>
            <a:pPr algn="l">
              <a:lnSpc>
                <a:spcPct val="118000"/>
              </a:lnSpc>
            </a:pPr>
            <a:r>
              <a:rPr sz="2600" b="1">
                <a:solidFill>
                  <a:srgbClr val="1F4E79"/>
                </a:solidFill>
                <a:latin typeface="Arial"/>
              </a:rPr>
              <a:t>calibrated confidence and 27x cheaper</a:t>
            </a:r>
          </a:p>
          <a:p>
            <a:pPr algn="l">
              <a:lnSpc>
                <a:spcPct val="118000"/>
              </a:lnSpc>
            </a:pPr>
            <a:r>
              <a:rPr sz="2600" b="1">
                <a:solidFill>
                  <a:srgbClr val="1F4E79"/>
                </a:solidFill>
                <a:latin typeface="Arial"/>
              </a:rPr>
              <a:t>repeat access for 2.6% of mean accuracy</a:t>
            </a:r>
          </a:p>
        </p:txBody>
      </p:sp>
      <p:sp>
        <p:nvSpPr>
          <p:cNvPr id="3" name="Rectangle 2"/>
          <p:cNvSpPr/>
          <p:nvPr/>
        </p:nvSpPr>
        <p:spPr>
          <a:xfrm>
            <a:off x="457200" y="2907792"/>
            <a:ext cx="2011680"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090672"/>
            <a:ext cx="8229600" cy="822960"/>
          </a:xfrm>
          <a:prstGeom prst="rect">
            <a:avLst/>
          </a:prstGeom>
          <a:noFill/>
        </p:spPr>
        <p:txBody>
          <a:bodyPr wrap="square">
            <a:spAutoFit/>
          </a:bodyPr>
          <a:lstStyle/>
          <a:p>
            <a:pPr algn="l">
              <a:lnSpc>
                <a:spcPct val="130000"/>
              </a:lnSpc>
            </a:pPr>
            <a:r>
              <a:rPr sz="1600" b="0">
                <a:solidFill>
                  <a:srgbClr val="2D2D2D"/>
                </a:solidFill>
                <a:latin typeface="Arial"/>
              </a:rPr>
              <a:t>Shriman Raghav Srinivasan</a:t>
            </a:r>
          </a:p>
          <a:p>
            <a:pPr algn="l">
              <a:lnSpc>
                <a:spcPct val="130000"/>
              </a:lnSpc>
            </a:pPr>
            <a:r>
              <a:rPr sz="1600" b="0">
                <a:solidFill>
                  <a:srgbClr val="2D2D2D"/>
                </a:solidFill>
                <a:latin typeface="Arial"/>
              </a:rPr>
              <a:t>MS Robotics, Northeastern University   |   Field Robotics Lab</a:t>
            </a:r>
          </a:p>
        </p:txBody>
      </p:sp>
      <p:sp>
        <p:nvSpPr>
          <p:cNvPr id="5" name="TextBox 4"/>
          <p:cNvSpPr txBox="1"/>
          <p:nvPr/>
        </p:nvSpPr>
        <p:spPr>
          <a:xfrm>
            <a:off x="457200" y="4114800"/>
            <a:ext cx="8229600" cy="365760"/>
          </a:xfrm>
          <a:prstGeom prst="rect">
            <a:avLst/>
          </a:prstGeom>
          <a:noFill/>
        </p:spPr>
        <p:txBody>
          <a:bodyPr wrap="square">
            <a:spAutoFit/>
          </a:bodyPr>
          <a:lstStyle/>
          <a:p>
            <a:pPr algn="l">
              <a:lnSpc>
                <a:spcPct val="100000"/>
              </a:lnSpc>
            </a:pPr>
            <a:r>
              <a:rPr sz="1200" b="0">
                <a:solidFill>
                  <a:srgbClr val="777777"/>
                </a:solidFill>
                <a:latin typeface="Arial"/>
              </a:rPr>
              <a:t>Final project presentation   |   12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Most consumers use a few hundred of the</a:t>
            </a:r>
          </a:p>
          <a:p>
            <a:pPr algn="l">
              <a:lnSpc>
                <a:spcPct val="105000"/>
              </a:lnSpc>
            </a:pPr>
            <a:r>
              <a:rPr sz="2400" b="1">
                <a:solidFill>
                  <a:srgbClr val="1F4E79"/>
                </a:solidFill>
                <a:latin typeface="Arial"/>
              </a:rPr>
              <a:t>479,232 values a network computes</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8229600" cy="2103120"/>
          </a:xfrm>
          <a:prstGeom prst="rect">
            <a:avLst/>
          </a:prstGeom>
          <a:noFill/>
        </p:spPr>
        <p:txBody>
          <a:bodyPr wrap="square">
            <a:spAutoFit/>
          </a:bodyPr>
          <a:lstStyle/>
          <a:p>
            <a:pPr>
              <a:lnSpc>
                <a:spcPct val="106000"/>
              </a:lnSpc>
              <a:spcAft>
                <a:spcPts val="1100"/>
              </a:spcAft>
            </a:pPr>
            <a:r>
              <a:rPr sz="2000" b="1">
                <a:solidFill>
                  <a:srgbClr val="2D2D2D"/>
                </a:solidFill>
                <a:latin typeface="Arial"/>
              </a:rPr>
              <a:t>Registration </a:t>
            </a:r>
            <a:r>
              <a:rPr sz="2000" b="0">
                <a:solidFill>
                  <a:srgbClr val="2D2D2D"/>
                </a:solidFill>
                <a:latin typeface="Arial"/>
              </a:rPr>
              <a:t>picks a few hundred textured points, and needs flow there.</a:t>
            </a:r>
          </a:p>
          <a:p>
            <a:pPr>
              <a:lnSpc>
                <a:spcPct val="106000"/>
              </a:lnSpc>
              <a:spcAft>
                <a:spcPts val="1100"/>
              </a:spcAft>
            </a:pPr>
            <a:r>
              <a:rPr sz="2000" b="1">
                <a:solidFill>
                  <a:srgbClr val="2D2D2D"/>
                </a:solidFill>
                <a:latin typeface="Arial"/>
              </a:rPr>
              <a:t>Sparse tracking </a:t>
            </a:r>
            <a:r>
              <a:rPr sz="2000" b="0">
                <a:solidFill>
                  <a:srgbClr val="2D2D2D"/>
                </a:solidFill>
                <a:latin typeface="Arial"/>
              </a:rPr>
              <a:t>needs flow at detected keypoints only.</a:t>
            </a:r>
          </a:p>
          <a:p>
            <a:pPr>
              <a:lnSpc>
                <a:spcPct val="106000"/>
              </a:lnSpc>
              <a:spcAft>
                <a:spcPts val="1100"/>
              </a:spcAft>
            </a:pPr>
            <a:r>
              <a:rPr sz="2000" b="1">
                <a:solidFill>
                  <a:srgbClr val="2D2D2D"/>
                </a:solidFill>
                <a:latin typeface="Arial"/>
              </a:rPr>
              <a:t>Mosaicking </a:t>
            </a:r>
            <a:r>
              <a:rPr sz="2000" b="0">
                <a:solidFill>
                  <a:srgbClr val="2D2D2D"/>
                </a:solidFill>
                <a:latin typeface="Arial"/>
              </a:rPr>
              <a:t>needs matches in overlap regions, often between pixels.</a:t>
            </a:r>
          </a:p>
        </p:txBody>
      </p:sp>
      <p:sp>
        <p:nvSpPr>
          <p:cNvPr id="6" name="Rounded Rectangle 5"/>
          <p:cNvSpPr/>
          <p:nvPr/>
        </p:nvSpPr>
        <p:spPr>
          <a:xfrm>
            <a:off x="457200" y="3703320"/>
            <a:ext cx="8229600" cy="658368"/>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On constrained hardware, computing 479,232 correspondences to consume 800</a:t>
            </a:r>
          </a:p>
          <a:p>
            <a:pPr algn="ctr">
              <a:lnSpc>
                <a:spcPct val="106000"/>
              </a:lnSpc>
            </a:pPr>
            <a:r>
              <a:rPr sz="1600" b="0">
                <a:solidFill>
                  <a:srgbClr val="1F4E79"/>
                </a:solidFill>
                <a:latin typeface="Arial"/>
              </a:rPr>
              <a:t>is the difference between operating in real time and not.</a:t>
            </a:r>
          </a:p>
        </p:txBody>
      </p:sp>
      <p:sp>
        <p:nvSpPr>
          <p:cNvPr id="7" name="TextBox 6"/>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Frame size 384 x 1248. Baseline: Zhang et al. (2024), NeuFlow v2.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3</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Can the output stage be made queryable</a:t>
            </a:r>
          </a:p>
          <a:p>
            <a:pPr algn="l">
              <a:lnSpc>
                <a:spcPct val="105000"/>
              </a:lnSpc>
            </a:pPr>
            <a:r>
              <a:rPr sz="2400" b="1">
                <a:solidFill>
                  <a:srgbClr val="1F4E79"/>
                </a:solidFill>
                <a:latin typeface="Arial"/>
              </a:rPr>
              <a:t>without surrendering accuracy or speed?</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389888"/>
            <a:ext cx="7498079" cy="114300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800" b="0">
                <a:solidFill>
                  <a:srgbClr val="1F4E79"/>
                </a:solidFill>
                <a:latin typeface="Arial"/>
              </a:rPr>
              <a:t>Can NeuFlow v2’s fixed upsampler be replaced by a decoder evaluated</a:t>
            </a:r>
          </a:p>
          <a:p>
            <a:pPr algn="ctr">
              <a:lnSpc>
                <a:spcPct val="106000"/>
              </a:lnSpc>
            </a:pPr>
            <a:r>
              <a:rPr sz="1800" b="0">
                <a:solidFill>
                  <a:srgbClr val="1F4E79"/>
                </a:solidFill>
                <a:latin typeface="Arial"/>
              </a:rPr>
              <a:t>at arbitrary continuous coordinates, and what does that cost?</a:t>
            </a:r>
          </a:p>
        </p:txBody>
      </p:sp>
      <p:sp>
        <p:nvSpPr>
          <p:cNvPr id="6" name="TextBox 5"/>
          <p:cNvSpPr txBox="1"/>
          <p:nvPr/>
        </p:nvSpPr>
        <p:spPr>
          <a:xfrm>
            <a:off x="457200" y="2788920"/>
            <a:ext cx="8229600" cy="1463040"/>
          </a:xfrm>
          <a:prstGeom prst="rect">
            <a:avLst/>
          </a:prstGeom>
          <a:noFill/>
        </p:spPr>
        <p:txBody>
          <a:bodyPr wrap="square">
            <a:spAutoFit/>
          </a:bodyPr>
          <a:lstStyle/>
          <a:p>
            <a:pPr>
              <a:lnSpc>
                <a:spcPct val="106000"/>
              </a:lnSpc>
              <a:spcAft>
                <a:spcPts val="1100"/>
              </a:spcAft>
            </a:pPr>
            <a:r>
              <a:rPr sz="2000" b="1">
                <a:solidFill>
                  <a:srgbClr val="2D2D2D"/>
                </a:solidFill>
                <a:latin typeface="Arial"/>
              </a:rPr>
              <a:t>Approach: </a:t>
            </a:r>
            <a:r>
              <a:rPr sz="2000" b="0">
                <a:solidFill>
                  <a:srgbClr val="2D2D2D"/>
                </a:solidFill>
                <a:latin typeface="Arial"/>
              </a:rPr>
              <a:t>freeze everything in v2 that understands motion; change only the last stage.</a:t>
            </a:r>
          </a:p>
          <a:p>
            <a:pPr>
              <a:lnSpc>
                <a:spcPct val="106000"/>
              </a:lnSpc>
              <a:spcAft>
                <a:spcPts val="1100"/>
              </a:spcAft>
            </a:pPr>
            <a:r>
              <a:rPr sz="2000" b="1">
                <a:solidFill>
                  <a:srgbClr val="2D2D2D"/>
                </a:solidFill>
                <a:latin typeface="Arial"/>
              </a:rPr>
              <a:t>Consequence: </a:t>
            </a:r>
            <a:r>
              <a:rPr sz="2000" b="0">
                <a:solidFill>
                  <a:srgbClr val="2D2D2D"/>
                </a:solidFill>
                <a:latin typeface="Arial"/>
              </a:rPr>
              <a:t>cost scales with the number of queries, O(N), not with image area.</a:t>
            </a:r>
          </a:p>
        </p:txBody>
      </p:sp>
      <p:sp>
        <p:nvSpPr>
          <p:cNvPr id="7" name="TextBox 6"/>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Evaluated on 1,174 held-out Virtual KITTI 2 pairs (460,573,660 px) and on TartanAir aerial sequences.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4</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v3 keeps NeuFlow v2 frozen and replaces</a:t>
            </a:r>
          </a:p>
          <a:p>
            <a:pPr algn="l">
              <a:lnSpc>
                <a:spcPct val="105000"/>
              </a:lnSpc>
            </a:pPr>
            <a:r>
              <a:rPr sz="2400" b="1">
                <a:solidFill>
                  <a:srgbClr val="1F4E79"/>
                </a:solidFill>
                <a:latin typeface="Arial"/>
              </a:rPr>
              <a:t>only its fixed upsampler</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8229600" cy="256032"/>
          </a:xfrm>
          <a:prstGeom prst="rect">
            <a:avLst/>
          </a:prstGeom>
          <a:noFill/>
        </p:spPr>
        <p:txBody>
          <a:bodyPr wrap="square">
            <a:spAutoFit/>
          </a:bodyPr>
          <a:lstStyle/>
          <a:p>
            <a:pPr algn="l">
              <a:lnSpc>
                <a:spcPct val="100000"/>
              </a:lnSpc>
            </a:pPr>
            <a:r>
              <a:rPr sz="1600" b="1">
                <a:solidFill>
                  <a:srgbClr val="2E75B6"/>
                </a:solidFill>
                <a:latin typeface="Arial"/>
              </a:rPr>
              <a:t>Phase 1  ·  once per frame pair, 33 ms, cached</a:t>
            </a:r>
          </a:p>
        </p:txBody>
      </p:sp>
      <p:sp>
        <p:nvSpPr>
          <p:cNvPr id="6" name="Rounded Rectangle 5"/>
          <p:cNvSpPr/>
          <p:nvPr/>
        </p:nvSpPr>
        <p:spPr>
          <a:xfrm>
            <a:off x="356615" y="1591056"/>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Image pair</a:t>
            </a:r>
          </a:p>
        </p:txBody>
      </p:sp>
      <p:sp>
        <p:nvSpPr>
          <p:cNvPr id="7" name="TextBox 6"/>
          <p:cNvSpPr txBox="1"/>
          <p:nvPr/>
        </p:nvSpPr>
        <p:spPr>
          <a:xfrm>
            <a:off x="1856231" y="1865376"/>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8" name="Rounded Rectangle 7"/>
          <p:cNvSpPr/>
          <p:nvPr/>
        </p:nvSpPr>
        <p:spPr>
          <a:xfrm>
            <a:off x="2093975" y="1591056"/>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CNN backbone</a:t>
            </a:r>
          </a:p>
          <a:p>
            <a:pPr algn="ctr">
              <a:lnSpc>
                <a:spcPct val="106000"/>
              </a:lnSpc>
            </a:pPr>
            <a:r>
              <a:rPr sz="1100" b="0">
                <a:solidFill>
                  <a:srgbClr val="1F4E79"/>
                </a:solidFill>
                <a:latin typeface="Arial"/>
              </a:rPr>
              <a:t>1/8, 1/16</a:t>
            </a:r>
          </a:p>
        </p:txBody>
      </p:sp>
      <p:sp>
        <p:nvSpPr>
          <p:cNvPr id="9" name="TextBox 8"/>
          <p:cNvSpPr txBox="1"/>
          <p:nvPr/>
        </p:nvSpPr>
        <p:spPr>
          <a:xfrm>
            <a:off x="3593591" y="1865376"/>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10" name="Rounded Rectangle 9"/>
          <p:cNvSpPr/>
          <p:nvPr/>
        </p:nvSpPr>
        <p:spPr>
          <a:xfrm>
            <a:off x="3831335" y="1591056"/>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Cross-attention</a:t>
            </a:r>
          </a:p>
          <a:p>
            <a:pPr algn="ctr">
              <a:lnSpc>
                <a:spcPct val="106000"/>
              </a:lnSpc>
            </a:pPr>
            <a:r>
              <a:rPr sz="1100" b="0">
                <a:solidFill>
                  <a:srgbClr val="1F4E79"/>
                </a:solidFill>
                <a:latin typeface="Arial"/>
              </a:rPr>
              <a:t>global match</a:t>
            </a:r>
          </a:p>
        </p:txBody>
      </p:sp>
      <p:sp>
        <p:nvSpPr>
          <p:cNvPr id="11" name="TextBox 10"/>
          <p:cNvSpPr txBox="1"/>
          <p:nvPr/>
        </p:nvSpPr>
        <p:spPr>
          <a:xfrm>
            <a:off x="5330951" y="1865376"/>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12" name="Rounded Rectangle 11"/>
          <p:cNvSpPr/>
          <p:nvPr/>
        </p:nvSpPr>
        <p:spPr>
          <a:xfrm>
            <a:off x="5568696" y="1591056"/>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Refinement</a:t>
            </a:r>
          </a:p>
          <a:p>
            <a:pPr algn="ctr">
              <a:lnSpc>
                <a:spcPct val="106000"/>
              </a:lnSpc>
            </a:pPr>
            <a:r>
              <a:rPr sz="1100" b="0">
                <a:solidFill>
                  <a:srgbClr val="1F4E79"/>
                </a:solidFill>
                <a:latin typeface="Arial"/>
              </a:rPr>
              <a:t>1x s16, 8x s8</a:t>
            </a:r>
          </a:p>
        </p:txBody>
      </p:sp>
      <p:sp>
        <p:nvSpPr>
          <p:cNvPr id="13" name="TextBox 12"/>
          <p:cNvSpPr txBox="1"/>
          <p:nvPr/>
        </p:nvSpPr>
        <p:spPr>
          <a:xfrm>
            <a:off x="7068312" y="1865376"/>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14" name="Rounded Rectangle 13"/>
          <p:cNvSpPr/>
          <p:nvPr/>
        </p:nvSpPr>
        <p:spPr>
          <a:xfrm>
            <a:off x="7306056" y="1591056"/>
            <a:ext cx="1481328" cy="822960"/>
          </a:xfrm>
          <a:prstGeom prst="roundRect">
            <a:avLst>
              <a:gd name="adj" fmla="val 7000"/>
            </a:avLst>
          </a:prstGeom>
          <a:solidFill>
            <a:srgbClr val="1F4E79"/>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1">
                <a:solidFill>
                  <a:srgbClr val="FFFFFF"/>
                </a:solidFill>
                <a:latin typeface="Arial"/>
              </a:rPr>
              <a:t>Coarse flow</a:t>
            </a:r>
          </a:p>
          <a:p>
            <a:pPr algn="ctr">
              <a:lnSpc>
                <a:spcPct val="106000"/>
              </a:lnSpc>
            </a:pPr>
            <a:r>
              <a:rPr sz="1100" b="1">
                <a:solidFill>
                  <a:srgbClr val="FFFFFF"/>
                </a:solidFill>
                <a:latin typeface="Arial"/>
              </a:rPr>
              <a:t>at 1/8</a:t>
            </a:r>
          </a:p>
        </p:txBody>
      </p:sp>
      <p:sp>
        <p:nvSpPr>
          <p:cNvPr id="15" name="TextBox 14"/>
          <p:cNvSpPr txBox="1"/>
          <p:nvPr/>
        </p:nvSpPr>
        <p:spPr>
          <a:xfrm>
            <a:off x="457200" y="2615184"/>
            <a:ext cx="8229600" cy="256032"/>
          </a:xfrm>
          <a:prstGeom prst="rect">
            <a:avLst/>
          </a:prstGeom>
          <a:noFill/>
        </p:spPr>
        <p:txBody>
          <a:bodyPr wrap="square">
            <a:spAutoFit/>
          </a:bodyPr>
          <a:lstStyle/>
          <a:p>
            <a:pPr algn="l">
              <a:lnSpc>
                <a:spcPct val="100000"/>
              </a:lnSpc>
            </a:pPr>
            <a:r>
              <a:rPr sz="1600" b="1">
                <a:solidFill>
                  <a:srgbClr val="2E75B6"/>
                </a:solidFill>
                <a:latin typeface="Arial"/>
              </a:rPr>
              <a:t>Phase 2  ·  once per query batch, 1.25 ms, O(N)</a:t>
            </a:r>
          </a:p>
        </p:txBody>
      </p:sp>
      <p:sp>
        <p:nvSpPr>
          <p:cNvPr id="16" name="Rounded Rectangle 15"/>
          <p:cNvSpPr/>
          <p:nvPr/>
        </p:nvSpPr>
        <p:spPr>
          <a:xfrm>
            <a:off x="356615" y="2907792"/>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Query (x, y)</a:t>
            </a:r>
          </a:p>
          <a:p>
            <a:pPr algn="ctr">
              <a:lnSpc>
                <a:spcPct val="106000"/>
              </a:lnSpc>
            </a:pPr>
            <a:r>
              <a:rPr sz="1100" b="0">
                <a:solidFill>
                  <a:srgbClr val="1F4E79"/>
                </a:solidFill>
                <a:latin typeface="Arial"/>
              </a:rPr>
              <a:t>continuous</a:t>
            </a:r>
          </a:p>
        </p:txBody>
      </p:sp>
      <p:sp>
        <p:nvSpPr>
          <p:cNvPr id="17" name="TextBox 16"/>
          <p:cNvSpPr txBox="1"/>
          <p:nvPr/>
        </p:nvSpPr>
        <p:spPr>
          <a:xfrm>
            <a:off x="1856231" y="3182112"/>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18" name="Rounded Rectangle 17"/>
          <p:cNvSpPr/>
          <p:nvPr/>
        </p:nvSpPr>
        <p:spPr>
          <a:xfrm>
            <a:off x="2093975" y="2907792"/>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Sample 3x3</a:t>
            </a:r>
          </a:p>
          <a:p>
            <a:pPr algn="ctr">
              <a:lnSpc>
                <a:spcPct val="106000"/>
              </a:lnSpc>
            </a:pPr>
            <a:r>
              <a:rPr sz="1100" b="0">
                <a:solidFill>
                  <a:srgbClr val="1F4E79"/>
                </a:solidFill>
                <a:latin typeface="Arial"/>
              </a:rPr>
              <a:t>4 sources</a:t>
            </a:r>
          </a:p>
        </p:txBody>
      </p:sp>
      <p:sp>
        <p:nvSpPr>
          <p:cNvPr id="19" name="TextBox 18"/>
          <p:cNvSpPr txBox="1"/>
          <p:nvPr/>
        </p:nvSpPr>
        <p:spPr>
          <a:xfrm>
            <a:off x="3593591" y="3182112"/>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20" name="Rounded Rectangle 19"/>
          <p:cNvSpPr/>
          <p:nvPr/>
        </p:nvSpPr>
        <p:spPr>
          <a:xfrm>
            <a:off x="3831335" y="2907792"/>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Gated fusion</a:t>
            </a:r>
          </a:p>
          <a:p>
            <a:pPr algn="ctr">
              <a:lnSpc>
                <a:spcPct val="106000"/>
              </a:lnSpc>
            </a:pPr>
            <a:r>
              <a:rPr sz="1100" b="0">
                <a:solidFill>
                  <a:srgbClr val="1F4E79"/>
                </a:solidFill>
                <a:latin typeface="Arial"/>
              </a:rPr>
              <a:t>MLP</a:t>
            </a:r>
          </a:p>
        </p:txBody>
      </p:sp>
      <p:sp>
        <p:nvSpPr>
          <p:cNvPr id="21" name="TextBox 20"/>
          <p:cNvSpPr txBox="1"/>
          <p:nvPr/>
        </p:nvSpPr>
        <p:spPr>
          <a:xfrm>
            <a:off x="5330951" y="3182112"/>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22" name="Rounded Rectangle 21"/>
          <p:cNvSpPr/>
          <p:nvPr/>
        </p:nvSpPr>
        <p:spPr>
          <a:xfrm>
            <a:off x="5568696" y="2907792"/>
            <a:ext cx="1481328" cy="82296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0">
                <a:solidFill>
                  <a:srgbClr val="1F4E79"/>
                </a:solidFill>
                <a:latin typeface="Arial"/>
              </a:rPr>
              <a:t>Convex blend</a:t>
            </a:r>
          </a:p>
          <a:p>
            <a:pPr algn="ctr">
              <a:lnSpc>
                <a:spcPct val="106000"/>
              </a:lnSpc>
            </a:pPr>
            <a:r>
              <a:rPr sz="1100" b="0">
                <a:solidFill>
                  <a:srgbClr val="1F4E79"/>
                </a:solidFill>
                <a:latin typeface="Arial"/>
              </a:rPr>
              <a:t>9 + 1</a:t>
            </a:r>
          </a:p>
        </p:txBody>
      </p:sp>
      <p:sp>
        <p:nvSpPr>
          <p:cNvPr id="23" name="TextBox 22"/>
          <p:cNvSpPr txBox="1"/>
          <p:nvPr/>
        </p:nvSpPr>
        <p:spPr>
          <a:xfrm>
            <a:off x="7068312" y="3182112"/>
            <a:ext cx="256032" cy="274320"/>
          </a:xfrm>
          <a:prstGeom prst="rect">
            <a:avLst/>
          </a:prstGeom>
          <a:noFill/>
        </p:spPr>
        <p:txBody>
          <a:bodyPr wrap="square">
            <a:spAutoFit/>
          </a:bodyPr>
          <a:lstStyle/>
          <a:p>
            <a:pPr algn="ctr">
              <a:lnSpc>
                <a:spcPct val="100000"/>
              </a:lnSpc>
            </a:pPr>
            <a:r>
              <a:rPr sz="1500" b="1">
                <a:solidFill>
                  <a:srgbClr val="777777"/>
                </a:solidFill>
                <a:latin typeface="Arial"/>
              </a:rPr>
              <a:t>&gt;</a:t>
            </a:r>
          </a:p>
        </p:txBody>
      </p:sp>
      <p:sp>
        <p:nvSpPr>
          <p:cNvPr id="24" name="Rounded Rectangle 23"/>
          <p:cNvSpPr/>
          <p:nvPr/>
        </p:nvSpPr>
        <p:spPr>
          <a:xfrm>
            <a:off x="7306056" y="2907792"/>
            <a:ext cx="1481328" cy="822960"/>
          </a:xfrm>
          <a:prstGeom prst="roundRect">
            <a:avLst>
              <a:gd name="adj" fmla="val 7000"/>
            </a:avLst>
          </a:prstGeom>
          <a:solidFill>
            <a:srgbClr val="1F4E79"/>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100" b="1">
                <a:solidFill>
                  <a:srgbClr val="FFFFFF"/>
                </a:solidFill>
                <a:latin typeface="Arial"/>
              </a:rPr>
              <a:t>Flow and</a:t>
            </a:r>
          </a:p>
          <a:p>
            <a:pPr algn="ctr">
              <a:lnSpc>
                <a:spcPct val="106000"/>
              </a:lnSpc>
            </a:pPr>
            <a:r>
              <a:rPr sz="1100" b="1">
                <a:solidFill>
                  <a:srgbClr val="FFFFFF"/>
                </a:solidFill>
                <a:latin typeface="Arial"/>
              </a:rPr>
              <a:t>confidence</a:t>
            </a:r>
          </a:p>
        </p:txBody>
      </p:sp>
      <p:sp>
        <p:nvSpPr>
          <p:cNvPr id="25" name="TextBox 24"/>
          <p:cNvSpPr txBox="1"/>
          <p:nvPr/>
        </p:nvSpPr>
        <p:spPr>
          <a:xfrm>
            <a:off x="457200" y="3950208"/>
            <a:ext cx="8229600" cy="548640"/>
          </a:xfrm>
          <a:prstGeom prst="rect">
            <a:avLst/>
          </a:prstGeom>
          <a:noFill/>
        </p:spPr>
        <p:txBody>
          <a:bodyPr wrap="square">
            <a:spAutoFit/>
          </a:bodyPr>
          <a:lstStyle/>
          <a:p>
            <a:pPr algn="l">
              <a:lnSpc>
                <a:spcPct val="115000"/>
              </a:lnSpc>
            </a:pPr>
            <a:r>
              <a:rPr sz="1600" b="0">
                <a:solidFill>
                  <a:srgbClr val="2D2D2D"/>
                </a:solidFill>
                <a:latin typeface="Arial"/>
              </a:rPr>
              <a:t>The output is a convex combination of neighbouring coarse-flow values, so the decoder</a:t>
            </a:r>
          </a:p>
          <a:p>
            <a:pPr algn="l">
              <a:lnSpc>
                <a:spcPct val="115000"/>
              </a:lnSpc>
            </a:pPr>
            <a:r>
              <a:rPr sz="1600" b="0">
                <a:solidFill>
                  <a:srgbClr val="2D2D2D"/>
                </a:solidFill>
                <a:latin typeface="Arial"/>
              </a:rPr>
              <a:t>cannot predict motion its inputs do not locally support.</a:t>
            </a:r>
          </a:p>
        </p:txBody>
      </p:sp>
      <p:sp>
        <p:nvSpPr>
          <p:cNvPr id="26" name="TextBox 25"/>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Convex-weight formulation follows Jung et al. (2023), AnyFlow. Gated fusion follows InfiniDepth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5</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front end is verified bit-identical to v2,</a:t>
            </a:r>
          </a:p>
          <a:p>
            <a:pPr algn="l">
              <a:lnSpc>
                <a:spcPct val="105000"/>
              </a:lnSpc>
            </a:pPr>
            <a:r>
              <a:rPr sz="2400" b="1">
                <a:solidFill>
                  <a:srgbClr val="1F4E79"/>
                </a:solidFill>
                <a:latin typeface="Arial"/>
              </a:rPr>
              <a:t>so the comparison isolates the decoder</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4114800" cy="2651760"/>
          </a:xfrm>
          <a:prstGeom prst="rect">
            <a:avLst/>
          </a:prstGeom>
          <a:noFill/>
        </p:spPr>
        <p:txBody>
          <a:bodyPr wrap="square">
            <a:spAutoFit/>
          </a:bodyPr>
          <a:lstStyle/>
          <a:p>
            <a:pPr>
              <a:lnSpc>
                <a:spcPct val="106000"/>
              </a:lnSpc>
              <a:spcAft>
                <a:spcPts val="1100"/>
              </a:spcAft>
            </a:pPr>
            <a:r>
              <a:rPr sz="1800" b="1">
                <a:solidFill>
                  <a:srgbClr val="2D2D2D"/>
                </a:solidFill>
                <a:latin typeface="Arial"/>
              </a:rPr>
              <a:t>Frozen front end. </a:t>
            </a:r>
            <a:r>
              <a:rPr sz="1800" b="0">
                <a:solidFill>
                  <a:srgbClr val="2D2D2D"/>
                </a:solidFill>
                <a:latin typeface="Arial"/>
              </a:rPr>
              <a:t>All 137 shared tensors bit-identical, per checkpoint.</a:t>
            </a:r>
          </a:p>
          <a:p>
            <a:pPr>
              <a:lnSpc>
                <a:spcPct val="106000"/>
              </a:lnSpc>
              <a:spcAft>
                <a:spcPts val="1100"/>
              </a:spcAft>
            </a:pPr>
            <a:r>
              <a:rPr sz="1800" b="1">
                <a:solidFill>
                  <a:srgbClr val="2D2D2D"/>
                </a:solidFill>
                <a:latin typeface="Arial"/>
              </a:rPr>
              <a:t>Leak-free splits. </a:t>
            </a:r>
            <a:r>
              <a:rPr sz="1800" b="0">
                <a:solidFill>
                  <a:srgbClr val="2D2D2D"/>
                </a:solidFill>
                <a:latin typeface="Arial"/>
              </a:rPr>
              <a:t>Both test scenes excluded from every training set.</a:t>
            </a:r>
          </a:p>
          <a:p>
            <a:pPr>
              <a:lnSpc>
                <a:spcPct val="106000"/>
              </a:lnSpc>
              <a:spcAft>
                <a:spcPts val="1100"/>
              </a:spcAft>
            </a:pPr>
            <a:r>
              <a:rPr sz="1800" b="1">
                <a:solidFill>
                  <a:srgbClr val="2D2D2D"/>
                </a:solidFill>
                <a:latin typeface="Arial"/>
              </a:rPr>
              <a:t>One variable per run. </a:t>
            </a:r>
            <a:r>
              <a:rPr sz="1800" b="0">
                <a:solidFill>
                  <a:srgbClr val="2D2D2D"/>
                </a:solidFill>
                <a:latin typeface="Arial"/>
              </a:rPr>
              <a:t>Same seed, schedule and query budget throughout.</a:t>
            </a:r>
          </a:p>
        </p:txBody>
      </p:sp>
      <p:sp>
        <p:nvSpPr>
          <p:cNvPr id="6" name="TextBox 5"/>
          <p:cNvSpPr txBox="1"/>
          <p:nvPr/>
        </p:nvSpPr>
        <p:spPr>
          <a:xfrm>
            <a:off x="5074920" y="1344168"/>
            <a:ext cx="2148840" cy="224028"/>
          </a:xfrm>
          <a:prstGeom prst="rect">
            <a:avLst/>
          </a:prstGeom>
          <a:noFill/>
        </p:spPr>
        <p:txBody>
          <a:bodyPr wrap="square">
            <a:spAutoFit/>
          </a:bodyPr>
          <a:lstStyle/>
          <a:p>
            <a:pPr algn="l">
              <a:lnSpc>
                <a:spcPct val="100000"/>
              </a:lnSpc>
            </a:pPr>
            <a:r>
              <a:rPr sz="1600" b="1">
                <a:solidFill>
                  <a:srgbClr val="1F4E79"/>
                </a:solidFill>
                <a:latin typeface="Arial"/>
              </a:rPr>
              <a:t>Evaluation</a:t>
            </a:r>
          </a:p>
        </p:txBody>
      </p:sp>
      <p:sp>
        <p:nvSpPr>
          <p:cNvPr id="7" name="TextBox 6"/>
          <p:cNvSpPr txBox="1"/>
          <p:nvPr/>
        </p:nvSpPr>
        <p:spPr>
          <a:xfrm>
            <a:off x="7223760" y="1344168"/>
            <a:ext cx="1463040" cy="224028"/>
          </a:xfrm>
          <a:prstGeom prst="rect">
            <a:avLst/>
          </a:prstGeom>
          <a:noFill/>
        </p:spPr>
        <p:txBody>
          <a:bodyPr wrap="square">
            <a:spAutoFit/>
          </a:bodyPr>
          <a:lstStyle/>
          <a:p>
            <a:pPr algn="r">
              <a:lnSpc>
                <a:spcPct val="100000"/>
              </a:lnSpc>
            </a:pPr>
            <a:r>
              <a:rPr sz="1600" b="1">
                <a:solidFill>
                  <a:srgbClr val="1F4E79"/>
                </a:solidFill>
                <a:latin typeface="Arial"/>
              </a:rPr>
              <a:t/>
            </a:r>
          </a:p>
        </p:txBody>
      </p:sp>
      <p:sp>
        <p:nvSpPr>
          <p:cNvPr id="8" name="Rectangle 7"/>
          <p:cNvSpPr/>
          <p:nvPr/>
        </p:nvSpPr>
        <p:spPr>
          <a:xfrm>
            <a:off x="5074920" y="1568195"/>
            <a:ext cx="361188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609344"/>
            <a:ext cx="2148840" cy="224028"/>
          </a:xfrm>
          <a:prstGeom prst="rect">
            <a:avLst/>
          </a:prstGeom>
          <a:noFill/>
        </p:spPr>
        <p:txBody>
          <a:bodyPr wrap="square">
            <a:spAutoFit/>
          </a:bodyPr>
          <a:lstStyle/>
          <a:p>
            <a:pPr algn="l">
              <a:lnSpc>
                <a:spcPct val="100000"/>
              </a:lnSpc>
            </a:pPr>
            <a:r>
              <a:rPr sz="1600" b="0">
                <a:solidFill>
                  <a:srgbClr val="2D2D2D"/>
                </a:solidFill>
                <a:latin typeface="Arial"/>
              </a:rPr>
              <a:t>Held-out pairs</a:t>
            </a:r>
          </a:p>
        </p:txBody>
      </p:sp>
      <p:sp>
        <p:nvSpPr>
          <p:cNvPr id="10" name="TextBox 9"/>
          <p:cNvSpPr txBox="1"/>
          <p:nvPr/>
        </p:nvSpPr>
        <p:spPr>
          <a:xfrm>
            <a:off x="7223760" y="1609344"/>
            <a:ext cx="1463040" cy="224028"/>
          </a:xfrm>
          <a:prstGeom prst="rect">
            <a:avLst/>
          </a:prstGeom>
          <a:noFill/>
        </p:spPr>
        <p:txBody>
          <a:bodyPr wrap="square">
            <a:spAutoFit/>
          </a:bodyPr>
          <a:lstStyle/>
          <a:p>
            <a:pPr algn="r">
              <a:lnSpc>
                <a:spcPct val="100000"/>
              </a:lnSpc>
            </a:pPr>
            <a:r>
              <a:rPr sz="1600" b="0">
                <a:solidFill>
                  <a:srgbClr val="2D2D2D"/>
                </a:solidFill>
                <a:latin typeface="Arial"/>
              </a:rPr>
              <a:t>1,174</a:t>
            </a:r>
          </a:p>
        </p:txBody>
      </p:sp>
      <p:sp>
        <p:nvSpPr>
          <p:cNvPr id="11" name="TextBox 10"/>
          <p:cNvSpPr txBox="1"/>
          <p:nvPr/>
        </p:nvSpPr>
        <p:spPr>
          <a:xfrm>
            <a:off x="5074920" y="1874519"/>
            <a:ext cx="2148840" cy="224028"/>
          </a:xfrm>
          <a:prstGeom prst="rect">
            <a:avLst/>
          </a:prstGeom>
          <a:noFill/>
        </p:spPr>
        <p:txBody>
          <a:bodyPr wrap="square">
            <a:spAutoFit/>
          </a:bodyPr>
          <a:lstStyle/>
          <a:p>
            <a:pPr algn="l">
              <a:lnSpc>
                <a:spcPct val="100000"/>
              </a:lnSpc>
            </a:pPr>
            <a:r>
              <a:rPr sz="1600" b="0">
                <a:solidFill>
                  <a:srgbClr val="2D2D2D"/>
                </a:solidFill>
                <a:latin typeface="Arial"/>
              </a:rPr>
              <a:t>Valid pixels</a:t>
            </a:r>
          </a:p>
        </p:txBody>
      </p:sp>
      <p:sp>
        <p:nvSpPr>
          <p:cNvPr id="12" name="TextBox 11"/>
          <p:cNvSpPr txBox="1"/>
          <p:nvPr/>
        </p:nvSpPr>
        <p:spPr>
          <a:xfrm>
            <a:off x="7223760" y="1874519"/>
            <a:ext cx="1463040" cy="224028"/>
          </a:xfrm>
          <a:prstGeom prst="rect">
            <a:avLst/>
          </a:prstGeom>
          <a:noFill/>
        </p:spPr>
        <p:txBody>
          <a:bodyPr wrap="square">
            <a:spAutoFit/>
          </a:bodyPr>
          <a:lstStyle/>
          <a:p>
            <a:pPr algn="r">
              <a:lnSpc>
                <a:spcPct val="100000"/>
              </a:lnSpc>
            </a:pPr>
            <a:r>
              <a:rPr sz="1600" b="0">
                <a:solidFill>
                  <a:srgbClr val="2D2D2D"/>
                </a:solidFill>
                <a:latin typeface="Arial"/>
              </a:rPr>
              <a:t>460.6 M</a:t>
            </a:r>
          </a:p>
        </p:txBody>
      </p:sp>
      <p:sp>
        <p:nvSpPr>
          <p:cNvPr id="13" name="TextBox 12"/>
          <p:cNvSpPr txBox="1"/>
          <p:nvPr/>
        </p:nvSpPr>
        <p:spPr>
          <a:xfrm>
            <a:off x="5074920" y="2139696"/>
            <a:ext cx="2148840" cy="224028"/>
          </a:xfrm>
          <a:prstGeom prst="rect">
            <a:avLst/>
          </a:prstGeom>
          <a:noFill/>
        </p:spPr>
        <p:txBody>
          <a:bodyPr wrap="square">
            <a:spAutoFit/>
          </a:bodyPr>
          <a:lstStyle/>
          <a:p>
            <a:pPr algn="l">
              <a:lnSpc>
                <a:spcPct val="100000"/>
              </a:lnSpc>
            </a:pPr>
            <a:r>
              <a:rPr sz="1600" b="0">
                <a:solidFill>
                  <a:srgbClr val="2D2D2D"/>
                </a:solidFill>
                <a:latin typeface="Arial"/>
              </a:rPr>
              <a:t>Cross-domain</a:t>
            </a:r>
          </a:p>
        </p:txBody>
      </p:sp>
      <p:sp>
        <p:nvSpPr>
          <p:cNvPr id="14" name="TextBox 13"/>
          <p:cNvSpPr txBox="1"/>
          <p:nvPr/>
        </p:nvSpPr>
        <p:spPr>
          <a:xfrm>
            <a:off x="7223760" y="2139696"/>
            <a:ext cx="1463040" cy="224028"/>
          </a:xfrm>
          <a:prstGeom prst="rect">
            <a:avLst/>
          </a:prstGeom>
          <a:noFill/>
        </p:spPr>
        <p:txBody>
          <a:bodyPr wrap="square">
            <a:spAutoFit/>
          </a:bodyPr>
          <a:lstStyle/>
          <a:p>
            <a:pPr algn="r">
              <a:lnSpc>
                <a:spcPct val="100000"/>
              </a:lnSpc>
            </a:pPr>
            <a:r>
              <a:rPr sz="1600" b="0">
                <a:solidFill>
                  <a:srgbClr val="2D2D2D"/>
                </a:solidFill>
                <a:latin typeface="Arial"/>
              </a:rPr>
              <a:t>TartanAir</a:t>
            </a:r>
          </a:p>
        </p:txBody>
      </p:sp>
      <p:sp>
        <p:nvSpPr>
          <p:cNvPr id="15" name="TextBox 14"/>
          <p:cNvSpPr txBox="1"/>
          <p:nvPr/>
        </p:nvSpPr>
        <p:spPr>
          <a:xfrm>
            <a:off x="5074920" y="2404872"/>
            <a:ext cx="2148840" cy="224028"/>
          </a:xfrm>
          <a:prstGeom prst="rect">
            <a:avLst/>
          </a:prstGeom>
          <a:noFill/>
        </p:spPr>
        <p:txBody>
          <a:bodyPr wrap="square">
            <a:spAutoFit/>
          </a:bodyPr>
          <a:lstStyle/>
          <a:p>
            <a:pPr algn="l">
              <a:lnSpc>
                <a:spcPct val="100000"/>
              </a:lnSpc>
            </a:pPr>
            <a:r>
              <a:rPr sz="1600" b="0">
                <a:solidFill>
                  <a:srgbClr val="2D2D2D"/>
                </a:solidFill>
                <a:latin typeface="Arial"/>
              </a:rPr>
              <a:t>Hardware</a:t>
            </a:r>
          </a:p>
        </p:txBody>
      </p:sp>
      <p:sp>
        <p:nvSpPr>
          <p:cNvPr id="16" name="TextBox 15"/>
          <p:cNvSpPr txBox="1"/>
          <p:nvPr/>
        </p:nvSpPr>
        <p:spPr>
          <a:xfrm>
            <a:off x="7223760" y="2404872"/>
            <a:ext cx="1463040" cy="224028"/>
          </a:xfrm>
          <a:prstGeom prst="rect">
            <a:avLst/>
          </a:prstGeom>
          <a:noFill/>
        </p:spPr>
        <p:txBody>
          <a:bodyPr wrap="square">
            <a:spAutoFit/>
          </a:bodyPr>
          <a:lstStyle/>
          <a:p>
            <a:pPr algn="r">
              <a:lnSpc>
                <a:spcPct val="100000"/>
              </a:lnSpc>
            </a:pPr>
            <a:r>
              <a:rPr sz="1600" b="0">
                <a:solidFill>
                  <a:srgbClr val="2D2D2D"/>
                </a:solidFill>
                <a:latin typeface="Arial"/>
              </a:rPr>
              <a:t>RTX 4060</a:t>
            </a:r>
          </a:p>
        </p:txBody>
      </p:sp>
      <p:sp>
        <p:nvSpPr>
          <p:cNvPr id="17" name="TextBox 16"/>
          <p:cNvSpPr txBox="1"/>
          <p:nvPr/>
        </p:nvSpPr>
        <p:spPr>
          <a:xfrm>
            <a:off x="5074920" y="2670048"/>
            <a:ext cx="2148840" cy="224028"/>
          </a:xfrm>
          <a:prstGeom prst="rect">
            <a:avLst/>
          </a:prstGeom>
          <a:noFill/>
        </p:spPr>
        <p:txBody>
          <a:bodyPr wrap="square">
            <a:spAutoFit/>
          </a:bodyPr>
          <a:lstStyle/>
          <a:p>
            <a:pPr algn="l">
              <a:lnSpc>
                <a:spcPct val="100000"/>
              </a:lnSpc>
            </a:pPr>
            <a:r>
              <a:rPr sz="1600" b="0">
                <a:solidFill>
                  <a:srgbClr val="2D2D2D"/>
                </a:solidFill>
                <a:latin typeface="Arial"/>
              </a:rPr>
              <a:t>Precision</a:t>
            </a:r>
          </a:p>
        </p:txBody>
      </p:sp>
      <p:sp>
        <p:nvSpPr>
          <p:cNvPr id="18" name="TextBox 17"/>
          <p:cNvSpPr txBox="1"/>
          <p:nvPr/>
        </p:nvSpPr>
        <p:spPr>
          <a:xfrm>
            <a:off x="7223760" y="2670048"/>
            <a:ext cx="1463040" cy="224028"/>
          </a:xfrm>
          <a:prstGeom prst="rect">
            <a:avLst/>
          </a:prstGeom>
          <a:noFill/>
        </p:spPr>
        <p:txBody>
          <a:bodyPr wrap="square">
            <a:spAutoFit/>
          </a:bodyPr>
          <a:lstStyle/>
          <a:p>
            <a:pPr algn="r">
              <a:lnSpc>
                <a:spcPct val="100000"/>
              </a:lnSpc>
            </a:pPr>
            <a:r>
              <a:rPr sz="1600" b="0">
                <a:solidFill>
                  <a:srgbClr val="2D2D2D"/>
                </a:solidFill>
                <a:latin typeface="Arial"/>
              </a:rPr>
              <a:t>fp16</a:t>
            </a:r>
          </a:p>
        </p:txBody>
      </p:sp>
      <p:sp>
        <p:nvSpPr>
          <p:cNvPr id="19" name="Rounded Rectangle 18"/>
          <p:cNvSpPr/>
          <p:nvPr/>
        </p:nvSpPr>
        <p:spPr>
          <a:xfrm>
            <a:off x="5074920" y="3108960"/>
            <a:ext cx="3611880" cy="694944"/>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400" b="0">
                <a:solidFill>
                  <a:srgbClr val="1F4E79"/>
                </a:solidFill>
                <a:latin typeface="Arial"/>
              </a:rPr>
              <a:t>Zero-initialised, the decoder is</a:t>
            </a:r>
          </a:p>
          <a:p>
            <a:pPr algn="ctr">
              <a:lnSpc>
                <a:spcPct val="106000"/>
              </a:lnSpc>
            </a:pPr>
            <a:r>
              <a:rPr sz="1400" b="0">
                <a:solidFill>
                  <a:srgbClr val="1F4E79"/>
                </a:solidFill>
                <a:latin typeface="Arial"/>
              </a:rPr>
              <a:t>exactly bilinear upsampling.</a:t>
            </a:r>
          </a:p>
        </p:txBody>
      </p:sp>
      <p:sp>
        <p:nvSpPr>
          <p:cNvPr id="20" name="TextBox 19"/>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Cabon et al. (2020), Virtual KITTI 2; Wang et al. (2020), TartanAir.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6</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decoder costs 2.6 percent of mean error,</a:t>
            </a:r>
          </a:p>
          <a:p>
            <a:pPr algn="l">
              <a:lnSpc>
                <a:spcPct val="105000"/>
              </a:lnSpc>
            </a:pPr>
            <a:r>
              <a:rPr sz="2400" b="1">
                <a:solidFill>
                  <a:srgbClr val="1F4E79"/>
                </a:solidFill>
                <a:latin typeface="Arial"/>
              </a:rPr>
              <a:t>from a model 13 percent smaller</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ccuracy_bars.png"/>
          <p:cNvPicPr>
            <a:picLocks noChangeAspect="1"/>
          </p:cNvPicPr>
          <p:nvPr/>
        </p:nvPicPr>
        <p:blipFill>
          <a:blip r:embed="rId2"/>
          <a:stretch>
            <a:fillRect/>
          </a:stretch>
        </p:blipFill>
        <p:spPr>
          <a:xfrm>
            <a:off x="457200" y="1417320"/>
            <a:ext cx="4617720" cy="2542340"/>
          </a:xfrm>
          <a:prstGeom prst="rect">
            <a:avLst/>
          </a:prstGeom>
        </p:spPr>
      </p:pic>
      <p:sp>
        <p:nvSpPr>
          <p:cNvPr id="6" name="TextBox 5"/>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What to take away</a:t>
            </a:r>
          </a:p>
        </p:txBody>
      </p:sp>
      <p:sp>
        <p:nvSpPr>
          <p:cNvPr id="7" name="TextBox 6"/>
          <p:cNvSpPr txBox="1"/>
          <p:nvPr/>
        </p:nvSpPr>
        <p:spPr>
          <a:xfrm>
            <a:off x="5230368" y="1664207"/>
            <a:ext cx="3456432" cy="2377440"/>
          </a:xfrm>
          <a:prstGeom prst="rect">
            <a:avLst/>
          </a:prstGeom>
          <a:noFill/>
        </p:spPr>
        <p:txBody>
          <a:bodyPr wrap="square">
            <a:spAutoFit/>
          </a:bodyPr>
          <a:lstStyle/>
          <a:p>
            <a:pPr>
              <a:lnSpc>
                <a:spcPct val="106000"/>
              </a:lnSpc>
              <a:spcAft>
                <a:spcPts val="1100"/>
              </a:spcAft>
            </a:pPr>
            <a:r>
              <a:rPr sz="1800" b="0">
                <a:solidFill>
                  <a:srgbClr val="2D2D2D"/>
                </a:solidFill>
                <a:latin typeface="Arial"/>
              </a:rPr>
              <a:t>Every v3 configuration sits above v2.</a:t>
            </a:r>
          </a:p>
          <a:p>
            <a:pPr>
              <a:lnSpc>
                <a:spcPct val="106000"/>
              </a:lnSpc>
              <a:spcAft>
                <a:spcPts val="1100"/>
              </a:spcAft>
            </a:pPr>
            <a:r>
              <a:rPr sz="1800" b="0">
                <a:solidFill>
                  <a:srgbClr val="2D2D2D"/>
                </a:solidFill>
                <a:latin typeface="Arial"/>
              </a:rPr>
              <a:t>Like-for-like on FlyingChairs: 2.500, or 7.6% behind.</a:t>
            </a:r>
          </a:p>
          <a:p>
            <a:pPr>
              <a:lnSpc>
                <a:spcPct val="106000"/>
              </a:lnSpc>
              <a:spcAft>
                <a:spcPts val="1100"/>
              </a:spcAft>
            </a:pPr>
            <a:r>
              <a:rPr sz="1800" b="0">
                <a:solidFill>
                  <a:srgbClr val="2D2D2D"/>
                </a:solidFill>
                <a:latin typeface="Arial"/>
              </a:rPr>
              <a:t>7.83 M parameters against 9.03 M.</a:t>
            </a:r>
          </a:p>
        </p:txBody>
      </p:sp>
      <p:sp>
        <p:nvSpPr>
          <p:cNvPr id="8" name="Rounded Rectangle 7"/>
          <p:cNvSpPr/>
          <p:nvPr/>
        </p:nvSpPr>
        <p:spPr>
          <a:xfrm>
            <a:off x="5230368" y="3913632"/>
            <a:ext cx="3456432" cy="585216"/>
          </a:xfrm>
          <a:prstGeom prst="roundRect">
            <a:avLst>
              <a:gd name="adj" fmla="val 7000"/>
            </a:avLst>
          </a:prstGeom>
          <a:solidFill>
            <a:srgbClr val="FFF2CC"/>
          </a:solidFill>
          <a:ln w="15875">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500" b="1">
                <a:solidFill>
                  <a:srgbClr val="7A5200"/>
                </a:solidFill>
                <a:latin typeface="Arial"/>
              </a:rPr>
              <a:t>2.384  against  2.324</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Mean end-point error, per pixel, 1,174 held-out VKITTI 2 pairs. Lower is better.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7</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cost concentrates in sub-pixel precision,</a:t>
            </a:r>
          </a:p>
          <a:p>
            <a:pPr algn="l">
              <a:lnSpc>
                <a:spcPct val="105000"/>
              </a:lnSpc>
            </a:pPr>
            <a:r>
              <a:rPr sz="2400" b="1">
                <a:solidFill>
                  <a:srgbClr val="1F4E79"/>
                </a:solidFill>
                <a:latin typeface="Arial"/>
              </a:rPr>
              <a:t>not in large errors</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cision_bars.png"/>
          <p:cNvPicPr>
            <a:picLocks noChangeAspect="1"/>
          </p:cNvPicPr>
          <p:nvPr/>
        </p:nvPicPr>
        <p:blipFill>
          <a:blip r:embed="rId2"/>
          <a:stretch>
            <a:fillRect/>
          </a:stretch>
        </p:blipFill>
        <p:spPr>
          <a:xfrm>
            <a:off x="457200" y="1417320"/>
            <a:ext cx="4617720" cy="2544246"/>
          </a:xfrm>
          <a:prstGeom prst="rect">
            <a:avLst/>
          </a:prstGeom>
        </p:spPr>
      </p:pic>
      <p:sp>
        <p:nvSpPr>
          <p:cNvPr id="6" name="TextBox 5"/>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Diagnosed cause</a:t>
            </a:r>
          </a:p>
        </p:txBody>
      </p:sp>
      <p:sp>
        <p:nvSpPr>
          <p:cNvPr id="7" name="TextBox 6"/>
          <p:cNvSpPr txBox="1"/>
          <p:nvPr/>
        </p:nvSpPr>
        <p:spPr>
          <a:xfrm>
            <a:off x="5230368" y="1664207"/>
            <a:ext cx="3456432" cy="2377440"/>
          </a:xfrm>
          <a:prstGeom prst="rect">
            <a:avLst/>
          </a:prstGeom>
          <a:noFill/>
        </p:spPr>
        <p:txBody>
          <a:bodyPr wrap="square">
            <a:spAutoFit/>
          </a:bodyPr>
          <a:lstStyle/>
          <a:p>
            <a:pPr>
              <a:lnSpc>
                <a:spcPct val="106000"/>
              </a:lnSpc>
              <a:spcAft>
                <a:spcPts val="1100"/>
              </a:spcAft>
            </a:pPr>
            <a:r>
              <a:rPr sz="1700" b="0">
                <a:solidFill>
                  <a:srgbClr val="2D2D2D"/>
                </a:solidFill>
                <a:latin typeface="Arial"/>
              </a:rPr>
              <a:t>Its finest input is 1/8 scale, so evidence barely varies inside an 8x8 cell.</a:t>
            </a:r>
          </a:p>
          <a:p>
            <a:pPr>
              <a:lnSpc>
                <a:spcPct val="106000"/>
              </a:lnSpc>
              <a:spcAft>
                <a:spcPts val="1100"/>
              </a:spcAft>
            </a:pPr>
            <a:r>
              <a:rPr sz="1700" b="0">
                <a:solidFill>
                  <a:srgbClr val="2D2D2D"/>
                </a:solidFill>
                <a:latin typeface="Arial"/>
              </a:rPr>
              <a:t>Fourier positional encoding changed nothing, ruling out a missing position signal.</a:t>
            </a:r>
          </a:p>
        </p:txBody>
      </p:sp>
      <p:sp>
        <p:nvSpPr>
          <p:cNvPr id="8" name="Rounded Rectangle 7"/>
          <p:cNvSpPr/>
          <p:nvPr/>
        </p:nvSpPr>
        <p:spPr>
          <a:xfrm>
            <a:off x="5230368" y="3913632"/>
            <a:ext cx="3456432" cy="585216"/>
          </a:xfrm>
          <a:prstGeom prst="roundRect">
            <a:avLst>
              <a:gd name="adj" fmla="val 7000"/>
            </a:avLst>
          </a:prstGeom>
          <a:solidFill>
            <a:srgbClr val="FFF2CC"/>
          </a:solidFill>
          <a:ln w="15875">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500" b="1">
                <a:solidFill>
                  <a:srgbClr val="7A5200"/>
                </a:solidFill>
                <a:latin typeface="Arial"/>
              </a:rPr>
              <a:t>1.5 points below v2</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Percentage of pixels with end-point error below 1 px. Higher is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8</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A repeat query on a cached frame costs</a:t>
            </a:r>
          </a:p>
          <a:p>
            <a:pPr algn="l">
              <a:lnSpc>
                <a:spcPct val="105000"/>
              </a:lnSpc>
            </a:pPr>
            <a:r>
              <a:rPr sz="2400" b="1">
                <a:solidFill>
                  <a:srgbClr val="1F4E79"/>
                </a:solidFill>
                <a:latin typeface="Arial"/>
              </a:rPr>
              <a:t>1.25 ms, against 33.3 ms for a fresh pass</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peed_bars.png"/>
          <p:cNvPicPr>
            <a:picLocks noChangeAspect="1"/>
          </p:cNvPicPr>
          <p:nvPr/>
        </p:nvPicPr>
        <p:blipFill>
          <a:blip r:embed="rId2"/>
          <a:stretch>
            <a:fillRect/>
          </a:stretch>
        </p:blipFill>
        <p:spPr>
          <a:xfrm>
            <a:off x="457200" y="1481328"/>
            <a:ext cx="4892040" cy="2421313"/>
          </a:xfrm>
          <a:prstGeom prst="rect">
            <a:avLst/>
          </a:prstGeom>
        </p:spPr>
      </p:pic>
      <p:sp>
        <p:nvSpPr>
          <p:cNvPr id="6" name="TextBox 5"/>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Where the win is</a:t>
            </a:r>
          </a:p>
        </p:txBody>
      </p:sp>
      <p:sp>
        <p:nvSpPr>
          <p:cNvPr id="7" name="TextBox 6"/>
          <p:cNvSpPr txBox="1"/>
          <p:nvPr/>
        </p:nvSpPr>
        <p:spPr>
          <a:xfrm>
            <a:off x="5230368" y="1664207"/>
            <a:ext cx="3456432" cy="2377440"/>
          </a:xfrm>
          <a:prstGeom prst="rect">
            <a:avLst/>
          </a:prstGeom>
          <a:noFill/>
        </p:spPr>
        <p:txBody>
          <a:bodyPr wrap="square">
            <a:spAutoFit/>
          </a:bodyPr>
          <a:lstStyle/>
          <a:p>
            <a:pPr>
              <a:lnSpc>
                <a:spcPct val="106000"/>
              </a:lnSpc>
              <a:spcAft>
                <a:spcPts val="1100"/>
              </a:spcAft>
            </a:pPr>
            <a:r>
              <a:rPr sz="1700" b="0">
                <a:solidFill>
                  <a:srgbClr val="2D2D2D"/>
                </a:solidFill>
                <a:latin typeface="Arial"/>
              </a:rPr>
              <a:t>A first sparse query is level with v2: both pay the coarse pass.</a:t>
            </a:r>
          </a:p>
          <a:p>
            <a:pPr>
              <a:lnSpc>
                <a:spcPct val="106000"/>
              </a:lnSpc>
              <a:spcAft>
                <a:spcPts val="1100"/>
              </a:spcAft>
            </a:pPr>
            <a:r>
              <a:rPr sz="1700" b="0">
                <a:solidFill>
                  <a:srgbClr val="2D2D2D"/>
                </a:solidFill>
                <a:latin typeface="Arial"/>
              </a:rPr>
              <a:t>v2 keeps no state, so a second question costs a full recomputation.</a:t>
            </a:r>
          </a:p>
        </p:txBody>
      </p:sp>
      <p:sp>
        <p:nvSpPr>
          <p:cNvPr id="8" name="Rounded Rectangle 7"/>
          <p:cNvSpPr/>
          <p:nvPr/>
        </p:nvSpPr>
        <p:spPr>
          <a:xfrm>
            <a:off x="5230368" y="3913632"/>
            <a:ext cx="3456432" cy="585216"/>
          </a:xfrm>
          <a:prstGeom prst="roundRect">
            <a:avLst>
              <a:gd name="adj" fmla="val 7000"/>
            </a:avLst>
          </a:prstGeom>
          <a:solidFill>
            <a:srgbClr val="FFF2CC"/>
          </a:solidFill>
          <a:ln w="15875">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500" b="1">
                <a:solidFill>
                  <a:srgbClr val="7A5200"/>
                </a:solidFill>
                <a:latin typeface="Arial"/>
              </a:rPr>
              <a:t>27x on repeat access</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RTX 4060 laptop, fp16, 384 x 1248, median of 50 runs after warm-up.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9</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Predicted confidence tracks real error</a:t>
            </a:r>
          </a:p>
          <a:p>
            <a:pPr algn="l">
              <a:lnSpc>
                <a:spcPct val="105000"/>
              </a:lnSpc>
            </a:pPr>
            <a:r>
              <a:rPr sz="2400" b="1">
                <a:solidFill>
                  <a:srgbClr val="1F4E79"/>
                </a:solidFill>
                <a:latin typeface="Arial"/>
              </a:rPr>
              <a:t>monotonically across a 15-fold span</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alibration_bars.png"/>
          <p:cNvPicPr>
            <a:picLocks noChangeAspect="1"/>
          </p:cNvPicPr>
          <p:nvPr/>
        </p:nvPicPr>
        <p:blipFill>
          <a:blip r:embed="rId2"/>
          <a:stretch>
            <a:fillRect/>
          </a:stretch>
        </p:blipFill>
        <p:spPr>
          <a:xfrm>
            <a:off x="457200" y="1417320"/>
            <a:ext cx="4617720" cy="2435112"/>
          </a:xfrm>
          <a:prstGeom prst="rect">
            <a:avLst/>
          </a:prstGeom>
        </p:spPr>
      </p:pic>
      <p:sp>
        <p:nvSpPr>
          <p:cNvPr id="6" name="TextBox 5"/>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Why it is usable</a:t>
            </a:r>
          </a:p>
        </p:txBody>
      </p:sp>
      <p:sp>
        <p:nvSpPr>
          <p:cNvPr id="7" name="TextBox 6"/>
          <p:cNvSpPr txBox="1"/>
          <p:nvPr/>
        </p:nvSpPr>
        <p:spPr>
          <a:xfrm>
            <a:off x="5230368" y="1664207"/>
            <a:ext cx="3456432" cy="2377440"/>
          </a:xfrm>
          <a:prstGeom prst="rect">
            <a:avLst/>
          </a:prstGeom>
          <a:noFill/>
        </p:spPr>
        <p:txBody>
          <a:bodyPr wrap="square">
            <a:spAutoFit/>
          </a:bodyPr>
          <a:lstStyle/>
          <a:p>
            <a:pPr>
              <a:lnSpc>
                <a:spcPct val="106000"/>
              </a:lnSpc>
              <a:spcAft>
                <a:spcPts val="1100"/>
              </a:spcAft>
            </a:pPr>
            <a:r>
              <a:rPr sz="1800" b="0">
                <a:solidFill>
                  <a:srgbClr val="2D2D2D"/>
                </a:solidFill>
                <a:latin typeface="Arial"/>
              </a:rPr>
              <a:t>Weight correspondences in RANSAC by predicted scale.</a:t>
            </a:r>
          </a:p>
          <a:p>
            <a:pPr>
              <a:lnSpc>
                <a:spcPct val="106000"/>
              </a:lnSpc>
              <a:spcAft>
                <a:spcPts val="1100"/>
              </a:spcAft>
            </a:pPr>
            <a:r>
              <a:rPr sz="1800" b="0">
                <a:solidFill>
                  <a:srgbClr val="2D2D2D"/>
                </a:solidFill>
                <a:latin typeface="Arial"/>
              </a:rPr>
              <a:t>Reject unreliable matches before they reach a solver.</a:t>
            </a:r>
          </a:p>
          <a:p>
            <a:pPr>
              <a:lnSpc>
                <a:spcPct val="106000"/>
              </a:lnSpc>
              <a:spcAft>
                <a:spcPts val="1100"/>
              </a:spcAft>
            </a:pPr>
            <a:r>
              <a:rPr sz="1800" b="0">
                <a:solidFill>
                  <a:srgbClr val="2D2D2D"/>
                </a:solidFill>
                <a:latin typeface="Arial"/>
              </a:rPr>
              <a:t>v2 emits flow alone; there is no equivalent quantity.</a:t>
            </a:r>
          </a:p>
        </p:txBody>
      </p:sp>
      <p:sp>
        <p:nvSpPr>
          <p:cNvPr id="8" name="Rounded Rectangle 7"/>
          <p:cNvSpPr/>
          <p:nvPr/>
        </p:nvSpPr>
        <p:spPr>
          <a:xfrm>
            <a:off x="5230368" y="3913632"/>
            <a:ext cx="3456432" cy="585216"/>
          </a:xfrm>
          <a:prstGeom prst="roundRect">
            <a:avLst>
              <a:gd name="adj" fmla="val 7000"/>
            </a:avLst>
          </a:prstGeom>
          <a:solidFill>
            <a:srgbClr val="FFF2CC"/>
          </a:solidFill>
          <a:ln w="15875">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500" b="1">
                <a:solidFill>
                  <a:srgbClr val="7A5200"/>
                </a:solidFill>
                <a:latin typeface="Arial"/>
              </a:rPr>
              <a:t>0.48 px  to  7.10 px</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Per-query error scale under a Laplace likelihood. 2,348,000 queries, Pearson r = 0.318.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10</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Abstaining on 20 percent of queries makes</a:t>
            </a:r>
          </a:p>
          <a:p>
            <a:pPr algn="l">
              <a:lnSpc>
                <a:spcPct val="105000"/>
              </a:lnSpc>
            </a:pPr>
            <a:r>
              <a:rPr sz="2400" b="1">
                <a:solidFill>
                  <a:srgbClr val="1F4E79"/>
                </a:solidFill>
                <a:latin typeface="Arial"/>
              </a:rPr>
              <a:t>v3 2.2x more accurate than v2</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lective_accuracy.png"/>
          <p:cNvPicPr>
            <a:picLocks noChangeAspect="1"/>
          </p:cNvPicPr>
          <p:nvPr/>
        </p:nvPicPr>
        <p:blipFill>
          <a:blip r:embed="rId2"/>
          <a:stretch>
            <a:fillRect/>
          </a:stretch>
        </p:blipFill>
        <p:spPr>
          <a:xfrm>
            <a:off x="457200" y="1444752"/>
            <a:ext cx="4892040" cy="2654192"/>
          </a:xfrm>
          <a:prstGeom prst="rect">
            <a:avLst/>
          </a:prstGeom>
        </p:spPr>
      </p:pic>
      <p:sp>
        <p:nvSpPr>
          <p:cNvPr id="6" name="TextBox 5"/>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Why this is fair</a:t>
            </a:r>
          </a:p>
        </p:txBody>
      </p:sp>
      <p:sp>
        <p:nvSpPr>
          <p:cNvPr id="7" name="TextBox 6"/>
          <p:cNvSpPr txBox="1"/>
          <p:nvPr/>
        </p:nvSpPr>
        <p:spPr>
          <a:xfrm>
            <a:off x="5230368" y="1664207"/>
            <a:ext cx="3456432" cy="2377440"/>
          </a:xfrm>
          <a:prstGeom prst="rect">
            <a:avLst/>
          </a:prstGeom>
          <a:noFill/>
        </p:spPr>
        <p:txBody>
          <a:bodyPr wrap="square">
            <a:spAutoFit/>
          </a:bodyPr>
          <a:lstStyle/>
          <a:p>
            <a:pPr>
              <a:lnSpc>
                <a:spcPct val="106000"/>
              </a:lnSpc>
              <a:spcAft>
                <a:spcPts val="1100"/>
              </a:spcAft>
            </a:pPr>
            <a:r>
              <a:rPr sz="1700" b="0">
                <a:solidFill>
                  <a:srgbClr val="2D2D2D"/>
                </a:solidFill>
                <a:latin typeface="Arial"/>
              </a:rPr>
              <a:t>Mean error is one operating point, and the only one v2 has.</a:t>
            </a:r>
          </a:p>
          <a:p>
            <a:pPr>
              <a:lnSpc>
                <a:spcPct val="106000"/>
              </a:lnSpc>
              <a:spcAft>
                <a:spcPts val="1100"/>
              </a:spcAft>
            </a:pPr>
            <a:r>
              <a:rPr sz="1700" b="0">
                <a:solidFill>
                  <a:srgbClr val="2D2D2D"/>
                </a:solidFill>
                <a:latin typeface="Arial"/>
              </a:rPr>
              <a:t>Registration picks a few hundred points anyway, so abstaining is free.</a:t>
            </a:r>
          </a:p>
        </p:txBody>
      </p:sp>
      <p:sp>
        <p:nvSpPr>
          <p:cNvPr id="8" name="Rounded Rectangle 7"/>
          <p:cNvSpPr/>
          <p:nvPr/>
        </p:nvSpPr>
        <p:spPr>
          <a:xfrm>
            <a:off x="5230368" y="3913632"/>
            <a:ext cx="3456432" cy="585216"/>
          </a:xfrm>
          <a:prstGeom prst="roundRect">
            <a:avLst>
              <a:gd name="adj" fmla="val 7000"/>
            </a:avLst>
          </a:prstGeom>
          <a:solidFill>
            <a:srgbClr val="FFF2CC"/>
          </a:solidFill>
          <a:ln w="15875">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500" b="1">
                <a:solidFill>
                  <a:srgbClr val="7A5200"/>
                </a:solidFill>
                <a:latin typeface="Arial"/>
              </a:rPr>
              <a:t>1.06 px at 80% coverage</a:t>
            </a:r>
          </a:p>
          <a:p>
            <a:pPr algn="ctr">
              <a:lnSpc>
                <a:spcPct val="106000"/>
              </a:lnSpc>
            </a:pPr>
            <a:r>
              <a:rPr sz="1500" b="1">
                <a:solidFill>
                  <a:srgbClr val="7A5200"/>
                </a:solidFill>
                <a:latin typeface="Arial"/>
              </a:rPr>
              <a:t>against v2 at 2.32</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Same 2,348,000 queries as the calibration bins. Coverage = share of queries answered.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11</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A fast platform meets three situations, and</a:t>
            </a:r>
          </a:p>
          <a:p>
            <a:pPr algn="l">
              <a:lnSpc>
                <a:spcPct val="105000"/>
              </a:lnSpc>
            </a:pPr>
            <a:r>
              <a:rPr sz="2400" b="1">
                <a:solidFill>
                  <a:srgbClr val="1F4E79"/>
                </a:solidFill>
                <a:latin typeface="Arial"/>
              </a:rPr>
              <a:t>flows a region rather than a frame</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enarios_illustrated_tight.png"/>
          <p:cNvPicPr>
            <a:picLocks noChangeAspect="1"/>
          </p:cNvPicPr>
          <p:nvPr/>
        </p:nvPicPr>
        <p:blipFill>
          <a:blip r:embed="rId2"/>
          <a:stretch>
            <a:fillRect/>
          </a:stretch>
        </p:blipFill>
        <p:spPr>
          <a:xfrm>
            <a:off x="1005840" y="1316736"/>
            <a:ext cx="7132320" cy="3338850"/>
          </a:xfrm>
          <a:prstGeom prst="rect">
            <a:avLst/>
          </a:prstGeom>
        </p:spPr>
      </p:pic>
      <p:sp>
        <p:nvSpPr>
          <p:cNvPr id="6" name="TextBox 5"/>
          <p:cNvSpPr txBox="1"/>
          <p:nvPr/>
        </p:nvSpPr>
        <p:spPr>
          <a:xfrm>
            <a:off x="457200" y="4736592"/>
            <a:ext cx="8229600" cy="256032"/>
          </a:xfrm>
          <a:prstGeom prst="rect">
            <a:avLst/>
          </a:prstGeom>
          <a:noFill/>
        </p:spPr>
        <p:txBody>
          <a:bodyPr wrap="square">
            <a:spAutoFit/>
          </a:bodyPr>
          <a:lstStyle/>
          <a:p>
            <a:pPr algn="l">
              <a:lnSpc>
                <a:spcPct val="100000"/>
              </a:lnSpc>
            </a:pPr>
            <a:r>
              <a:rPr sz="1200" b="0">
                <a:solidFill>
                  <a:srgbClr val="777777"/>
                </a:solidFill>
                <a:latin typeface="Arial"/>
              </a:rPr>
              <a:t>Left: the regions a tracker nominates. Right: the flow returned. Held-out VKITTI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12</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Processing 14 percent of the frame costs</a:t>
            </a:r>
          </a:p>
          <a:p>
            <a:pPr algn="l">
              <a:lnSpc>
                <a:spcPct val="105000"/>
              </a:lnSpc>
            </a:pPr>
            <a:r>
              <a:rPr sz="2400" b="1">
                <a:solidFill>
                  <a:srgbClr val="1F4E79"/>
                </a:solidFill>
                <a:latin typeface="Arial"/>
              </a:rPr>
              <a:t>0.034 px and runs 4.4x faster</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1874519" cy="224028"/>
          </a:xfrm>
          <a:prstGeom prst="rect">
            <a:avLst/>
          </a:prstGeom>
          <a:noFill/>
        </p:spPr>
        <p:txBody>
          <a:bodyPr wrap="square">
            <a:spAutoFit/>
          </a:bodyPr>
          <a:lstStyle/>
          <a:p>
            <a:pPr algn="l">
              <a:lnSpc>
                <a:spcPct val="100000"/>
              </a:lnSpc>
            </a:pPr>
            <a:r>
              <a:rPr sz="1600" b="1">
                <a:solidFill>
                  <a:srgbClr val="1F4E79"/>
                </a:solidFill>
                <a:latin typeface="Arial"/>
              </a:rPr>
              <a:t>Region</a:t>
            </a:r>
          </a:p>
        </p:txBody>
      </p:sp>
      <p:sp>
        <p:nvSpPr>
          <p:cNvPr id="6" name="TextBox 5"/>
          <p:cNvSpPr txBox="1"/>
          <p:nvPr/>
        </p:nvSpPr>
        <p:spPr>
          <a:xfrm>
            <a:off x="2331720" y="1298448"/>
            <a:ext cx="960120" cy="224028"/>
          </a:xfrm>
          <a:prstGeom prst="rect">
            <a:avLst/>
          </a:prstGeom>
          <a:noFill/>
        </p:spPr>
        <p:txBody>
          <a:bodyPr wrap="square">
            <a:spAutoFit/>
          </a:bodyPr>
          <a:lstStyle/>
          <a:p>
            <a:pPr algn="r">
              <a:lnSpc>
                <a:spcPct val="100000"/>
              </a:lnSpc>
            </a:pPr>
            <a:r>
              <a:rPr sz="1600" b="1">
                <a:solidFill>
                  <a:srgbClr val="1F4E79"/>
                </a:solidFill>
                <a:latin typeface="Arial"/>
              </a:rPr>
              <a:t>Latency</a:t>
            </a:r>
          </a:p>
        </p:txBody>
      </p:sp>
      <p:sp>
        <p:nvSpPr>
          <p:cNvPr id="7" name="TextBox 6"/>
          <p:cNvSpPr txBox="1"/>
          <p:nvPr/>
        </p:nvSpPr>
        <p:spPr>
          <a:xfrm>
            <a:off x="3291839" y="1298448"/>
            <a:ext cx="1051560" cy="224028"/>
          </a:xfrm>
          <a:prstGeom prst="rect">
            <a:avLst/>
          </a:prstGeom>
          <a:noFill/>
        </p:spPr>
        <p:txBody>
          <a:bodyPr wrap="square">
            <a:spAutoFit/>
          </a:bodyPr>
          <a:lstStyle/>
          <a:p>
            <a:pPr algn="r">
              <a:lnSpc>
                <a:spcPct val="100000"/>
              </a:lnSpc>
            </a:pPr>
            <a:r>
              <a:rPr sz="1600" b="1">
                <a:solidFill>
                  <a:srgbClr val="1F4E79"/>
                </a:solidFill>
                <a:latin typeface="Arial"/>
              </a:rPr>
              <a:t>Speedup</a:t>
            </a:r>
          </a:p>
        </p:txBody>
      </p:sp>
      <p:sp>
        <p:nvSpPr>
          <p:cNvPr id="8" name="TextBox 7"/>
          <p:cNvSpPr txBox="1"/>
          <p:nvPr/>
        </p:nvSpPr>
        <p:spPr>
          <a:xfrm>
            <a:off x="4343400" y="1298448"/>
            <a:ext cx="822960" cy="224028"/>
          </a:xfrm>
          <a:prstGeom prst="rect">
            <a:avLst/>
          </a:prstGeom>
          <a:noFill/>
        </p:spPr>
        <p:txBody>
          <a:bodyPr wrap="square">
            <a:spAutoFit/>
          </a:bodyPr>
          <a:lstStyle/>
          <a:p>
            <a:pPr algn="r">
              <a:lnSpc>
                <a:spcPct val="100000"/>
              </a:lnSpc>
            </a:pPr>
            <a:r>
              <a:rPr sz="1600" b="1">
                <a:solidFill>
                  <a:srgbClr val="1F4E79"/>
                </a:solidFill>
                <a:latin typeface="Arial"/>
              </a:rPr>
              <a:t>EPE</a:t>
            </a:r>
          </a:p>
        </p:txBody>
      </p:sp>
      <p:sp>
        <p:nvSpPr>
          <p:cNvPr id="9" name="Rectangle 8"/>
          <p:cNvSpPr/>
          <p:nvPr/>
        </p:nvSpPr>
        <p:spPr>
          <a:xfrm>
            <a:off x="457200" y="1522476"/>
            <a:ext cx="470916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63624"/>
            <a:ext cx="1874519" cy="224028"/>
          </a:xfrm>
          <a:prstGeom prst="rect">
            <a:avLst/>
          </a:prstGeom>
          <a:noFill/>
        </p:spPr>
        <p:txBody>
          <a:bodyPr wrap="square">
            <a:spAutoFit/>
          </a:bodyPr>
          <a:lstStyle/>
          <a:p>
            <a:pPr algn="l">
              <a:lnSpc>
                <a:spcPct val="100000"/>
              </a:lnSpc>
            </a:pPr>
            <a:r>
              <a:rPr sz="1600" b="0">
                <a:solidFill>
                  <a:srgbClr val="2D2D2D"/>
                </a:solidFill>
                <a:latin typeface="Arial"/>
              </a:rPr>
              <a:t>Full frame</a:t>
            </a:r>
          </a:p>
        </p:txBody>
      </p:sp>
      <p:sp>
        <p:nvSpPr>
          <p:cNvPr id="11" name="TextBox 10"/>
          <p:cNvSpPr txBox="1"/>
          <p:nvPr/>
        </p:nvSpPr>
        <p:spPr>
          <a:xfrm>
            <a:off x="2331720" y="1563624"/>
            <a:ext cx="960120" cy="224028"/>
          </a:xfrm>
          <a:prstGeom prst="rect">
            <a:avLst/>
          </a:prstGeom>
          <a:noFill/>
        </p:spPr>
        <p:txBody>
          <a:bodyPr wrap="square">
            <a:spAutoFit/>
          </a:bodyPr>
          <a:lstStyle/>
          <a:p>
            <a:pPr algn="r">
              <a:lnSpc>
                <a:spcPct val="100000"/>
              </a:lnSpc>
            </a:pPr>
            <a:r>
              <a:rPr sz="1600" b="0">
                <a:solidFill>
                  <a:srgbClr val="2D2D2D"/>
                </a:solidFill>
                <a:latin typeface="Arial"/>
              </a:rPr>
              <a:t>33.3 ms</a:t>
            </a:r>
          </a:p>
        </p:txBody>
      </p:sp>
      <p:sp>
        <p:nvSpPr>
          <p:cNvPr id="12" name="TextBox 11"/>
          <p:cNvSpPr txBox="1"/>
          <p:nvPr/>
        </p:nvSpPr>
        <p:spPr>
          <a:xfrm>
            <a:off x="3291839" y="1563624"/>
            <a:ext cx="1051560" cy="224028"/>
          </a:xfrm>
          <a:prstGeom prst="rect">
            <a:avLst/>
          </a:prstGeom>
          <a:noFill/>
        </p:spPr>
        <p:txBody>
          <a:bodyPr wrap="square">
            <a:spAutoFit/>
          </a:bodyPr>
          <a:lstStyle/>
          <a:p>
            <a:pPr algn="r">
              <a:lnSpc>
                <a:spcPct val="100000"/>
              </a:lnSpc>
            </a:pPr>
            <a:r>
              <a:rPr sz="1600" b="0">
                <a:solidFill>
                  <a:srgbClr val="2D2D2D"/>
                </a:solidFill>
                <a:latin typeface="Arial"/>
              </a:rPr>
              <a:t>1.0x</a:t>
            </a:r>
          </a:p>
        </p:txBody>
      </p:sp>
      <p:sp>
        <p:nvSpPr>
          <p:cNvPr id="13" name="TextBox 12"/>
          <p:cNvSpPr txBox="1"/>
          <p:nvPr/>
        </p:nvSpPr>
        <p:spPr>
          <a:xfrm>
            <a:off x="4343400" y="1563624"/>
            <a:ext cx="822960" cy="224028"/>
          </a:xfrm>
          <a:prstGeom prst="rect">
            <a:avLst/>
          </a:prstGeom>
          <a:noFill/>
        </p:spPr>
        <p:txBody>
          <a:bodyPr wrap="square">
            <a:spAutoFit/>
          </a:bodyPr>
          <a:lstStyle/>
          <a:p>
            <a:pPr algn="r">
              <a:lnSpc>
                <a:spcPct val="100000"/>
              </a:lnSpc>
            </a:pPr>
            <a:r>
              <a:rPr sz="1600" b="0">
                <a:solidFill>
                  <a:srgbClr val="2D2D2D"/>
                </a:solidFill>
                <a:latin typeface="Arial"/>
              </a:rPr>
              <a:t>0.657</a:t>
            </a:r>
          </a:p>
        </p:txBody>
      </p:sp>
      <p:sp>
        <p:nvSpPr>
          <p:cNvPr id="14" name="TextBox 13"/>
          <p:cNvSpPr txBox="1"/>
          <p:nvPr/>
        </p:nvSpPr>
        <p:spPr>
          <a:xfrm>
            <a:off x="457200" y="1828800"/>
            <a:ext cx="1874519" cy="224028"/>
          </a:xfrm>
          <a:prstGeom prst="rect">
            <a:avLst/>
          </a:prstGeom>
          <a:noFill/>
        </p:spPr>
        <p:txBody>
          <a:bodyPr wrap="square">
            <a:spAutoFit/>
          </a:bodyPr>
          <a:lstStyle/>
          <a:p>
            <a:pPr algn="l">
              <a:lnSpc>
                <a:spcPct val="100000"/>
              </a:lnSpc>
            </a:pPr>
            <a:r>
              <a:rPr sz="1600" b="0">
                <a:solidFill>
                  <a:srgbClr val="2D2D2D"/>
                </a:solidFill>
                <a:latin typeface="Arial"/>
              </a:rPr>
              <a:t>Region, no margin</a:t>
            </a:r>
          </a:p>
        </p:txBody>
      </p:sp>
      <p:sp>
        <p:nvSpPr>
          <p:cNvPr id="15" name="TextBox 14"/>
          <p:cNvSpPr txBox="1"/>
          <p:nvPr/>
        </p:nvSpPr>
        <p:spPr>
          <a:xfrm>
            <a:off x="2331720" y="1828800"/>
            <a:ext cx="960120" cy="224028"/>
          </a:xfrm>
          <a:prstGeom prst="rect">
            <a:avLst/>
          </a:prstGeom>
          <a:noFill/>
        </p:spPr>
        <p:txBody>
          <a:bodyPr wrap="square">
            <a:spAutoFit/>
          </a:bodyPr>
          <a:lstStyle/>
          <a:p>
            <a:pPr algn="r">
              <a:lnSpc>
                <a:spcPct val="100000"/>
              </a:lnSpc>
            </a:pPr>
            <a:r>
              <a:rPr sz="1600" b="0">
                <a:solidFill>
                  <a:srgbClr val="2D2D2D"/>
                </a:solidFill>
                <a:latin typeface="Arial"/>
              </a:rPr>
              <a:t>7.8 ms</a:t>
            </a:r>
          </a:p>
        </p:txBody>
      </p:sp>
      <p:sp>
        <p:nvSpPr>
          <p:cNvPr id="16" name="TextBox 15"/>
          <p:cNvSpPr txBox="1"/>
          <p:nvPr/>
        </p:nvSpPr>
        <p:spPr>
          <a:xfrm>
            <a:off x="3291839" y="1828800"/>
            <a:ext cx="1051560" cy="224028"/>
          </a:xfrm>
          <a:prstGeom prst="rect">
            <a:avLst/>
          </a:prstGeom>
          <a:noFill/>
        </p:spPr>
        <p:txBody>
          <a:bodyPr wrap="square">
            <a:spAutoFit/>
          </a:bodyPr>
          <a:lstStyle/>
          <a:p>
            <a:pPr algn="r">
              <a:lnSpc>
                <a:spcPct val="100000"/>
              </a:lnSpc>
            </a:pPr>
            <a:r>
              <a:rPr sz="1600" b="0">
                <a:solidFill>
                  <a:srgbClr val="2D2D2D"/>
                </a:solidFill>
                <a:latin typeface="Arial"/>
              </a:rPr>
              <a:t>4.3x</a:t>
            </a:r>
          </a:p>
        </p:txBody>
      </p:sp>
      <p:sp>
        <p:nvSpPr>
          <p:cNvPr id="17" name="TextBox 16"/>
          <p:cNvSpPr txBox="1"/>
          <p:nvPr/>
        </p:nvSpPr>
        <p:spPr>
          <a:xfrm>
            <a:off x="4343400" y="1828800"/>
            <a:ext cx="822960" cy="224028"/>
          </a:xfrm>
          <a:prstGeom prst="rect">
            <a:avLst/>
          </a:prstGeom>
          <a:noFill/>
        </p:spPr>
        <p:txBody>
          <a:bodyPr wrap="square">
            <a:spAutoFit/>
          </a:bodyPr>
          <a:lstStyle/>
          <a:p>
            <a:pPr algn="r">
              <a:lnSpc>
                <a:spcPct val="100000"/>
              </a:lnSpc>
            </a:pPr>
            <a:r>
              <a:rPr sz="1600" b="0">
                <a:solidFill>
                  <a:srgbClr val="2D2D2D"/>
                </a:solidFill>
                <a:latin typeface="Arial"/>
              </a:rPr>
              <a:t>1.089</a:t>
            </a:r>
          </a:p>
        </p:txBody>
      </p:sp>
      <p:sp>
        <p:nvSpPr>
          <p:cNvPr id="18" name="TextBox 17"/>
          <p:cNvSpPr txBox="1"/>
          <p:nvPr/>
        </p:nvSpPr>
        <p:spPr>
          <a:xfrm>
            <a:off x="457200" y="2093976"/>
            <a:ext cx="1874519" cy="224028"/>
          </a:xfrm>
          <a:prstGeom prst="rect">
            <a:avLst/>
          </a:prstGeom>
          <a:noFill/>
        </p:spPr>
        <p:txBody>
          <a:bodyPr wrap="square">
            <a:spAutoFit/>
          </a:bodyPr>
          <a:lstStyle/>
          <a:p>
            <a:pPr algn="l">
              <a:lnSpc>
                <a:spcPct val="100000"/>
              </a:lnSpc>
            </a:pPr>
            <a:r>
              <a:rPr sz="1600" b="1">
                <a:solidFill>
                  <a:srgbClr val="2E75B6"/>
                </a:solidFill>
                <a:latin typeface="Arial"/>
              </a:rPr>
              <a:t>Region + 32 px</a:t>
            </a:r>
          </a:p>
        </p:txBody>
      </p:sp>
      <p:sp>
        <p:nvSpPr>
          <p:cNvPr id="19" name="TextBox 18"/>
          <p:cNvSpPr txBox="1"/>
          <p:nvPr/>
        </p:nvSpPr>
        <p:spPr>
          <a:xfrm>
            <a:off x="2331720" y="2093976"/>
            <a:ext cx="960120" cy="224028"/>
          </a:xfrm>
          <a:prstGeom prst="rect">
            <a:avLst/>
          </a:prstGeom>
          <a:noFill/>
        </p:spPr>
        <p:txBody>
          <a:bodyPr wrap="square">
            <a:spAutoFit/>
          </a:bodyPr>
          <a:lstStyle/>
          <a:p>
            <a:pPr algn="r">
              <a:lnSpc>
                <a:spcPct val="100000"/>
              </a:lnSpc>
            </a:pPr>
            <a:r>
              <a:rPr sz="1600" b="1">
                <a:solidFill>
                  <a:srgbClr val="2E75B6"/>
                </a:solidFill>
                <a:latin typeface="Arial"/>
              </a:rPr>
              <a:t>7.6 ms</a:t>
            </a:r>
          </a:p>
        </p:txBody>
      </p:sp>
      <p:sp>
        <p:nvSpPr>
          <p:cNvPr id="20" name="TextBox 19"/>
          <p:cNvSpPr txBox="1"/>
          <p:nvPr/>
        </p:nvSpPr>
        <p:spPr>
          <a:xfrm>
            <a:off x="3291839" y="2093976"/>
            <a:ext cx="1051560" cy="224028"/>
          </a:xfrm>
          <a:prstGeom prst="rect">
            <a:avLst/>
          </a:prstGeom>
          <a:noFill/>
        </p:spPr>
        <p:txBody>
          <a:bodyPr wrap="square">
            <a:spAutoFit/>
          </a:bodyPr>
          <a:lstStyle/>
          <a:p>
            <a:pPr algn="r">
              <a:lnSpc>
                <a:spcPct val="100000"/>
              </a:lnSpc>
            </a:pPr>
            <a:r>
              <a:rPr sz="1600" b="1">
                <a:solidFill>
                  <a:srgbClr val="2E75B6"/>
                </a:solidFill>
                <a:latin typeface="Arial"/>
              </a:rPr>
              <a:t>4.4x</a:t>
            </a:r>
          </a:p>
        </p:txBody>
      </p:sp>
      <p:sp>
        <p:nvSpPr>
          <p:cNvPr id="21" name="TextBox 20"/>
          <p:cNvSpPr txBox="1"/>
          <p:nvPr/>
        </p:nvSpPr>
        <p:spPr>
          <a:xfrm>
            <a:off x="4343400" y="2093976"/>
            <a:ext cx="822960" cy="224028"/>
          </a:xfrm>
          <a:prstGeom prst="rect">
            <a:avLst/>
          </a:prstGeom>
          <a:noFill/>
        </p:spPr>
        <p:txBody>
          <a:bodyPr wrap="square">
            <a:spAutoFit/>
          </a:bodyPr>
          <a:lstStyle/>
          <a:p>
            <a:pPr algn="r">
              <a:lnSpc>
                <a:spcPct val="100000"/>
              </a:lnSpc>
            </a:pPr>
            <a:r>
              <a:rPr sz="1600" b="1">
                <a:solidFill>
                  <a:srgbClr val="2E75B6"/>
                </a:solidFill>
                <a:latin typeface="Arial"/>
              </a:rPr>
              <a:t>0.691</a:t>
            </a:r>
          </a:p>
        </p:txBody>
      </p:sp>
      <p:sp>
        <p:nvSpPr>
          <p:cNvPr id="22" name="TextBox 21"/>
          <p:cNvSpPr txBox="1"/>
          <p:nvPr/>
        </p:nvSpPr>
        <p:spPr>
          <a:xfrm>
            <a:off x="457200" y="2359152"/>
            <a:ext cx="1874519" cy="224028"/>
          </a:xfrm>
          <a:prstGeom prst="rect">
            <a:avLst/>
          </a:prstGeom>
          <a:noFill/>
        </p:spPr>
        <p:txBody>
          <a:bodyPr wrap="square">
            <a:spAutoFit/>
          </a:bodyPr>
          <a:lstStyle/>
          <a:p>
            <a:pPr algn="l">
              <a:lnSpc>
                <a:spcPct val="100000"/>
              </a:lnSpc>
            </a:pPr>
            <a:r>
              <a:rPr sz="1600" b="0">
                <a:solidFill>
                  <a:srgbClr val="2D2D2D"/>
                </a:solidFill>
                <a:latin typeface="Arial"/>
              </a:rPr>
              <a:t>Region + 64 px</a:t>
            </a:r>
          </a:p>
        </p:txBody>
      </p:sp>
      <p:sp>
        <p:nvSpPr>
          <p:cNvPr id="23" name="TextBox 22"/>
          <p:cNvSpPr txBox="1"/>
          <p:nvPr/>
        </p:nvSpPr>
        <p:spPr>
          <a:xfrm>
            <a:off x="2331720" y="2359152"/>
            <a:ext cx="960120" cy="224028"/>
          </a:xfrm>
          <a:prstGeom prst="rect">
            <a:avLst/>
          </a:prstGeom>
          <a:noFill/>
        </p:spPr>
        <p:txBody>
          <a:bodyPr wrap="square">
            <a:spAutoFit/>
          </a:bodyPr>
          <a:lstStyle/>
          <a:p>
            <a:pPr algn="r">
              <a:lnSpc>
                <a:spcPct val="100000"/>
              </a:lnSpc>
            </a:pPr>
            <a:r>
              <a:rPr sz="1600" b="0">
                <a:solidFill>
                  <a:srgbClr val="2D2D2D"/>
                </a:solidFill>
                <a:latin typeface="Arial"/>
              </a:rPr>
              <a:t>8.1 ms</a:t>
            </a:r>
          </a:p>
        </p:txBody>
      </p:sp>
      <p:sp>
        <p:nvSpPr>
          <p:cNvPr id="24" name="TextBox 23"/>
          <p:cNvSpPr txBox="1"/>
          <p:nvPr/>
        </p:nvSpPr>
        <p:spPr>
          <a:xfrm>
            <a:off x="3291839" y="2359152"/>
            <a:ext cx="1051560" cy="224028"/>
          </a:xfrm>
          <a:prstGeom prst="rect">
            <a:avLst/>
          </a:prstGeom>
          <a:noFill/>
        </p:spPr>
        <p:txBody>
          <a:bodyPr wrap="square">
            <a:spAutoFit/>
          </a:bodyPr>
          <a:lstStyle/>
          <a:p>
            <a:pPr algn="r">
              <a:lnSpc>
                <a:spcPct val="100000"/>
              </a:lnSpc>
            </a:pPr>
            <a:r>
              <a:rPr sz="1600" b="0">
                <a:solidFill>
                  <a:srgbClr val="2D2D2D"/>
                </a:solidFill>
                <a:latin typeface="Arial"/>
              </a:rPr>
              <a:t>4.1x</a:t>
            </a:r>
          </a:p>
        </p:txBody>
      </p:sp>
      <p:sp>
        <p:nvSpPr>
          <p:cNvPr id="25" name="TextBox 24"/>
          <p:cNvSpPr txBox="1"/>
          <p:nvPr/>
        </p:nvSpPr>
        <p:spPr>
          <a:xfrm>
            <a:off x="4343400" y="2359152"/>
            <a:ext cx="822960" cy="224028"/>
          </a:xfrm>
          <a:prstGeom prst="rect">
            <a:avLst/>
          </a:prstGeom>
          <a:noFill/>
        </p:spPr>
        <p:txBody>
          <a:bodyPr wrap="square">
            <a:spAutoFit/>
          </a:bodyPr>
          <a:lstStyle/>
          <a:p>
            <a:pPr algn="r">
              <a:lnSpc>
                <a:spcPct val="100000"/>
              </a:lnSpc>
            </a:pPr>
            <a:r>
              <a:rPr sz="1600" b="0">
                <a:solidFill>
                  <a:srgbClr val="2D2D2D"/>
                </a:solidFill>
                <a:latin typeface="Arial"/>
              </a:rPr>
              <a:t>0.667</a:t>
            </a:r>
          </a:p>
        </p:txBody>
      </p:sp>
      <p:sp>
        <p:nvSpPr>
          <p:cNvPr id="26" name="TextBox 25"/>
          <p:cNvSpPr txBox="1"/>
          <p:nvPr/>
        </p:nvSpPr>
        <p:spPr>
          <a:xfrm>
            <a:off x="457200" y="2624328"/>
            <a:ext cx="1874519" cy="224028"/>
          </a:xfrm>
          <a:prstGeom prst="rect">
            <a:avLst/>
          </a:prstGeom>
          <a:noFill/>
        </p:spPr>
        <p:txBody>
          <a:bodyPr wrap="square">
            <a:spAutoFit/>
          </a:bodyPr>
          <a:lstStyle/>
          <a:p>
            <a:pPr algn="l">
              <a:lnSpc>
                <a:spcPct val="100000"/>
              </a:lnSpc>
            </a:pPr>
            <a:r>
              <a:rPr sz="1600" b="0">
                <a:solidFill>
                  <a:srgbClr val="2D2D2D"/>
                </a:solidFill>
                <a:latin typeface="Arial"/>
              </a:rPr>
              <a:t>Region + 128 px</a:t>
            </a:r>
          </a:p>
        </p:txBody>
      </p:sp>
      <p:sp>
        <p:nvSpPr>
          <p:cNvPr id="27" name="TextBox 26"/>
          <p:cNvSpPr txBox="1"/>
          <p:nvPr/>
        </p:nvSpPr>
        <p:spPr>
          <a:xfrm>
            <a:off x="2331720" y="2624328"/>
            <a:ext cx="960120" cy="224028"/>
          </a:xfrm>
          <a:prstGeom prst="rect">
            <a:avLst/>
          </a:prstGeom>
          <a:noFill/>
        </p:spPr>
        <p:txBody>
          <a:bodyPr wrap="square">
            <a:spAutoFit/>
          </a:bodyPr>
          <a:lstStyle/>
          <a:p>
            <a:pPr algn="r">
              <a:lnSpc>
                <a:spcPct val="100000"/>
              </a:lnSpc>
            </a:pPr>
            <a:r>
              <a:rPr sz="1600" b="0">
                <a:solidFill>
                  <a:srgbClr val="2D2D2D"/>
                </a:solidFill>
                <a:latin typeface="Arial"/>
              </a:rPr>
              <a:t>9.9 ms</a:t>
            </a:r>
          </a:p>
        </p:txBody>
      </p:sp>
      <p:sp>
        <p:nvSpPr>
          <p:cNvPr id="28" name="TextBox 27"/>
          <p:cNvSpPr txBox="1"/>
          <p:nvPr/>
        </p:nvSpPr>
        <p:spPr>
          <a:xfrm>
            <a:off x="3291839" y="2624328"/>
            <a:ext cx="1051560" cy="224028"/>
          </a:xfrm>
          <a:prstGeom prst="rect">
            <a:avLst/>
          </a:prstGeom>
          <a:noFill/>
        </p:spPr>
        <p:txBody>
          <a:bodyPr wrap="square">
            <a:spAutoFit/>
          </a:bodyPr>
          <a:lstStyle/>
          <a:p>
            <a:pPr algn="r">
              <a:lnSpc>
                <a:spcPct val="100000"/>
              </a:lnSpc>
            </a:pPr>
            <a:r>
              <a:rPr sz="1600" b="0">
                <a:solidFill>
                  <a:srgbClr val="2D2D2D"/>
                </a:solidFill>
                <a:latin typeface="Arial"/>
              </a:rPr>
              <a:t>3.4x</a:t>
            </a:r>
          </a:p>
        </p:txBody>
      </p:sp>
      <p:sp>
        <p:nvSpPr>
          <p:cNvPr id="29" name="TextBox 28"/>
          <p:cNvSpPr txBox="1"/>
          <p:nvPr/>
        </p:nvSpPr>
        <p:spPr>
          <a:xfrm>
            <a:off x="4343400" y="2624328"/>
            <a:ext cx="822960" cy="224028"/>
          </a:xfrm>
          <a:prstGeom prst="rect">
            <a:avLst/>
          </a:prstGeom>
          <a:noFill/>
        </p:spPr>
        <p:txBody>
          <a:bodyPr wrap="square">
            <a:spAutoFit/>
          </a:bodyPr>
          <a:lstStyle/>
          <a:p>
            <a:pPr algn="r">
              <a:lnSpc>
                <a:spcPct val="100000"/>
              </a:lnSpc>
            </a:pPr>
            <a:r>
              <a:rPr sz="1600" b="0">
                <a:solidFill>
                  <a:srgbClr val="2D2D2D"/>
                </a:solidFill>
                <a:latin typeface="Arial"/>
              </a:rPr>
              <a:t>0.655</a:t>
            </a:r>
          </a:p>
        </p:txBody>
      </p:sp>
      <p:sp>
        <p:nvSpPr>
          <p:cNvPr id="30" name="Rounded Rectangle 29"/>
          <p:cNvSpPr/>
          <p:nvPr/>
        </p:nvSpPr>
        <p:spPr>
          <a:xfrm>
            <a:off x="5760720" y="1371600"/>
            <a:ext cx="2926080" cy="132588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Design rule</a:t>
            </a:r>
          </a:p>
          <a:p>
            <a:pPr algn="ctr">
              <a:lnSpc>
                <a:spcPct val="106000"/>
              </a:lnSpc>
            </a:pPr>
            <a:r>
              <a:rPr sz="1600" b="0">
                <a:solidFill>
                  <a:srgbClr val="1F4E79"/>
                </a:solidFill>
                <a:latin typeface="Arial"/>
              </a:rPr>
              <a:t/>
            </a:r>
          </a:p>
          <a:p>
            <a:pPr algn="ctr">
              <a:lnSpc>
                <a:spcPct val="106000"/>
              </a:lnSpc>
            </a:pPr>
            <a:r>
              <a:rPr sz="1600" b="0">
                <a:solidFill>
                  <a:srgbClr val="1F4E79"/>
                </a:solidFill>
                <a:latin typeface="Arial"/>
              </a:rPr>
              <a:t>margin  ≈  expected motion</a:t>
            </a:r>
          </a:p>
          <a:p>
            <a:pPr algn="ctr">
              <a:lnSpc>
                <a:spcPct val="106000"/>
              </a:lnSpc>
            </a:pPr>
            <a:r>
              <a:rPr sz="1600" b="0">
                <a:solidFill>
                  <a:srgbClr val="1F4E79"/>
                </a:solidFill>
                <a:latin typeface="Arial"/>
              </a:rPr>
              <a:t>≈  speed / frame rate</a:t>
            </a:r>
          </a:p>
        </p:txBody>
      </p:sp>
      <p:sp>
        <p:nvSpPr>
          <p:cNvPr id="31" name="TextBox 30"/>
          <p:cNvSpPr txBox="1"/>
          <p:nvPr/>
        </p:nvSpPr>
        <p:spPr>
          <a:xfrm>
            <a:off x="457200" y="3218688"/>
            <a:ext cx="8229600" cy="1005840"/>
          </a:xfrm>
          <a:prstGeom prst="rect">
            <a:avLst/>
          </a:prstGeom>
          <a:noFill/>
        </p:spPr>
        <p:txBody>
          <a:bodyPr wrap="square">
            <a:spAutoFit/>
          </a:bodyPr>
          <a:lstStyle/>
          <a:p>
            <a:pPr algn="l">
              <a:lnSpc>
                <a:spcPct val="118000"/>
              </a:lnSpc>
            </a:pPr>
            <a:r>
              <a:rPr sz="1700" b="0">
                <a:solidFill>
                  <a:srgbClr val="2D2D2D"/>
                </a:solidFill>
                <a:latin typeface="Arial"/>
              </a:rPr>
              <a:t>The margin is not optional. Without one, error rises 65 percent and a quarter of</a:t>
            </a:r>
          </a:p>
          <a:p>
            <a:pPr algn="l">
              <a:lnSpc>
                <a:spcPct val="118000"/>
              </a:lnSpc>
            </a:pPr>
            <a:r>
              <a:rPr sz="1700" b="0">
                <a:solidFill>
                  <a:srgbClr val="2D2D2D"/>
                </a:solidFill>
                <a:latin typeface="Arial"/>
              </a:rPr>
              <a:t>large-motion pixels fail outright, because global matching loses the context it</a:t>
            </a:r>
          </a:p>
          <a:p>
            <a:pPr algn="l">
              <a:lnSpc>
                <a:spcPct val="118000"/>
              </a:lnSpc>
            </a:pPr>
            <a:r>
              <a:rPr sz="1700" b="0">
                <a:solidFill>
                  <a:srgbClr val="2D2D2D"/>
                </a:solidFill>
                <a:latin typeface="Arial"/>
              </a:rPr>
              <a:t>uses to locate distant correspondences.</a:t>
            </a:r>
          </a:p>
        </p:txBody>
      </p:sp>
      <p:sp>
        <p:nvSpPr>
          <p:cNvPr id="32" name="TextBox 31"/>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Applies to any network in this family, v2 included: a platform technique, not a property of the decoder.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13</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margin a region needs is set by motion,</a:t>
            </a:r>
          </a:p>
          <a:p>
            <a:pPr algn="l">
              <a:lnSpc>
                <a:spcPct val="105000"/>
              </a:lnSpc>
            </a:pPr>
            <a:r>
              <a:rPr sz="2400" b="1">
                <a:solidFill>
                  <a:srgbClr val="1F4E79"/>
                </a:solidFill>
                <a:latin typeface="Arial"/>
              </a:rPr>
              <a:t>not by image size</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rgin_rule.png"/>
          <p:cNvPicPr>
            <a:picLocks noChangeAspect="1"/>
          </p:cNvPicPr>
          <p:nvPr/>
        </p:nvPicPr>
        <p:blipFill>
          <a:blip r:embed="rId2"/>
          <a:stretch>
            <a:fillRect/>
          </a:stretch>
        </p:blipFill>
        <p:spPr>
          <a:xfrm>
            <a:off x="1280160" y="1353312"/>
            <a:ext cx="6583680" cy="2626840"/>
          </a:xfrm>
          <a:prstGeom prst="rect">
            <a:avLst/>
          </a:prstGeom>
        </p:spPr>
      </p:pic>
      <p:sp>
        <p:nvSpPr>
          <p:cNvPr id="6" name="Rounded Rectangle 5"/>
          <p:cNvSpPr/>
          <p:nvPr/>
        </p:nvSpPr>
        <p:spPr>
          <a:xfrm>
            <a:off x="457200" y="4059936"/>
            <a:ext cx="8229600" cy="566928"/>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Driving averages 26.6 px of motion and needs about 32 px of margin; aerial averages</a:t>
            </a:r>
          </a:p>
          <a:p>
            <a:pPr algn="ctr">
              <a:lnSpc>
                <a:spcPct val="106000"/>
              </a:lnSpc>
            </a:pPr>
            <a:r>
              <a:rPr sz="1600" b="0">
                <a:solidFill>
                  <a:srgbClr val="1F4E79"/>
                </a:solidFill>
                <a:latin typeface="Arial"/>
              </a:rPr>
              <a:t>9.26 px and needs about 8. Both shed most of the penalty by one frame of motion.</a:t>
            </a:r>
          </a:p>
        </p:txBody>
      </p:sp>
      <p:sp>
        <p:nvSpPr>
          <p:cNvPr id="7" name="TextBox 6"/>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Measured with the baseline network. Agreement holds to a ratio of one; residuals beyond that differ by scene.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14</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same three situations in the aerial</a:t>
            </a:r>
          </a:p>
          <a:p>
            <a:pPr algn="l">
              <a:lnSpc>
                <a:spcPct val="105000"/>
              </a:lnSpc>
            </a:pPr>
            <a:r>
              <a:rPr sz="2400" b="1">
                <a:solidFill>
                  <a:srgbClr val="1F4E79"/>
                </a:solidFill>
                <a:latin typeface="Arial"/>
              </a:rPr>
              <a:t>domain, where motion is three times smaller</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enarios_tartanair_tight.png"/>
          <p:cNvPicPr>
            <a:picLocks noChangeAspect="1"/>
          </p:cNvPicPr>
          <p:nvPr/>
        </p:nvPicPr>
        <p:blipFill>
          <a:blip r:embed="rId2"/>
          <a:stretch>
            <a:fillRect/>
          </a:stretch>
        </p:blipFill>
        <p:spPr>
          <a:xfrm>
            <a:off x="2926080" y="1316736"/>
            <a:ext cx="3291049" cy="3182112"/>
          </a:xfrm>
          <a:prstGeom prst="rect">
            <a:avLst/>
          </a:prstGeom>
        </p:spPr>
      </p:pic>
      <p:sp>
        <p:nvSpPr>
          <p:cNvPr id="6" name="TextBox 5"/>
          <p:cNvSpPr txBox="1"/>
          <p:nvPr/>
        </p:nvSpPr>
        <p:spPr>
          <a:xfrm>
            <a:off x="457200" y="4736592"/>
            <a:ext cx="8229600" cy="256032"/>
          </a:xfrm>
          <a:prstGeom prst="rect">
            <a:avLst/>
          </a:prstGeom>
          <a:noFill/>
        </p:spPr>
        <p:txBody>
          <a:bodyPr wrap="square">
            <a:spAutoFit/>
          </a:bodyPr>
          <a:lstStyle/>
          <a:p>
            <a:pPr algn="l">
              <a:lnSpc>
                <a:spcPct val="100000"/>
              </a:lnSpc>
            </a:pPr>
            <a:r>
              <a:rPr sz="1200" b="0">
                <a:solidFill>
                  <a:srgbClr val="777777"/>
                </a:solidFill>
                <a:latin typeface="Arial"/>
              </a:rPr>
              <a:t>TartanAir aerial sequences. Same region geometry as the driving figure; no model trained on this domain.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15</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On a domain neither model trained for,</a:t>
            </a:r>
          </a:p>
          <a:p>
            <a:pPr algn="l">
              <a:lnSpc>
                <a:spcPct val="105000"/>
              </a:lnSpc>
            </a:pPr>
            <a:r>
              <a:rPr sz="2400" b="1">
                <a:solidFill>
                  <a:srgbClr val="1F4E79"/>
                </a:solidFill>
                <a:latin typeface="Arial"/>
              </a:rPr>
              <a:t>v3 leads at all seven margin settings</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1554480" cy="224028"/>
          </a:xfrm>
          <a:prstGeom prst="rect">
            <a:avLst/>
          </a:prstGeom>
          <a:noFill/>
        </p:spPr>
        <p:txBody>
          <a:bodyPr wrap="square">
            <a:spAutoFit/>
          </a:bodyPr>
          <a:lstStyle/>
          <a:p>
            <a:pPr algn="l">
              <a:lnSpc>
                <a:spcPct val="100000"/>
              </a:lnSpc>
            </a:pPr>
            <a:r>
              <a:rPr sz="1600" b="1">
                <a:solidFill>
                  <a:srgbClr val="1F4E79"/>
                </a:solidFill>
                <a:latin typeface="Arial"/>
              </a:rPr>
              <a:t>Crop margin</a:t>
            </a:r>
          </a:p>
        </p:txBody>
      </p:sp>
      <p:sp>
        <p:nvSpPr>
          <p:cNvPr id="6" name="TextBox 5"/>
          <p:cNvSpPr txBox="1"/>
          <p:nvPr/>
        </p:nvSpPr>
        <p:spPr>
          <a:xfrm>
            <a:off x="2011680" y="1298448"/>
            <a:ext cx="1417320" cy="224028"/>
          </a:xfrm>
          <a:prstGeom prst="rect">
            <a:avLst/>
          </a:prstGeom>
          <a:noFill/>
        </p:spPr>
        <p:txBody>
          <a:bodyPr wrap="square">
            <a:spAutoFit/>
          </a:bodyPr>
          <a:lstStyle/>
          <a:p>
            <a:pPr algn="r">
              <a:lnSpc>
                <a:spcPct val="100000"/>
              </a:lnSpc>
            </a:pPr>
            <a:r>
              <a:rPr sz="1600" b="1">
                <a:solidFill>
                  <a:srgbClr val="1F4E79"/>
                </a:solidFill>
                <a:latin typeface="Arial"/>
              </a:rPr>
              <a:t>NeuFlow v2</a:t>
            </a:r>
          </a:p>
        </p:txBody>
      </p:sp>
      <p:sp>
        <p:nvSpPr>
          <p:cNvPr id="7" name="TextBox 6"/>
          <p:cNvSpPr txBox="1"/>
          <p:nvPr/>
        </p:nvSpPr>
        <p:spPr>
          <a:xfrm>
            <a:off x="3429000" y="1298448"/>
            <a:ext cx="1417320" cy="224028"/>
          </a:xfrm>
          <a:prstGeom prst="rect">
            <a:avLst/>
          </a:prstGeom>
          <a:noFill/>
        </p:spPr>
        <p:txBody>
          <a:bodyPr wrap="square">
            <a:spAutoFit/>
          </a:bodyPr>
          <a:lstStyle/>
          <a:p>
            <a:pPr algn="r">
              <a:lnSpc>
                <a:spcPct val="100000"/>
              </a:lnSpc>
            </a:pPr>
            <a:r>
              <a:rPr sz="1600" b="1">
                <a:solidFill>
                  <a:srgbClr val="1F4E79"/>
                </a:solidFill>
                <a:latin typeface="Arial"/>
              </a:rPr>
              <a:t>NeuFlow v3</a:t>
            </a:r>
          </a:p>
        </p:txBody>
      </p:sp>
      <p:sp>
        <p:nvSpPr>
          <p:cNvPr id="8" name="Rectangle 7"/>
          <p:cNvSpPr/>
          <p:nvPr/>
        </p:nvSpPr>
        <p:spPr>
          <a:xfrm>
            <a:off x="457200" y="1522476"/>
            <a:ext cx="438912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63624"/>
            <a:ext cx="1554480" cy="224028"/>
          </a:xfrm>
          <a:prstGeom prst="rect">
            <a:avLst/>
          </a:prstGeom>
          <a:noFill/>
        </p:spPr>
        <p:txBody>
          <a:bodyPr wrap="square">
            <a:spAutoFit/>
          </a:bodyPr>
          <a:lstStyle/>
          <a:p>
            <a:pPr algn="l">
              <a:lnSpc>
                <a:spcPct val="100000"/>
              </a:lnSpc>
            </a:pPr>
            <a:r>
              <a:rPr sz="1600" b="0">
                <a:solidFill>
                  <a:srgbClr val="2D2D2D"/>
                </a:solidFill>
                <a:latin typeface="Arial"/>
              </a:rPr>
              <a:t>full frame</a:t>
            </a:r>
          </a:p>
        </p:txBody>
      </p:sp>
      <p:sp>
        <p:nvSpPr>
          <p:cNvPr id="10" name="TextBox 9"/>
          <p:cNvSpPr txBox="1"/>
          <p:nvPr/>
        </p:nvSpPr>
        <p:spPr>
          <a:xfrm>
            <a:off x="2011680" y="1563624"/>
            <a:ext cx="1417320" cy="224028"/>
          </a:xfrm>
          <a:prstGeom prst="rect">
            <a:avLst/>
          </a:prstGeom>
          <a:noFill/>
        </p:spPr>
        <p:txBody>
          <a:bodyPr wrap="square">
            <a:spAutoFit/>
          </a:bodyPr>
          <a:lstStyle/>
          <a:p>
            <a:pPr algn="r">
              <a:lnSpc>
                <a:spcPct val="100000"/>
              </a:lnSpc>
            </a:pPr>
            <a:r>
              <a:rPr sz="1600" b="0">
                <a:solidFill>
                  <a:srgbClr val="2D2D2D"/>
                </a:solidFill>
                <a:latin typeface="Arial"/>
              </a:rPr>
              <a:t>0.781</a:t>
            </a:r>
          </a:p>
        </p:txBody>
      </p:sp>
      <p:sp>
        <p:nvSpPr>
          <p:cNvPr id="11" name="TextBox 10"/>
          <p:cNvSpPr txBox="1"/>
          <p:nvPr/>
        </p:nvSpPr>
        <p:spPr>
          <a:xfrm>
            <a:off x="3429000" y="1563624"/>
            <a:ext cx="1417320" cy="224028"/>
          </a:xfrm>
          <a:prstGeom prst="rect">
            <a:avLst/>
          </a:prstGeom>
          <a:noFill/>
        </p:spPr>
        <p:txBody>
          <a:bodyPr wrap="square">
            <a:spAutoFit/>
          </a:bodyPr>
          <a:lstStyle/>
          <a:p>
            <a:pPr algn="r">
              <a:lnSpc>
                <a:spcPct val="100000"/>
              </a:lnSpc>
            </a:pPr>
            <a:r>
              <a:rPr sz="1600" b="0">
                <a:solidFill>
                  <a:srgbClr val="2D2D2D"/>
                </a:solidFill>
                <a:latin typeface="Arial"/>
              </a:rPr>
              <a:t>0.777</a:t>
            </a:r>
          </a:p>
        </p:txBody>
      </p:sp>
      <p:sp>
        <p:nvSpPr>
          <p:cNvPr id="12" name="TextBox 11"/>
          <p:cNvSpPr txBox="1"/>
          <p:nvPr/>
        </p:nvSpPr>
        <p:spPr>
          <a:xfrm>
            <a:off x="457200" y="1828800"/>
            <a:ext cx="1554480" cy="224028"/>
          </a:xfrm>
          <a:prstGeom prst="rect">
            <a:avLst/>
          </a:prstGeom>
          <a:noFill/>
        </p:spPr>
        <p:txBody>
          <a:bodyPr wrap="square">
            <a:spAutoFit/>
          </a:bodyPr>
          <a:lstStyle/>
          <a:p>
            <a:pPr algn="l">
              <a:lnSpc>
                <a:spcPct val="100000"/>
              </a:lnSpc>
            </a:pPr>
            <a:r>
              <a:rPr sz="1600" b="0">
                <a:solidFill>
                  <a:srgbClr val="2D2D2D"/>
                </a:solidFill>
                <a:latin typeface="Arial"/>
              </a:rPr>
              <a:t>0 px</a:t>
            </a:r>
          </a:p>
        </p:txBody>
      </p:sp>
      <p:sp>
        <p:nvSpPr>
          <p:cNvPr id="13" name="TextBox 12"/>
          <p:cNvSpPr txBox="1"/>
          <p:nvPr/>
        </p:nvSpPr>
        <p:spPr>
          <a:xfrm>
            <a:off x="2011680" y="1828800"/>
            <a:ext cx="1417320" cy="224028"/>
          </a:xfrm>
          <a:prstGeom prst="rect">
            <a:avLst/>
          </a:prstGeom>
          <a:noFill/>
        </p:spPr>
        <p:txBody>
          <a:bodyPr wrap="square">
            <a:spAutoFit/>
          </a:bodyPr>
          <a:lstStyle/>
          <a:p>
            <a:pPr algn="r">
              <a:lnSpc>
                <a:spcPct val="100000"/>
              </a:lnSpc>
            </a:pPr>
            <a:r>
              <a:rPr sz="1600" b="0">
                <a:solidFill>
                  <a:srgbClr val="2D2D2D"/>
                </a:solidFill>
                <a:latin typeface="Arial"/>
              </a:rPr>
              <a:t>1.205</a:t>
            </a:r>
          </a:p>
        </p:txBody>
      </p:sp>
      <p:sp>
        <p:nvSpPr>
          <p:cNvPr id="14" name="TextBox 13"/>
          <p:cNvSpPr txBox="1"/>
          <p:nvPr/>
        </p:nvSpPr>
        <p:spPr>
          <a:xfrm>
            <a:off x="3429000" y="1828800"/>
            <a:ext cx="1417320" cy="224028"/>
          </a:xfrm>
          <a:prstGeom prst="rect">
            <a:avLst/>
          </a:prstGeom>
          <a:noFill/>
        </p:spPr>
        <p:txBody>
          <a:bodyPr wrap="square">
            <a:spAutoFit/>
          </a:bodyPr>
          <a:lstStyle/>
          <a:p>
            <a:pPr algn="r">
              <a:lnSpc>
                <a:spcPct val="100000"/>
              </a:lnSpc>
            </a:pPr>
            <a:r>
              <a:rPr sz="1600" b="0">
                <a:solidFill>
                  <a:srgbClr val="2D2D2D"/>
                </a:solidFill>
                <a:latin typeface="Arial"/>
              </a:rPr>
              <a:t>1.176</a:t>
            </a:r>
          </a:p>
        </p:txBody>
      </p:sp>
      <p:sp>
        <p:nvSpPr>
          <p:cNvPr id="15" name="TextBox 14"/>
          <p:cNvSpPr txBox="1"/>
          <p:nvPr/>
        </p:nvSpPr>
        <p:spPr>
          <a:xfrm>
            <a:off x="457200" y="2093976"/>
            <a:ext cx="1554480" cy="224028"/>
          </a:xfrm>
          <a:prstGeom prst="rect">
            <a:avLst/>
          </a:prstGeom>
          <a:noFill/>
        </p:spPr>
        <p:txBody>
          <a:bodyPr wrap="square">
            <a:spAutoFit/>
          </a:bodyPr>
          <a:lstStyle/>
          <a:p>
            <a:pPr algn="l">
              <a:lnSpc>
                <a:spcPct val="100000"/>
              </a:lnSpc>
            </a:pPr>
            <a:r>
              <a:rPr sz="1600" b="0">
                <a:solidFill>
                  <a:srgbClr val="2D2D2D"/>
                </a:solidFill>
                <a:latin typeface="Arial"/>
              </a:rPr>
              <a:t>8 px</a:t>
            </a:r>
          </a:p>
        </p:txBody>
      </p:sp>
      <p:sp>
        <p:nvSpPr>
          <p:cNvPr id="16" name="TextBox 15"/>
          <p:cNvSpPr txBox="1"/>
          <p:nvPr/>
        </p:nvSpPr>
        <p:spPr>
          <a:xfrm>
            <a:off x="2011680" y="2093976"/>
            <a:ext cx="1417320" cy="224028"/>
          </a:xfrm>
          <a:prstGeom prst="rect">
            <a:avLst/>
          </a:prstGeom>
          <a:noFill/>
        </p:spPr>
        <p:txBody>
          <a:bodyPr wrap="square">
            <a:spAutoFit/>
          </a:bodyPr>
          <a:lstStyle/>
          <a:p>
            <a:pPr algn="r">
              <a:lnSpc>
                <a:spcPct val="100000"/>
              </a:lnSpc>
            </a:pPr>
            <a:r>
              <a:rPr sz="1600" b="0">
                <a:solidFill>
                  <a:srgbClr val="2D2D2D"/>
                </a:solidFill>
                <a:latin typeface="Arial"/>
              </a:rPr>
              <a:t>0.901</a:t>
            </a:r>
          </a:p>
        </p:txBody>
      </p:sp>
      <p:sp>
        <p:nvSpPr>
          <p:cNvPr id="17" name="TextBox 16"/>
          <p:cNvSpPr txBox="1"/>
          <p:nvPr/>
        </p:nvSpPr>
        <p:spPr>
          <a:xfrm>
            <a:off x="3429000" y="2093976"/>
            <a:ext cx="1417320" cy="224028"/>
          </a:xfrm>
          <a:prstGeom prst="rect">
            <a:avLst/>
          </a:prstGeom>
          <a:noFill/>
        </p:spPr>
        <p:txBody>
          <a:bodyPr wrap="square">
            <a:spAutoFit/>
          </a:bodyPr>
          <a:lstStyle/>
          <a:p>
            <a:pPr algn="r">
              <a:lnSpc>
                <a:spcPct val="100000"/>
              </a:lnSpc>
            </a:pPr>
            <a:r>
              <a:rPr sz="1600" b="0">
                <a:solidFill>
                  <a:srgbClr val="2D2D2D"/>
                </a:solidFill>
                <a:latin typeface="Arial"/>
              </a:rPr>
              <a:t>0.881</a:t>
            </a:r>
          </a:p>
        </p:txBody>
      </p:sp>
      <p:sp>
        <p:nvSpPr>
          <p:cNvPr id="18" name="TextBox 17"/>
          <p:cNvSpPr txBox="1"/>
          <p:nvPr/>
        </p:nvSpPr>
        <p:spPr>
          <a:xfrm>
            <a:off x="457200" y="2359152"/>
            <a:ext cx="1554480" cy="224028"/>
          </a:xfrm>
          <a:prstGeom prst="rect">
            <a:avLst/>
          </a:prstGeom>
          <a:noFill/>
        </p:spPr>
        <p:txBody>
          <a:bodyPr wrap="square">
            <a:spAutoFit/>
          </a:bodyPr>
          <a:lstStyle/>
          <a:p>
            <a:pPr algn="l">
              <a:lnSpc>
                <a:spcPct val="100000"/>
              </a:lnSpc>
            </a:pPr>
            <a:r>
              <a:rPr sz="1600" b="0">
                <a:solidFill>
                  <a:srgbClr val="2D2D2D"/>
                </a:solidFill>
                <a:latin typeface="Arial"/>
              </a:rPr>
              <a:t>16 px</a:t>
            </a:r>
          </a:p>
        </p:txBody>
      </p:sp>
      <p:sp>
        <p:nvSpPr>
          <p:cNvPr id="19" name="TextBox 18"/>
          <p:cNvSpPr txBox="1"/>
          <p:nvPr/>
        </p:nvSpPr>
        <p:spPr>
          <a:xfrm>
            <a:off x="2011680" y="2359152"/>
            <a:ext cx="1417320" cy="224028"/>
          </a:xfrm>
          <a:prstGeom prst="rect">
            <a:avLst/>
          </a:prstGeom>
          <a:noFill/>
        </p:spPr>
        <p:txBody>
          <a:bodyPr wrap="square">
            <a:spAutoFit/>
          </a:bodyPr>
          <a:lstStyle/>
          <a:p>
            <a:pPr algn="r">
              <a:lnSpc>
                <a:spcPct val="100000"/>
              </a:lnSpc>
            </a:pPr>
            <a:r>
              <a:rPr sz="1600" b="0">
                <a:solidFill>
                  <a:srgbClr val="2D2D2D"/>
                </a:solidFill>
                <a:latin typeface="Arial"/>
              </a:rPr>
              <a:t>0.872</a:t>
            </a:r>
          </a:p>
        </p:txBody>
      </p:sp>
      <p:sp>
        <p:nvSpPr>
          <p:cNvPr id="20" name="TextBox 19"/>
          <p:cNvSpPr txBox="1"/>
          <p:nvPr/>
        </p:nvSpPr>
        <p:spPr>
          <a:xfrm>
            <a:off x="3429000" y="2359152"/>
            <a:ext cx="1417320" cy="224028"/>
          </a:xfrm>
          <a:prstGeom prst="rect">
            <a:avLst/>
          </a:prstGeom>
          <a:noFill/>
        </p:spPr>
        <p:txBody>
          <a:bodyPr wrap="square">
            <a:spAutoFit/>
          </a:bodyPr>
          <a:lstStyle/>
          <a:p>
            <a:pPr algn="r">
              <a:lnSpc>
                <a:spcPct val="100000"/>
              </a:lnSpc>
            </a:pPr>
            <a:r>
              <a:rPr sz="1600" b="0">
                <a:solidFill>
                  <a:srgbClr val="2D2D2D"/>
                </a:solidFill>
                <a:latin typeface="Arial"/>
              </a:rPr>
              <a:t>0.865</a:t>
            </a:r>
          </a:p>
        </p:txBody>
      </p:sp>
      <p:sp>
        <p:nvSpPr>
          <p:cNvPr id="21" name="TextBox 20"/>
          <p:cNvSpPr txBox="1"/>
          <p:nvPr/>
        </p:nvSpPr>
        <p:spPr>
          <a:xfrm>
            <a:off x="457200" y="2624328"/>
            <a:ext cx="1554480" cy="224028"/>
          </a:xfrm>
          <a:prstGeom prst="rect">
            <a:avLst/>
          </a:prstGeom>
          <a:noFill/>
        </p:spPr>
        <p:txBody>
          <a:bodyPr wrap="square">
            <a:spAutoFit/>
          </a:bodyPr>
          <a:lstStyle/>
          <a:p>
            <a:pPr algn="l">
              <a:lnSpc>
                <a:spcPct val="100000"/>
              </a:lnSpc>
            </a:pPr>
            <a:r>
              <a:rPr sz="1600" b="0">
                <a:solidFill>
                  <a:srgbClr val="2D2D2D"/>
                </a:solidFill>
                <a:latin typeface="Arial"/>
              </a:rPr>
              <a:t>24 px</a:t>
            </a:r>
          </a:p>
        </p:txBody>
      </p:sp>
      <p:sp>
        <p:nvSpPr>
          <p:cNvPr id="22" name="TextBox 21"/>
          <p:cNvSpPr txBox="1"/>
          <p:nvPr/>
        </p:nvSpPr>
        <p:spPr>
          <a:xfrm>
            <a:off x="2011680" y="2624328"/>
            <a:ext cx="1417320" cy="224028"/>
          </a:xfrm>
          <a:prstGeom prst="rect">
            <a:avLst/>
          </a:prstGeom>
          <a:noFill/>
        </p:spPr>
        <p:txBody>
          <a:bodyPr wrap="square">
            <a:spAutoFit/>
          </a:bodyPr>
          <a:lstStyle/>
          <a:p>
            <a:pPr algn="r">
              <a:lnSpc>
                <a:spcPct val="100000"/>
              </a:lnSpc>
            </a:pPr>
            <a:r>
              <a:rPr sz="1600" b="0">
                <a:solidFill>
                  <a:srgbClr val="2D2D2D"/>
                </a:solidFill>
                <a:latin typeface="Arial"/>
              </a:rPr>
              <a:t>0.879</a:t>
            </a:r>
          </a:p>
        </p:txBody>
      </p:sp>
      <p:sp>
        <p:nvSpPr>
          <p:cNvPr id="23" name="TextBox 22"/>
          <p:cNvSpPr txBox="1"/>
          <p:nvPr/>
        </p:nvSpPr>
        <p:spPr>
          <a:xfrm>
            <a:off x="3429000" y="2624328"/>
            <a:ext cx="1417320" cy="224028"/>
          </a:xfrm>
          <a:prstGeom prst="rect">
            <a:avLst/>
          </a:prstGeom>
          <a:noFill/>
        </p:spPr>
        <p:txBody>
          <a:bodyPr wrap="square">
            <a:spAutoFit/>
          </a:bodyPr>
          <a:lstStyle/>
          <a:p>
            <a:pPr algn="r">
              <a:lnSpc>
                <a:spcPct val="100000"/>
              </a:lnSpc>
            </a:pPr>
            <a:r>
              <a:rPr sz="1600" b="0">
                <a:solidFill>
                  <a:srgbClr val="2D2D2D"/>
                </a:solidFill>
                <a:latin typeface="Arial"/>
              </a:rPr>
              <a:t>0.854</a:t>
            </a:r>
          </a:p>
        </p:txBody>
      </p:sp>
      <p:sp>
        <p:nvSpPr>
          <p:cNvPr id="24" name="TextBox 23"/>
          <p:cNvSpPr txBox="1"/>
          <p:nvPr/>
        </p:nvSpPr>
        <p:spPr>
          <a:xfrm>
            <a:off x="457200" y="2889504"/>
            <a:ext cx="1554480" cy="224028"/>
          </a:xfrm>
          <a:prstGeom prst="rect">
            <a:avLst/>
          </a:prstGeom>
          <a:noFill/>
        </p:spPr>
        <p:txBody>
          <a:bodyPr wrap="square">
            <a:spAutoFit/>
          </a:bodyPr>
          <a:lstStyle/>
          <a:p>
            <a:pPr algn="l">
              <a:lnSpc>
                <a:spcPct val="100000"/>
              </a:lnSpc>
            </a:pPr>
            <a:r>
              <a:rPr sz="1600" b="0">
                <a:solidFill>
                  <a:srgbClr val="2D2D2D"/>
                </a:solidFill>
                <a:latin typeface="Arial"/>
              </a:rPr>
              <a:t>32 px</a:t>
            </a:r>
          </a:p>
        </p:txBody>
      </p:sp>
      <p:sp>
        <p:nvSpPr>
          <p:cNvPr id="25" name="TextBox 24"/>
          <p:cNvSpPr txBox="1"/>
          <p:nvPr/>
        </p:nvSpPr>
        <p:spPr>
          <a:xfrm>
            <a:off x="2011680" y="2889504"/>
            <a:ext cx="1417320" cy="224028"/>
          </a:xfrm>
          <a:prstGeom prst="rect">
            <a:avLst/>
          </a:prstGeom>
          <a:noFill/>
        </p:spPr>
        <p:txBody>
          <a:bodyPr wrap="square">
            <a:spAutoFit/>
          </a:bodyPr>
          <a:lstStyle/>
          <a:p>
            <a:pPr algn="r">
              <a:lnSpc>
                <a:spcPct val="100000"/>
              </a:lnSpc>
            </a:pPr>
            <a:r>
              <a:rPr sz="1600" b="0">
                <a:solidFill>
                  <a:srgbClr val="2D2D2D"/>
                </a:solidFill>
                <a:latin typeface="Arial"/>
              </a:rPr>
              <a:t>0.834</a:t>
            </a:r>
          </a:p>
        </p:txBody>
      </p:sp>
      <p:sp>
        <p:nvSpPr>
          <p:cNvPr id="26" name="TextBox 25"/>
          <p:cNvSpPr txBox="1"/>
          <p:nvPr/>
        </p:nvSpPr>
        <p:spPr>
          <a:xfrm>
            <a:off x="3429000" y="2889504"/>
            <a:ext cx="1417320" cy="224028"/>
          </a:xfrm>
          <a:prstGeom prst="rect">
            <a:avLst/>
          </a:prstGeom>
          <a:noFill/>
        </p:spPr>
        <p:txBody>
          <a:bodyPr wrap="square">
            <a:spAutoFit/>
          </a:bodyPr>
          <a:lstStyle/>
          <a:p>
            <a:pPr algn="r">
              <a:lnSpc>
                <a:spcPct val="100000"/>
              </a:lnSpc>
            </a:pPr>
            <a:r>
              <a:rPr sz="1600" b="0">
                <a:solidFill>
                  <a:srgbClr val="2D2D2D"/>
                </a:solidFill>
                <a:latin typeface="Arial"/>
              </a:rPr>
              <a:t>0.814</a:t>
            </a:r>
          </a:p>
        </p:txBody>
      </p:sp>
      <p:sp>
        <p:nvSpPr>
          <p:cNvPr id="27" name="TextBox 26"/>
          <p:cNvSpPr txBox="1"/>
          <p:nvPr/>
        </p:nvSpPr>
        <p:spPr>
          <a:xfrm>
            <a:off x="457200" y="3154680"/>
            <a:ext cx="1554480" cy="224028"/>
          </a:xfrm>
          <a:prstGeom prst="rect">
            <a:avLst/>
          </a:prstGeom>
          <a:noFill/>
        </p:spPr>
        <p:txBody>
          <a:bodyPr wrap="square">
            <a:spAutoFit/>
          </a:bodyPr>
          <a:lstStyle/>
          <a:p>
            <a:pPr algn="l">
              <a:lnSpc>
                <a:spcPct val="100000"/>
              </a:lnSpc>
            </a:pPr>
            <a:r>
              <a:rPr sz="1600" b="0">
                <a:solidFill>
                  <a:srgbClr val="2D2D2D"/>
                </a:solidFill>
                <a:latin typeface="Arial"/>
              </a:rPr>
              <a:t>64 px</a:t>
            </a:r>
          </a:p>
        </p:txBody>
      </p:sp>
      <p:sp>
        <p:nvSpPr>
          <p:cNvPr id="28" name="TextBox 27"/>
          <p:cNvSpPr txBox="1"/>
          <p:nvPr/>
        </p:nvSpPr>
        <p:spPr>
          <a:xfrm>
            <a:off x="2011680" y="3154680"/>
            <a:ext cx="1417320" cy="224028"/>
          </a:xfrm>
          <a:prstGeom prst="rect">
            <a:avLst/>
          </a:prstGeom>
          <a:noFill/>
        </p:spPr>
        <p:txBody>
          <a:bodyPr wrap="square">
            <a:spAutoFit/>
          </a:bodyPr>
          <a:lstStyle/>
          <a:p>
            <a:pPr algn="r">
              <a:lnSpc>
                <a:spcPct val="100000"/>
              </a:lnSpc>
            </a:pPr>
            <a:r>
              <a:rPr sz="1600" b="0">
                <a:solidFill>
                  <a:srgbClr val="2D2D2D"/>
                </a:solidFill>
                <a:latin typeface="Arial"/>
              </a:rPr>
              <a:t>0.793</a:t>
            </a:r>
          </a:p>
        </p:txBody>
      </p:sp>
      <p:sp>
        <p:nvSpPr>
          <p:cNvPr id="29" name="TextBox 28"/>
          <p:cNvSpPr txBox="1"/>
          <p:nvPr/>
        </p:nvSpPr>
        <p:spPr>
          <a:xfrm>
            <a:off x="3429000" y="3154680"/>
            <a:ext cx="1417320" cy="224028"/>
          </a:xfrm>
          <a:prstGeom prst="rect">
            <a:avLst/>
          </a:prstGeom>
          <a:noFill/>
        </p:spPr>
        <p:txBody>
          <a:bodyPr wrap="square">
            <a:spAutoFit/>
          </a:bodyPr>
          <a:lstStyle/>
          <a:p>
            <a:pPr algn="r">
              <a:lnSpc>
                <a:spcPct val="100000"/>
              </a:lnSpc>
            </a:pPr>
            <a:r>
              <a:rPr sz="1600" b="0">
                <a:solidFill>
                  <a:srgbClr val="2D2D2D"/>
                </a:solidFill>
                <a:latin typeface="Arial"/>
              </a:rPr>
              <a:t>0.778</a:t>
            </a:r>
          </a:p>
        </p:txBody>
      </p:sp>
      <p:sp>
        <p:nvSpPr>
          <p:cNvPr id="30" name="TextBox 29"/>
          <p:cNvSpPr txBox="1"/>
          <p:nvPr/>
        </p:nvSpPr>
        <p:spPr>
          <a:xfrm>
            <a:off x="5230368" y="1298448"/>
            <a:ext cx="3456432" cy="274320"/>
          </a:xfrm>
          <a:prstGeom prst="rect">
            <a:avLst/>
          </a:prstGeom>
          <a:noFill/>
        </p:spPr>
        <p:txBody>
          <a:bodyPr wrap="square">
            <a:spAutoFit/>
          </a:bodyPr>
          <a:lstStyle/>
          <a:p>
            <a:pPr algn="l">
              <a:lnSpc>
                <a:spcPct val="100000"/>
              </a:lnSpc>
            </a:pPr>
            <a:r>
              <a:rPr sz="1800" b="1">
                <a:solidFill>
                  <a:srgbClr val="2E75B6"/>
                </a:solidFill>
                <a:latin typeface="Arial"/>
              </a:rPr>
              <a:t>How much it counts</a:t>
            </a:r>
          </a:p>
        </p:txBody>
      </p:sp>
      <p:sp>
        <p:nvSpPr>
          <p:cNvPr id="31" name="TextBox 30"/>
          <p:cNvSpPr txBox="1"/>
          <p:nvPr/>
        </p:nvSpPr>
        <p:spPr>
          <a:xfrm>
            <a:off x="5230368" y="1664207"/>
            <a:ext cx="3456432" cy="2743200"/>
          </a:xfrm>
          <a:prstGeom prst="rect">
            <a:avLst/>
          </a:prstGeom>
          <a:noFill/>
        </p:spPr>
        <p:txBody>
          <a:bodyPr wrap="square">
            <a:spAutoFit/>
          </a:bodyPr>
          <a:lstStyle/>
          <a:p>
            <a:pPr>
              <a:lnSpc>
                <a:spcPct val="106000"/>
              </a:lnSpc>
              <a:spcAft>
                <a:spcPts val="1100"/>
              </a:spcAft>
            </a:pPr>
            <a:r>
              <a:rPr sz="1600" b="0">
                <a:solidFill>
                  <a:srgbClr val="2D2D2D"/>
                </a:solidFill>
                <a:latin typeface="Arial"/>
              </a:rPr>
              <a:t>The only unconfounded comparison here: every other table is on a domain v3 trained on.</a:t>
            </a:r>
          </a:p>
          <a:p>
            <a:pPr>
              <a:lnSpc>
                <a:spcPct val="106000"/>
              </a:lnSpc>
              <a:spcAft>
                <a:spcPts val="1100"/>
              </a:spcAft>
            </a:pPr>
            <a:r>
              <a:rPr sz="1600" b="0">
                <a:solidFill>
                  <a:srgbClr val="2D2D2D"/>
                </a:solidFill>
                <a:latin typeface="Arial"/>
              </a:rPr>
              <a:t>Consistent rather than large: 0.004 to 0.029 px, 40 pairs, one seed.</a:t>
            </a:r>
          </a:p>
          <a:p>
            <a:pPr>
              <a:lnSpc>
                <a:spcPct val="106000"/>
              </a:lnSpc>
              <a:spcAft>
                <a:spcPts val="1100"/>
              </a:spcAft>
            </a:pPr>
            <a:r>
              <a:rPr sz="1600" b="0">
                <a:solidFill>
                  <a:srgbClr val="2D2D2D"/>
                </a:solidFill>
                <a:latin typeface="Arial"/>
              </a:rPr>
              <a:t>v3 is still worse on large-motion failures, 7.2% against 6.5%.</a:t>
            </a:r>
          </a:p>
        </p:txBody>
      </p:sp>
      <p:sp>
        <p:nvSpPr>
          <p:cNvPr id="32" name="TextBox 31"/>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Mean end-point error, px. v2 trained on FlyingThings; v3 on FlyingChairs, VKITTI 2 and Sintel.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16</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A region discovered mid-frame costs 1.7 ms,</a:t>
            </a:r>
          </a:p>
          <a:p>
            <a:pPr algn="l">
              <a:lnSpc>
                <a:spcPct val="105000"/>
              </a:lnSpc>
            </a:pPr>
            <a:r>
              <a:rPr sz="2400" b="1">
                <a:solidFill>
                  <a:srgbClr val="1F4E79"/>
                </a:solidFill>
                <a:latin typeface="Arial"/>
              </a:rPr>
              <a:t>against 7.3 ms for a fresh crop</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enario3_marginal.png"/>
          <p:cNvPicPr>
            <a:picLocks noChangeAspect="1"/>
          </p:cNvPicPr>
          <p:nvPr/>
        </p:nvPicPr>
        <p:blipFill>
          <a:blip r:embed="rId2"/>
          <a:stretch>
            <a:fillRect/>
          </a:stretch>
        </p:blipFill>
        <p:spPr>
          <a:xfrm>
            <a:off x="1280160" y="1353312"/>
            <a:ext cx="6583680" cy="2623904"/>
          </a:xfrm>
          <a:prstGeom prst="rect">
            <a:avLst/>
          </a:prstGeom>
        </p:spPr>
      </p:pic>
      <p:sp>
        <p:nvSpPr>
          <p:cNvPr id="6" name="Rounded Rectangle 5"/>
          <p:cNvSpPr/>
          <p:nvPr/>
        </p:nvSpPr>
        <p:spPr>
          <a:xfrm>
            <a:off x="457200" y="4059936"/>
            <a:ext cx="8229600" cy="566928"/>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The cached coarse state answers a question the platform did not have when the frame</a:t>
            </a:r>
          </a:p>
          <a:p>
            <a:pPr algn="ctr">
              <a:lnSpc>
                <a:spcPct val="106000"/>
              </a:lnSpc>
            </a:pPr>
            <a:r>
              <a:rPr sz="1600" b="0">
                <a:solidFill>
                  <a:srgbClr val="1F4E79"/>
                </a:solidFill>
                <a:latin typeface="Arial"/>
              </a:rPr>
              <a:t>arrived. A cropped pipeline must run a whole new pass, and is less accurate doing it.</a:t>
            </a:r>
          </a:p>
        </p:txBody>
      </p:sp>
      <p:sp>
        <p:nvSpPr>
          <p:cNvPr id="7" name="TextBox 6"/>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Two disjoint crops cost more than one full frame, giving a simple policy: crop once, or not at 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17</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decoder earns its place when the</a:t>
            </a:r>
          </a:p>
          <a:p>
            <a:pPr algn="l">
              <a:lnSpc>
                <a:spcPct val="105000"/>
              </a:lnSpc>
            </a:pPr>
            <a:r>
              <a:rPr sz="2400" b="1">
                <a:solidFill>
                  <a:srgbClr val="1F4E79"/>
                </a:solidFill>
                <a:latin typeface="Arial"/>
              </a:rPr>
              <a:t>consumer chooses its own points</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4023360" cy="274320"/>
          </a:xfrm>
          <a:prstGeom prst="rect">
            <a:avLst/>
          </a:prstGeom>
          <a:noFill/>
        </p:spPr>
        <p:txBody>
          <a:bodyPr wrap="square">
            <a:spAutoFit/>
          </a:bodyPr>
          <a:lstStyle/>
          <a:p>
            <a:pPr algn="l">
              <a:lnSpc>
                <a:spcPct val="100000"/>
              </a:lnSpc>
            </a:pPr>
            <a:r>
              <a:rPr sz="1800" b="1">
                <a:solidFill>
                  <a:srgbClr val="2E75B6"/>
                </a:solidFill>
                <a:latin typeface="Arial"/>
              </a:rPr>
              <a:t>Use the decoder when</a:t>
            </a:r>
          </a:p>
        </p:txBody>
      </p:sp>
      <p:sp>
        <p:nvSpPr>
          <p:cNvPr id="6" name="TextBox 5"/>
          <p:cNvSpPr txBox="1"/>
          <p:nvPr/>
        </p:nvSpPr>
        <p:spPr>
          <a:xfrm>
            <a:off x="457200" y="1664207"/>
            <a:ext cx="4023360" cy="2194560"/>
          </a:xfrm>
          <a:prstGeom prst="rect">
            <a:avLst/>
          </a:prstGeom>
          <a:noFill/>
        </p:spPr>
        <p:txBody>
          <a:bodyPr wrap="square">
            <a:spAutoFit/>
          </a:bodyPr>
          <a:lstStyle/>
          <a:p>
            <a:pPr>
              <a:lnSpc>
                <a:spcPct val="106000"/>
              </a:lnSpc>
              <a:spcAft>
                <a:spcPts val="1100"/>
              </a:spcAft>
            </a:pPr>
            <a:r>
              <a:rPr sz="1800" b="0">
                <a:solidFill>
                  <a:srgbClr val="2D2D2D"/>
                </a:solidFill>
                <a:latin typeface="Arial"/>
              </a:rPr>
              <a:t>The consumer selects its own query points.</a:t>
            </a:r>
          </a:p>
          <a:p>
            <a:pPr>
              <a:lnSpc>
                <a:spcPct val="106000"/>
              </a:lnSpc>
              <a:spcAft>
                <a:spcPts val="1100"/>
              </a:spcAft>
            </a:pPr>
            <a:r>
              <a:rPr sz="1800" b="0">
                <a:solidFill>
                  <a:srgbClr val="2D2D2D"/>
                </a:solidFill>
                <a:latin typeface="Arial"/>
              </a:rPr>
              <a:t>A frame is revisited after processing.</a:t>
            </a:r>
          </a:p>
          <a:p>
            <a:pPr>
              <a:lnSpc>
                <a:spcPct val="106000"/>
              </a:lnSpc>
              <a:spcAft>
                <a:spcPts val="1100"/>
              </a:spcAft>
            </a:pPr>
            <a:r>
              <a:rPr sz="1800" b="0">
                <a:solidFill>
                  <a:srgbClr val="2D2D2D"/>
                </a:solidFill>
                <a:latin typeface="Arial"/>
              </a:rPr>
              <a:t>Each correspondence needs a confidence value.</a:t>
            </a:r>
          </a:p>
        </p:txBody>
      </p:sp>
      <p:sp>
        <p:nvSpPr>
          <p:cNvPr id="7" name="TextBox 6"/>
          <p:cNvSpPr txBox="1"/>
          <p:nvPr/>
        </p:nvSpPr>
        <p:spPr>
          <a:xfrm>
            <a:off x="4892040" y="1298448"/>
            <a:ext cx="3794760" cy="274320"/>
          </a:xfrm>
          <a:prstGeom prst="rect">
            <a:avLst/>
          </a:prstGeom>
          <a:noFill/>
        </p:spPr>
        <p:txBody>
          <a:bodyPr wrap="square">
            <a:spAutoFit/>
          </a:bodyPr>
          <a:lstStyle/>
          <a:p>
            <a:pPr algn="l">
              <a:lnSpc>
                <a:spcPct val="100000"/>
              </a:lnSpc>
            </a:pPr>
            <a:r>
              <a:rPr sz="1800" b="1">
                <a:solidFill>
                  <a:srgbClr val="2E75B6"/>
                </a:solidFill>
                <a:latin typeface="Arial"/>
              </a:rPr>
              <a:t>Use the baseline when</a:t>
            </a:r>
          </a:p>
        </p:txBody>
      </p:sp>
      <p:sp>
        <p:nvSpPr>
          <p:cNvPr id="8" name="TextBox 7"/>
          <p:cNvSpPr txBox="1"/>
          <p:nvPr/>
        </p:nvSpPr>
        <p:spPr>
          <a:xfrm>
            <a:off x="4892040" y="1664207"/>
            <a:ext cx="3794760" cy="2194560"/>
          </a:xfrm>
          <a:prstGeom prst="rect">
            <a:avLst/>
          </a:prstGeom>
          <a:noFill/>
        </p:spPr>
        <p:txBody>
          <a:bodyPr wrap="square">
            <a:spAutoFit/>
          </a:bodyPr>
          <a:lstStyle/>
          <a:p>
            <a:pPr>
              <a:lnSpc>
                <a:spcPct val="106000"/>
              </a:lnSpc>
              <a:spcAft>
                <a:spcPts val="1100"/>
              </a:spcAft>
            </a:pPr>
            <a:r>
              <a:rPr sz="1800" b="0">
                <a:solidFill>
                  <a:srgbClr val="2D2D2D"/>
                </a:solidFill>
                <a:latin typeface="Arial"/>
              </a:rPr>
              <a:t>One complete dense field per frame is consumed.</a:t>
            </a:r>
          </a:p>
          <a:p>
            <a:pPr>
              <a:lnSpc>
                <a:spcPct val="106000"/>
              </a:lnSpc>
              <a:spcAft>
                <a:spcPts val="1100"/>
              </a:spcAft>
            </a:pPr>
            <a:r>
              <a:rPr sz="1800" b="0">
                <a:solidFill>
                  <a:srgbClr val="2D2D2D"/>
                </a:solidFill>
                <a:latin typeface="Arial"/>
              </a:rPr>
              <a:t>Nothing else is needed: v2 is more accurate and 10% faster there.</a:t>
            </a:r>
          </a:p>
        </p:txBody>
      </p:sp>
      <p:sp>
        <p:nvSpPr>
          <p:cNvPr id="9" name="Rounded Rectangle 8"/>
          <p:cNvSpPr/>
          <p:nvPr/>
        </p:nvSpPr>
        <p:spPr>
          <a:xfrm>
            <a:off x="457200" y="3822191"/>
            <a:ext cx="8229600" cy="658368"/>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Selective prediction reframes the comparison: mean error over all pixels is the metric</a:t>
            </a:r>
          </a:p>
          <a:p>
            <a:pPr algn="ctr">
              <a:lnSpc>
                <a:spcPct val="106000"/>
              </a:lnSpc>
            </a:pPr>
            <a:r>
              <a:rPr sz="1600" b="0">
                <a:solidFill>
                  <a:srgbClr val="1F4E79"/>
                </a:solidFill>
                <a:latin typeface="Arial"/>
              </a:rPr>
              <a:t>the decoder loses on, and the only one a model without confidence can report.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18</a:t>
            </a:r>
          </a:p>
        </p:txBody>
      </p:sp>
      <p:sp>
        <p:nvSpPr>
          <p:cNvPr id="3" name="TextBox 2"/>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accuracy gap has a single cause, and</a:t>
            </a:r>
          </a:p>
          <a:p>
            <a:pPr algn="l">
              <a:lnSpc>
                <a:spcPct val="105000"/>
              </a:lnSpc>
            </a:pPr>
            <a:r>
              <a:rPr sz="2400" b="1">
                <a:solidFill>
                  <a:srgbClr val="1F4E79"/>
                </a:solidFill>
                <a:latin typeface="Arial"/>
              </a:rPr>
              <a:t>three experiments converge on it</a:t>
            </a:r>
          </a:p>
        </p:txBody>
      </p:sp>
      <p:sp>
        <p:nvSpPr>
          <p:cNvPr id="4" name="Rectangle 3"/>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8229600" cy="2468880"/>
          </a:xfrm>
          <a:prstGeom prst="rect">
            <a:avLst/>
          </a:prstGeom>
          <a:noFill/>
        </p:spPr>
        <p:txBody>
          <a:bodyPr wrap="square">
            <a:spAutoFit/>
          </a:bodyPr>
          <a:lstStyle/>
          <a:p>
            <a:pPr>
              <a:lnSpc>
                <a:spcPct val="106000"/>
              </a:lnSpc>
              <a:spcAft>
                <a:spcPts val="900"/>
              </a:spcAft>
            </a:pPr>
            <a:r>
              <a:rPr sz="1600" b="1">
                <a:solidFill>
                  <a:srgbClr val="2D2D2D"/>
                </a:solidFill>
                <a:latin typeface="Arial"/>
              </a:rPr>
              <a:t>Accuracy. </a:t>
            </a:r>
            <a:r>
              <a:rPr sz="1600" b="0">
                <a:solidFill>
                  <a:srgbClr val="2D2D2D"/>
                </a:solidFill>
                <a:latin typeface="Arial"/>
              </a:rPr>
              <a:t>The decoder’s finest input is 1/8 resolution; the upsampler it replaces reads the full-resolution frame.</a:t>
            </a:r>
          </a:p>
          <a:p>
            <a:pPr>
              <a:lnSpc>
                <a:spcPct val="106000"/>
              </a:lnSpc>
              <a:spcAft>
                <a:spcPts val="900"/>
              </a:spcAft>
            </a:pPr>
            <a:r>
              <a:rPr sz="1600" b="1">
                <a:solidFill>
                  <a:srgbClr val="2D2D2D"/>
                </a:solidFill>
                <a:latin typeface="Arial"/>
              </a:rPr>
              <a:t>Sub-pixel querying. </a:t>
            </a:r>
            <a:r>
              <a:rPr sz="1600" b="0">
                <a:solidFill>
                  <a:srgbClr val="2D2D2D"/>
                </a:solidFill>
                <a:latin typeface="Arial"/>
              </a:rPr>
              <a:t>For the same reason, evaluation between pixels is presently closer to interpolation than inference.</a:t>
            </a:r>
          </a:p>
          <a:p>
            <a:pPr>
              <a:lnSpc>
                <a:spcPct val="106000"/>
              </a:lnSpc>
              <a:spcAft>
                <a:spcPts val="900"/>
              </a:spcAft>
            </a:pPr>
            <a:r>
              <a:rPr sz="1600" b="1">
                <a:solidFill>
                  <a:srgbClr val="2D2D2D"/>
                </a:solidFill>
                <a:latin typeface="Arial"/>
              </a:rPr>
              <a:t>Embedded validation. </a:t>
            </a:r>
            <a:r>
              <a:rPr sz="1600" b="0">
                <a:solidFill>
                  <a:srgbClr val="2D2D2D"/>
                </a:solidFill>
                <a:latin typeface="Arial"/>
              </a:rPr>
              <a:t>All latency is from a laptop GPU; the edge premise is a design target, not a result.</a:t>
            </a:r>
          </a:p>
          <a:p>
            <a:pPr>
              <a:lnSpc>
                <a:spcPct val="106000"/>
              </a:lnSpc>
              <a:spcAft>
                <a:spcPts val="900"/>
              </a:spcAft>
            </a:pPr>
            <a:r>
              <a:rPr sz="1600" b="1">
                <a:solidFill>
                  <a:srgbClr val="2D2D2D"/>
                </a:solidFill>
                <a:latin typeface="Arial"/>
              </a:rPr>
              <a:t>Statistical resolution. </a:t>
            </a:r>
            <a:r>
              <a:rPr sz="1600" b="0">
                <a:solidFill>
                  <a:srgbClr val="2D2D2D"/>
                </a:solidFill>
                <a:latin typeface="Arial"/>
              </a:rPr>
              <a:t>One seed per configuration; differences below ~0.05 px are not resolved.</a:t>
            </a:r>
          </a:p>
        </p:txBody>
      </p:sp>
      <p:sp>
        <p:nvSpPr>
          <p:cNvPr id="6" name="Rounded Rectangle 5"/>
          <p:cNvSpPr/>
          <p:nvPr/>
        </p:nvSpPr>
        <p:spPr>
          <a:xfrm>
            <a:off x="457200" y="3858768"/>
            <a:ext cx="8229600" cy="64008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600" b="0">
                <a:solidFill>
                  <a:srgbClr val="1F4E79"/>
                </a:solidFill>
                <a:latin typeface="Arial"/>
              </a:rPr>
              <a:t>Three independent nulls point at the same mechanism: Fourier encoding, sub-pixel</a:t>
            </a:r>
          </a:p>
          <a:p>
            <a:pPr algn="ctr">
              <a:lnSpc>
                <a:spcPct val="106000"/>
              </a:lnSpc>
            </a:pPr>
            <a:r>
              <a:rPr sz="1600" b="0">
                <a:solidFill>
                  <a:srgbClr val="1F4E79"/>
                </a:solidFill>
                <a:latin typeface="Arial"/>
              </a:rPr>
              <a:t>querying, and reduced-resolution querying. The remedy is a full-resolution stem.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19</a:t>
            </a:r>
          </a:p>
        </p:txBody>
      </p:sp>
      <p:sp>
        <p:nvSpPr>
          <p:cNvPr id="3" name="TextBox 2"/>
          <p:cNvSpPr txBox="1"/>
          <p:nvPr/>
        </p:nvSpPr>
        <p:spPr>
          <a:xfrm>
            <a:off x="457200" y="237744"/>
            <a:ext cx="8229600" cy="457200"/>
          </a:xfrm>
          <a:prstGeom prst="rect">
            <a:avLst/>
          </a:prstGeom>
          <a:noFill/>
        </p:spPr>
        <p:txBody>
          <a:bodyPr wrap="square">
            <a:spAutoFit/>
          </a:bodyPr>
          <a:lstStyle/>
          <a:p>
            <a:pPr algn="l">
              <a:lnSpc>
                <a:spcPct val="100000"/>
              </a:lnSpc>
            </a:pPr>
            <a:r>
              <a:rPr sz="2400" b="1">
                <a:solidFill>
                  <a:srgbClr val="1F4E79"/>
                </a:solidFill>
                <a:latin typeface="Arial"/>
              </a:rPr>
              <a:t>Conclusions</a:t>
            </a:r>
          </a:p>
        </p:txBody>
      </p:sp>
      <p:sp>
        <p:nvSpPr>
          <p:cNvPr id="4" name="Rectangle 3"/>
          <p:cNvSpPr/>
          <p:nvPr/>
        </p:nvSpPr>
        <p:spPr>
          <a:xfrm>
            <a:off x="457200" y="749808"/>
            <a:ext cx="8229600"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60120"/>
            <a:ext cx="8229600" cy="2926080"/>
          </a:xfrm>
          <a:prstGeom prst="rect">
            <a:avLst/>
          </a:prstGeom>
          <a:noFill/>
        </p:spPr>
        <p:txBody>
          <a:bodyPr wrap="square">
            <a:spAutoFit/>
          </a:bodyPr>
          <a:lstStyle/>
          <a:p>
            <a:pPr>
              <a:lnSpc>
                <a:spcPct val="106000"/>
              </a:lnSpc>
              <a:spcAft>
                <a:spcPts val="1600"/>
              </a:spcAft>
            </a:pPr>
            <a:r>
              <a:rPr sz="1800" b="1">
                <a:solidFill>
                  <a:srgbClr val="2D2D2D"/>
                </a:solidFill>
                <a:latin typeface="Arial"/>
              </a:rPr>
              <a:t>1.  Queryable output is affordable. </a:t>
            </a:r>
            <a:r>
              <a:rPr sz="1800" b="0">
                <a:solidFill>
                  <a:srgbClr val="2D2D2D"/>
                </a:solidFill>
                <a:latin typeface="Arial"/>
              </a:rPr>
              <a:t>Arbitrary continuous coordinates in O(N), for 2.6% of mean accuracy, from a 13% smaller model.</a:t>
            </a:r>
          </a:p>
          <a:p>
            <a:pPr>
              <a:lnSpc>
                <a:spcPct val="106000"/>
              </a:lnSpc>
              <a:spcAft>
                <a:spcPts val="1600"/>
              </a:spcAft>
            </a:pPr>
            <a:r>
              <a:rPr sz="1800" b="1">
                <a:solidFill>
                  <a:srgbClr val="2D2D2D"/>
                </a:solidFill>
                <a:latin typeface="Arial"/>
              </a:rPr>
              <a:t>2.  Confidence is worth more than the mean. </a:t>
            </a:r>
            <a:r>
              <a:rPr sz="1800" b="0">
                <a:solidFill>
                  <a:srgbClr val="2D2D2D"/>
                </a:solidFill>
                <a:latin typeface="Arial"/>
              </a:rPr>
              <a:t>Abstaining on 20% of queries gives 2.2x lower error over the remaining 80% of the frame.</a:t>
            </a:r>
          </a:p>
          <a:p>
            <a:pPr>
              <a:lnSpc>
                <a:spcPct val="106000"/>
              </a:lnSpc>
              <a:spcAft>
                <a:spcPts val="1600"/>
              </a:spcAft>
            </a:pPr>
            <a:r>
              <a:rPr sz="1800" b="1">
                <a:solidFill>
                  <a:srgbClr val="2D2D2D"/>
                </a:solidFill>
                <a:latin typeface="Arial"/>
              </a:rPr>
              <a:t>3.  Region margins are predictable. </a:t>
            </a:r>
            <a:r>
              <a:rPr sz="1800" b="0">
                <a:solidFill>
                  <a:srgbClr val="2D2D2D"/>
                </a:solidFill>
                <a:latin typeface="Arial"/>
              </a:rPr>
              <a:t>Margin ≈ speed / frame rate, verified across a threefold difference in motion scale.</a:t>
            </a:r>
          </a:p>
        </p:txBody>
      </p:sp>
      <p:sp>
        <p:nvSpPr>
          <p:cNvPr id="6" name="Rectangle 5"/>
          <p:cNvSpPr/>
          <p:nvPr/>
        </p:nvSpPr>
        <p:spPr>
          <a:xfrm>
            <a:off x="457200" y="4041648"/>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187952"/>
            <a:ext cx="8229600" cy="548640"/>
          </a:xfrm>
          <a:prstGeom prst="rect">
            <a:avLst/>
          </a:prstGeom>
          <a:noFill/>
        </p:spPr>
        <p:txBody>
          <a:bodyPr wrap="square">
            <a:spAutoFit/>
          </a:bodyPr>
          <a:lstStyle/>
          <a:p>
            <a:pPr algn="l">
              <a:lnSpc>
                <a:spcPct val="130000"/>
              </a:lnSpc>
            </a:pPr>
            <a:r>
              <a:rPr sz="1200" b="0">
                <a:solidFill>
                  <a:srgbClr val="777777"/>
                </a:solidFill>
                <a:latin typeface="Arial"/>
              </a:rPr>
              <a:t>srinivasan.shrim@northeastern.edu   |   Code and report: github.com/shrirag10/Neuflowv3</a:t>
            </a:r>
          </a:p>
          <a:p>
            <a:pPr algn="l">
              <a:lnSpc>
                <a:spcPct val="130000"/>
              </a:lnSpc>
            </a:pPr>
            <a:r>
              <a:rPr sz="1200" b="0">
                <a:solidFill>
                  <a:srgbClr val="777777"/>
                </a:solidFill>
                <a:latin typeface="Arial"/>
              </a:rPr>
              <a:t>Next: a full-resolution feature stem, then embedded measurement.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20</a:t>
            </a:r>
          </a:p>
        </p:txBody>
      </p:sp>
      <p:sp>
        <p:nvSpPr>
          <p:cNvPr id="3" name="TextBox 2"/>
          <p:cNvSpPr txBox="1"/>
          <p:nvPr/>
        </p:nvSpPr>
        <p:spPr>
          <a:xfrm>
            <a:off x="457200" y="201168"/>
            <a:ext cx="8229600" cy="457200"/>
          </a:xfrm>
          <a:prstGeom prst="rect">
            <a:avLst/>
          </a:prstGeom>
          <a:noFill/>
        </p:spPr>
        <p:txBody>
          <a:bodyPr wrap="square">
            <a:spAutoFit/>
          </a:bodyPr>
          <a:lstStyle/>
          <a:p>
            <a:pPr algn="l">
              <a:lnSpc>
                <a:spcPct val="100000"/>
              </a:lnSpc>
            </a:pPr>
            <a:r>
              <a:rPr sz="2400" b="1">
                <a:solidFill>
                  <a:srgbClr val="1F4E79"/>
                </a:solidFill>
                <a:latin typeface="Arial"/>
              </a:rPr>
              <a:t>References</a:t>
            </a:r>
          </a:p>
        </p:txBody>
      </p:sp>
      <p:sp>
        <p:nvSpPr>
          <p:cNvPr id="4" name="Rectangle 3"/>
          <p:cNvSpPr/>
          <p:nvPr/>
        </p:nvSpPr>
        <p:spPr>
          <a:xfrm>
            <a:off x="457200" y="713232"/>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8229600" cy="502920"/>
          </a:xfrm>
          <a:prstGeom prst="rect">
            <a:avLst/>
          </a:prstGeom>
          <a:noFill/>
        </p:spPr>
        <p:txBody>
          <a:bodyPr wrap="square">
            <a:spAutoFit/>
          </a:bodyPr>
          <a:lstStyle/>
          <a:p>
            <a:pPr algn="l">
              <a:lnSpc>
                <a:spcPct val="112000"/>
              </a:lnSpc>
            </a:pPr>
            <a:r>
              <a:rPr sz="1200" b="0">
                <a:solidFill>
                  <a:srgbClr val="2D2D2D"/>
                </a:solidFill>
                <a:latin typeface="Arial"/>
              </a:rPr>
              <a:t>Zhang, Z., Gupta, A., Jiang, H., &amp; Singh, H. (2024). NeuFlow v2: High-Efficiency Optical Flow Estimation on Edge Devices. arXiv:2408.10161.</a:t>
            </a:r>
          </a:p>
        </p:txBody>
      </p:sp>
      <p:sp>
        <p:nvSpPr>
          <p:cNvPr id="6" name="TextBox 5"/>
          <p:cNvSpPr txBox="1"/>
          <p:nvPr/>
        </p:nvSpPr>
        <p:spPr>
          <a:xfrm>
            <a:off x="457200" y="1435607"/>
            <a:ext cx="8229600" cy="502920"/>
          </a:xfrm>
          <a:prstGeom prst="rect">
            <a:avLst/>
          </a:prstGeom>
          <a:noFill/>
        </p:spPr>
        <p:txBody>
          <a:bodyPr wrap="square">
            <a:spAutoFit/>
          </a:bodyPr>
          <a:lstStyle/>
          <a:p>
            <a:pPr algn="l">
              <a:lnSpc>
                <a:spcPct val="112000"/>
              </a:lnSpc>
            </a:pPr>
            <a:r>
              <a:rPr sz="1200" b="0">
                <a:solidFill>
                  <a:srgbClr val="2D2D2D"/>
                </a:solidFill>
                <a:latin typeface="Arial"/>
              </a:rPr>
              <a:t>Jung, H., Hui, Z., Luo, L., Yang, H., Liu, F., Yoo, S., Ranjan, R., &amp; Demandolx, D. (2023). AnyFlow: Arbitrary Scale Optical Flow with Implicit Neural Representation. CVPR.</a:t>
            </a:r>
          </a:p>
        </p:txBody>
      </p:sp>
      <p:sp>
        <p:nvSpPr>
          <p:cNvPr id="7" name="TextBox 6"/>
          <p:cNvSpPr txBox="1"/>
          <p:nvPr/>
        </p:nvSpPr>
        <p:spPr>
          <a:xfrm>
            <a:off x="457200" y="2002536"/>
            <a:ext cx="8229600" cy="502920"/>
          </a:xfrm>
          <a:prstGeom prst="rect">
            <a:avLst/>
          </a:prstGeom>
          <a:noFill/>
        </p:spPr>
        <p:txBody>
          <a:bodyPr wrap="square">
            <a:spAutoFit/>
          </a:bodyPr>
          <a:lstStyle/>
          <a:p>
            <a:pPr algn="l">
              <a:lnSpc>
                <a:spcPct val="112000"/>
              </a:lnSpc>
            </a:pPr>
            <a:r>
              <a:rPr sz="1200" b="0">
                <a:solidFill>
                  <a:srgbClr val="2D2D2D"/>
                </a:solidFill>
                <a:latin typeface="Arial"/>
              </a:rPr>
              <a:t>Teed, Z., &amp; Deng, J. (2020). RAFT: Recurrent All-Pairs Field Transforms for Optical Flow. ECCV.</a:t>
            </a:r>
          </a:p>
        </p:txBody>
      </p:sp>
      <p:sp>
        <p:nvSpPr>
          <p:cNvPr id="8" name="TextBox 7"/>
          <p:cNvSpPr txBox="1"/>
          <p:nvPr/>
        </p:nvSpPr>
        <p:spPr>
          <a:xfrm>
            <a:off x="457200" y="2569464"/>
            <a:ext cx="8229600" cy="502920"/>
          </a:xfrm>
          <a:prstGeom prst="rect">
            <a:avLst/>
          </a:prstGeom>
          <a:noFill/>
        </p:spPr>
        <p:txBody>
          <a:bodyPr wrap="square">
            <a:spAutoFit/>
          </a:bodyPr>
          <a:lstStyle/>
          <a:p>
            <a:pPr algn="l">
              <a:lnSpc>
                <a:spcPct val="112000"/>
              </a:lnSpc>
            </a:pPr>
            <a:r>
              <a:rPr sz="1200" b="0">
                <a:solidFill>
                  <a:srgbClr val="2D2D2D"/>
                </a:solidFill>
                <a:latin typeface="Arial"/>
              </a:rPr>
              <a:t>Yu et al. (2025). InfiniDepth: Implicit Neural Upsampling for Monocular Depth Estimation.</a:t>
            </a:r>
          </a:p>
        </p:txBody>
      </p:sp>
      <p:sp>
        <p:nvSpPr>
          <p:cNvPr id="9" name="TextBox 8"/>
          <p:cNvSpPr txBox="1"/>
          <p:nvPr/>
        </p:nvSpPr>
        <p:spPr>
          <a:xfrm>
            <a:off x="457200" y="3136392"/>
            <a:ext cx="8229600" cy="502920"/>
          </a:xfrm>
          <a:prstGeom prst="rect">
            <a:avLst/>
          </a:prstGeom>
          <a:noFill/>
        </p:spPr>
        <p:txBody>
          <a:bodyPr wrap="square">
            <a:spAutoFit/>
          </a:bodyPr>
          <a:lstStyle/>
          <a:p>
            <a:pPr algn="l">
              <a:lnSpc>
                <a:spcPct val="112000"/>
              </a:lnSpc>
            </a:pPr>
            <a:r>
              <a:rPr sz="1200" b="0">
                <a:solidFill>
                  <a:srgbClr val="2D2D2D"/>
                </a:solidFill>
                <a:latin typeface="Arial"/>
              </a:rPr>
              <a:t>Kendall, A., &amp; Gal, Y. (2017). What Uncertainties Do We Need in Bayesian Deep Learning for Computer Vision? NeurIPS.</a:t>
            </a:r>
          </a:p>
        </p:txBody>
      </p:sp>
      <p:sp>
        <p:nvSpPr>
          <p:cNvPr id="10" name="TextBox 9"/>
          <p:cNvSpPr txBox="1"/>
          <p:nvPr/>
        </p:nvSpPr>
        <p:spPr>
          <a:xfrm>
            <a:off x="457200" y="3703320"/>
            <a:ext cx="8229600" cy="502920"/>
          </a:xfrm>
          <a:prstGeom prst="rect">
            <a:avLst/>
          </a:prstGeom>
          <a:noFill/>
        </p:spPr>
        <p:txBody>
          <a:bodyPr wrap="square">
            <a:spAutoFit/>
          </a:bodyPr>
          <a:lstStyle/>
          <a:p>
            <a:pPr algn="l">
              <a:lnSpc>
                <a:spcPct val="112000"/>
              </a:lnSpc>
            </a:pPr>
            <a:r>
              <a:rPr sz="1200" b="0">
                <a:solidFill>
                  <a:srgbClr val="2D2D2D"/>
                </a:solidFill>
                <a:latin typeface="Arial"/>
              </a:rPr>
              <a:t>Cabon, Y., Murray, N., &amp; Humenberger, M. (2020). Virtual KITTI 2. arXiv:2001.10773.</a:t>
            </a:r>
          </a:p>
        </p:txBody>
      </p:sp>
      <p:sp>
        <p:nvSpPr>
          <p:cNvPr id="11" name="TextBox 10"/>
          <p:cNvSpPr txBox="1"/>
          <p:nvPr/>
        </p:nvSpPr>
        <p:spPr>
          <a:xfrm>
            <a:off x="457200" y="4270248"/>
            <a:ext cx="8229600" cy="502920"/>
          </a:xfrm>
          <a:prstGeom prst="rect">
            <a:avLst/>
          </a:prstGeom>
          <a:noFill/>
        </p:spPr>
        <p:txBody>
          <a:bodyPr wrap="square">
            <a:spAutoFit/>
          </a:bodyPr>
          <a:lstStyle/>
          <a:p>
            <a:pPr algn="l">
              <a:lnSpc>
                <a:spcPct val="112000"/>
              </a:lnSpc>
            </a:pPr>
            <a:r>
              <a:rPr sz="1200" b="0">
                <a:solidFill>
                  <a:srgbClr val="2D2D2D"/>
                </a:solidFill>
                <a:latin typeface="Arial"/>
              </a:rPr>
              <a:t>Wang, W., Zhu, D., Wang, X., Hu, Y., Qiu, Y., Wang, C., Hu, Y., Kapoor, A., &amp; Scherer, S. (2020). TartanAir: A Dataset to Push the Limits of Visual SLAM. IROS.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
            <a:ext cx="8229600" cy="219456"/>
          </a:xfrm>
          <a:prstGeom prst="rect">
            <a:avLst/>
          </a:prstGeom>
          <a:noFill/>
        </p:spPr>
        <p:txBody>
          <a:bodyPr wrap="square">
            <a:spAutoFit/>
          </a:bodyPr>
          <a:lstStyle/>
          <a:p>
            <a:pPr algn="l">
              <a:lnSpc>
                <a:spcPct val="100000"/>
              </a:lnSpc>
            </a:pPr>
            <a:r>
              <a:rPr sz="1200" b="0">
                <a:solidFill>
                  <a:srgbClr val="777777"/>
                </a:solidFill>
                <a:latin typeface="Arial"/>
              </a:rPr>
              <a:t>Appendix A — Query cost and interface</a:t>
            </a:r>
          </a:p>
        </p:txBody>
      </p:sp>
      <p:sp>
        <p:nvSpPr>
          <p:cNvPr id="3" name="TextBox 2"/>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21</a:t>
            </a:r>
          </a:p>
        </p:txBody>
      </p:sp>
      <p:sp>
        <p:nvSpPr>
          <p:cNvPr id="4" name="TextBox 3"/>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Decode cost is flat to 2,048 queries:</a:t>
            </a:r>
          </a:p>
          <a:p>
            <a:pPr algn="l">
              <a:lnSpc>
                <a:spcPct val="105000"/>
              </a:lnSpc>
            </a:pPr>
            <a:r>
              <a:rPr sz="2400" b="1">
                <a:solidFill>
                  <a:srgbClr val="1F4E79"/>
                </a:solidFill>
                <a:latin typeface="Arial"/>
              </a:rPr>
              <a:t>2,048 points cost what 800 do</a:t>
            </a:r>
          </a:p>
        </p:txBody>
      </p:sp>
      <p:sp>
        <p:nvSpPr>
          <p:cNvPr id="5" name="Rectangle 4"/>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ode_flat.png"/>
          <p:cNvPicPr>
            <a:picLocks noChangeAspect="1"/>
          </p:cNvPicPr>
          <p:nvPr/>
        </p:nvPicPr>
        <p:blipFill>
          <a:blip r:embed="rId2"/>
          <a:stretch>
            <a:fillRect/>
          </a:stretch>
        </p:blipFill>
        <p:spPr>
          <a:xfrm>
            <a:off x="457200" y="1463040"/>
            <a:ext cx="4526280" cy="2285178"/>
          </a:xfrm>
          <a:prstGeom prst="rect">
            <a:avLst/>
          </a:prstGeom>
        </p:spPr>
      </p:pic>
      <p:sp>
        <p:nvSpPr>
          <p:cNvPr id="7" name="TextBox 6"/>
          <p:cNvSpPr txBox="1"/>
          <p:nvPr/>
        </p:nvSpPr>
        <p:spPr>
          <a:xfrm>
            <a:off x="5230368" y="1389888"/>
            <a:ext cx="3456432" cy="274320"/>
          </a:xfrm>
          <a:prstGeom prst="rect">
            <a:avLst/>
          </a:prstGeom>
          <a:noFill/>
        </p:spPr>
        <p:txBody>
          <a:bodyPr wrap="square">
            <a:spAutoFit/>
          </a:bodyPr>
          <a:lstStyle/>
          <a:p>
            <a:pPr algn="l">
              <a:lnSpc>
                <a:spcPct val="100000"/>
              </a:lnSpc>
            </a:pPr>
            <a:r>
              <a:rPr sz="1800" b="1">
                <a:solidFill>
                  <a:srgbClr val="2E75B6"/>
                </a:solidFill>
                <a:latin typeface="Arial"/>
              </a:rPr>
              <a:t>The entire API</a:t>
            </a:r>
          </a:p>
        </p:txBody>
      </p:sp>
      <p:sp>
        <p:nvSpPr>
          <p:cNvPr id="8" name="Rounded Rectangle 7"/>
          <p:cNvSpPr/>
          <p:nvPr/>
        </p:nvSpPr>
        <p:spPr>
          <a:xfrm>
            <a:off x="5230368" y="1737360"/>
            <a:ext cx="3456432" cy="137160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lnSpc>
                <a:spcPct val="106000"/>
              </a:lnSpc>
            </a:pPr>
            <a:r>
              <a:rPr sz="1100" b="0">
                <a:solidFill>
                  <a:srgbClr val="1F4E79"/>
                </a:solidFill>
                <a:latin typeface="Arial"/>
              </a:rPr>
              <a:t>state = model.infer_coarse_state(</a:t>
            </a:r>
          </a:p>
          <a:p>
            <a:pPr algn="l">
              <a:lnSpc>
                <a:spcPct val="106000"/>
              </a:lnSpc>
            </a:pPr>
            <a:r>
              <a:rPr sz="1100" b="0">
                <a:solidFill>
                  <a:srgbClr val="1F4E79"/>
                </a:solidFill>
                <a:latin typeface="Arial"/>
              </a:rPr>
              <a:t>            img0, img1)</a:t>
            </a:r>
          </a:p>
          <a:p>
            <a:pPr algn="l">
              <a:lnSpc>
                <a:spcPct val="106000"/>
              </a:lnSpc>
            </a:pPr>
            <a:r>
              <a:rPr sz="1100" b="0">
                <a:solidFill>
                  <a:srgbClr val="1F4E79"/>
                </a:solidFill>
                <a:latin typeface="Arial"/>
              </a:rPr>
              <a:t/>
            </a:r>
          </a:p>
          <a:p>
            <a:pPr algn="l">
              <a:lnSpc>
                <a:spcPct val="106000"/>
              </a:lnSpc>
            </a:pPr>
            <a:r>
              <a:rPr sz="1100" b="0">
                <a:solidFill>
                  <a:srgbClr val="1F4E79"/>
                </a:solidFill>
                <a:latin typeface="Arial"/>
              </a:rPr>
              <a:t>flow  = model.decode_queries(</a:t>
            </a:r>
          </a:p>
          <a:p>
            <a:pPr algn="l">
              <a:lnSpc>
                <a:spcPct val="106000"/>
              </a:lnSpc>
            </a:pPr>
            <a:r>
              <a:rPr sz="1100" b="0">
                <a:solidFill>
                  <a:srgbClr val="1F4E79"/>
                </a:solidFill>
                <a:latin typeface="Arial"/>
              </a:rPr>
              <a:t>            state, query_coords=q)</a:t>
            </a:r>
          </a:p>
          <a:p>
            <a:pPr algn="l">
              <a:lnSpc>
                <a:spcPct val="106000"/>
              </a:lnSpc>
            </a:pPr>
            <a:r>
              <a:rPr sz="1100" b="0">
                <a:solidFill>
                  <a:srgbClr val="1F4E79"/>
                </a:solidFill>
                <a:latin typeface="Arial"/>
              </a:rPr>
              <a:t/>
            </a:r>
          </a:p>
          <a:p>
            <a:pPr algn="l">
              <a:lnSpc>
                <a:spcPct val="106000"/>
              </a:lnSpc>
            </a:pPr>
            <a:r>
              <a:rPr sz="1100" b="0">
                <a:solidFill>
                  <a:srgbClr val="1F4E79"/>
                </a:solidFill>
                <a:latin typeface="Arial"/>
              </a:rPr>
              <a:t>flow, b = ... return_uncertainty=True</a:t>
            </a:r>
          </a:p>
        </p:txBody>
      </p:sp>
      <p:sp>
        <p:nvSpPr>
          <p:cNvPr id="9" name="TextBox 8"/>
          <p:cNvSpPr txBox="1"/>
          <p:nvPr/>
        </p:nvSpPr>
        <p:spPr>
          <a:xfrm>
            <a:off x="5230368" y="3246120"/>
            <a:ext cx="3456432" cy="1005840"/>
          </a:xfrm>
          <a:prstGeom prst="rect">
            <a:avLst/>
          </a:prstGeom>
          <a:noFill/>
        </p:spPr>
        <p:txBody>
          <a:bodyPr wrap="square">
            <a:spAutoFit/>
          </a:bodyPr>
          <a:lstStyle/>
          <a:p>
            <a:pPr>
              <a:lnSpc>
                <a:spcPct val="106000"/>
              </a:lnSpc>
              <a:spcAft>
                <a:spcPts val="1100"/>
              </a:spcAft>
            </a:pPr>
            <a:r>
              <a:rPr sz="1500" b="0">
                <a:solidFill>
                  <a:srgbClr val="2D2D2D"/>
                </a:solidFill>
                <a:latin typeface="Arial"/>
              </a:rPr>
              <a:t>Launch-overhead bound below ~10,000 points; compute-bound above, where dense mode wins.</a:t>
            </a:r>
          </a:p>
        </p:txBody>
      </p:sp>
      <p:sp>
        <p:nvSpPr>
          <p:cNvPr id="10" name="TextBox 9"/>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1.254 ms at N = 800; 1.285 ms at N = 2,048. RTX 4060 laptop, fp16.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
            <a:ext cx="8229600" cy="219456"/>
          </a:xfrm>
          <a:prstGeom prst="rect">
            <a:avLst/>
          </a:prstGeom>
          <a:noFill/>
        </p:spPr>
        <p:txBody>
          <a:bodyPr wrap="square">
            <a:spAutoFit/>
          </a:bodyPr>
          <a:lstStyle/>
          <a:p>
            <a:pPr algn="l">
              <a:lnSpc>
                <a:spcPct val="100000"/>
              </a:lnSpc>
            </a:pPr>
            <a:r>
              <a:rPr sz="1200" b="0">
                <a:solidFill>
                  <a:srgbClr val="777777"/>
                </a:solidFill>
                <a:latin typeface="Arial"/>
              </a:rPr>
              <a:t>Appendix B — Working implementation</a:t>
            </a:r>
          </a:p>
        </p:txBody>
      </p:sp>
      <p:sp>
        <p:nvSpPr>
          <p:cNvPr id="3" name="TextBox 2"/>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22</a:t>
            </a:r>
          </a:p>
        </p:txBody>
      </p:sp>
      <p:sp>
        <p:nvSpPr>
          <p:cNvPr id="4" name="TextBox 3"/>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The decoder runs as an interactive tool:</a:t>
            </a:r>
          </a:p>
          <a:p>
            <a:pPr algn="l">
              <a:lnSpc>
                <a:spcPct val="105000"/>
              </a:lnSpc>
            </a:pPr>
            <a:r>
              <a:rPr sz="2400" b="1">
                <a:solidFill>
                  <a:srgbClr val="1F4E79"/>
                </a:solidFill>
                <a:latin typeface="Arial"/>
              </a:rPr>
              <a:t>draw a region, get flow there</a:t>
            </a:r>
          </a:p>
        </p:txBody>
      </p:sp>
      <p:sp>
        <p:nvSpPr>
          <p:cNvPr id="5" name="Rectangle 4"/>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gion_gui_window.png"/>
          <p:cNvPicPr>
            <a:picLocks noChangeAspect="1"/>
          </p:cNvPicPr>
          <p:nvPr/>
        </p:nvPicPr>
        <p:blipFill>
          <a:blip r:embed="rId2"/>
          <a:stretch>
            <a:fillRect/>
          </a:stretch>
        </p:blipFill>
        <p:spPr>
          <a:xfrm>
            <a:off x="457200" y="1463040"/>
            <a:ext cx="4709160" cy="2518410"/>
          </a:xfrm>
          <a:prstGeom prst="rect">
            <a:avLst/>
          </a:prstGeom>
        </p:spPr>
      </p:pic>
      <p:sp>
        <p:nvSpPr>
          <p:cNvPr id="7" name="TextBox 6"/>
          <p:cNvSpPr txBox="1"/>
          <p:nvPr/>
        </p:nvSpPr>
        <p:spPr>
          <a:xfrm>
            <a:off x="5230368" y="1389888"/>
            <a:ext cx="3456432" cy="274320"/>
          </a:xfrm>
          <a:prstGeom prst="rect">
            <a:avLst/>
          </a:prstGeom>
          <a:noFill/>
        </p:spPr>
        <p:txBody>
          <a:bodyPr wrap="square">
            <a:spAutoFit/>
          </a:bodyPr>
          <a:lstStyle/>
          <a:p>
            <a:pPr algn="l">
              <a:lnSpc>
                <a:spcPct val="100000"/>
              </a:lnSpc>
            </a:pPr>
            <a:r>
              <a:rPr sz="1800" b="1">
                <a:solidFill>
                  <a:srgbClr val="2E75B6"/>
                </a:solidFill>
                <a:latin typeface="Arial"/>
              </a:rPr>
              <a:t>Two timed modes</a:t>
            </a:r>
          </a:p>
        </p:txBody>
      </p:sp>
      <p:sp>
        <p:nvSpPr>
          <p:cNvPr id="8" name="TextBox 7"/>
          <p:cNvSpPr txBox="1"/>
          <p:nvPr/>
        </p:nvSpPr>
        <p:spPr>
          <a:xfrm>
            <a:off x="5230368" y="1755648"/>
            <a:ext cx="3456432" cy="2377440"/>
          </a:xfrm>
          <a:prstGeom prst="rect">
            <a:avLst/>
          </a:prstGeom>
          <a:noFill/>
        </p:spPr>
        <p:txBody>
          <a:bodyPr wrap="square">
            <a:spAutoFit/>
          </a:bodyPr>
          <a:lstStyle/>
          <a:p>
            <a:pPr>
              <a:lnSpc>
                <a:spcPct val="106000"/>
              </a:lnSpc>
              <a:spcAft>
                <a:spcPts val="1100"/>
              </a:spcAft>
            </a:pPr>
            <a:r>
              <a:rPr sz="1500" b="1">
                <a:solidFill>
                  <a:srgbClr val="2D2D2D"/>
                </a:solidFill>
                <a:latin typeface="Arial"/>
              </a:rPr>
              <a:t>QUERY </a:t>
            </a:r>
            <a:r>
              <a:rPr sz="1500" b="0">
                <a:solidFill>
                  <a:srgbClr val="2D2D2D"/>
                </a:solidFill>
                <a:latin typeface="Arial"/>
              </a:rPr>
              <a:t>decodes only inside the box against a full-frame coarse pass. Exact.</a:t>
            </a:r>
          </a:p>
          <a:p>
            <a:pPr>
              <a:lnSpc>
                <a:spcPct val="106000"/>
              </a:lnSpc>
              <a:spcAft>
                <a:spcPts val="1100"/>
              </a:spcAft>
            </a:pPr>
            <a:r>
              <a:rPr sz="1500" b="1">
                <a:solidFill>
                  <a:srgbClr val="2D2D2D"/>
                </a:solidFill>
                <a:latin typeface="Arial"/>
              </a:rPr>
              <a:t>CROP </a:t>
            </a:r>
            <a:r>
              <a:rPr sz="1500" b="0">
                <a:solidFill>
                  <a:srgbClr val="2D2D2D"/>
                </a:solidFill>
                <a:latin typeface="Arial"/>
              </a:rPr>
              <a:t>feeds only the box through the pipeline, so cost scales with area, at the price of lost context.</a:t>
            </a:r>
          </a:p>
        </p:txBody>
      </p:sp>
      <p:sp>
        <p:nvSpPr>
          <p:cNvPr id="9" name="TextBox 8"/>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The panel reports the measured breakdown live, including where the decoder is not the faster option.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
            <a:ext cx="8229600" cy="219456"/>
          </a:xfrm>
          <a:prstGeom prst="rect">
            <a:avLst/>
          </a:prstGeom>
          <a:noFill/>
        </p:spPr>
        <p:txBody>
          <a:bodyPr wrap="square">
            <a:spAutoFit/>
          </a:bodyPr>
          <a:lstStyle/>
          <a:p>
            <a:pPr algn="l">
              <a:lnSpc>
                <a:spcPct val="100000"/>
              </a:lnSpc>
            </a:pPr>
            <a:r>
              <a:rPr sz="1200" b="0">
                <a:solidFill>
                  <a:srgbClr val="777777"/>
                </a:solidFill>
                <a:latin typeface="Arial"/>
              </a:rPr>
              <a:t>Appendix C — Objectives set at the start</a:t>
            </a:r>
          </a:p>
        </p:txBody>
      </p:sp>
      <p:sp>
        <p:nvSpPr>
          <p:cNvPr id="3" name="TextBox 2"/>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23</a:t>
            </a:r>
          </a:p>
        </p:txBody>
      </p:sp>
      <p:sp>
        <p:nvSpPr>
          <p:cNvPr id="4" name="TextBox 3"/>
          <p:cNvSpPr txBox="1"/>
          <p:nvPr/>
        </p:nvSpPr>
        <p:spPr>
          <a:xfrm>
            <a:off x="457200" y="182880"/>
            <a:ext cx="8229600" cy="914400"/>
          </a:xfrm>
          <a:prstGeom prst="rect">
            <a:avLst/>
          </a:prstGeom>
          <a:noFill/>
        </p:spPr>
        <p:txBody>
          <a:bodyPr wrap="square">
            <a:spAutoFit/>
          </a:bodyPr>
          <a:lstStyle/>
          <a:p>
            <a:pPr algn="l">
              <a:lnSpc>
                <a:spcPct val="105000"/>
              </a:lnSpc>
            </a:pPr>
            <a:r>
              <a:rPr sz="2400" b="1">
                <a:solidFill>
                  <a:srgbClr val="1F4E79"/>
                </a:solidFill>
                <a:latin typeface="Arial"/>
              </a:rPr>
              <a:t>Two of three original objectives were not met;</a:t>
            </a:r>
          </a:p>
          <a:p>
            <a:pPr algn="l">
              <a:lnSpc>
                <a:spcPct val="105000"/>
              </a:lnSpc>
            </a:pPr>
            <a:r>
              <a:rPr sz="2400" b="1">
                <a:solidFill>
                  <a:srgbClr val="1F4E79"/>
                </a:solidFill>
                <a:latin typeface="Arial"/>
              </a:rPr>
              <a:t>the project delivers three others</a:t>
            </a:r>
          </a:p>
        </p:txBody>
      </p:sp>
      <p:sp>
        <p:nvSpPr>
          <p:cNvPr id="5" name="Rectangle 4"/>
          <p:cNvSpPr/>
          <p:nvPr/>
        </p:nvSpPr>
        <p:spPr>
          <a:xfrm>
            <a:off x="457200" y="1152144"/>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98448"/>
            <a:ext cx="2423160" cy="224028"/>
          </a:xfrm>
          <a:prstGeom prst="rect">
            <a:avLst/>
          </a:prstGeom>
          <a:noFill/>
        </p:spPr>
        <p:txBody>
          <a:bodyPr wrap="square">
            <a:spAutoFit/>
          </a:bodyPr>
          <a:lstStyle/>
          <a:p>
            <a:pPr algn="l">
              <a:lnSpc>
                <a:spcPct val="100000"/>
              </a:lnSpc>
            </a:pPr>
            <a:r>
              <a:rPr sz="1500" b="1">
                <a:solidFill>
                  <a:srgbClr val="1F4E79"/>
                </a:solidFill>
                <a:latin typeface="Arial"/>
              </a:rPr>
              <a:t>Objective</a:t>
            </a:r>
          </a:p>
        </p:txBody>
      </p:sp>
      <p:sp>
        <p:nvSpPr>
          <p:cNvPr id="7" name="TextBox 6"/>
          <p:cNvSpPr txBox="1"/>
          <p:nvPr/>
        </p:nvSpPr>
        <p:spPr>
          <a:xfrm>
            <a:off x="2880360" y="1298448"/>
            <a:ext cx="1143000" cy="224028"/>
          </a:xfrm>
          <a:prstGeom prst="rect">
            <a:avLst/>
          </a:prstGeom>
          <a:noFill/>
        </p:spPr>
        <p:txBody>
          <a:bodyPr wrap="square">
            <a:spAutoFit/>
          </a:bodyPr>
          <a:lstStyle/>
          <a:p>
            <a:pPr algn="r">
              <a:lnSpc>
                <a:spcPct val="100000"/>
              </a:lnSpc>
            </a:pPr>
            <a:r>
              <a:rPr sz="1500" b="1">
                <a:solidFill>
                  <a:srgbClr val="1F4E79"/>
                </a:solidFill>
                <a:latin typeface="Arial"/>
              </a:rPr>
              <a:t>Verdict</a:t>
            </a:r>
          </a:p>
        </p:txBody>
      </p:sp>
      <p:sp>
        <p:nvSpPr>
          <p:cNvPr id="8" name="TextBox 7"/>
          <p:cNvSpPr txBox="1"/>
          <p:nvPr/>
        </p:nvSpPr>
        <p:spPr>
          <a:xfrm>
            <a:off x="4023360" y="1298448"/>
            <a:ext cx="4663440" cy="224028"/>
          </a:xfrm>
          <a:prstGeom prst="rect">
            <a:avLst/>
          </a:prstGeom>
          <a:noFill/>
        </p:spPr>
        <p:txBody>
          <a:bodyPr wrap="square">
            <a:spAutoFit/>
          </a:bodyPr>
          <a:lstStyle/>
          <a:p>
            <a:pPr algn="r">
              <a:lnSpc>
                <a:spcPct val="100000"/>
              </a:lnSpc>
            </a:pPr>
            <a:r>
              <a:rPr sz="1500" b="1">
                <a:solidFill>
                  <a:srgbClr val="1F4E79"/>
                </a:solidFill>
                <a:latin typeface="Arial"/>
              </a:rPr>
              <a:t>Evidence</a:t>
            </a:r>
          </a:p>
        </p:txBody>
      </p:sp>
      <p:sp>
        <p:nvSpPr>
          <p:cNvPr id="9" name="Rectangle 8"/>
          <p:cNvSpPr/>
          <p:nvPr/>
        </p:nvSpPr>
        <p:spPr>
          <a:xfrm>
            <a:off x="457200" y="1522476"/>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63624"/>
            <a:ext cx="2423160" cy="224028"/>
          </a:xfrm>
          <a:prstGeom prst="rect">
            <a:avLst/>
          </a:prstGeom>
          <a:noFill/>
        </p:spPr>
        <p:txBody>
          <a:bodyPr wrap="square">
            <a:spAutoFit/>
          </a:bodyPr>
          <a:lstStyle/>
          <a:p>
            <a:pPr algn="l">
              <a:lnSpc>
                <a:spcPct val="100000"/>
              </a:lnSpc>
            </a:pPr>
            <a:r>
              <a:rPr sz="1500" b="0">
                <a:solidFill>
                  <a:srgbClr val="2D2D2D"/>
                </a:solidFill>
                <a:latin typeface="Arial"/>
              </a:rPr>
              <a:t>Better accuracy than v2</a:t>
            </a:r>
          </a:p>
        </p:txBody>
      </p:sp>
      <p:sp>
        <p:nvSpPr>
          <p:cNvPr id="11" name="TextBox 10"/>
          <p:cNvSpPr txBox="1"/>
          <p:nvPr/>
        </p:nvSpPr>
        <p:spPr>
          <a:xfrm>
            <a:off x="2880360" y="1563624"/>
            <a:ext cx="1143000" cy="224028"/>
          </a:xfrm>
          <a:prstGeom prst="rect">
            <a:avLst/>
          </a:prstGeom>
          <a:noFill/>
        </p:spPr>
        <p:txBody>
          <a:bodyPr wrap="square">
            <a:spAutoFit/>
          </a:bodyPr>
          <a:lstStyle/>
          <a:p>
            <a:pPr algn="r">
              <a:lnSpc>
                <a:spcPct val="100000"/>
              </a:lnSpc>
            </a:pPr>
            <a:r>
              <a:rPr sz="1500" b="0">
                <a:solidFill>
                  <a:srgbClr val="2D2D2D"/>
                </a:solidFill>
                <a:latin typeface="Arial"/>
              </a:rPr>
              <a:t>not met</a:t>
            </a:r>
          </a:p>
        </p:txBody>
      </p:sp>
      <p:sp>
        <p:nvSpPr>
          <p:cNvPr id="12" name="TextBox 11"/>
          <p:cNvSpPr txBox="1"/>
          <p:nvPr/>
        </p:nvSpPr>
        <p:spPr>
          <a:xfrm>
            <a:off x="4023360" y="1563624"/>
            <a:ext cx="4663440" cy="224028"/>
          </a:xfrm>
          <a:prstGeom prst="rect">
            <a:avLst/>
          </a:prstGeom>
          <a:noFill/>
        </p:spPr>
        <p:txBody>
          <a:bodyPr wrap="square">
            <a:spAutoFit/>
          </a:bodyPr>
          <a:lstStyle/>
          <a:p>
            <a:pPr algn="r">
              <a:lnSpc>
                <a:spcPct val="100000"/>
              </a:lnSpc>
            </a:pPr>
            <a:r>
              <a:rPr sz="1500" b="0">
                <a:solidFill>
                  <a:srgbClr val="2D2D2D"/>
                </a:solidFill>
                <a:latin typeface="Arial"/>
              </a:rPr>
              <a:t>best 2.384 vs 2.324; like-for-like 7.6% behind</a:t>
            </a:r>
          </a:p>
        </p:txBody>
      </p:sp>
      <p:sp>
        <p:nvSpPr>
          <p:cNvPr id="13" name="TextBox 12"/>
          <p:cNvSpPr txBox="1"/>
          <p:nvPr/>
        </p:nvSpPr>
        <p:spPr>
          <a:xfrm>
            <a:off x="457200" y="1828800"/>
            <a:ext cx="2423160" cy="224028"/>
          </a:xfrm>
          <a:prstGeom prst="rect">
            <a:avLst/>
          </a:prstGeom>
          <a:noFill/>
        </p:spPr>
        <p:txBody>
          <a:bodyPr wrap="square">
            <a:spAutoFit/>
          </a:bodyPr>
          <a:lstStyle/>
          <a:p>
            <a:pPr algn="l">
              <a:lnSpc>
                <a:spcPct val="100000"/>
              </a:lnSpc>
            </a:pPr>
            <a:r>
              <a:rPr sz="1500" b="0">
                <a:solidFill>
                  <a:srgbClr val="2D2D2D"/>
                </a:solidFill>
                <a:latin typeface="Arial"/>
              </a:rPr>
              <a:t>Less compute than v2</a:t>
            </a:r>
          </a:p>
        </p:txBody>
      </p:sp>
      <p:sp>
        <p:nvSpPr>
          <p:cNvPr id="14" name="TextBox 13"/>
          <p:cNvSpPr txBox="1"/>
          <p:nvPr/>
        </p:nvSpPr>
        <p:spPr>
          <a:xfrm>
            <a:off x="2880360" y="1828800"/>
            <a:ext cx="1143000" cy="224028"/>
          </a:xfrm>
          <a:prstGeom prst="rect">
            <a:avLst/>
          </a:prstGeom>
          <a:noFill/>
        </p:spPr>
        <p:txBody>
          <a:bodyPr wrap="square">
            <a:spAutoFit/>
          </a:bodyPr>
          <a:lstStyle/>
          <a:p>
            <a:pPr algn="r">
              <a:lnSpc>
                <a:spcPct val="100000"/>
              </a:lnSpc>
            </a:pPr>
            <a:r>
              <a:rPr sz="1500" b="0">
                <a:solidFill>
                  <a:srgbClr val="2D2D2D"/>
                </a:solidFill>
                <a:latin typeface="Arial"/>
              </a:rPr>
              <a:t>partly</a:t>
            </a:r>
          </a:p>
        </p:txBody>
      </p:sp>
      <p:sp>
        <p:nvSpPr>
          <p:cNvPr id="15" name="TextBox 14"/>
          <p:cNvSpPr txBox="1"/>
          <p:nvPr/>
        </p:nvSpPr>
        <p:spPr>
          <a:xfrm>
            <a:off x="4023360" y="1828800"/>
            <a:ext cx="4663440" cy="224028"/>
          </a:xfrm>
          <a:prstGeom prst="rect">
            <a:avLst/>
          </a:prstGeom>
          <a:noFill/>
        </p:spPr>
        <p:txBody>
          <a:bodyPr wrap="square">
            <a:spAutoFit/>
          </a:bodyPr>
          <a:lstStyle/>
          <a:p>
            <a:pPr algn="r">
              <a:lnSpc>
                <a:spcPct val="100000"/>
              </a:lnSpc>
            </a:pPr>
            <a:r>
              <a:rPr sz="1500" b="0">
                <a:solidFill>
                  <a:srgbClr val="2D2D2D"/>
                </a:solidFill>
                <a:latin typeface="Arial"/>
              </a:rPr>
              <a:t>dense 10% slower; repeat query 27x cheaper</a:t>
            </a:r>
          </a:p>
        </p:txBody>
      </p:sp>
      <p:sp>
        <p:nvSpPr>
          <p:cNvPr id="16" name="TextBox 15"/>
          <p:cNvSpPr txBox="1"/>
          <p:nvPr/>
        </p:nvSpPr>
        <p:spPr>
          <a:xfrm>
            <a:off x="457200" y="2093976"/>
            <a:ext cx="2423160" cy="224028"/>
          </a:xfrm>
          <a:prstGeom prst="rect">
            <a:avLst/>
          </a:prstGeom>
          <a:noFill/>
        </p:spPr>
        <p:txBody>
          <a:bodyPr wrap="square">
            <a:spAutoFit/>
          </a:bodyPr>
          <a:lstStyle/>
          <a:p>
            <a:pPr algn="l">
              <a:lnSpc>
                <a:spcPct val="100000"/>
              </a:lnSpc>
            </a:pPr>
            <a:r>
              <a:rPr sz="1500" b="0">
                <a:solidFill>
                  <a:srgbClr val="2D2D2D"/>
                </a:solidFill>
                <a:latin typeface="Arial"/>
              </a:rPr>
              <a:t>Runs on edge devices</a:t>
            </a:r>
          </a:p>
        </p:txBody>
      </p:sp>
      <p:sp>
        <p:nvSpPr>
          <p:cNvPr id="17" name="TextBox 16"/>
          <p:cNvSpPr txBox="1"/>
          <p:nvPr/>
        </p:nvSpPr>
        <p:spPr>
          <a:xfrm>
            <a:off x="2880360" y="2093976"/>
            <a:ext cx="1143000" cy="224028"/>
          </a:xfrm>
          <a:prstGeom prst="rect">
            <a:avLst/>
          </a:prstGeom>
          <a:noFill/>
        </p:spPr>
        <p:txBody>
          <a:bodyPr wrap="square">
            <a:spAutoFit/>
          </a:bodyPr>
          <a:lstStyle/>
          <a:p>
            <a:pPr algn="r">
              <a:lnSpc>
                <a:spcPct val="100000"/>
              </a:lnSpc>
            </a:pPr>
            <a:r>
              <a:rPr sz="1500" b="0">
                <a:solidFill>
                  <a:srgbClr val="2D2D2D"/>
                </a:solidFill>
                <a:latin typeface="Arial"/>
              </a:rPr>
              <a:t>unproven</a:t>
            </a:r>
          </a:p>
        </p:txBody>
      </p:sp>
      <p:sp>
        <p:nvSpPr>
          <p:cNvPr id="18" name="TextBox 17"/>
          <p:cNvSpPr txBox="1"/>
          <p:nvPr/>
        </p:nvSpPr>
        <p:spPr>
          <a:xfrm>
            <a:off x="4023360" y="2093976"/>
            <a:ext cx="4663440" cy="224028"/>
          </a:xfrm>
          <a:prstGeom prst="rect">
            <a:avLst/>
          </a:prstGeom>
          <a:noFill/>
        </p:spPr>
        <p:txBody>
          <a:bodyPr wrap="square">
            <a:spAutoFit/>
          </a:bodyPr>
          <a:lstStyle/>
          <a:p>
            <a:pPr algn="r">
              <a:lnSpc>
                <a:spcPct val="100000"/>
              </a:lnSpc>
            </a:pPr>
            <a:r>
              <a:rPr sz="1500" b="0">
                <a:solidFill>
                  <a:srgbClr val="2D2D2D"/>
                </a:solidFill>
                <a:latin typeface="Arial"/>
              </a:rPr>
              <a:t>all figures from a laptop RTX 4060</a:t>
            </a:r>
          </a:p>
        </p:txBody>
      </p:sp>
      <p:sp>
        <p:nvSpPr>
          <p:cNvPr id="19" name="TextBox 18"/>
          <p:cNvSpPr txBox="1"/>
          <p:nvPr/>
        </p:nvSpPr>
        <p:spPr>
          <a:xfrm>
            <a:off x="457200" y="2606040"/>
            <a:ext cx="8229600" cy="274320"/>
          </a:xfrm>
          <a:prstGeom prst="rect">
            <a:avLst/>
          </a:prstGeom>
          <a:noFill/>
        </p:spPr>
        <p:txBody>
          <a:bodyPr wrap="square">
            <a:spAutoFit/>
          </a:bodyPr>
          <a:lstStyle/>
          <a:p>
            <a:pPr algn="l">
              <a:lnSpc>
                <a:spcPct val="100000"/>
              </a:lnSpc>
            </a:pPr>
            <a:r>
              <a:rPr sz="1800" b="1">
                <a:solidFill>
                  <a:srgbClr val="2E75B6"/>
                </a:solidFill>
                <a:latin typeface="Arial"/>
              </a:rPr>
              <a:t>What it does deliver</a:t>
            </a:r>
          </a:p>
        </p:txBody>
      </p:sp>
      <p:sp>
        <p:nvSpPr>
          <p:cNvPr id="20" name="Rounded Rectangle 19"/>
          <p:cNvSpPr/>
          <p:nvPr/>
        </p:nvSpPr>
        <p:spPr>
          <a:xfrm>
            <a:off x="457200" y="2999232"/>
            <a:ext cx="2596896" cy="109728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300" b="0">
                <a:solidFill>
                  <a:srgbClr val="1F4E79"/>
                </a:solidFill>
                <a:latin typeface="Arial"/>
              </a:rPr>
              <a:t>Queryable output</a:t>
            </a:r>
          </a:p>
          <a:p>
            <a:pPr algn="ctr">
              <a:lnSpc>
                <a:spcPct val="106000"/>
              </a:lnSpc>
            </a:pPr>
            <a:r>
              <a:rPr sz="1300" b="0">
                <a:solidFill>
                  <a:srgbClr val="1F4E79"/>
                </a:solidFill>
                <a:latin typeface="Arial"/>
              </a:rPr>
              <a:t/>
            </a:r>
          </a:p>
          <a:p>
            <a:pPr algn="ctr">
              <a:lnSpc>
                <a:spcPct val="106000"/>
              </a:lnSpc>
            </a:pPr>
            <a:r>
              <a:rPr sz="1300" b="0">
                <a:solidFill>
                  <a:srgbClr val="1F4E79"/>
                </a:solidFill>
                <a:latin typeface="Arial"/>
              </a:rPr>
              <a:t>any continuous coordinate;</a:t>
            </a:r>
          </a:p>
          <a:p>
            <a:pPr algn="ctr">
              <a:lnSpc>
                <a:spcPct val="106000"/>
              </a:lnSpc>
            </a:pPr>
            <a:r>
              <a:rPr sz="1300" b="0">
                <a:solidFill>
                  <a:srgbClr val="1F4E79"/>
                </a:solidFill>
                <a:latin typeface="Arial"/>
              </a:rPr>
              <a:t>sparse equals dense exactly</a:t>
            </a:r>
          </a:p>
        </p:txBody>
      </p:sp>
      <p:sp>
        <p:nvSpPr>
          <p:cNvPr id="21" name="Rounded Rectangle 20"/>
          <p:cNvSpPr/>
          <p:nvPr/>
        </p:nvSpPr>
        <p:spPr>
          <a:xfrm>
            <a:off x="3273552" y="2999232"/>
            <a:ext cx="2596896" cy="109728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300" b="0">
                <a:solidFill>
                  <a:srgbClr val="1F4E79"/>
                </a:solidFill>
                <a:latin typeface="Arial"/>
              </a:rPr>
              <a:t>Cheap repeat access</a:t>
            </a:r>
          </a:p>
          <a:p>
            <a:pPr algn="ctr">
              <a:lnSpc>
                <a:spcPct val="106000"/>
              </a:lnSpc>
            </a:pPr>
            <a:r>
              <a:rPr sz="1300" b="0">
                <a:solidFill>
                  <a:srgbClr val="1F4E79"/>
                </a:solidFill>
                <a:latin typeface="Arial"/>
              </a:rPr>
              <a:t/>
            </a:r>
          </a:p>
          <a:p>
            <a:pPr algn="ctr">
              <a:lnSpc>
                <a:spcPct val="106000"/>
              </a:lnSpc>
            </a:pPr>
            <a:r>
              <a:rPr sz="1300" b="0">
                <a:solidFill>
                  <a:srgbClr val="1F4E79"/>
                </a:solidFill>
                <a:latin typeface="Arial"/>
              </a:rPr>
              <a:t>1.25 ms per further query</a:t>
            </a:r>
          </a:p>
          <a:p>
            <a:pPr algn="ctr">
              <a:lnSpc>
                <a:spcPct val="106000"/>
              </a:lnSpc>
            </a:pPr>
            <a:r>
              <a:rPr sz="1300" b="0">
                <a:solidFill>
                  <a:srgbClr val="1F4E79"/>
                </a:solidFill>
                <a:latin typeface="Arial"/>
              </a:rPr>
              <a:t>batch on a cached frame</a:t>
            </a:r>
          </a:p>
        </p:txBody>
      </p:sp>
      <p:sp>
        <p:nvSpPr>
          <p:cNvPr id="22" name="Rounded Rectangle 21"/>
          <p:cNvSpPr/>
          <p:nvPr/>
        </p:nvSpPr>
        <p:spPr>
          <a:xfrm>
            <a:off x="6089904" y="2999232"/>
            <a:ext cx="2596896" cy="1097280"/>
          </a:xfrm>
          <a:prstGeom prst="roundRect">
            <a:avLst>
              <a:gd name="adj" fmla="val 7000"/>
            </a:avLst>
          </a:prstGeom>
          <a:solidFill>
            <a:srgbClr val="EBF3FA"/>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06000"/>
              </a:lnSpc>
            </a:pPr>
            <a:r>
              <a:rPr sz="1300" b="0">
                <a:solidFill>
                  <a:srgbClr val="1F4E79"/>
                </a:solidFill>
                <a:latin typeface="Arial"/>
              </a:rPr>
              <a:t>Calibrated confidence</a:t>
            </a:r>
          </a:p>
          <a:p>
            <a:pPr algn="ctr">
              <a:lnSpc>
                <a:spcPct val="106000"/>
              </a:lnSpc>
            </a:pPr>
            <a:r>
              <a:rPr sz="1300" b="0">
                <a:solidFill>
                  <a:srgbClr val="1F4E79"/>
                </a:solidFill>
                <a:latin typeface="Arial"/>
              </a:rPr>
              <a:t/>
            </a:r>
          </a:p>
          <a:p>
            <a:pPr algn="ctr">
              <a:lnSpc>
                <a:spcPct val="106000"/>
              </a:lnSpc>
            </a:pPr>
            <a:r>
              <a:rPr sz="1300" b="0">
                <a:solidFill>
                  <a:srgbClr val="1F4E79"/>
                </a:solidFill>
                <a:latin typeface="Arial"/>
              </a:rPr>
              <a:t>per-query error estimate,</a:t>
            </a:r>
          </a:p>
          <a:p>
            <a:pPr algn="ctr">
              <a:lnSpc>
                <a:spcPct val="106000"/>
              </a:lnSpc>
            </a:pPr>
            <a:r>
              <a:rPr sz="1300" b="0">
                <a:solidFill>
                  <a:srgbClr val="1F4E79"/>
                </a:solidFill>
                <a:latin typeface="Arial"/>
              </a:rPr>
              <a:t>monotonic against real error</a:t>
            </a:r>
          </a:p>
        </p:txBody>
      </p:sp>
      <p:sp>
        <p:nvSpPr>
          <p:cNvPr id="23" name="TextBox 22"/>
          <p:cNvSpPr txBox="1"/>
          <p:nvPr/>
        </p:nvSpPr>
        <p:spPr>
          <a:xfrm>
            <a:off x="457200" y="4773168"/>
            <a:ext cx="8229600" cy="256032"/>
          </a:xfrm>
          <a:prstGeom prst="rect">
            <a:avLst/>
          </a:prstGeom>
          <a:noFill/>
        </p:spPr>
        <p:txBody>
          <a:bodyPr wrap="square">
            <a:spAutoFit/>
          </a:bodyPr>
          <a:lstStyle/>
          <a:p>
            <a:pPr algn="l">
              <a:lnSpc>
                <a:spcPct val="100000"/>
              </a:lnSpc>
            </a:pPr>
            <a:r>
              <a:rPr sz="1200" b="0">
                <a:solidFill>
                  <a:srgbClr val="777777"/>
                </a:solidFill>
                <a:latin typeface="Arial"/>
              </a:rPr>
              <a:t>Sparse-equals-dense verified to 0.00057 px maximum deviation.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
            <a:ext cx="8229600" cy="219456"/>
          </a:xfrm>
          <a:prstGeom prst="rect">
            <a:avLst/>
          </a:prstGeom>
          <a:noFill/>
        </p:spPr>
        <p:txBody>
          <a:bodyPr wrap="square">
            <a:spAutoFit/>
          </a:bodyPr>
          <a:lstStyle/>
          <a:p>
            <a:pPr algn="l">
              <a:lnSpc>
                <a:spcPct val="100000"/>
              </a:lnSpc>
            </a:pPr>
            <a:r>
              <a:rPr sz="1200" b="0">
                <a:solidFill>
                  <a:srgbClr val="777777"/>
                </a:solidFill>
                <a:latin typeface="Arial"/>
              </a:rPr>
              <a:t>Appendix D — Anticipated questions</a:t>
            </a:r>
          </a:p>
        </p:txBody>
      </p:sp>
      <p:sp>
        <p:nvSpPr>
          <p:cNvPr id="3" name="TextBox 2"/>
          <p:cNvSpPr txBox="1"/>
          <p:nvPr/>
        </p:nvSpPr>
        <p:spPr>
          <a:xfrm>
            <a:off x="8366760" y="4869180"/>
            <a:ext cx="457200" cy="201168"/>
          </a:xfrm>
          <a:prstGeom prst="rect">
            <a:avLst/>
          </a:prstGeom>
          <a:noFill/>
        </p:spPr>
        <p:txBody>
          <a:bodyPr wrap="square">
            <a:spAutoFit/>
          </a:bodyPr>
          <a:lstStyle/>
          <a:p>
            <a:pPr algn="r">
              <a:lnSpc>
                <a:spcPct val="100000"/>
              </a:lnSpc>
            </a:pPr>
            <a:r>
              <a:rPr sz="1100" b="0">
                <a:solidFill>
                  <a:srgbClr val="777777"/>
                </a:solidFill>
                <a:latin typeface="Arial"/>
              </a:rPr>
              <a:t>24</a:t>
            </a:r>
          </a:p>
        </p:txBody>
      </p:sp>
      <p:sp>
        <p:nvSpPr>
          <p:cNvPr id="4" name="TextBox 3"/>
          <p:cNvSpPr txBox="1"/>
          <p:nvPr/>
        </p:nvSpPr>
        <p:spPr>
          <a:xfrm>
            <a:off x="457200" y="274320"/>
            <a:ext cx="8229600" cy="457200"/>
          </a:xfrm>
          <a:prstGeom prst="rect">
            <a:avLst/>
          </a:prstGeom>
          <a:noFill/>
        </p:spPr>
        <p:txBody>
          <a:bodyPr wrap="square">
            <a:spAutoFit/>
          </a:bodyPr>
          <a:lstStyle/>
          <a:p>
            <a:pPr algn="l">
              <a:lnSpc>
                <a:spcPct val="100000"/>
              </a:lnSpc>
            </a:pPr>
            <a:r>
              <a:rPr sz="2400" b="1">
                <a:solidFill>
                  <a:srgbClr val="1F4E79"/>
                </a:solidFill>
                <a:latin typeface="Arial"/>
              </a:rPr>
              <a:t>Four questions I expect, answered</a:t>
            </a:r>
          </a:p>
        </p:txBody>
      </p:sp>
      <p:sp>
        <p:nvSpPr>
          <p:cNvPr id="5" name="Rectangle 4"/>
          <p:cNvSpPr/>
          <p:nvPr/>
        </p:nvSpPr>
        <p:spPr>
          <a:xfrm>
            <a:off x="457200" y="841248"/>
            <a:ext cx="82296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24128"/>
            <a:ext cx="8229600" cy="237744"/>
          </a:xfrm>
          <a:prstGeom prst="rect">
            <a:avLst/>
          </a:prstGeom>
          <a:noFill/>
        </p:spPr>
        <p:txBody>
          <a:bodyPr wrap="square">
            <a:spAutoFit/>
          </a:bodyPr>
          <a:lstStyle/>
          <a:p>
            <a:pPr algn="l">
              <a:lnSpc>
                <a:spcPct val="100000"/>
              </a:lnSpc>
            </a:pPr>
            <a:r>
              <a:rPr sz="1500" b="1">
                <a:solidFill>
                  <a:srgbClr val="1F4E79"/>
                </a:solidFill>
                <a:latin typeface="Arial"/>
              </a:rPr>
              <a:t>Why is flow defined between pixels at all?</a:t>
            </a:r>
          </a:p>
        </p:txBody>
      </p:sp>
      <p:sp>
        <p:nvSpPr>
          <p:cNvPr id="7" name="TextBox 6"/>
          <p:cNvSpPr txBox="1"/>
          <p:nvPr/>
        </p:nvSpPr>
        <p:spPr>
          <a:xfrm>
            <a:off x="658368" y="1271016"/>
            <a:ext cx="8028431" cy="502920"/>
          </a:xfrm>
          <a:prstGeom prst="rect">
            <a:avLst/>
          </a:prstGeom>
          <a:noFill/>
        </p:spPr>
        <p:txBody>
          <a:bodyPr wrap="square">
            <a:spAutoFit/>
          </a:bodyPr>
          <a:lstStyle/>
          <a:p>
            <a:pPr algn="l">
              <a:lnSpc>
                <a:spcPct val="112000"/>
              </a:lnSpc>
            </a:pPr>
            <a:r>
              <a:rPr sz="1300" b="0">
                <a:solidFill>
                  <a:srgbClr val="2D2D2D"/>
                </a:solidFill>
                <a:latin typeface="Arial"/>
              </a:rPr>
              <a:t>Motion is continuous; the pixel grid is a sampling artefact. A corner tracked to (312.7, 188.2) is a real answer, and registration consumes it directly.</a:t>
            </a:r>
          </a:p>
        </p:txBody>
      </p:sp>
      <p:sp>
        <p:nvSpPr>
          <p:cNvPr id="8" name="TextBox 7"/>
          <p:cNvSpPr txBox="1"/>
          <p:nvPr/>
        </p:nvSpPr>
        <p:spPr>
          <a:xfrm>
            <a:off x="457200" y="1956816"/>
            <a:ext cx="8229600" cy="237744"/>
          </a:xfrm>
          <a:prstGeom prst="rect">
            <a:avLst/>
          </a:prstGeom>
          <a:noFill/>
        </p:spPr>
        <p:txBody>
          <a:bodyPr wrap="square">
            <a:spAutoFit/>
          </a:bodyPr>
          <a:lstStyle/>
          <a:p>
            <a:pPr algn="l">
              <a:lnSpc>
                <a:spcPct val="100000"/>
              </a:lnSpc>
            </a:pPr>
            <a:r>
              <a:rPr sz="1500" b="1">
                <a:solidFill>
                  <a:srgbClr val="1F4E79"/>
                </a:solidFill>
                <a:latin typeface="Arial"/>
              </a:rPr>
              <a:t>Why freeze the backbone?</a:t>
            </a:r>
          </a:p>
        </p:txBody>
      </p:sp>
      <p:sp>
        <p:nvSpPr>
          <p:cNvPr id="9" name="TextBox 8"/>
          <p:cNvSpPr txBox="1"/>
          <p:nvPr/>
        </p:nvSpPr>
        <p:spPr>
          <a:xfrm>
            <a:off x="658368" y="2203704"/>
            <a:ext cx="8028431" cy="502920"/>
          </a:xfrm>
          <a:prstGeom prst="rect">
            <a:avLst/>
          </a:prstGeom>
          <a:noFill/>
        </p:spPr>
        <p:txBody>
          <a:bodyPr wrap="square">
            <a:spAutoFit/>
          </a:bodyPr>
          <a:lstStyle/>
          <a:p>
            <a:pPr algn="l">
              <a:lnSpc>
                <a:spcPct val="112000"/>
              </a:lnSpc>
            </a:pPr>
            <a:r>
              <a:rPr sz="1300" b="0">
                <a:solidFill>
                  <a:srgbClr val="2D2D2D"/>
                </a:solidFill>
                <a:latin typeface="Arial"/>
              </a:rPr>
              <a:t>To isolate the decoder as the only variable. Unfreezing diverged at batch 4 and has not been retried at scale.</a:t>
            </a:r>
          </a:p>
        </p:txBody>
      </p:sp>
      <p:sp>
        <p:nvSpPr>
          <p:cNvPr id="10" name="TextBox 9"/>
          <p:cNvSpPr txBox="1"/>
          <p:nvPr/>
        </p:nvSpPr>
        <p:spPr>
          <a:xfrm>
            <a:off x="457200" y="2889504"/>
            <a:ext cx="8229600" cy="237744"/>
          </a:xfrm>
          <a:prstGeom prst="rect">
            <a:avLst/>
          </a:prstGeom>
          <a:noFill/>
        </p:spPr>
        <p:txBody>
          <a:bodyPr wrap="square">
            <a:spAutoFit/>
          </a:bodyPr>
          <a:lstStyle/>
          <a:p>
            <a:pPr algn="l">
              <a:lnSpc>
                <a:spcPct val="100000"/>
              </a:lnSpc>
            </a:pPr>
            <a:r>
              <a:rPr sz="1500" b="1">
                <a:solidFill>
                  <a:srgbClr val="1F4E79"/>
                </a:solidFill>
                <a:latin typeface="Arial"/>
              </a:rPr>
              <a:t>Why is dense v3 slower than v2?</a:t>
            </a:r>
          </a:p>
        </p:txBody>
      </p:sp>
      <p:sp>
        <p:nvSpPr>
          <p:cNvPr id="11" name="TextBox 10"/>
          <p:cNvSpPr txBox="1"/>
          <p:nvPr/>
        </p:nvSpPr>
        <p:spPr>
          <a:xfrm>
            <a:off x="658368" y="3136392"/>
            <a:ext cx="8028431" cy="502920"/>
          </a:xfrm>
          <a:prstGeom prst="rect">
            <a:avLst/>
          </a:prstGeom>
          <a:noFill/>
        </p:spPr>
        <p:txBody>
          <a:bodyPr wrap="square">
            <a:spAutoFit/>
          </a:bodyPr>
          <a:lstStyle/>
          <a:p>
            <a:pPr algn="l">
              <a:lnSpc>
                <a:spcPct val="112000"/>
              </a:lnSpc>
            </a:pPr>
            <a:r>
              <a:rPr sz="1300" b="0">
                <a:solidFill>
                  <a:srgbClr val="2D2D2D"/>
                </a:solidFill>
                <a:latin typeface="Arial"/>
              </a:rPr>
              <a:t>v2 upsamples with one convolution that shares work across neighbouring pixels. v3 answers each query independently, giving up that sharing.</a:t>
            </a:r>
          </a:p>
        </p:txBody>
      </p:sp>
      <p:sp>
        <p:nvSpPr>
          <p:cNvPr id="12" name="TextBox 11"/>
          <p:cNvSpPr txBox="1"/>
          <p:nvPr/>
        </p:nvSpPr>
        <p:spPr>
          <a:xfrm>
            <a:off x="457200" y="3822191"/>
            <a:ext cx="8229600" cy="237744"/>
          </a:xfrm>
          <a:prstGeom prst="rect">
            <a:avLst/>
          </a:prstGeom>
          <a:noFill/>
        </p:spPr>
        <p:txBody>
          <a:bodyPr wrap="square">
            <a:spAutoFit/>
          </a:bodyPr>
          <a:lstStyle/>
          <a:p>
            <a:pPr algn="l">
              <a:lnSpc>
                <a:spcPct val="100000"/>
              </a:lnSpc>
            </a:pPr>
            <a:r>
              <a:rPr sz="1500" b="1">
                <a:solidFill>
                  <a:srgbClr val="1F4E79"/>
                </a:solidFill>
                <a:latin typeface="Arial"/>
              </a:rPr>
              <a:t>Is 2.6 percent worth the added complexity?</a:t>
            </a:r>
          </a:p>
        </p:txBody>
      </p:sp>
      <p:sp>
        <p:nvSpPr>
          <p:cNvPr id="13" name="TextBox 12"/>
          <p:cNvSpPr txBox="1"/>
          <p:nvPr/>
        </p:nvSpPr>
        <p:spPr>
          <a:xfrm>
            <a:off x="658368" y="4069079"/>
            <a:ext cx="8028431" cy="502920"/>
          </a:xfrm>
          <a:prstGeom prst="rect">
            <a:avLst/>
          </a:prstGeom>
          <a:noFill/>
        </p:spPr>
        <p:txBody>
          <a:bodyPr wrap="square">
            <a:spAutoFit/>
          </a:bodyPr>
          <a:lstStyle/>
          <a:p>
            <a:pPr algn="l">
              <a:lnSpc>
                <a:spcPct val="112000"/>
              </a:lnSpc>
            </a:pPr>
            <a:r>
              <a:rPr sz="1300" b="0">
                <a:solidFill>
                  <a:srgbClr val="2D2D2D"/>
                </a:solidFill>
                <a:latin typeface="Arial"/>
              </a:rPr>
              <a:t>Not on its own. It is worth it if you need queryability, cheap repeat access, or confidence. For plain dense flow, v2 remains the better choice.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