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replaced NeuFlow v2's fixed upsampler with a decoder you can query at any coordinate. This version of the deck is deliberately visual: the argument is in the diagrams and the figures, and I will carry the detail verbally. Three things to take away. It costs 2.6 percent of mean accuracy. It buys three capabilities the baseline cannot express. And there is one limitation I have diagnosed but not closed.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three objectives I wrote down at the start, and I am putting them up on their own so they are fixed in your mind before any results. Better accuracy than v2. Less compute than v2. And runs on an edge device. I will come back to every one of them at the end and tell you plainly which were met, because two of them were not, and the honest answer to that is more interesting than the objectives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situation, before the network. A drone or a fast vehicle has a millisecond budget per frame, and a dense flow field does not fit inside it. The chain at the top is what actually happens: the network computes four hundred and seventy-nine thousand vectors and the consumer uses about eight hundred of them. Two things follow from the fixed dense contract, and they are the two bullets underneath. You cannot ask for a position between pixels, and you cannot ask a second question about a frame the network has already processed without paying for all of it again.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actually changed, in one picture. The top chain is v2 exactly as published, up to its one-eighth resolution coarse flow. All 137 tensors shared with v2 are verified bit-identical per checkpoint, so any difference you see later is the decoder and nothing else. The bottom chain is the new part: a coordinate goes in, and out comes a convex blend of the nine neighbouring coarse-flow values plus a bilinear sample. Because the blend is convex it cannot hallucinate motion, and zero-initialised it is exactly bilinear upsampling, so it starts from a known-good operating 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single most important slide in the deck, and it is why the decoder exists. Suppose the platform asks three questions about one frame: a tracker, then a second region, then a refinement. The baseline keeps nothing between calls, so each answer costs a full pass, three times thirty-three milliseconds. v3 pays the coarse pass once, caches it, and each further answer is a decode at one and a quarter milliseconds. Ninety-nine point nine against thirty-seven. That gap is structural rather than a margin, and it widens with every extra question.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and I would rather lead with it than have you find it. Every v3 configuration is less accurate than the baseline on mean end-point error. The best is 2.384 against 2.324, so 2.6 percent worse. The fair comparison is the like-for-like one, trained on FlyingChairs alone as v2 was trained on FlyingThings alone, and that is 7.6 percent behind. The model is thirteen percent smaller, which is worth something but does not excuse it. I know the mechanism and it is on the open-problem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speed there are three numbers here and only one of them is a win, so I want to be precise about which claim I am making. Dense output is ten percent slower than v2, and that mode is not what the decoder is for. A first sparse query is level with v2, because ninety-six percent of the cost is the coarse pass and both models pay it. The win is repeat access, which is the diagram from two slides ago.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predicts an error scale for every query alongside the flow, trained under a Laplace likelihood. Binned by predicted uncertainty, actual error rises monotonically across all five bins, a fifteen-fold span over 2.35 million queries. What that buys is the curve. Mean error over all pixels is one operating point and it is the only one v2 has, because it cannot tell you which of its outputs to trust. Discard the least confident fifth and error on the remainder is 1.06 pixels. For registration you are choosing a few hundred points anyway, so declining to answer costs you nothing you would have used.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enabling result for the whole fast-platform framing. Keep full resolution, process fourteen percent of the frame, and it costs thirty-four thousandths of a pixel while running four and a half times faster. The margin is the part worth dwelling on. Without one, error jumps sixty-five percent and a quarter of the large-motion pixels fail completely, because this network locates large displacement using attention over the whole image and a tight crop takes that away. I should be clear that this applies to any flow network including v2 unchanged.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situations, run on both datasets with the region geometry and the decoder configuration held identical. Only the domain changes. Reading across: the first row is a region entering the field of view, the second is the platform turning so that region now overlaps a second object, the third is a new object appearing in a frame already being processed. Two things to notice. The grey area is never computed at all, in either domain. And the flow inside each aerial region is much closer to uniform than in the driving frames, because a drone rotating through a static scene produces near-constant displacement across a small window.</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wanted to know whether the margin rule was fitted to one dataset or was something more general, so I tested it on aerial sequences, which move about a third as fast. The prediction was that the required margin scales with motion, so the knee should move from thirty-two pixels down to about nine. It did. On the right, divided by mean motion, both domains start at the same penalty and both have shed most of it by the point where the margin equals one frame of motion. To be precise about the limit, this predicts the scale rather than the exact curve, because residuals beyond a ratio of one differ by scene. It is still enough to size a margin in advance from speed and frame rate.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one result specific to the architecture rather than to cropping, and it is scenario three from the domain slide. A frame is already in flight when a new object enters the field of view. Because the coarse pass is cached, answering costs one point seven milliseconds. A cropped pipeline cannot reuse anything, since the new object is outside its box, so it runs an entire new pass at seven point three milliseconds and the answer is worse, three point six pixels against two point one, because a fresh crop has lost the surrounding context. This buys the ability to answer a question you did not know you would have when the frame arrived.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part I have not solved, and it is one mechanism rather than a list of unrelated weaknesses. The decoder never sees full-resolution features. Its finest input is at one-eighth resolution, so inside an eight by eight cell it is looking at almost the same evidence wherever you query, while the upsampler it replaces reads the full-resolution frame directly. That single fact explains the accuracy gap and it explains why three separate experiments returned null. Three nulls with one explanation is what makes me confident in the diagnosis rather than merely suspicious. The remedy is a cheap full-resolution stem, and it is the only candidate on my list that is specific to this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 to the three objectives from slide two, and the honest answer. Better accuracy: not met. Less compute: partly, and it depends entirely on which mode, because dense is slower while repeat queries are twenty-seven times cheaper. Edge capable: unproven, because every number I have is from a laptop GPU. What the project delivered instead is the three things at the bottom, none of which were on the original list, and all three are measured rather than asserted. The next experiment is the full-resolution stem, which is the direct attack on the one gap I have not closed.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85800" y="1874519"/>
            <a:ext cx="10820095" cy="1188720"/>
          </a:xfrm>
          <a:prstGeom prst="rect">
            <a:avLst/>
          </a:prstGeom>
          <a:noFill/>
        </p:spPr>
        <p:txBody>
          <a:bodyPr wrap="square" lIns="0" rIns="0" tIns="0" bIns="0">
            <a:spAutoFit/>
          </a:bodyPr>
          <a:lstStyle/>
          <a:p>
            <a:pPr algn="l">
              <a:lnSpc>
                <a:spcPct val="110000"/>
              </a:lnSpc>
            </a:pPr>
            <a:r>
              <a:rPr sz="4400" b="1">
                <a:solidFill>
                  <a:srgbClr val="1A1A1A"/>
                </a:solidFill>
                <a:latin typeface="DejaVu Serif"/>
              </a:rPr>
              <a:t>NeuFlow v3</a:t>
            </a:r>
          </a:p>
        </p:txBody>
      </p:sp>
      <p:sp>
        <p:nvSpPr>
          <p:cNvPr id="3" name="TextBox 2"/>
          <p:cNvSpPr txBox="1"/>
          <p:nvPr/>
        </p:nvSpPr>
        <p:spPr>
          <a:xfrm>
            <a:off x="685800" y="2834640"/>
            <a:ext cx="10820095" cy="1005840"/>
          </a:xfrm>
          <a:prstGeom prst="rect">
            <a:avLst/>
          </a:prstGeom>
          <a:noFill/>
        </p:spPr>
        <p:txBody>
          <a:bodyPr wrap="square" lIns="0" rIns="0" tIns="0" bIns="0">
            <a:spAutoFit/>
          </a:bodyPr>
          <a:lstStyle/>
          <a:p>
            <a:pPr algn="l">
              <a:lnSpc>
                <a:spcPct val="126000"/>
              </a:lnSpc>
            </a:pPr>
            <a:r>
              <a:rPr sz="2600" b="0">
                <a:solidFill>
                  <a:srgbClr val="1A1A1A"/>
                </a:solidFill>
                <a:latin typeface="DejaVu Serif"/>
              </a:rPr>
              <a:t>Optical flow you can query,</a:t>
            </a:r>
          </a:p>
          <a:p>
            <a:pPr algn="l">
              <a:lnSpc>
                <a:spcPct val="126000"/>
              </a:lnSpc>
            </a:pPr>
            <a:r>
              <a:rPr sz="2600" b="0">
                <a:solidFill>
                  <a:srgbClr val="1A1A1A"/>
                </a:solidFill>
                <a:latin typeface="DejaVu Serif"/>
              </a:rPr>
              <a:t>with a confidence value attached</a:t>
            </a:r>
          </a:p>
        </p:txBody>
      </p:sp>
      <p:sp>
        <p:nvSpPr>
          <p:cNvPr id="4" name="Rectangle 3"/>
          <p:cNvSpPr/>
          <p:nvPr/>
        </p:nvSpPr>
        <p:spPr>
          <a:xfrm>
            <a:off x="685800" y="4133087"/>
            <a:ext cx="2377440" cy="4445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4434840"/>
            <a:ext cx="10820095" cy="822960"/>
          </a:xfrm>
          <a:prstGeom prst="rect">
            <a:avLst/>
          </a:prstGeom>
          <a:noFill/>
        </p:spPr>
        <p:txBody>
          <a:bodyPr wrap="square" lIns="0" rIns="0" tIns="0" bIns="0">
            <a:spAutoFit/>
          </a:bodyPr>
          <a:lstStyle/>
          <a:p>
            <a:pPr algn="l">
              <a:lnSpc>
                <a:spcPct val="136000"/>
              </a:lnSpc>
            </a:pPr>
            <a:r>
              <a:rPr sz="1650" b="0">
                <a:solidFill>
                  <a:srgbClr val="1A1A1A"/>
                </a:solidFill>
                <a:latin typeface="DejaVu Serif"/>
              </a:rPr>
              <a:t>Shriman Raghav Srinivasan</a:t>
            </a:r>
          </a:p>
          <a:p>
            <a:pPr algn="l">
              <a:lnSpc>
                <a:spcPct val="136000"/>
              </a:lnSpc>
            </a:pPr>
            <a:r>
              <a:rPr sz="1650" b="0">
                <a:solidFill>
                  <a:srgbClr val="1A1A1A"/>
                </a:solidFill>
                <a:latin typeface="DejaVu Serif"/>
              </a:rPr>
              <a:t>MS Robotics, Northeastern University   |   Field Robotics Lab</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2</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The three objectives set at the start</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335276"/>
            <a:ext cx="96012" cy="9601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69848" y="2148840"/>
            <a:ext cx="10436047" cy="468884"/>
          </a:xfrm>
          <a:prstGeom prst="rect">
            <a:avLst/>
          </a:prstGeom>
          <a:noFill/>
        </p:spPr>
        <p:txBody>
          <a:bodyPr wrap="square" lIns="0" rIns="0" tIns="0" bIns="0">
            <a:spAutoFit/>
          </a:bodyPr>
          <a:lstStyle/>
          <a:p>
            <a:pPr algn="l">
              <a:lnSpc>
                <a:spcPct val="114000"/>
              </a:lnSpc>
            </a:pPr>
            <a:r>
              <a:rPr sz="2600" b="0">
                <a:solidFill>
                  <a:srgbClr val="1A1A1A"/>
                </a:solidFill>
                <a:latin typeface="DejaVu Serif"/>
              </a:rPr>
              <a:t/>
            </a:r>
            <a:r>
              <a:rPr sz="2600" b="1">
                <a:solidFill>
                  <a:srgbClr val="1A1A1A"/>
                </a:solidFill>
                <a:latin typeface="DejaVu Serif"/>
              </a:rPr>
              <a:t>Better accuracy </a:t>
            </a:r>
            <a:r>
              <a:rPr sz="2600" b="0">
                <a:solidFill>
                  <a:srgbClr val="1A1A1A"/>
                </a:solidFill>
                <a:latin typeface="DejaVu Serif"/>
              </a:rPr>
              <a:t>than NeuFlow v2</a:t>
            </a:r>
          </a:p>
        </p:txBody>
      </p:sp>
      <p:sp>
        <p:nvSpPr>
          <p:cNvPr id="7" name="Rectangle 6"/>
          <p:cNvSpPr/>
          <p:nvPr/>
        </p:nvSpPr>
        <p:spPr>
          <a:xfrm>
            <a:off x="685800" y="3279648"/>
            <a:ext cx="96012" cy="9601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3093212"/>
            <a:ext cx="10436047" cy="468884"/>
          </a:xfrm>
          <a:prstGeom prst="rect">
            <a:avLst/>
          </a:prstGeom>
          <a:noFill/>
        </p:spPr>
        <p:txBody>
          <a:bodyPr wrap="square" lIns="0" rIns="0" tIns="0" bIns="0">
            <a:spAutoFit/>
          </a:bodyPr>
          <a:lstStyle/>
          <a:p>
            <a:pPr algn="l">
              <a:lnSpc>
                <a:spcPct val="114000"/>
              </a:lnSpc>
            </a:pPr>
            <a:r>
              <a:rPr sz="2600" b="0">
                <a:solidFill>
                  <a:srgbClr val="1A1A1A"/>
                </a:solidFill>
                <a:latin typeface="DejaVu Serif"/>
              </a:rPr>
              <a:t/>
            </a:r>
            <a:r>
              <a:rPr sz="2600" b="1">
                <a:solidFill>
                  <a:srgbClr val="1A1A1A"/>
                </a:solidFill>
                <a:latin typeface="DejaVu Serif"/>
              </a:rPr>
              <a:t>Less compute </a:t>
            </a:r>
            <a:r>
              <a:rPr sz="2600" b="0">
                <a:solidFill>
                  <a:srgbClr val="1A1A1A"/>
                </a:solidFill>
                <a:latin typeface="DejaVu Serif"/>
              </a:rPr>
              <a:t>than NeuFlow v2</a:t>
            </a:r>
          </a:p>
        </p:txBody>
      </p:sp>
      <p:sp>
        <p:nvSpPr>
          <p:cNvPr id="9" name="Rectangle 8"/>
          <p:cNvSpPr/>
          <p:nvPr/>
        </p:nvSpPr>
        <p:spPr>
          <a:xfrm>
            <a:off x="685800" y="4224020"/>
            <a:ext cx="96012" cy="9601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4037584"/>
            <a:ext cx="10436047" cy="468884"/>
          </a:xfrm>
          <a:prstGeom prst="rect">
            <a:avLst/>
          </a:prstGeom>
          <a:noFill/>
        </p:spPr>
        <p:txBody>
          <a:bodyPr wrap="square" lIns="0" rIns="0" tIns="0" bIns="0">
            <a:spAutoFit/>
          </a:bodyPr>
          <a:lstStyle/>
          <a:p>
            <a:pPr algn="l">
              <a:lnSpc>
                <a:spcPct val="114000"/>
              </a:lnSpc>
            </a:pPr>
            <a:r>
              <a:rPr sz="2600" b="0">
                <a:solidFill>
                  <a:srgbClr val="1A1A1A"/>
                </a:solidFill>
                <a:latin typeface="DejaVu Serif"/>
              </a:rPr>
              <a:t/>
            </a:r>
            <a:r>
              <a:rPr sz="2600" b="1">
                <a:solidFill>
                  <a:srgbClr val="1A1A1A"/>
                </a:solidFill>
                <a:latin typeface="DejaVu Serif"/>
              </a:rPr>
              <a:t>Runs on edge devices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3</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A fast platform cannot afford the frame</a:t>
            </a:r>
          </a:p>
          <a:p>
            <a:pPr algn="l">
              <a:lnSpc>
                <a:spcPct val="110000"/>
              </a:lnSpc>
            </a:pPr>
            <a:r>
              <a:rPr sz="3000" b="1">
                <a:solidFill>
                  <a:srgbClr val="1A1A1A"/>
                </a:solidFill>
                <a:latin typeface="DejaVu Serif"/>
              </a:rPr>
              <a:t>it is given</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1965960"/>
            <a:ext cx="1915302" cy="960120"/>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50" b="0">
                <a:solidFill>
                  <a:srgbClr val="1A1A1A"/>
                </a:solidFill>
                <a:latin typeface="DejaVu Serif"/>
              </a:rPr>
              <a:t>Camera</a:t>
            </a:r>
          </a:p>
          <a:p>
            <a:pPr algn="ctr">
              <a:lnSpc>
                <a:spcPct val="112000"/>
              </a:lnSpc>
            </a:pPr>
            <a:r>
              <a:rPr sz="1350" b="0">
                <a:solidFill>
                  <a:srgbClr val="1A1A1A"/>
                </a:solidFill>
                <a:latin typeface="DejaVu Serif"/>
              </a:rPr>
              <a:t>frame pair</a:t>
            </a:r>
          </a:p>
        </p:txBody>
      </p:sp>
      <p:sp>
        <p:nvSpPr>
          <p:cNvPr id="6" name="TextBox 5"/>
          <p:cNvSpPr txBox="1"/>
          <p:nvPr/>
        </p:nvSpPr>
        <p:spPr>
          <a:xfrm>
            <a:off x="2601102" y="2299715"/>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7" name="Rectangle 6"/>
          <p:cNvSpPr/>
          <p:nvPr/>
        </p:nvSpPr>
        <p:spPr>
          <a:xfrm>
            <a:off x="2911998" y="1965960"/>
            <a:ext cx="1915302" cy="960120"/>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50" b="0">
                <a:solidFill>
                  <a:srgbClr val="1A1A1A"/>
                </a:solidFill>
                <a:latin typeface="DejaVu Serif"/>
              </a:rPr>
              <a:t>Dense flow</a:t>
            </a:r>
          </a:p>
          <a:p>
            <a:pPr algn="ctr">
              <a:lnSpc>
                <a:spcPct val="112000"/>
              </a:lnSpc>
            </a:pPr>
            <a:r>
              <a:rPr sz="1350" b="0">
                <a:solidFill>
                  <a:srgbClr val="1A1A1A"/>
                </a:solidFill>
                <a:latin typeface="DejaVu Serif"/>
              </a:rPr>
              <a:t>every pixel</a:t>
            </a:r>
          </a:p>
        </p:txBody>
      </p:sp>
      <p:sp>
        <p:nvSpPr>
          <p:cNvPr id="8" name="TextBox 7"/>
          <p:cNvSpPr txBox="1"/>
          <p:nvPr/>
        </p:nvSpPr>
        <p:spPr>
          <a:xfrm>
            <a:off x="4827300" y="2299715"/>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9" name="Rectangle 8"/>
          <p:cNvSpPr/>
          <p:nvPr/>
        </p:nvSpPr>
        <p:spPr>
          <a:xfrm>
            <a:off x="5138196" y="1965960"/>
            <a:ext cx="1915302" cy="960120"/>
          </a:xfrm>
          <a:prstGeom prst="rect">
            <a:avLst/>
          </a:prstGeom>
          <a:solidFill>
            <a:srgbClr val="1A1A1A"/>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50" b="1">
                <a:solidFill>
                  <a:srgbClr val="FFFFFF"/>
                </a:solidFill>
                <a:latin typeface="DejaVu Serif"/>
              </a:rPr>
              <a:t>479,232</a:t>
            </a:r>
          </a:p>
          <a:p>
            <a:pPr algn="ctr">
              <a:lnSpc>
                <a:spcPct val="112000"/>
              </a:lnSpc>
            </a:pPr>
            <a:r>
              <a:rPr sz="1350" b="1">
                <a:solidFill>
                  <a:srgbClr val="FFFFFF"/>
                </a:solidFill>
                <a:latin typeface="DejaVu Serif"/>
              </a:rPr>
              <a:t>vectors</a:t>
            </a:r>
          </a:p>
        </p:txBody>
      </p:sp>
      <p:sp>
        <p:nvSpPr>
          <p:cNvPr id="10" name="TextBox 9"/>
          <p:cNvSpPr txBox="1"/>
          <p:nvPr/>
        </p:nvSpPr>
        <p:spPr>
          <a:xfrm>
            <a:off x="7053498" y="2299715"/>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11" name="Rectangle 10"/>
          <p:cNvSpPr/>
          <p:nvPr/>
        </p:nvSpPr>
        <p:spPr>
          <a:xfrm>
            <a:off x="7364394" y="1965960"/>
            <a:ext cx="1915302" cy="960120"/>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50" b="0">
                <a:solidFill>
                  <a:srgbClr val="1A1A1A"/>
                </a:solidFill>
                <a:latin typeface="DejaVu Serif"/>
              </a:rPr>
              <a:t>Consumer</a:t>
            </a:r>
          </a:p>
          <a:p>
            <a:pPr algn="ctr">
              <a:lnSpc>
                <a:spcPct val="112000"/>
              </a:lnSpc>
            </a:pPr>
            <a:r>
              <a:rPr sz="1350" b="0">
                <a:solidFill>
                  <a:srgbClr val="1A1A1A"/>
                </a:solidFill>
                <a:latin typeface="DejaVu Serif"/>
              </a:rPr>
              <a:t>uses ~800</a:t>
            </a:r>
          </a:p>
        </p:txBody>
      </p:sp>
      <p:sp>
        <p:nvSpPr>
          <p:cNvPr id="12" name="TextBox 11"/>
          <p:cNvSpPr txBox="1"/>
          <p:nvPr/>
        </p:nvSpPr>
        <p:spPr>
          <a:xfrm>
            <a:off x="9279696" y="2299715"/>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13" name="Rectangle 12"/>
          <p:cNvSpPr/>
          <p:nvPr/>
        </p:nvSpPr>
        <p:spPr>
          <a:xfrm>
            <a:off x="9590592" y="1965960"/>
            <a:ext cx="1915302" cy="960120"/>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50" b="0">
                <a:solidFill>
                  <a:srgbClr val="1A1A1A"/>
                </a:solidFill>
                <a:latin typeface="DejaVu Serif"/>
              </a:rPr>
              <a:t>478,432</a:t>
            </a:r>
          </a:p>
          <a:p>
            <a:pPr algn="ctr">
              <a:lnSpc>
                <a:spcPct val="112000"/>
              </a:lnSpc>
            </a:pPr>
            <a:r>
              <a:rPr sz="1350" b="0">
                <a:solidFill>
                  <a:srgbClr val="1A1A1A"/>
                </a:solidFill>
                <a:latin typeface="DejaVu Serif"/>
              </a:rPr>
              <a:t>discarded</a:t>
            </a:r>
          </a:p>
        </p:txBody>
      </p:sp>
      <p:sp>
        <p:nvSpPr>
          <p:cNvPr id="14" name="Rectangle 13"/>
          <p:cNvSpPr/>
          <p:nvPr/>
        </p:nvSpPr>
        <p:spPr>
          <a:xfrm>
            <a:off x="685800" y="3605022"/>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474720"/>
            <a:ext cx="10545775" cy="324612"/>
          </a:xfrm>
          <a:prstGeom prst="rect">
            <a:avLst/>
          </a:prstGeom>
          <a:noFill/>
        </p:spPr>
        <p:txBody>
          <a:bodyPr wrap="square" lIns="0" rIns="0" tIns="0" bIns="0">
            <a:spAutoFit/>
          </a:bodyPr>
          <a:lstStyle/>
          <a:p>
            <a:pPr algn="l">
              <a:lnSpc>
                <a:spcPct val="114000"/>
              </a:lnSpc>
            </a:pPr>
            <a:r>
              <a:rPr sz="1800" b="0">
                <a:solidFill>
                  <a:srgbClr val="1A1A1A"/>
                </a:solidFill>
                <a:latin typeface="DejaVu Serif"/>
              </a:rPr>
              <a:t/>
            </a:r>
            <a:r>
              <a:rPr sz="1800" b="0">
                <a:solidFill>
                  <a:srgbClr val="1A1A1A"/>
                </a:solidFill>
                <a:latin typeface="DejaVu Serif"/>
              </a:rPr>
              <a:t>Registration, tracking and mosaicking each pick their own few hundred points.</a:t>
            </a:r>
          </a:p>
        </p:txBody>
      </p:sp>
      <p:sp>
        <p:nvSpPr>
          <p:cNvPr id="16" name="Rectangle 15"/>
          <p:cNvSpPr/>
          <p:nvPr/>
        </p:nvSpPr>
        <p:spPr>
          <a:xfrm>
            <a:off x="685800" y="4112513"/>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982211"/>
            <a:ext cx="10545775" cy="324612"/>
          </a:xfrm>
          <a:prstGeom prst="rect">
            <a:avLst/>
          </a:prstGeom>
          <a:noFill/>
        </p:spPr>
        <p:txBody>
          <a:bodyPr wrap="square" lIns="0" rIns="0" tIns="0" bIns="0">
            <a:spAutoFit/>
          </a:bodyPr>
          <a:lstStyle/>
          <a:p>
            <a:pPr algn="l">
              <a:lnSpc>
                <a:spcPct val="114000"/>
              </a:lnSpc>
            </a:pPr>
            <a:r>
              <a:rPr sz="1800" b="0">
                <a:solidFill>
                  <a:srgbClr val="1A1A1A"/>
                </a:solidFill>
                <a:latin typeface="DejaVu Serif"/>
              </a:rPr>
              <a:t/>
            </a:r>
            <a:r>
              <a:rPr sz="1800" b="0">
                <a:solidFill>
                  <a:srgbClr val="1A1A1A"/>
                </a:solidFill>
                <a:latin typeface="DejaVu Serif"/>
              </a:rPr>
              <a:t>Flow between pixels cannot be requested at all.</a:t>
            </a:r>
          </a:p>
        </p:txBody>
      </p:sp>
      <p:sp>
        <p:nvSpPr>
          <p:cNvPr id="18" name="Rectangle 17"/>
          <p:cNvSpPr/>
          <p:nvPr/>
        </p:nvSpPr>
        <p:spPr>
          <a:xfrm>
            <a:off x="685800" y="4620005"/>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4489703"/>
            <a:ext cx="10545775" cy="324612"/>
          </a:xfrm>
          <a:prstGeom prst="rect">
            <a:avLst/>
          </a:prstGeom>
          <a:noFill/>
        </p:spPr>
        <p:txBody>
          <a:bodyPr wrap="square" lIns="0" rIns="0" tIns="0" bIns="0">
            <a:spAutoFit/>
          </a:bodyPr>
          <a:lstStyle/>
          <a:p>
            <a:pPr algn="l">
              <a:lnSpc>
                <a:spcPct val="114000"/>
              </a:lnSpc>
            </a:pPr>
            <a:r>
              <a:rPr sz="1800" b="0">
                <a:solidFill>
                  <a:srgbClr val="1A1A1A"/>
                </a:solidFill>
                <a:latin typeface="DejaVu Serif"/>
              </a:rPr>
              <a:t/>
            </a:r>
            <a:r>
              <a:rPr sz="1800" b="0">
                <a:solidFill>
                  <a:srgbClr val="1A1A1A"/>
                </a:solidFill>
                <a:latin typeface="DejaVu Serif"/>
              </a:rPr>
              <a:t>A second question about the same frame costs the whole computation again.</a:t>
            </a:r>
          </a:p>
        </p:txBody>
      </p:sp>
      <p:sp>
        <p:nvSpPr>
          <p:cNvPr id="20" name="TextBox 19"/>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Frame size 384 x 1248. Baseline: Zhang, Gupta, Jiang and Singh (2024), NeuFlow v2.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4</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Only the last stage changes</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74519"/>
            <a:ext cx="10820095" cy="237744"/>
          </a:xfrm>
          <a:prstGeom prst="rect">
            <a:avLst/>
          </a:prstGeom>
          <a:noFill/>
        </p:spPr>
        <p:txBody>
          <a:bodyPr wrap="square" lIns="0" rIns="0" tIns="0" bIns="0">
            <a:spAutoFit/>
          </a:bodyPr>
          <a:lstStyle/>
          <a:p>
            <a:pPr algn="l">
              <a:lnSpc>
                <a:spcPct val="100000"/>
              </a:lnSpc>
            </a:pPr>
            <a:r>
              <a:rPr sz="1300" b="1">
                <a:solidFill>
                  <a:srgbClr val="5A5A5A"/>
                </a:solidFill>
                <a:latin typeface="DejaVu Serif"/>
              </a:rPr>
              <a:t>PHASE 1   once per frame pair, cached</a:t>
            </a:r>
          </a:p>
        </p:txBody>
      </p:sp>
      <p:sp>
        <p:nvSpPr>
          <p:cNvPr id="6" name="Rectangle 5"/>
          <p:cNvSpPr/>
          <p:nvPr/>
        </p:nvSpPr>
        <p:spPr>
          <a:xfrm>
            <a:off x="685800" y="2176272"/>
            <a:ext cx="1915302" cy="89611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250" b="0">
                <a:solidFill>
                  <a:srgbClr val="1A1A1A"/>
                </a:solidFill>
                <a:latin typeface="DejaVu Serif"/>
              </a:rPr>
              <a:t>Image pair</a:t>
            </a:r>
          </a:p>
        </p:txBody>
      </p:sp>
      <p:sp>
        <p:nvSpPr>
          <p:cNvPr id="7" name="TextBox 6"/>
          <p:cNvSpPr txBox="1"/>
          <p:nvPr/>
        </p:nvSpPr>
        <p:spPr>
          <a:xfrm>
            <a:off x="2601102" y="2478024"/>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8" name="Rectangle 7"/>
          <p:cNvSpPr/>
          <p:nvPr/>
        </p:nvSpPr>
        <p:spPr>
          <a:xfrm>
            <a:off x="2911998" y="2176272"/>
            <a:ext cx="1915302" cy="89611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250" b="0">
                <a:solidFill>
                  <a:srgbClr val="1A1A1A"/>
                </a:solidFill>
                <a:latin typeface="DejaVu Serif"/>
              </a:rPr>
              <a:t>CNN backbone</a:t>
            </a:r>
          </a:p>
          <a:p>
            <a:pPr algn="ctr">
              <a:lnSpc>
                <a:spcPct val="112000"/>
              </a:lnSpc>
            </a:pPr>
            <a:r>
              <a:rPr sz="1250" b="0">
                <a:solidFill>
                  <a:srgbClr val="1A1A1A"/>
                </a:solidFill>
                <a:latin typeface="DejaVu Serif"/>
              </a:rPr>
              <a:t>1/8 and 1/16</a:t>
            </a:r>
          </a:p>
        </p:txBody>
      </p:sp>
      <p:sp>
        <p:nvSpPr>
          <p:cNvPr id="9" name="TextBox 8"/>
          <p:cNvSpPr txBox="1"/>
          <p:nvPr/>
        </p:nvSpPr>
        <p:spPr>
          <a:xfrm>
            <a:off x="4827300" y="2478024"/>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10" name="Rectangle 9"/>
          <p:cNvSpPr/>
          <p:nvPr/>
        </p:nvSpPr>
        <p:spPr>
          <a:xfrm>
            <a:off x="5138196" y="2176272"/>
            <a:ext cx="1915302" cy="89611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250" b="0">
                <a:solidFill>
                  <a:srgbClr val="1A1A1A"/>
                </a:solidFill>
                <a:latin typeface="DejaVu Serif"/>
              </a:rPr>
              <a:t>Cross-attention</a:t>
            </a:r>
          </a:p>
          <a:p>
            <a:pPr algn="ctr">
              <a:lnSpc>
                <a:spcPct val="112000"/>
              </a:lnSpc>
            </a:pPr>
            <a:r>
              <a:rPr sz="1250" b="0">
                <a:solidFill>
                  <a:srgbClr val="1A1A1A"/>
                </a:solidFill>
                <a:latin typeface="DejaVu Serif"/>
              </a:rPr>
              <a:t>global match</a:t>
            </a:r>
          </a:p>
        </p:txBody>
      </p:sp>
      <p:sp>
        <p:nvSpPr>
          <p:cNvPr id="11" name="TextBox 10"/>
          <p:cNvSpPr txBox="1"/>
          <p:nvPr/>
        </p:nvSpPr>
        <p:spPr>
          <a:xfrm>
            <a:off x="7053498" y="2478024"/>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12" name="Rectangle 11"/>
          <p:cNvSpPr/>
          <p:nvPr/>
        </p:nvSpPr>
        <p:spPr>
          <a:xfrm>
            <a:off x="7364394" y="2176272"/>
            <a:ext cx="1915302" cy="89611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250" b="0">
                <a:solidFill>
                  <a:srgbClr val="1A1A1A"/>
                </a:solidFill>
                <a:latin typeface="DejaVu Serif"/>
              </a:rPr>
              <a:t>Refinement</a:t>
            </a:r>
          </a:p>
          <a:p>
            <a:pPr algn="ctr">
              <a:lnSpc>
                <a:spcPct val="112000"/>
              </a:lnSpc>
            </a:pPr>
            <a:r>
              <a:rPr sz="1250" b="0">
                <a:solidFill>
                  <a:srgbClr val="1A1A1A"/>
                </a:solidFill>
                <a:latin typeface="DejaVu Serif"/>
              </a:rPr>
              <a:t>1x s16, 8x s8</a:t>
            </a:r>
          </a:p>
        </p:txBody>
      </p:sp>
      <p:sp>
        <p:nvSpPr>
          <p:cNvPr id="13" name="TextBox 12"/>
          <p:cNvSpPr txBox="1"/>
          <p:nvPr/>
        </p:nvSpPr>
        <p:spPr>
          <a:xfrm>
            <a:off x="9279696" y="2478024"/>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14" name="Rectangle 13"/>
          <p:cNvSpPr/>
          <p:nvPr/>
        </p:nvSpPr>
        <p:spPr>
          <a:xfrm>
            <a:off x="9590592" y="2176272"/>
            <a:ext cx="1915302" cy="896112"/>
          </a:xfrm>
          <a:prstGeom prst="rect">
            <a:avLst/>
          </a:prstGeom>
          <a:solidFill>
            <a:srgbClr val="1A1A1A"/>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250" b="1">
                <a:solidFill>
                  <a:srgbClr val="FFFFFF"/>
                </a:solidFill>
                <a:latin typeface="DejaVu Serif"/>
              </a:rPr>
              <a:t>Coarse flow</a:t>
            </a:r>
          </a:p>
          <a:p>
            <a:pPr algn="ctr">
              <a:lnSpc>
                <a:spcPct val="112000"/>
              </a:lnSpc>
            </a:pPr>
            <a:r>
              <a:rPr sz="1250" b="1">
                <a:solidFill>
                  <a:srgbClr val="FFFFFF"/>
                </a:solidFill>
                <a:latin typeface="DejaVu Serif"/>
              </a:rPr>
              <a:t>at 1/8</a:t>
            </a:r>
          </a:p>
        </p:txBody>
      </p:sp>
      <p:sp>
        <p:nvSpPr>
          <p:cNvPr id="15" name="TextBox 14"/>
          <p:cNvSpPr txBox="1"/>
          <p:nvPr/>
        </p:nvSpPr>
        <p:spPr>
          <a:xfrm>
            <a:off x="685800" y="3401568"/>
            <a:ext cx="10820095" cy="237744"/>
          </a:xfrm>
          <a:prstGeom prst="rect">
            <a:avLst/>
          </a:prstGeom>
          <a:noFill/>
        </p:spPr>
        <p:txBody>
          <a:bodyPr wrap="square" lIns="0" rIns="0" tIns="0" bIns="0">
            <a:spAutoFit/>
          </a:bodyPr>
          <a:lstStyle/>
          <a:p>
            <a:pPr algn="l">
              <a:lnSpc>
                <a:spcPct val="100000"/>
              </a:lnSpc>
            </a:pPr>
            <a:r>
              <a:rPr sz="1300" b="1">
                <a:solidFill>
                  <a:srgbClr val="5A5A5A"/>
                </a:solidFill>
                <a:latin typeface="DejaVu Serif"/>
              </a:rPr>
              <a:t>PHASE 2   once per query batch, O(N)</a:t>
            </a:r>
          </a:p>
        </p:txBody>
      </p:sp>
      <p:sp>
        <p:nvSpPr>
          <p:cNvPr id="16" name="Rectangle 15"/>
          <p:cNvSpPr/>
          <p:nvPr/>
        </p:nvSpPr>
        <p:spPr>
          <a:xfrm>
            <a:off x="685800" y="3703320"/>
            <a:ext cx="1915302" cy="89611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250" b="0">
                <a:solidFill>
                  <a:srgbClr val="1A1A1A"/>
                </a:solidFill>
                <a:latin typeface="DejaVu Serif"/>
              </a:rPr>
              <a:t>Query (x, y)</a:t>
            </a:r>
          </a:p>
          <a:p>
            <a:pPr algn="ctr">
              <a:lnSpc>
                <a:spcPct val="112000"/>
              </a:lnSpc>
            </a:pPr>
            <a:r>
              <a:rPr sz="1250" b="0">
                <a:solidFill>
                  <a:srgbClr val="1A1A1A"/>
                </a:solidFill>
                <a:latin typeface="DejaVu Serif"/>
              </a:rPr>
              <a:t>continuous</a:t>
            </a:r>
          </a:p>
        </p:txBody>
      </p:sp>
      <p:sp>
        <p:nvSpPr>
          <p:cNvPr id="17" name="TextBox 16"/>
          <p:cNvSpPr txBox="1"/>
          <p:nvPr/>
        </p:nvSpPr>
        <p:spPr>
          <a:xfrm>
            <a:off x="2601102" y="4005072"/>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18" name="Rectangle 17"/>
          <p:cNvSpPr/>
          <p:nvPr/>
        </p:nvSpPr>
        <p:spPr>
          <a:xfrm>
            <a:off x="2911998" y="3703320"/>
            <a:ext cx="1915302" cy="89611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250" b="0">
                <a:solidFill>
                  <a:srgbClr val="1A1A1A"/>
                </a:solidFill>
                <a:latin typeface="DejaVu Serif"/>
              </a:rPr>
              <a:t>Sample 3x3</a:t>
            </a:r>
          </a:p>
          <a:p>
            <a:pPr algn="ctr">
              <a:lnSpc>
                <a:spcPct val="112000"/>
              </a:lnSpc>
            </a:pPr>
            <a:r>
              <a:rPr sz="1250" b="0">
                <a:solidFill>
                  <a:srgbClr val="1A1A1A"/>
                </a:solidFill>
                <a:latin typeface="DejaVu Serif"/>
              </a:rPr>
              <a:t>four sources</a:t>
            </a:r>
          </a:p>
        </p:txBody>
      </p:sp>
      <p:sp>
        <p:nvSpPr>
          <p:cNvPr id="19" name="TextBox 18"/>
          <p:cNvSpPr txBox="1"/>
          <p:nvPr/>
        </p:nvSpPr>
        <p:spPr>
          <a:xfrm>
            <a:off x="4827300" y="4005072"/>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20" name="Rectangle 19"/>
          <p:cNvSpPr/>
          <p:nvPr/>
        </p:nvSpPr>
        <p:spPr>
          <a:xfrm>
            <a:off x="5138196" y="3703320"/>
            <a:ext cx="1915302" cy="89611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250" b="0">
                <a:solidFill>
                  <a:srgbClr val="1A1A1A"/>
                </a:solidFill>
                <a:latin typeface="DejaVu Serif"/>
              </a:rPr>
              <a:t>Gated fusion</a:t>
            </a:r>
          </a:p>
          <a:p>
            <a:pPr algn="ctr">
              <a:lnSpc>
                <a:spcPct val="112000"/>
              </a:lnSpc>
            </a:pPr>
            <a:r>
              <a:rPr sz="1250" b="0">
                <a:solidFill>
                  <a:srgbClr val="1A1A1A"/>
                </a:solidFill>
                <a:latin typeface="DejaVu Serif"/>
              </a:rPr>
              <a:t>MLP</a:t>
            </a:r>
          </a:p>
        </p:txBody>
      </p:sp>
      <p:sp>
        <p:nvSpPr>
          <p:cNvPr id="21" name="TextBox 20"/>
          <p:cNvSpPr txBox="1"/>
          <p:nvPr/>
        </p:nvSpPr>
        <p:spPr>
          <a:xfrm>
            <a:off x="7053498" y="4005072"/>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22" name="Rectangle 21"/>
          <p:cNvSpPr/>
          <p:nvPr/>
        </p:nvSpPr>
        <p:spPr>
          <a:xfrm>
            <a:off x="7364394" y="3703320"/>
            <a:ext cx="1915302" cy="89611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250" b="0">
                <a:solidFill>
                  <a:srgbClr val="1A1A1A"/>
                </a:solidFill>
                <a:latin typeface="DejaVu Serif"/>
              </a:rPr>
              <a:t>Convex blend</a:t>
            </a:r>
          </a:p>
          <a:p>
            <a:pPr algn="ctr">
              <a:lnSpc>
                <a:spcPct val="112000"/>
              </a:lnSpc>
            </a:pPr>
            <a:r>
              <a:rPr sz="1250" b="0">
                <a:solidFill>
                  <a:srgbClr val="1A1A1A"/>
                </a:solidFill>
                <a:latin typeface="DejaVu Serif"/>
              </a:rPr>
              <a:t>nine plus one</a:t>
            </a:r>
          </a:p>
        </p:txBody>
      </p:sp>
      <p:sp>
        <p:nvSpPr>
          <p:cNvPr id="23" name="TextBox 22"/>
          <p:cNvSpPr txBox="1"/>
          <p:nvPr/>
        </p:nvSpPr>
        <p:spPr>
          <a:xfrm>
            <a:off x="9279696" y="4005072"/>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24" name="Rectangle 23"/>
          <p:cNvSpPr/>
          <p:nvPr/>
        </p:nvSpPr>
        <p:spPr>
          <a:xfrm>
            <a:off x="9590592" y="3703320"/>
            <a:ext cx="1915302" cy="896112"/>
          </a:xfrm>
          <a:prstGeom prst="rect">
            <a:avLst/>
          </a:prstGeom>
          <a:solidFill>
            <a:srgbClr val="1A1A1A"/>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250" b="1">
                <a:solidFill>
                  <a:srgbClr val="FFFFFF"/>
                </a:solidFill>
                <a:latin typeface="DejaVu Serif"/>
              </a:rPr>
              <a:t>Flow and</a:t>
            </a:r>
          </a:p>
          <a:p>
            <a:pPr algn="ctr">
              <a:lnSpc>
                <a:spcPct val="112000"/>
              </a:lnSpc>
            </a:pPr>
            <a:r>
              <a:rPr sz="1250" b="1">
                <a:solidFill>
                  <a:srgbClr val="FFFFFF"/>
                </a:solidFill>
                <a:latin typeface="DejaVu Serif"/>
              </a:rPr>
              <a:t>confidence</a:t>
            </a:r>
          </a:p>
        </p:txBody>
      </p:sp>
      <p:sp>
        <p:nvSpPr>
          <p:cNvPr id="25" name="Rectangle 24"/>
          <p:cNvSpPr/>
          <p:nvPr/>
        </p:nvSpPr>
        <p:spPr>
          <a:xfrm>
            <a:off x="685800" y="5072824"/>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60120" y="4956048"/>
            <a:ext cx="10545775"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Everything in Phase 1 is frozen and verified bit-identical to v2.</a:t>
            </a:r>
          </a:p>
        </p:txBody>
      </p:sp>
      <p:sp>
        <p:nvSpPr>
          <p:cNvPr id="27" name="Rectangle 26"/>
          <p:cNvSpPr/>
          <p:nvPr/>
        </p:nvSpPr>
        <p:spPr>
          <a:xfrm>
            <a:off x="685800" y="5553265"/>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436489"/>
            <a:ext cx="10545775"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A convex blend cannot predict motion its inputs do not support.</a:t>
            </a:r>
          </a:p>
        </p:txBody>
      </p:sp>
      <p:sp>
        <p:nvSpPr>
          <p:cNvPr id="29" name="TextBox 28"/>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Convex weights follow AnyFlow (2023). Gated fusion follows InfiniDepth (2025).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5</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Three questions about one frame</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801368"/>
            <a:ext cx="3657600" cy="237744"/>
          </a:xfrm>
          <a:prstGeom prst="rect">
            <a:avLst/>
          </a:prstGeom>
          <a:noFill/>
        </p:spPr>
        <p:txBody>
          <a:bodyPr wrap="square" lIns="0" rIns="0" tIns="0" bIns="0">
            <a:spAutoFit/>
          </a:bodyPr>
          <a:lstStyle/>
          <a:p>
            <a:pPr algn="l">
              <a:lnSpc>
                <a:spcPct val="100000"/>
              </a:lnSpc>
            </a:pPr>
            <a:r>
              <a:rPr sz="1300" b="1">
                <a:solidFill>
                  <a:srgbClr val="5A5A5A"/>
                </a:solidFill>
                <a:latin typeface="DejaVu Serif"/>
              </a:rPr>
              <a:t>NEUFLOW V2</a:t>
            </a:r>
          </a:p>
        </p:txBody>
      </p:sp>
      <p:sp>
        <p:nvSpPr>
          <p:cNvPr id="6" name="Rectangle 5"/>
          <p:cNvSpPr/>
          <p:nvPr/>
        </p:nvSpPr>
        <p:spPr>
          <a:xfrm>
            <a:off x="2167128" y="2148840"/>
            <a:ext cx="2148840"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200" b="0">
                <a:solidFill>
                  <a:srgbClr val="1A1A1A"/>
                </a:solidFill>
                <a:latin typeface="DejaVu Serif"/>
              </a:rPr>
              <a:t>full pass</a:t>
            </a:r>
          </a:p>
          <a:p>
            <a:pPr algn="ctr">
              <a:lnSpc>
                <a:spcPct val="110000"/>
              </a:lnSpc>
            </a:pPr>
            <a:r>
              <a:rPr sz="1200" b="0">
                <a:solidFill>
                  <a:srgbClr val="1A1A1A"/>
                </a:solidFill>
                <a:latin typeface="DejaVu Serif"/>
              </a:rPr>
              <a:t>33.3 ms</a:t>
            </a:r>
          </a:p>
        </p:txBody>
      </p:sp>
      <p:sp>
        <p:nvSpPr>
          <p:cNvPr id="7" name="TextBox 6"/>
          <p:cNvSpPr txBox="1"/>
          <p:nvPr/>
        </p:nvSpPr>
        <p:spPr>
          <a:xfrm>
            <a:off x="4315968" y="2267712"/>
            <a:ext cx="310896" cy="256032"/>
          </a:xfrm>
          <a:prstGeom prst="rect">
            <a:avLst/>
          </a:prstGeom>
          <a:noFill/>
        </p:spPr>
        <p:txBody>
          <a:bodyPr wrap="square" lIns="0" rIns="0" tIns="0" bIns="0">
            <a:spAutoFit/>
          </a:bodyPr>
          <a:lstStyle/>
          <a:p>
            <a:pPr algn="ctr">
              <a:lnSpc>
                <a:spcPct val="100000"/>
              </a:lnSpc>
            </a:pPr>
            <a:r>
              <a:rPr sz="1300" b="1">
                <a:solidFill>
                  <a:srgbClr val="808080"/>
                </a:solidFill>
                <a:latin typeface="DejaVu Serif"/>
              </a:rPr>
              <a:t>&gt;</a:t>
            </a:r>
          </a:p>
        </p:txBody>
      </p:sp>
      <p:sp>
        <p:nvSpPr>
          <p:cNvPr id="8" name="Rectangle 7"/>
          <p:cNvSpPr/>
          <p:nvPr/>
        </p:nvSpPr>
        <p:spPr>
          <a:xfrm>
            <a:off x="4626864" y="2148840"/>
            <a:ext cx="1188720"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150" b="0">
                <a:solidFill>
                  <a:srgbClr val="1A1A1A"/>
                </a:solidFill>
                <a:latin typeface="DejaVu Serif"/>
              </a:rPr>
              <a:t>answer 1</a:t>
            </a:r>
          </a:p>
        </p:txBody>
      </p:sp>
      <p:sp>
        <p:nvSpPr>
          <p:cNvPr id="9" name="Rectangle 8"/>
          <p:cNvSpPr/>
          <p:nvPr/>
        </p:nvSpPr>
        <p:spPr>
          <a:xfrm>
            <a:off x="2167128" y="2770632"/>
            <a:ext cx="2148840"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200" b="0">
                <a:solidFill>
                  <a:srgbClr val="1A1A1A"/>
                </a:solidFill>
                <a:latin typeface="DejaVu Serif"/>
              </a:rPr>
              <a:t>full pass</a:t>
            </a:r>
          </a:p>
          <a:p>
            <a:pPr algn="ctr">
              <a:lnSpc>
                <a:spcPct val="110000"/>
              </a:lnSpc>
            </a:pPr>
            <a:r>
              <a:rPr sz="1200" b="0">
                <a:solidFill>
                  <a:srgbClr val="1A1A1A"/>
                </a:solidFill>
                <a:latin typeface="DejaVu Serif"/>
              </a:rPr>
              <a:t>33.3 ms</a:t>
            </a:r>
          </a:p>
        </p:txBody>
      </p:sp>
      <p:sp>
        <p:nvSpPr>
          <p:cNvPr id="10" name="TextBox 9"/>
          <p:cNvSpPr txBox="1"/>
          <p:nvPr/>
        </p:nvSpPr>
        <p:spPr>
          <a:xfrm>
            <a:off x="4315968" y="2889504"/>
            <a:ext cx="310896" cy="256032"/>
          </a:xfrm>
          <a:prstGeom prst="rect">
            <a:avLst/>
          </a:prstGeom>
          <a:noFill/>
        </p:spPr>
        <p:txBody>
          <a:bodyPr wrap="square" lIns="0" rIns="0" tIns="0" bIns="0">
            <a:spAutoFit/>
          </a:bodyPr>
          <a:lstStyle/>
          <a:p>
            <a:pPr algn="ctr">
              <a:lnSpc>
                <a:spcPct val="100000"/>
              </a:lnSpc>
            </a:pPr>
            <a:r>
              <a:rPr sz="1300" b="1">
                <a:solidFill>
                  <a:srgbClr val="808080"/>
                </a:solidFill>
                <a:latin typeface="DejaVu Serif"/>
              </a:rPr>
              <a:t>&gt;</a:t>
            </a:r>
          </a:p>
        </p:txBody>
      </p:sp>
      <p:sp>
        <p:nvSpPr>
          <p:cNvPr id="11" name="Rectangle 10"/>
          <p:cNvSpPr/>
          <p:nvPr/>
        </p:nvSpPr>
        <p:spPr>
          <a:xfrm>
            <a:off x="4626864" y="2770632"/>
            <a:ext cx="1188720"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150" b="0">
                <a:solidFill>
                  <a:srgbClr val="1A1A1A"/>
                </a:solidFill>
                <a:latin typeface="DejaVu Serif"/>
              </a:rPr>
              <a:t>answer 2</a:t>
            </a:r>
          </a:p>
        </p:txBody>
      </p:sp>
      <p:sp>
        <p:nvSpPr>
          <p:cNvPr id="12" name="Rectangle 11"/>
          <p:cNvSpPr/>
          <p:nvPr/>
        </p:nvSpPr>
        <p:spPr>
          <a:xfrm>
            <a:off x="2167128" y="3392424"/>
            <a:ext cx="2148840"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200" b="0">
                <a:solidFill>
                  <a:srgbClr val="1A1A1A"/>
                </a:solidFill>
                <a:latin typeface="DejaVu Serif"/>
              </a:rPr>
              <a:t>full pass</a:t>
            </a:r>
          </a:p>
          <a:p>
            <a:pPr algn="ctr">
              <a:lnSpc>
                <a:spcPct val="110000"/>
              </a:lnSpc>
            </a:pPr>
            <a:r>
              <a:rPr sz="1200" b="0">
                <a:solidFill>
                  <a:srgbClr val="1A1A1A"/>
                </a:solidFill>
                <a:latin typeface="DejaVu Serif"/>
              </a:rPr>
              <a:t>33.3 ms</a:t>
            </a:r>
          </a:p>
        </p:txBody>
      </p:sp>
      <p:sp>
        <p:nvSpPr>
          <p:cNvPr id="13" name="TextBox 12"/>
          <p:cNvSpPr txBox="1"/>
          <p:nvPr/>
        </p:nvSpPr>
        <p:spPr>
          <a:xfrm>
            <a:off x="4315968" y="3511296"/>
            <a:ext cx="310896" cy="256032"/>
          </a:xfrm>
          <a:prstGeom prst="rect">
            <a:avLst/>
          </a:prstGeom>
          <a:noFill/>
        </p:spPr>
        <p:txBody>
          <a:bodyPr wrap="square" lIns="0" rIns="0" tIns="0" bIns="0">
            <a:spAutoFit/>
          </a:bodyPr>
          <a:lstStyle/>
          <a:p>
            <a:pPr algn="ctr">
              <a:lnSpc>
                <a:spcPct val="100000"/>
              </a:lnSpc>
            </a:pPr>
            <a:r>
              <a:rPr sz="1300" b="1">
                <a:solidFill>
                  <a:srgbClr val="808080"/>
                </a:solidFill>
                <a:latin typeface="DejaVu Serif"/>
              </a:rPr>
              <a:t>&gt;</a:t>
            </a:r>
          </a:p>
        </p:txBody>
      </p:sp>
      <p:sp>
        <p:nvSpPr>
          <p:cNvPr id="14" name="Rectangle 13"/>
          <p:cNvSpPr/>
          <p:nvPr/>
        </p:nvSpPr>
        <p:spPr>
          <a:xfrm>
            <a:off x="4626864" y="3392424"/>
            <a:ext cx="1188720"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150" b="0">
                <a:solidFill>
                  <a:srgbClr val="1A1A1A"/>
                </a:solidFill>
                <a:latin typeface="DejaVu Serif"/>
              </a:rPr>
              <a:t>answer 3</a:t>
            </a:r>
          </a:p>
        </p:txBody>
      </p:sp>
      <p:sp>
        <p:nvSpPr>
          <p:cNvPr id="15" name="TextBox 14"/>
          <p:cNvSpPr txBox="1"/>
          <p:nvPr/>
        </p:nvSpPr>
        <p:spPr>
          <a:xfrm>
            <a:off x="685800" y="2825496"/>
            <a:ext cx="1371600" cy="457200"/>
          </a:xfrm>
          <a:prstGeom prst="rect">
            <a:avLst/>
          </a:prstGeom>
          <a:noFill/>
        </p:spPr>
        <p:txBody>
          <a:bodyPr wrap="square" lIns="0" rIns="0" tIns="0" bIns="0">
            <a:spAutoFit/>
          </a:bodyPr>
          <a:lstStyle/>
          <a:p>
            <a:pPr algn="l">
              <a:lnSpc>
                <a:spcPct val="112000"/>
              </a:lnSpc>
            </a:pPr>
            <a:r>
              <a:rPr sz="1300" b="0">
                <a:solidFill>
                  <a:srgbClr val="5A5A5A"/>
                </a:solidFill>
                <a:latin typeface="DejaVu Serif"/>
              </a:rPr>
              <a:t>nothing is</a:t>
            </a:r>
          </a:p>
          <a:p>
            <a:pPr algn="l">
              <a:lnSpc>
                <a:spcPct val="112000"/>
              </a:lnSpc>
            </a:pPr>
            <a:r>
              <a:rPr sz="1300" b="0">
                <a:solidFill>
                  <a:srgbClr val="5A5A5A"/>
                </a:solidFill>
                <a:latin typeface="DejaVu Serif"/>
              </a:rPr>
              <a:t>kept between</a:t>
            </a:r>
          </a:p>
          <a:p>
            <a:pPr algn="l">
              <a:lnSpc>
                <a:spcPct val="112000"/>
              </a:lnSpc>
            </a:pPr>
            <a:r>
              <a:rPr sz="1300" b="0">
                <a:solidFill>
                  <a:srgbClr val="5A5A5A"/>
                </a:solidFill>
                <a:latin typeface="DejaVu Serif"/>
              </a:rPr>
              <a:t>calls</a:t>
            </a:r>
          </a:p>
        </p:txBody>
      </p:sp>
      <p:sp>
        <p:nvSpPr>
          <p:cNvPr id="16" name="Rectangle 15"/>
          <p:cNvSpPr/>
          <p:nvPr/>
        </p:nvSpPr>
        <p:spPr>
          <a:xfrm>
            <a:off x="6199632" y="2825496"/>
            <a:ext cx="31750" cy="372237"/>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82512" y="2798064"/>
            <a:ext cx="2194560" cy="372237"/>
          </a:xfrm>
          <a:prstGeom prst="rect">
            <a:avLst/>
          </a:prstGeom>
          <a:noFill/>
        </p:spPr>
        <p:txBody>
          <a:bodyPr wrap="square" lIns="0" rIns="0" tIns="0" bIns="0">
            <a:spAutoFit/>
          </a:bodyPr>
          <a:lstStyle/>
          <a:p>
            <a:pPr algn="l">
              <a:lnSpc>
                <a:spcPct val="130000"/>
              </a:lnSpc>
            </a:pPr>
            <a:r>
              <a:rPr sz="1650" b="1">
                <a:solidFill>
                  <a:srgbClr val="1A1A1A"/>
                </a:solidFill>
                <a:latin typeface="DejaVu Serif"/>
              </a:rPr>
              <a:t>99.9 ms</a:t>
            </a:r>
          </a:p>
        </p:txBody>
      </p:sp>
      <p:sp>
        <p:nvSpPr>
          <p:cNvPr id="18" name="TextBox 17"/>
          <p:cNvSpPr txBox="1"/>
          <p:nvPr/>
        </p:nvSpPr>
        <p:spPr>
          <a:xfrm>
            <a:off x="685800" y="4041648"/>
            <a:ext cx="3657600" cy="237744"/>
          </a:xfrm>
          <a:prstGeom prst="rect">
            <a:avLst/>
          </a:prstGeom>
          <a:noFill/>
        </p:spPr>
        <p:txBody>
          <a:bodyPr wrap="square" lIns="0" rIns="0" tIns="0" bIns="0">
            <a:spAutoFit/>
          </a:bodyPr>
          <a:lstStyle/>
          <a:p>
            <a:pPr algn="l">
              <a:lnSpc>
                <a:spcPct val="100000"/>
              </a:lnSpc>
            </a:pPr>
            <a:r>
              <a:rPr sz="1300" b="1">
                <a:solidFill>
                  <a:srgbClr val="5A5A5A"/>
                </a:solidFill>
                <a:latin typeface="DejaVu Serif"/>
              </a:rPr>
              <a:t>NEUFLOW V3</a:t>
            </a:r>
          </a:p>
        </p:txBody>
      </p:sp>
      <p:sp>
        <p:nvSpPr>
          <p:cNvPr id="19" name="Rectangle 18"/>
          <p:cNvSpPr/>
          <p:nvPr/>
        </p:nvSpPr>
        <p:spPr>
          <a:xfrm>
            <a:off x="685800" y="5010912"/>
            <a:ext cx="1938528" cy="493776"/>
          </a:xfrm>
          <a:prstGeom prst="rect">
            <a:avLst/>
          </a:prstGeom>
          <a:solidFill>
            <a:srgbClr val="1A1A1A"/>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200" b="1">
                <a:solidFill>
                  <a:srgbClr val="FFFFFF"/>
                </a:solidFill>
                <a:latin typeface="DejaVu Serif"/>
              </a:rPr>
              <a:t>coarse pass</a:t>
            </a:r>
          </a:p>
          <a:p>
            <a:pPr algn="ctr">
              <a:lnSpc>
                <a:spcPct val="110000"/>
              </a:lnSpc>
            </a:pPr>
            <a:r>
              <a:rPr sz="1200" b="1">
                <a:solidFill>
                  <a:srgbClr val="FFFFFF"/>
                </a:solidFill>
                <a:latin typeface="DejaVu Serif"/>
              </a:rPr>
              <a:t>33.3 ms</a:t>
            </a:r>
          </a:p>
        </p:txBody>
      </p:sp>
      <p:sp>
        <p:nvSpPr>
          <p:cNvPr id="20" name="TextBox 19"/>
          <p:cNvSpPr txBox="1"/>
          <p:nvPr/>
        </p:nvSpPr>
        <p:spPr>
          <a:xfrm>
            <a:off x="2624328" y="5129784"/>
            <a:ext cx="310896" cy="256032"/>
          </a:xfrm>
          <a:prstGeom prst="rect">
            <a:avLst/>
          </a:prstGeom>
          <a:noFill/>
        </p:spPr>
        <p:txBody>
          <a:bodyPr wrap="square" lIns="0" rIns="0" tIns="0" bIns="0">
            <a:spAutoFit/>
          </a:bodyPr>
          <a:lstStyle/>
          <a:p>
            <a:pPr algn="ctr">
              <a:lnSpc>
                <a:spcPct val="100000"/>
              </a:lnSpc>
            </a:pPr>
            <a:r>
              <a:rPr sz="1300" b="1">
                <a:solidFill>
                  <a:srgbClr val="808080"/>
                </a:solidFill>
                <a:latin typeface="DejaVu Serif"/>
              </a:rPr>
              <a:t>&gt;</a:t>
            </a:r>
          </a:p>
        </p:txBody>
      </p:sp>
      <p:sp>
        <p:nvSpPr>
          <p:cNvPr id="21" name="Rectangle 20"/>
          <p:cNvSpPr/>
          <p:nvPr/>
        </p:nvSpPr>
        <p:spPr>
          <a:xfrm>
            <a:off x="2935224" y="5010912"/>
            <a:ext cx="1417320"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200" b="0">
                <a:solidFill>
                  <a:srgbClr val="1A1A1A"/>
                </a:solidFill>
                <a:latin typeface="DejaVu Serif"/>
              </a:rPr>
              <a:t>cached</a:t>
            </a:r>
          </a:p>
          <a:p>
            <a:pPr algn="ctr">
              <a:lnSpc>
                <a:spcPct val="110000"/>
              </a:lnSpc>
            </a:pPr>
            <a:r>
              <a:rPr sz="1200" b="0">
                <a:solidFill>
                  <a:srgbClr val="1A1A1A"/>
                </a:solidFill>
                <a:latin typeface="DejaVu Serif"/>
              </a:rPr>
              <a:t>state</a:t>
            </a:r>
          </a:p>
        </p:txBody>
      </p:sp>
      <p:sp>
        <p:nvSpPr>
          <p:cNvPr id="22" name="Rectangle 21"/>
          <p:cNvSpPr/>
          <p:nvPr/>
        </p:nvSpPr>
        <p:spPr>
          <a:xfrm>
            <a:off x="4553712" y="4636008"/>
            <a:ext cx="11430" cy="124358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352544" y="4636008"/>
            <a:ext cx="402336" cy="1143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754880" y="4389120"/>
            <a:ext cx="1572768"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200" b="0">
                <a:solidFill>
                  <a:srgbClr val="1A1A1A"/>
                </a:solidFill>
                <a:latin typeface="DejaVu Serif"/>
              </a:rPr>
              <a:t>decode</a:t>
            </a:r>
          </a:p>
          <a:p>
            <a:pPr algn="ctr">
              <a:lnSpc>
                <a:spcPct val="110000"/>
              </a:lnSpc>
            </a:pPr>
            <a:r>
              <a:rPr sz="1200" b="0">
                <a:solidFill>
                  <a:srgbClr val="1A1A1A"/>
                </a:solidFill>
                <a:latin typeface="DejaVu Serif"/>
              </a:rPr>
              <a:t>1.25 ms</a:t>
            </a:r>
          </a:p>
        </p:txBody>
      </p:sp>
      <p:sp>
        <p:nvSpPr>
          <p:cNvPr id="25" name="TextBox 24"/>
          <p:cNvSpPr txBox="1"/>
          <p:nvPr/>
        </p:nvSpPr>
        <p:spPr>
          <a:xfrm>
            <a:off x="6327648" y="4507992"/>
            <a:ext cx="310896" cy="256032"/>
          </a:xfrm>
          <a:prstGeom prst="rect">
            <a:avLst/>
          </a:prstGeom>
          <a:noFill/>
        </p:spPr>
        <p:txBody>
          <a:bodyPr wrap="square" lIns="0" rIns="0" tIns="0" bIns="0">
            <a:spAutoFit/>
          </a:bodyPr>
          <a:lstStyle/>
          <a:p>
            <a:pPr algn="ctr">
              <a:lnSpc>
                <a:spcPct val="100000"/>
              </a:lnSpc>
            </a:pPr>
            <a:r>
              <a:rPr sz="1300" b="1">
                <a:solidFill>
                  <a:srgbClr val="808080"/>
                </a:solidFill>
                <a:latin typeface="DejaVu Serif"/>
              </a:rPr>
              <a:t>&gt;</a:t>
            </a:r>
          </a:p>
        </p:txBody>
      </p:sp>
      <p:sp>
        <p:nvSpPr>
          <p:cNvPr id="26" name="Rectangle 25"/>
          <p:cNvSpPr/>
          <p:nvPr/>
        </p:nvSpPr>
        <p:spPr>
          <a:xfrm>
            <a:off x="6638544" y="4389120"/>
            <a:ext cx="1188720"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150" b="0">
                <a:solidFill>
                  <a:srgbClr val="1A1A1A"/>
                </a:solidFill>
                <a:latin typeface="DejaVu Serif"/>
              </a:rPr>
              <a:t>answer 1</a:t>
            </a:r>
          </a:p>
        </p:txBody>
      </p:sp>
      <p:sp>
        <p:nvSpPr>
          <p:cNvPr id="27" name="Rectangle 26"/>
          <p:cNvSpPr/>
          <p:nvPr/>
        </p:nvSpPr>
        <p:spPr>
          <a:xfrm>
            <a:off x="4352544" y="5257800"/>
            <a:ext cx="402336" cy="1143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754880" y="5010912"/>
            <a:ext cx="1572768"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200" b="0">
                <a:solidFill>
                  <a:srgbClr val="1A1A1A"/>
                </a:solidFill>
                <a:latin typeface="DejaVu Serif"/>
              </a:rPr>
              <a:t>decode</a:t>
            </a:r>
          </a:p>
          <a:p>
            <a:pPr algn="ctr">
              <a:lnSpc>
                <a:spcPct val="110000"/>
              </a:lnSpc>
            </a:pPr>
            <a:r>
              <a:rPr sz="1200" b="0">
                <a:solidFill>
                  <a:srgbClr val="1A1A1A"/>
                </a:solidFill>
                <a:latin typeface="DejaVu Serif"/>
              </a:rPr>
              <a:t>1.25 ms</a:t>
            </a:r>
          </a:p>
        </p:txBody>
      </p:sp>
      <p:sp>
        <p:nvSpPr>
          <p:cNvPr id="29" name="TextBox 28"/>
          <p:cNvSpPr txBox="1"/>
          <p:nvPr/>
        </p:nvSpPr>
        <p:spPr>
          <a:xfrm>
            <a:off x="6327648" y="5129784"/>
            <a:ext cx="310896" cy="256032"/>
          </a:xfrm>
          <a:prstGeom prst="rect">
            <a:avLst/>
          </a:prstGeom>
          <a:noFill/>
        </p:spPr>
        <p:txBody>
          <a:bodyPr wrap="square" lIns="0" rIns="0" tIns="0" bIns="0">
            <a:spAutoFit/>
          </a:bodyPr>
          <a:lstStyle/>
          <a:p>
            <a:pPr algn="ctr">
              <a:lnSpc>
                <a:spcPct val="100000"/>
              </a:lnSpc>
            </a:pPr>
            <a:r>
              <a:rPr sz="1300" b="1">
                <a:solidFill>
                  <a:srgbClr val="808080"/>
                </a:solidFill>
                <a:latin typeface="DejaVu Serif"/>
              </a:rPr>
              <a:t>&gt;</a:t>
            </a:r>
          </a:p>
        </p:txBody>
      </p:sp>
      <p:sp>
        <p:nvSpPr>
          <p:cNvPr id="30" name="Rectangle 29"/>
          <p:cNvSpPr/>
          <p:nvPr/>
        </p:nvSpPr>
        <p:spPr>
          <a:xfrm>
            <a:off x="6638544" y="5010912"/>
            <a:ext cx="1188720"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150" b="0">
                <a:solidFill>
                  <a:srgbClr val="1A1A1A"/>
                </a:solidFill>
                <a:latin typeface="DejaVu Serif"/>
              </a:rPr>
              <a:t>answer 2</a:t>
            </a:r>
          </a:p>
        </p:txBody>
      </p:sp>
      <p:sp>
        <p:nvSpPr>
          <p:cNvPr id="31" name="Rectangle 30"/>
          <p:cNvSpPr/>
          <p:nvPr/>
        </p:nvSpPr>
        <p:spPr>
          <a:xfrm>
            <a:off x="4352544" y="5879592"/>
            <a:ext cx="402336" cy="1143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4880" y="5632704"/>
            <a:ext cx="1572768"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200" b="0">
                <a:solidFill>
                  <a:srgbClr val="1A1A1A"/>
                </a:solidFill>
                <a:latin typeface="DejaVu Serif"/>
              </a:rPr>
              <a:t>decode</a:t>
            </a:r>
          </a:p>
          <a:p>
            <a:pPr algn="ctr">
              <a:lnSpc>
                <a:spcPct val="110000"/>
              </a:lnSpc>
            </a:pPr>
            <a:r>
              <a:rPr sz="1200" b="0">
                <a:solidFill>
                  <a:srgbClr val="1A1A1A"/>
                </a:solidFill>
                <a:latin typeface="DejaVu Serif"/>
              </a:rPr>
              <a:t>1.25 ms</a:t>
            </a:r>
          </a:p>
        </p:txBody>
      </p:sp>
      <p:sp>
        <p:nvSpPr>
          <p:cNvPr id="33" name="TextBox 32"/>
          <p:cNvSpPr txBox="1"/>
          <p:nvPr/>
        </p:nvSpPr>
        <p:spPr>
          <a:xfrm>
            <a:off x="6327648" y="5751576"/>
            <a:ext cx="310896" cy="256032"/>
          </a:xfrm>
          <a:prstGeom prst="rect">
            <a:avLst/>
          </a:prstGeom>
          <a:noFill/>
        </p:spPr>
        <p:txBody>
          <a:bodyPr wrap="square" lIns="0" rIns="0" tIns="0" bIns="0">
            <a:spAutoFit/>
          </a:bodyPr>
          <a:lstStyle/>
          <a:p>
            <a:pPr algn="ctr">
              <a:lnSpc>
                <a:spcPct val="100000"/>
              </a:lnSpc>
            </a:pPr>
            <a:r>
              <a:rPr sz="1300" b="1">
                <a:solidFill>
                  <a:srgbClr val="808080"/>
                </a:solidFill>
                <a:latin typeface="DejaVu Serif"/>
              </a:rPr>
              <a:t>&gt;</a:t>
            </a:r>
          </a:p>
        </p:txBody>
      </p:sp>
      <p:sp>
        <p:nvSpPr>
          <p:cNvPr id="34" name="Rectangle 33"/>
          <p:cNvSpPr/>
          <p:nvPr/>
        </p:nvSpPr>
        <p:spPr>
          <a:xfrm>
            <a:off x="6638544" y="5632704"/>
            <a:ext cx="1188720" cy="493776"/>
          </a:xfrm>
          <a:prstGeom prst="rect">
            <a:avLst/>
          </a:prstGeom>
          <a:solidFill>
            <a:srgbClr val="FFFFFF"/>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0" bIns="0"/>
          <a:lstStyle/>
          <a:p>
            <a:pPr algn="ctr">
              <a:lnSpc>
                <a:spcPct val="110000"/>
              </a:lnSpc>
            </a:pPr>
            <a:r>
              <a:rPr sz="1150" b="0">
                <a:solidFill>
                  <a:srgbClr val="1A1A1A"/>
                </a:solidFill>
                <a:latin typeface="DejaVu Serif"/>
              </a:rPr>
              <a:t>answer 3</a:t>
            </a:r>
          </a:p>
        </p:txBody>
      </p:sp>
      <p:sp>
        <p:nvSpPr>
          <p:cNvPr id="35" name="Rectangle 34"/>
          <p:cNvSpPr/>
          <p:nvPr/>
        </p:nvSpPr>
        <p:spPr>
          <a:xfrm>
            <a:off x="8211312" y="5065776"/>
            <a:ext cx="31750" cy="372237"/>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94192" y="5038344"/>
            <a:ext cx="2194560" cy="372237"/>
          </a:xfrm>
          <a:prstGeom prst="rect">
            <a:avLst/>
          </a:prstGeom>
          <a:noFill/>
        </p:spPr>
        <p:txBody>
          <a:bodyPr wrap="square" lIns="0" rIns="0" tIns="0" bIns="0">
            <a:spAutoFit/>
          </a:bodyPr>
          <a:lstStyle/>
          <a:p>
            <a:pPr algn="l">
              <a:lnSpc>
                <a:spcPct val="130000"/>
              </a:lnSpc>
            </a:pPr>
            <a:r>
              <a:rPr sz="1650" b="1">
                <a:solidFill>
                  <a:srgbClr val="1A1A1A"/>
                </a:solidFill>
                <a:latin typeface="DejaVu Serif"/>
              </a:rPr>
              <a:t>37.05 ms</a:t>
            </a:r>
          </a:p>
        </p:txBody>
      </p:sp>
      <p:sp>
        <p:nvSpPr>
          <p:cNvPr id="37" name="TextBox 36"/>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RTX 4060 laptop, fp16, 384 x 1248. Per-call latencies measured; totals are their sum.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6</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The price: 2.6% of mean error</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accuracy_bars.png"/>
          <p:cNvPicPr>
            <a:picLocks noChangeAspect="1"/>
          </p:cNvPicPr>
          <p:nvPr/>
        </p:nvPicPr>
        <p:blipFill>
          <a:blip r:embed="rId2"/>
          <a:stretch>
            <a:fillRect/>
          </a:stretch>
        </p:blipFill>
        <p:spPr>
          <a:xfrm>
            <a:off x="685800" y="1874519"/>
            <a:ext cx="6766560" cy="3725409"/>
          </a:xfrm>
          <a:prstGeom prst="rect">
            <a:avLst/>
          </a:prstGeom>
        </p:spPr>
      </p:pic>
      <p:sp>
        <p:nvSpPr>
          <p:cNvPr id="6" name="TextBox 5"/>
          <p:cNvSpPr txBox="1"/>
          <p:nvPr/>
        </p:nvSpPr>
        <p:spPr>
          <a:xfrm>
            <a:off x="7726679" y="1828800"/>
            <a:ext cx="3776472" cy="256032"/>
          </a:xfrm>
          <a:prstGeom prst="rect">
            <a:avLst/>
          </a:prstGeom>
          <a:noFill/>
        </p:spPr>
        <p:txBody>
          <a:bodyPr wrap="square" lIns="0" rIns="0" tIns="0" bIns="0">
            <a:spAutoFit/>
          </a:bodyPr>
          <a:lstStyle/>
          <a:p>
            <a:pPr algn="l">
              <a:lnSpc>
                <a:spcPct val="100000"/>
              </a:lnSpc>
            </a:pPr>
            <a:r>
              <a:rPr sz="1300" b="1">
                <a:solidFill>
                  <a:srgbClr val="5A5A5A"/>
                </a:solidFill>
                <a:latin typeface="DejaVu Serif"/>
              </a:rPr>
              <a:t>WHAT THIS SHOWS</a:t>
            </a:r>
          </a:p>
        </p:txBody>
      </p:sp>
      <p:sp>
        <p:nvSpPr>
          <p:cNvPr id="7" name="Rectangle 6"/>
          <p:cNvSpPr/>
          <p:nvPr/>
        </p:nvSpPr>
        <p:spPr>
          <a:xfrm>
            <a:off x="7726679" y="2457640"/>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2340864"/>
            <a:ext cx="3502152" cy="595121"/>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Every configuration sits above v2.</a:t>
            </a:r>
          </a:p>
        </p:txBody>
      </p:sp>
      <p:sp>
        <p:nvSpPr>
          <p:cNvPr id="9" name="Rectangle 8"/>
          <p:cNvSpPr/>
          <p:nvPr/>
        </p:nvSpPr>
        <p:spPr>
          <a:xfrm>
            <a:off x="7726679" y="3235642"/>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3118866"/>
            <a:ext cx="3502152" cy="595121"/>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Like-for-like: 2.5, or 7.6% behind.</a:t>
            </a:r>
          </a:p>
        </p:txBody>
      </p:sp>
      <p:sp>
        <p:nvSpPr>
          <p:cNvPr id="11" name="Rectangle 10"/>
          <p:cNvSpPr/>
          <p:nvPr/>
        </p:nvSpPr>
        <p:spPr>
          <a:xfrm>
            <a:off x="7726679" y="4013644"/>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3896868"/>
            <a:ext cx="3502152" cy="595121"/>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7.83 M against 9.03 M parameters.</a:t>
            </a:r>
          </a:p>
        </p:txBody>
      </p:sp>
      <p:sp>
        <p:nvSpPr>
          <p:cNvPr id="13" name="Rectangle 12"/>
          <p:cNvSpPr/>
          <p:nvPr/>
        </p:nvSpPr>
        <p:spPr>
          <a:xfrm>
            <a:off x="7726679" y="4941561"/>
            <a:ext cx="31750" cy="65303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59" y="4914129"/>
            <a:ext cx="3593591" cy="653034"/>
          </a:xfrm>
          <a:prstGeom prst="rect">
            <a:avLst/>
          </a:prstGeom>
          <a:noFill/>
        </p:spPr>
        <p:txBody>
          <a:bodyPr wrap="square" lIns="0" rIns="0" tIns="0" bIns="0">
            <a:spAutoFit/>
          </a:bodyPr>
          <a:lstStyle/>
          <a:p>
            <a:pPr algn="l">
              <a:lnSpc>
                <a:spcPct val="130000"/>
              </a:lnSpc>
            </a:pPr>
            <a:r>
              <a:rPr sz="1650" b="1">
                <a:solidFill>
                  <a:srgbClr val="1A1A1A"/>
                </a:solidFill>
                <a:latin typeface="DejaVu Serif"/>
              </a:rPr>
              <a:t>2.384</a:t>
            </a:r>
          </a:p>
          <a:p>
            <a:pPr algn="l">
              <a:lnSpc>
                <a:spcPct val="130000"/>
              </a:lnSpc>
            </a:pPr>
            <a:r>
              <a:rPr sz="1650" b="1">
                <a:solidFill>
                  <a:srgbClr val="1A1A1A"/>
                </a:solidFill>
                <a:latin typeface="DejaVu Serif"/>
              </a:rPr>
              <a:t>against 2.324</a:t>
            </a:r>
          </a:p>
        </p:txBody>
      </p:sp>
      <p:sp>
        <p:nvSpPr>
          <p:cNvPr id="15" name="TextBox 14"/>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Mean end-point error per pixel, 1,174 held-out VKITTI 2 pairs. Lower is better.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7</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A repeat query costs 1.25 ms</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peed_bars.png"/>
          <p:cNvPicPr>
            <a:picLocks noChangeAspect="1"/>
          </p:cNvPicPr>
          <p:nvPr/>
        </p:nvPicPr>
        <p:blipFill>
          <a:blip r:embed="rId2"/>
          <a:stretch>
            <a:fillRect/>
          </a:stretch>
        </p:blipFill>
        <p:spPr>
          <a:xfrm>
            <a:off x="685800" y="1874519"/>
            <a:ext cx="6766560" cy="3349105"/>
          </a:xfrm>
          <a:prstGeom prst="rect">
            <a:avLst/>
          </a:prstGeom>
        </p:spPr>
      </p:pic>
      <p:sp>
        <p:nvSpPr>
          <p:cNvPr id="6" name="TextBox 5"/>
          <p:cNvSpPr txBox="1"/>
          <p:nvPr/>
        </p:nvSpPr>
        <p:spPr>
          <a:xfrm>
            <a:off x="7726679" y="1828800"/>
            <a:ext cx="3776472" cy="256032"/>
          </a:xfrm>
          <a:prstGeom prst="rect">
            <a:avLst/>
          </a:prstGeom>
          <a:noFill/>
        </p:spPr>
        <p:txBody>
          <a:bodyPr wrap="square" lIns="0" rIns="0" tIns="0" bIns="0">
            <a:spAutoFit/>
          </a:bodyPr>
          <a:lstStyle/>
          <a:p>
            <a:pPr algn="l">
              <a:lnSpc>
                <a:spcPct val="100000"/>
              </a:lnSpc>
            </a:pPr>
            <a:r>
              <a:rPr sz="1300" b="1">
                <a:solidFill>
                  <a:srgbClr val="5A5A5A"/>
                </a:solidFill>
                <a:latin typeface="DejaVu Serif"/>
              </a:rPr>
              <a:t>WHICH CLAIM I MAKE</a:t>
            </a:r>
          </a:p>
        </p:txBody>
      </p:sp>
      <p:sp>
        <p:nvSpPr>
          <p:cNvPr id="7" name="Rectangle 6"/>
          <p:cNvSpPr/>
          <p:nvPr/>
        </p:nvSpPr>
        <p:spPr>
          <a:xfrm>
            <a:off x="7726679" y="2457640"/>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2340864"/>
            <a:ext cx="3502152"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Dense output is 10% slower.</a:t>
            </a:r>
          </a:p>
        </p:txBody>
      </p:sp>
      <p:sp>
        <p:nvSpPr>
          <p:cNvPr id="9" name="Rectangle 8"/>
          <p:cNvSpPr/>
          <p:nvPr/>
        </p:nvSpPr>
        <p:spPr>
          <a:xfrm>
            <a:off x="7726679" y="2938081"/>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2821305"/>
            <a:ext cx="3502152" cy="595121"/>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A first query is level: 96% of it is the shared coarse pass.</a:t>
            </a:r>
          </a:p>
        </p:txBody>
      </p:sp>
      <p:sp>
        <p:nvSpPr>
          <p:cNvPr id="11" name="Rectangle 10"/>
          <p:cNvSpPr/>
          <p:nvPr/>
        </p:nvSpPr>
        <p:spPr>
          <a:xfrm>
            <a:off x="7726679" y="3716083"/>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3599307"/>
            <a:ext cx="3502152"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The win is the second question.</a:t>
            </a:r>
          </a:p>
        </p:txBody>
      </p:sp>
      <p:sp>
        <p:nvSpPr>
          <p:cNvPr id="13" name="Rectangle 12"/>
          <p:cNvSpPr/>
          <p:nvPr/>
        </p:nvSpPr>
        <p:spPr>
          <a:xfrm>
            <a:off x="7726679" y="4839577"/>
            <a:ext cx="31750" cy="372237"/>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59" y="4812145"/>
            <a:ext cx="3593591" cy="372237"/>
          </a:xfrm>
          <a:prstGeom prst="rect">
            <a:avLst/>
          </a:prstGeom>
          <a:noFill/>
        </p:spPr>
        <p:txBody>
          <a:bodyPr wrap="square" lIns="0" rIns="0" tIns="0" bIns="0">
            <a:spAutoFit/>
          </a:bodyPr>
          <a:lstStyle/>
          <a:p>
            <a:pPr algn="l">
              <a:lnSpc>
                <a:spcPct val="130000"/>
              </a:lnSpc>
            </a:pPr>
            <a:r>
              <a:rPr sz="1650" b="1">
                <a:solidFill>
                  <a:srgbClr val="1A1A1A"/>
                </a:solidFill>
                <a:latin typeface="DejaVu Serif"/>
              </a:rPr>
              <a:t>27x on repeat access</a:t>
            </a:r>
          </a:p>
        </p:txBody>
      </p:sp>
      <p:sp>
        <p:nvSpPr>
          <p:cNvPr id="15" name="TextBox 14"/>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RTX 4060 laptop, fp16, 384 x 1248, median of 50 runs after warm-up.</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8</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Confidence buys the accuracy back</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elective_accuracy.png"/>
          <p:cNvPicPr>
            <a:picLocks noChangeAspect="1"/>
          </p:cNvPicPr>
          <p:nvPr/>
        </p:nvPicPr>
        <p:blipFill>
          <a:blip r:embed="rId2"/>
          <a:stretch>
            <a:fillRect/>
          </a:stretch>
        </p:blipFill>
        <p:spPr>
          <a:xfrm>
            <a:off x="685800" y="1874519"/>
            <a:ext cx="6766560" cy="3671219"/>
          </a:xfrm>
          <a:prstGeom prst="rect">
            <a:avLst/>
          </a:prstGeom>
        </p:spPr>
      </p:pic>
      <p:sp>
        <p:nvSpPr>
          <p:cNvPr id="6" name="TextBox 5"/>
          <p:cNvSpPr txBox="1"/>
          <p:nvPr/>
        </p:nvSpPr>
        <p:spPr>
          <a:xfrm>
            <a:off x="7726679" y="1828800"/>
            <a:ext cx="3776472" cy="256032"/>
          </a:xfrm>
          <a:prstGeom prst="rect">
            <a:avLst/>
          </a:prstGeom>
          <a:noFill/>
        </p:spPr>
        <p:txBody>
          <a:bodyPr wrap="square" lIns="0" rIns="0" tIns="0" bIns="0">
            <a:spAutoFit/>
          </a:bodyPr>
          <a:lstStyle/>
          <a:p>
            <a:pPr algn="l">
              <a:lnSpc>
                <a:spcPct val="100000"/>
              </a:lnSpc>
            </a:pPr>
            <a:r>
              <a:rPr sz="1300" b="1">
                <a:solidFill>
                  <a:srgbClr val="5A5A5A"/>
                </a:solidFill>
                <a:latin typeface="DejaVu Serif"/>
              </a:rPr>
              <a:t>WHAT THIS SHOWS</a:t>
            </a:r>
          </a:p>
        </p:txBody>
      </p:sp>
      <p:sp>
        <p:nvSpPr>
          <p:cNvPr id="7" name="Rectangle 6"/>
          <p:cNvSpPr/>
          <p:nvPr/>
        </p:nvSpPr>
        <p:spPr>
          <a:xfrm>
            <a:off x="7726679" y="2457640"/>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01000" y="2340864"/>
            <a:ext cx="3502152" cy="595121"/>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Error rises monotonically across five bins, 0.48 px to 7.10 px.</a:t>
            </a:r>
          </a:p>
        </p:txBody>
      </p:sp>
      <p:sp>
        <p:nvSpPr>
          <p:cNvPr id="9" name="Rectangle 8"/>
          <p:cNvSpPr/>
          <p:nvPr/>
        </p:nvSpPr>
        <p:spPr>
          <a:xfrm>
            <a:off x="7726679" y="3235642"/>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01000" y="3118866"/>
            <a:ext cx="3502152" cy="595121"/>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v2 has one operating point; v3 has a curve.</a:t>
            </a:r>
          </a:p>
        </p:txBody>
      </p:sp>
      <p:sp>
        <p:nvSpPr>
          <p:cNvPr id="11" name="Rectangle 10"/>
          <p:cNvSpPr/>
          <p:nvPr/>
        </p:nvSpPr>
        <p:spPr>
          <a:xfrm>
            <a:off x="7726679" y="4013644"/>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01000" y="3896868"/>
            <a:ext cx="3502152" cy="595121"/>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Abstaining is free when the consumer picks its own points.</a:t>
            </a:r>
          </a:p>
        </p:txBody>
      </p:sp>
      <p:sp>
        <p:nvSpPr>
          <p:cNvPr id="13" name="Rectangle 12"/>
          <p:cNvSpPr/>
          <p:nvPr/>
        </p:nvSpPr>
        <p:spPr>
          <a:xfrm>
            <a:off x="7726679" y="4887370"/>
            <a:ext cx="31750" cy="653034"/>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909559" y="4859938"/>
            <a:ext cx="3593591" cy="653034"/>
          </a:xfrm>
          <a:prstGeom prst="rect">
            <a:avLst/>
          </a:prstGeom>
          <a:noFill/>
        </p:spPr>
        <p:txBody>
          <a:bodyPr wrap="square" lIns="0" rIns="0" tIns="0" bIns="0">
            <a:spAutoFit/>
          </a:bodyPr>
          <a:lstStyle/>
          <a:p>
            <a:pPr algn="l">
              <a:lnSpc>
                <a:spcPct val="130000"/>
              </a:lnSpc>
            </a:pPr>
            <a:r>
              <a:rPr sz="1650" b="1">
                <a:solidFill>
                  <a:srgbClr val="1A1A1A"/>
                </a:solidFill>
                <a:latin typeface="DejaVu Serif"/>
              </a:rPr>
              <a:t>1.058 px over</a:t>
            </a:r>
          </a:p>
          <a:p>
            <a:pPr algn="l">
              <a:lnSpc>
                <a:spcPct val="130000"/>
              </a:lnSpc>
            </a:pPr>
            <a:r>
              <a:rPr sz="1650" b="1">
                <a:solidFill>
                  <a:srgbClr val="1A1A1A"/>
                </a:solidFill>
                <a:latin typeface="DejaVu Serif"/>
              </a:rPr>
              <a:t>80% of the frame</a:t>
            </a:r>
          </a:p>
        </p:txBody>
      </p:sp>
      <p:sp>
        <p:nvSpPr>
          <p:cNvPr id="15" name="TextBox 14"/>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Per-query error scale under a Laplace likelihood, 2,348,000 queries. Coverage is the share answered.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9</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Flow 14% of the frame, not all of it</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011680"/>
            <a:ext cx="2471851" cy="960120"/>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50" b="0">
                <a:solidFill>
                  <a:srgbClr val="1A1A1A"/>
                </a:solidFill>
                <a:latin typeface="DejaVu Serif"/>
              </a:rPr>
              <a:t>Full frame</a:t>
            </a:r>
          </a:p>
          <a:p>
            <a:pPr algn="ctr">
              <a:lnSpc>
                <a:spcPct val="112000"/>
              </a:lnSpc>
            </a:pPr>
            <a:r>
              <a:rPr sz="1350" b="0">
                <a:solidFill>
                  <a:srgbClr val="1A1A1A"/>
                </a:solidFill>
                <a:latin typeface="DejaVu Serif"/>
              </a:rPr>
              <a:t>100%, 33.3 ms</a:t>
            </a:r>
          </a:p>
        </p:txBody>
      </p:sp>
      <p:sp>
        <p:nvSpPr>
          <p:cNvPr id="6" name="TextBox 5"/>
          <p:cNvSpPr txBox="1"/>
          <p:nvPr/>
        </p:nvSpPr>
        <p:spPr>
          <a:xfrm>
            <a:off x="3157651" y="2345436"/>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7" name="Rectangle 6"/>
          <p:cNvSpPr/>
          <p:nvPr/>
        </p:nvSpPr>
        <p:spPr>
          <a:xfrm>
            <a:off x="3468547" y="2011680"/>
            <a:ext cx="2471851" cy="960120"/>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50" b="0">
                <a:solidFill>
                  <a:srgbClr val="1A1A1A"/>
                </a:solidFill>
                <a:latin typeface="DejaVu Serif"/>
              </a:rPr>
              <a:t>Region only</a:t>
            </a:r>
          </a:p>
          <a:p>
            <a:pPr algn="ctr">
              <a:lnSpc>
                <a:spcPct val="112000"/>
              </a:lnSpc>
            </a:pPr>
            <a:r>
              <a:rPr sz="1350" b="0">
                <a:solidFill>
                  <a:srgbClr val="1A1A1A"/>
                </a:solidFill>
                <a:latin typeface="DejaVu Serif"/>
              </a:rPr>
              <a:t>7.9%, 4.3x</a:t>
            </a:r>
          </a:p>
        </p:txBody>
      </p:sp>
      <p:sp>
        <p:nvSpPr>
          <p:cNvPr id="8" name="TextBox 7"/>
          <p:cNvSpPr txBox="1"/>
          <p:nvPr/>
        </p:nvSpPr>
        <p:spPr>
          <a:xfrm>
            <a:off x="5940399" y="2345436"/>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9" name="Rectangle 8"/>
          <p:cNvSpPr/>
          <p:nvPr/>
        </p:nvSpPr>
        <p:spPr>
          <a:xfrm>
            <a:off x="6251295" y="2011680"/>
            <a:ext cx="2471851" cy="960120"/>
          </a:xfrm>
          <a:prstGeom prst="rect">
            <a:avLst/>
          </a:prstGeom>
          <a:solidFill>
            <a:srgbClr val="1A1A1A"/>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50" b="1">
                <a:solidFill>
                  <a:srgbClr val="FFFFFF"/>
                </a:solidFill>
                <a:latin typeface="DejaVu Serif"/>
              </a:rPr>
              <a:t>Region + margin</a:t>
            </a:r>
          </a:p>
          <a:p>
            <a:pPr algn="ctr">
              <a:lnSpc>
                <a:spcPct val="112000"/>
              </a:lnSpc>
            </a:pPr>
            <a:r>
              <a:rPr sz="1350" b="1">
                <a:solidFill>
                  <a:srgbClr val="FFFFFF"/>
                </a:solidFill>
                <a:latin typeface="DejaVu Serif"/>
              </a:rPr>
              <a:t>13.8%, 4.4x</a:t>
            </a:r>
          </a:p>
        </p:txBody>
      </p:sp>
      <p:sp>
        <p:nvSpPr>
          <p:cNvPr id="10" name="TextBox 9"/>
          <p:cNvSpPr txBox="1"/>
          <p:nvPr/>
        </p:nvSpPr>
        <p:spPr>
          <a:xfrm>
            <a:off x="8723147" y="2345436"/>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11" name="Rectangle 10"/>
          <p:cNvSpPr/>
          <p:nvPr/>
        </p:nvSpPr>
        <p:spPr>
          <a:xfrm>
            <a:off x="9034043" y="2011680"/>
            <a:ext cx="2471851" cy="960120"/>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50" b="0">
                <a:solidFill>
                  <a:srgbClr val="1A1A1A"/>
                </a:solidFill>
                <a:latin typeface="DejaVu Serif"/>
              </a:rPr>
              <a:t>Wider margin</a:t>
            </a:r>
          </a:p>
          <a:p>
            <a:pPr algn="ctr">
              <a:lnSpc>
                <a:spcPct val="112000"/>
              </a:lnSpc>
            </a:pPr>
            <a:r>
              <a:rPr sz="1350" b="0">
                <a:solidFill>
                  <a:srgbClr val="1A1A1A"/>
                </a:solidFill>
                <a:latin typeface="DejaVu Serif"/>
              </a:rPr>
              <a:t>34.2%, 3.4x</a:t>
            </a:r>
          </a:p>
        </p:txBody>
      </p:sp>
      <p:sp>
        <p:nvSpPr>
          <p:cNvPr id="12" name="Rectangle 11"/>
          <p:cNvSpPr/>
          <p:nvPr/>
        </p:nvSpPr>
        <p:spPr>
          <a:xfrm>
            <a:off x="685800" y="3650741"/>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520440"/>
            <a:ext cx="10545775" cy="324612"/>
          </a:xfrm>
          <a:prstGeom prst="rect">
            <a:avLst/>
          </a:prstGeom>
          <a:noFill/>
        </p:spPr>
        <p:txBody>
          <a:bodyPr wrap="square" lIns="0" rIns="0" tIns="0" bIns="0">
            <a:spAutoFit/>
          </a:bodyPr>
          <a:lstStyle/>
          <a:p>
            <a:pPr algn="l">
              <a:lnSpc>
                <a:spcPct val="114000"/>
              </a:lnSpc>
            </a:pPr>
            <a:r>
              <a:rPr sz="1800" b="0">
                <a:solidFill>
                  <a:srgbClr val="1A1A1A"/>
                </a:solidFill>
                <a:latin typeface="DejaVu Serif"/>
              </a:rPr>
              <a:t/>
            </a:r>
            <a:r>
              <a:rPr sz="1800" b="0">
                <a:solidFill>
                  <a:srgbClr val="1A1A1A"/>
                </a:solidFill>
                <a:latin typeface="DejaVu Serif"/>
              </a:rPr>
              <a:t>Processing 14% of the frame costs 0.034 px and runs 4.4x faster.</a:t>
            </a:r>
          </a:p>
        </p:txBody>
      </p:sp>
      <p:sp>
        <p:nvSpPr>
          <p:cNvPr id="14" name="Rectangle 13"/>
          <p:cNvSpPr/>
          <p:nvPr/>
        </p:nvSpPr>
        <p:spPr>
          <a:xfrm>
            <a:off x="685800" y="4158234"/>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4027932"/>
            <a:ext cx="10545775" cy="324612"/>
          </a:xfrm>
          <a:prstGeom prst="rect">
            <a:avLst/>
          </a:prstGeom>
          <a:noFill/>
        </p:spPr>
        <p:txBody>
          <a:bodyPr wrap="square" lIns="0" rIns="0" tIns="0" bIns="0">
            <a:spAutoFit/>
          </a:bodyPr>
          <a:lstStyle/>
          <a:p>
            <a:pPr algn="l">
              <a:lnSpc>
                <a:spcPct val="114000"/>
              </a:lnSpc>
            </a:pPr>
            <a:r>
              <a:rPr sz="1800" b="0">
                <a:solidFill>
                  <a:srgbClr val="1A1A1A"/>
                </a:solidFill>
                <a:latin typeface="DejaVu Serif"/>
              </a:rPr>
              <a:t/>
            </a:r>
            <a:r>
              <a:rPr sz="1800" b="0">
                <a:solidFill>
                  <a:srgbClr val="1A1A1A"/>
                </a:solidFill>
                <a:latin typeface="DejaVu Serif"/>
              </a:rPr>
              <a:t>Without a margin, error rises 65% and a quarter of large-motion pixels fail.</a:t>
            </a:r>
          </a:p>
        </p:txBody>
      </p:sp>
      <p:sp>
        <p:nvSpPr>
          <p:cNvPr id="16" name="Rectangle 15"/>
          <p:cNvSpPr/>
          <p:nvPr/>
        </p:nvSpPr>
        <p:spPr>
          <a:xfrm>
            <a:off x="685800" y="4665726"/>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535424"/>
            <a:ext cx="10545775" cy="324612"/>
          </a:xfrm>
          <a:prstGeom prst="rect">
            <a:avLst/>
          </a:prstGeom>
          <a:noFill/>
        </p:spPr>
        <p:txBody>
          <a:bodyPr wrap="square" lIns="0" rIns="0" tIns="0" bIns="0">
            <a:spAutoFit/>
          </a:bodyPr>
          <a:lstStyle/>
          <a:p>
            <a:pPr algn="l">
              <a:lnSpc>
                <a:spcPct val="114000"/>
              </a:lnSpc>
            </a:pPr>
            <a:r>
              <a:rPr sz="1800" b="0">
                <a:solidFill>
                  <a:srgbClr val="1A1A1A"/>
                </a:solidFill>
                <a:latin typeface="DejaVu Serif"/>
              </a:rPr>
              <a:t/>
            </a:r>
            <a:r>
              <a:rPr sz="1800" b="0">
                <a:solidFill>
                  <a:srgbClr val="1A1A1A"/>
                </a:solidFill>
                <a:latin typeface="DejaVu Serif"/>
              </a:rPr>
              <a:t>Design rule: margin ≈ expected motion ≈ speed / frame rate.</a:t>
            </a:r>
          </a:p>
        </p:txBody>
      </p:sp>
      <p:sp>
        <p:nvSpPr>
          <p:cNvPr id="18" name="TextBox 17"/>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Applies to any network in this family, v2 included. A platform technique, not a property of the decoder.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10</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The same three situations, two domains</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omain_comparison.png"/>
          <p:cNvPicPr>
            <a:picLocks noChangeAspect="1"/>
          </p:cNvPicPr>
          <p:nvPr/>
        </p:nvPicPr>
        <p:blipFill>
          <a:blip r:embed="rId2"/>
          <a:stretch>
            <a:fillRect/>
          </a:stretch>
        </p:blipFill>
        <p:spPr>
          <a:xfrm>
            <a:off x="1135227" y="1847088"/>
            <a:ext cx="9921240" cy="3384926"/>
          </a:xfrm>
          <a:prstGeom prst="rect">
            <a:avLst/>
          </a:prstGeom>
        </p:spPr>
      </p:pic>
      <p:sp>
        <p:nvSpPr>
          <p:cNvPr id="6" name="Rectangle 5"/>
          <p:cNvSpPr/>
          <p:nvPr/>
        </p:nvSpPr>
        <p:spPr>
          <a:xfrm>
            <a:off x="685800" y="5568246"/>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451469"/>
            <a:ext cx="10545775"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Region geometry, margin and decoder configuration are identical across both.</a:t>
            </a:r>
          </a:p>
        </p:txBody>
      </p:sp>
      <p:sp>
        <p:nvSpPr>
          <p:cNvPr id="8" name="Rectangle 7"/>
          <p:cNvSpPr/>
          <p:nvPr/>
        </p:nvSpPr>
        <p:spPr>
          <a:xfrm>
            <a:off x="685800" y="6048687"/>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931910"/>
            <a:ext cx="10545775"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Only the domain changes, and no model in this study trained on aerial imagery.</a:t>
            </a:r>
          </a:p>
        </p:txBody>
      </p:sp>
      <p:sp>
        <p:nvSpPr>
          <p:cNvPr id="10" name="TextBox 9"/>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Left: Virtual KITTI 2. Right: TartanAir. Flow colour encodes direction.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11</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Margin is set by motion, not image size</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margin_rule.png"/>
          <p:cNvPicPr>
            <a:picLocks noChangeAspect="1"/>
          </p:cNvPicPr>
          <p:nvPr/>
        </p:nvPicPr>
        <p:blipFill>
          <a:blip r:embed="rId2"/>
          <a:stretch>
            <a:fillRect/>
          </a:stretch>
        </p:blipFill>
        <p:spPr>
          <a:xfrm>
            <a:off x="1569567" y="1847088"/>
            <a:ext cx="9052560" cy="3357880"/>
          </a:xfrm>
          <a:prstGeom prst="rect">
            <a:avLst/>
          </a:prstGeom>
        </p:spPr>
      </p:pic>
      <p:sp>
        <p:nvSpPr>
          <p:cNvPr id="6" name="Rectangle 5"/>
          <p:cNvSpPr/>
          <p:nvPr/>
        </p:nvSpPr>
        <p:spPr>
          <a:xfrm>
            <a:off x="685800" y="5541200"/>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424424"/>
            <a:ext cx="10545775"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1">
                <a:solidFill>
                  <a:srgbClr val="1A1A1A"/>
                </a:solidFill>
                <a:latin typeface="DejaVu Serif"/>
              </a:rPr>
              <a:t>Driving. </a:t>
            </a:r>
            <a:r>
              <a:rPr sz="1650" b="0">
                <a:solidFill>
                  <a:srgbClr val="1A1A1A"/>
                </a:solidFill>
                <a:latin typeface="DejaVu Serif"/>
              </a:rPr>
              <a:t>26.6 px mean motion, needs about 32 px.</a:t>
            </a:r>
          </a:p>
        </p:txBody>
      </p:sp>
      <p:sp>
        <p:nvSpPr>
          <p:cNvPr id="8" name="Rectangle 7"/>
          <p:cNvSpPr/>
          <p:nvPr/>
        </p:nvSpPr>
        <p:spPr>
          <a:xfrm>
            <a:off x="685800" y="6021641"/>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904865"/>
            <a:ext cx="10545775"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1">
                <a:solidFill>
                  <a:srgbClr val="1A1A1A"/>
                </a:solidFill>
                <a:latin typeface="DejaVu Serif"/>
              </a:rPr>
              <a:t>Aerial. </a:t>
            </a:r>
            <a:r>
              <a:rPr sz="1650" b="0">
                <a:solidFill>
                  <a:srgbClr val="1A1A1A"/>
                </a:solidFill>
                <a:latin typeface="DejaVu Serif"/>
              </a:rPr>
              <a:t>9.26 px mean motion, needs about 8 px.</a:t>
            </a:r>
          </a:p>
        </p:txBody>
      </p:sp>
      <p:sp>
        <p:nvSpPr>
          <p:cNvPr id="10" name="TextBox 9"/>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Measured with the baseline network. Predicts the scale, not the exact curve.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12</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A region found mid-frame costs 1.7 ms</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enario3_marginal.png"/>
          <p:cNvPicPr>
            <a:picLocks noChangeAspect="1"/>
          </p:cNvPicPr>
          <p:nvPr/>
        </p:nvPicPr>
        <p:blipFill>
          <a:blip r:embed="rId2"/>
          <a:stretch>
            <a:fillRect/>
          </a:stretch>
        </p:blipFill>
        <p:spPr>
          <a:xfrm>
            <a:off x="1569567" y="1847088"/>
            <a:ext cx="9052560" cy="3352237"/>
          </a:xfrm>
          <a:prstGeom prst="rect">
            <a:avLst/>
          </a:prstGeom>
        </p:spPr>
      </p:pic>
      <p:sp>
        <p:nvSpPr>
          <p:cNvPr id="6" name="Rectangle 5"/>
          <p:cNvSpPr/>
          <p:nvPr/>
        </p:nvSpPr>
        <p:spPr>
          <a:xfrm>
            <a:off x="685800" y="5535557"/>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5418780"/>
            <a:ext cx="10545775"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A fresh crop runs a whole new pass at 7.3 ms, and is less accurate doing it.</a:t>
            </a:r>
          </a:p>
        </p:txBody>
      </p:sp>
      <p:sp>
        <p:nvSpPr>
          <p:cNvPr id="8" name="Rectangle 7"/>
          <p:cNvSpPr/>
          <p:nvPr/>
        </p:nvSpPr>
        <p:spPr>
          <a:xfrm>
            <a:off x="685800" y="6015998"/>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899221"/>
            <a:ext cx="10545775"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0">
                <a:solidFill>
                  <a:srgbClr val="1A1A1A"/>
                </a:solidFill>
                <a:latin typeface="DejaVu Serif"/>
              </a:rPr>
              <a:t>Two disjoint crops cost more than one full frame: crop once, or not at all.</a:t>
            </a:r>
          </a:p>
        </p:txBody>
      </p:sp>
      <p:sp>
        <p:nvSpPr>
          <p:cNvPr id="10" name="TextBox 9"/>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Held-out VKITTI 2. The second region is disjoint, so a cropped pipeline can reuse nothing.</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13</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One cause, three experiments converging</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057400"/>
            <a:ext cx="1915302" cy="98755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00" b="0">
                <a:solidFill>
                  <a:srgbClr val="1A1A1A"/>
                </a:solidFill>
                <a:latin typeface="DejaVu Serif"/>
              </a:rPr>
              <a:t>Full-resolution</a:t>
            </a:r>
          </a:p>
          <a:p>
            <a:pPr algn="ctr">
              <a:lnSpc>
                <a:spcPct val="112000"/>
              </a:lnSpc>
            </a:pPr>
            <a:r>
              <a:rPr sz="1300" b="0">
                <a:solidFill>
                  <a:srgbClr val="1A1A1A"/>
                </a:solidFill>
                <a:latin typeface="DejaVu Serif"/>
              </a:rPr>
              <a:t>frame</a:t>
            </a:r>
          </a:p>
        </p:txBody>
      </p:sp>
      <p:sp>
        <p:nvSpPr>
          <p:cNvPr id="6" name="TextBox 5"/>
          <p:cNvSpPr txBox="1"/>
          <p:nvPr/>
        </p:nvSpPr>
        <p:spPr>
          <a:xfrm>
            <a:off x="2601102" y="2404872"/>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7" name="Rectangle 6"/>
          <p:cNvSpPr/>
          <p:nvPr/>
        </p:nvSpPr>
        <p:spPr>
          <a:xfrm>
            <a:off x="2911998" y="2057400"/>
            <a:ext cx="1915302" cy="98755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00" b="0">
                <a:solidFill>
                  <a:srgbClr val="1A1A1A"/>
                </a:solidFill>
                <a:latin typeface="DejaVu Serif"/>
              </a:rPr>
              <a:t>Backbone</a:t>
            </a:r>
          </a:p>
          <a:p>
            <a:pPr algn="ctr">
              <a:lnSpc>
                <a:spcPct val="112000"/>
              </a:lnSpc>
            </a:pPr>
            <a:r>
              <a:rPr sz="1300" b="0">
                <a:solidFill>
                  <a:srgbClr val="1A1A1A"/>
                </a:solidFill>
                <a:latin typeface="DejaVu Serif"/>
              </a:rPr>
              <a:t>1/8 and 1/16</a:t>
            </a:r>
          </a:p>
        </p:txBody>
      </p:sp>
      <p:sp>
        <p:nvSpPr>
          <p:cNvPr id="8" name="TextBox 7"/>
          <p:cNvSpPr txBox="1"/>
          <p:nvPr/>
        </p:nvSpPr>
        <p:spPr>
          <a:xfrm>
            <a:off x="4827300" y="2404872"/>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9" name="Rectangle 8"/>
          <p:cNvSpPr/>
          <p:nvPr/>
        </p:nvSpPr>
        <p:spPr>
          <a:xfrm>
            <a:off x="5138196" y="2057400"/>
            <a:ext cx="1915302" cy="987552"/>
          </a:xfrm>
          <a:prstGeom prst="rect">
            <a:avLst/>
          </a:prstGeom>
          <a:solidFill>
            <a:srgbClr val="1A1A1A"/>
          </a:solidFill>
          <a:ln w="1143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00" b="1">
                <a:solidFill>
                  <a:srgbClr val="FFFFFF"/>
                </a:solidFill>
                <a:latin typeface="DejaVu Serif"/>
              </a:rPr>
              <a:t>Decoder sees</a:t>
            </a:r>
          </a:p>
          <a:p>
            <a:pPr algn="ctr">
              <a:lnSpc>
                <a:spcPct val="112000"/>
              </a:lnSpc>
            </a:pPr>
            <a:r>
              <a:rPr sz="1300" b="1">
                <a:solidFill>
                  <a:srgbClr val="FFFFFF"/>
                </a:solidFill>
                <a:latin typeface="DejaVu Serif"/>
              </a:rPr>
              <a:t>1/8 only</a:t>
            </a:r>
          </a:p>
        </p:txBody>
      </p:sp>
      <p:sp>
        <p:nvSpPr>
          <p:cNvPr id="10" name="TextBox 9"/>
          <p:cNvSpPr txBox="1"/>
          <p:nvPr/>
        </p:nvSpPr>
        <p:spPr>
          <a:xfrm>
            <a:off x="7053498" y="2404872"/>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11" name="Rectangle 10"/>
          <p:cNvSpPr/>
          <p:nvPr/>
        </p:nvSpPr>
        <p:spPr>
          <a:xfrm>
            <a:off x="7364394" y="2057400"/>
            <a:ext cx="1915302" cy="98755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00" b="0">
                <a:solidFill>
                  <a:srgbClr val="1A1A1A"/>
                </a:solidFill>
                <a:latin typeface="DejaVu Serif"/>
              </a:rPr>
              <a:t>Evidence flat</a:t>
            </a:r>
          </a:p>
          <a:p>
            <a:pPr algn="ctr">
              <a:lnSpc>
                <a:spcPct val="112000"/>
              </a:lnSpc>
            </a:pPr>
            <a:r>
              <a:rPr sz="1300" b="0">
                <a:solidFill>
                  <a:srgbClr val="1A1A1A"/>
                </a:solidFill>
                <a:latin typeface="DejaVu Serif"/>
              </a:rPr>
              <a:t>in an 8x8 cell</a:t>
            </a:r>
          </a:p>
        </p:txBody>
      </p:sp>
      <p:sp>
        <p:nvSpPr>
          <p:cNvPr id="12" name="TextBox 11"/>
          <p:cNvSpPr txBox="1"/>
          <p:nvPr/>
        </p:nvSpPr>
        <p:spPr>
          <a:xfrm>
            <a:off x="9279696" y="2404872"/>
            <a:ext cx="310896" cy="274320"/>
          </a:xfrm>
          <a:prstGeom prst="rect">
            <a:avLst/>
          </a:prstGeom>
          <a:noFill/>
        </p:spPr>
        <p:txBody>
          <a:bodyPr wrap="square" lIns="0" rIns="0" tIns="0" bIns="0">
            <a:spAutoFit/>
          </a:bodyPr>
          <a:lstStyle/>
          <a:p>
            <a:pPr algn="ctr">
              <a:lnSpc>
                <a:spcPct val="100000"/>
              </a:lnSpc>
            </a:pPr>
            <a:r>
              <a:rPr sz="1400" b="1">
                <a:solidFill>
                  <a:srgbClr val="808080"/>
                </a:solidFill>
                <a:latin typeface="DejaVu Serif"/>
              </a:rPr>
              <a:t>&gt;</a:t>
            </a:r>
          </a:p>
        </p:txBody>
      </p:sp>
      <p:sp>
        <p:nvSpPr>
          <p:cNvPr id="13" name="Rectangle 12"/>
          <p:cNvSpPr/>
          <p:nvPr/>
        </p:nvSpPr>
        <p:spPr>
          <a:xfrm>
            <a:off x="9590592" y="2057400"/>
            <a:ext cx="1915302" cy="987552"/>
          </a:xfrm>
          <a:prstGeom prst="rect">
            <a:avLst/>
          </a:prstGeom>
          <a:solidFill>
            <a:srgbClr val="FFFFFF"/>
          </a:solidFill>
          <a:ln w="11430">
            <a:solidFill>
              <a:srgbClr val="C8C8C8"/>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lnSpc>
                <a:spcPct val="112000"/>
              </a:lnSpc>
            </a:pPr>
            <a:r>
              <a:rPr sz="1300" b="0">
                <a:solidFill>
                  <a:srgbClr val="1A1A1A"/>
                </a:solidFill>
                <a:latin typeface="DejaVu Serif"/>
              </a:rPr>
              <a:t>Sub-pixel gain</a:t>
            </a:r>
          </a:p>
          <a:p>
            <a:pPr algn="ctr">
              <a:lnSpc>
                <a:spcPct val="112000"/>
              </a:lnSpc>
            </a:pPr>
            <a:r>
              <a:rPr sz="1300" b="0">
                <a:solidFill>
                  <a:srgbClr val="1A1A1A"/>
                </a:solidFill>
                <a:latin typeface="DejaVu Serif"/>
              </a:rPr>
              <a:t>is small</a:t>
            </a:r>
          </a:p>
        </p:txBody>
      </p:sp>
      <p:sp>
        <p:nvSpPr>
          <p:cNvPr id="14" name="Rectangle 13"/>
          <p:cNvSpPr/>
          <p:nvPr/>
        </p:nvSpPr>
        <p:spPr>
          <a:xfrm>
            <a:off x="685800" y="3714750"/>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3584448"/>
            <a:ext cx="10545775" cy="649224"/>
          </a:xfrm>
          <a:prstGeom prst="rect">
            <a:avLst/>
          </a:prstGeom>
          <a:noFill/>
        </p:spPr>
        <p:txBody>
          <a:bodyPr wrap="square" lIns="0" rIns="0" tIns="0" bIns="0">
            <a:spAutoFit/>
          </a:bodyPr>
          <a:lstStyle/>
          <a:p>
            <a:pPr algn="l">
              <a:lnSpc>
                <a:spcPct val="114000"/>
              </a:lnSpc>
            </a:pPr>
            <a:r>
              <a:rPr sz="1800" b="0">
                <a:solidFill>
                  <a:srgbClr val="1A1A1A"/>
                </a:solidFill>
                <a:latin typeface="DejaVu Serif"/>
              </a:rPr>
              <a:t/>
            </a:r>
            <a:r>
              <a:rPr sz="1800" b="0">
                <a:solidFill>
                  <a:srgbClr val="1A1A1A"/>
                </a:solidFill>
                <a:latin typeface="DejaVu Serif"/>
              </a:rPr>
              <a:t>Fourier positional encoding, sub-pixel querying and reduced-resolution querying all returned null, and one mechanism explains all three.</a:t>
            </a:r>
          </a:p>
        </p:txBody>
      </p:sp>
      <p:sp>
        <p:nvSpPr>
          <p:cNvPr id="16" name="Rectangle 15"/>
          <p:cNvSpPr/>
          <p:nvPr/>
        </p:nvSpPr>
        <p:spPr>
          <a:xfrm>
            <a:off x="685800" y="4546854"/>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416552"/>
            <a:ext cx="10545775" cy="324612"/>
          </a:xfrm>
          <a:prstGeom prst="rect">
            <a:avLst/>
          </a:prstGeom>
          <a:noFill/>
        </p:spPr>
        <p:txBody>
          <a:bodyPr wrap="square" lIns="0" rIns="0" tIns="0" bIns="0">
            <a:spAutoFit/>
          </a:bodyPr>
          <a:lstStyle/>
          <a:p>
            <a:pPr algn="l">
              <a:lnSpc>
                <a:spcPct val="114000"/>
              </a:lnSpc>
            </a:pPr>
            <a:r>
              <a:rPr sz="1800" b="0">
                <a:solidFill>
                  <a:srgbClr val="1A1A1A"/>
                </a:solidFill>
                <a:latin typeface="DejaVu Serif"/>
              </a:rPr>
              <a:t/>
            </a:r>
            <a:r>
              <a:rPr sz="1800" b="1">
                <a:solidFill>
                  <a:srgbClr val="1A1A1A"/>
                </a:solidFill>
                <a:latin typeface="DejaVu Serif"/>
              </a:rPr>
              <a:t>Remedy. </a:t>
            </a:r>
            <a:r>
              <a:rPr sz="1800" b="0">
                <a:solidFill>
                  <a:srgbClr val="1A1A1A"/>
                </a:solidFill>
                <a:latin typeface="DejaVu Serif"/>
              </a:rPr>
              <a:t>A full-resolution stem, roughly 1 to 2 ms. Not yet built.</a:t>
            </a:r>
          </a:p>
        </p:txBody>
      </p:sp>
      <p:sp>
        <p:nvSpPr>
          <p:cNvPr id="18" name="TextBox 17"/>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Also open: no embedded measurement, one evaluation domain, and one seed per configuration, so differences below 0.05 px are not resolved.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1094415" y="6327648"/>
            <a:ext cx="411480" cy="219456"/>
          </a:xfrm>
          <a:prstGeom prst="rect">
            <a:avLst/>
          </a:prstGeom>
          <a:noFill/>
        </p:spPr>
        <p:txBody>
          <a:bodyPr wrap="square" lIns="0" rIns="0" tIns="0" bIns="0">
            <a:spAutoFit/>
          </a:bodyPr>
          <a:lstStyle/>
          <a:p>
            <a:pPr algn="r">
              <a:lnSpc>
                <a:spcPct val="100000"/>
              </a:lnSpc>
            </a:pPr>
            <a:r>
              <a:rPr sz="1150" b="0">
                <a:solidFill>
                  <a:srgbClr val="808080"/>
                </a:solidFill>
                <a:latin typeface="DejaVu Serif"/>
              </a:rPr>
              <a:t>14</a:t>
            </a:r>
          </a:p>
        </p:txBody>
      </p:sp>
      <p:sp>
        <p:nvSpPr>
          <p:cNvPr id="3" name="TextBox 2"/>
          <p:cNvSpPr txBox="1"/>
          <p:nvPr/>
        </p:nvSpPr>
        <p:spPr>
          <a:xfrm>
            <a:off x="685800" y="365760"/>
            <a:ext cx="10820095" cy="969264"/>
          </a:xfrm>
          <a:prstGeom prst="rect">
            <a:avLst/>
          </a:prstGeom>
          <a:noFill/>
        </p:spPr>
        <p:txBody>
          <a:bodyPr wrap="square" lIns="0" rIns="0" tIns="0" bIns="0">
            <a:spAutoFit/>
          </a:bodyPr>
          <a:lstStyle/>
          <a:p>
            <a:pPr algn="l">
              <a:lnSpc>
                <a:spcPct val="110000"/>
              </a:lnSpc>
            </a:pPr>
            <a:r>
              <a:rPr sz="3000" b="1">
                <a:solidFill>
                  <a:srgbClr val="1A1A1A"/>
                </a:solidFill>
                <a:latin typeface="DejaVu Serif"/>
              </a:rPr>
              <a:t>Back to the three objectives</a:t>
            </a:r>
          </a:p>
        </p:txBody>
      </p:sp>
      <p:sp>
        <p:nvSpPr>
          <p:cNvPr id="4" name="Rectangle 3"/>
          <p:cNvSpPr/>
          <p:nvPr/>
        </p:nvSpPr>
        <p:spPr>
          <a:xfrm>
            <a:off x="685800" y="1408176"/>
            <a:ext cx="10820095" cy="9525"/>
          </a:xfrm>
          <a:prstGeom prst="rect">
            <a:avLst/>
          </a:prstGeom>
          <a:solidFill>
            <a:srgbClr val="C8C8C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85800" y="2082736"/>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1965960"/>
            <a:ext cx="10545775"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1">
                <a:solidFill>
                  <a:srgbClr val="1A1A1A"/>
                </a:solidFill>
                <a:latin typeface="DejaVu Serif"/>
              </a:rPr>
              <a:t>Better accuracy than v2.  </a:t>
            </a:r>
            <a:r>
              <a:rPr sz="1650" b="0">
                <a:solidFill>
                  <a:srgbClr val="1A1A1A"/>
                </a:solidFill>
                <a:latin typeface="DejaVu Serif"/>
              </a:rPr>
              <a:t>Not met. 2.384 against 2.324.</a:t>
            </a:r>
          </a:p>
        </p:txBody>
      </p:sp>
      <p:sp>
        <p:nvSpPr>
          <p:cNvPr id="7" name="Rectangle 6"/>
          <p:cNvSpPr/>
          <p:nvPr/>
        </p:nvSpPr>
        <p:spPr>
          <a:xfrm>
            <a:off x="685800" y="2618041"/>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501265"/>
            <a:ext cx="10545775"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1">
                <a:solidFill>
                  <a:srgbClr val="1A1A1A"/>
                </a:solidFill>
                <a:latin typeface="DejaVu Serif"/>
              </a:rPr>
              <a:t>Less compute than v2.  </a:t>
            </a:r>
            <a:r>
              <a:rPr sz="1650" b="0">
                <a:solidFill>
                  <a:srgbClr val="1A1A1A"/>
                </a:solidFill>
                <a:latin typeface="DejaVu Serif"/>
              </a:rPr>
              <a:t>Partly. Dense slower, repeat query 27x cheaper.</a:t>
            </a:r>
          </a:p>
        </p:txBody>
      </p:sp>
      <p:sp>
        <p:nvSpPr>
          <p:cNvPr id="9" name="Rectangle 8"/>
          <p:cNvSpPr/>
          <p:nvPr/>
        </p:nvSpPr>
        <p:spPr>
          <a:xfrm>
            <a:off x="685800" y="3153346"/>
            <a:ext cx="64008" cy="64008"/>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3036570"/>
            <a:ext cx="10545775" cy="297560"/>
          </a:xfrm>
          <a:prstGeom prst="rect">
            <a:avLst/>
          </a:prstGeom>
          <a:noFill/>
        </p:spPr>
        <p:txBody>
          <a:bodyPr wrap="square" lIns="0" rIns="0" tIns="0" bIns="0">
            <a:spAutoFit/>
          </a:bodyPr>
          <a:lstStyle/>
          <a:p>
            <a:pPr algn="l">
              <a:lnSpc>
                <a:spcPct val="114000"/>
              </a:lnSpc>
            </a:pPr>
            <a:r>
              <a:rPr sz="1650" b="0">
                <a:solidFill>
                  <a:srgbClr val="1A1A1A"/>
                </a:solidFill>
                <a:latin typeface="DejaVu Serif"/>
              </a:rPr>
              <a:t/>
            </a:r>
            <a:r>
              <a:rPr sz="1650" b="1">
                <a:solidFill>
                  <a:srgbClr val="1A1A1A"/>
                </a:solidFill>
                <a:latin typeface="DejaVu Serif"/>
              </a:rPr>
              <a:t>Runs on edge devices.  </a:t>
            </a:r>
            <a:r>
              <a:rPr sz="1650" b="0">
                <a:solidFill>
                  <a:srgbClr val="1A1A1A"/>
                </a:solidFill>
                <a:latin typeface="DejaVu Serif"/>
              </a:rPr>
              <a:t>Unproven. Every figure is from a laptop GPU.</a:t>
            </a:r>
          </a:p>
        </p:txBody>
      </p:sp>
      <p:sp>
        <p:nvSpPr>
          <p:cNvPr id="11" name="TextBox 10"/>
          <p:cNvSpPr txBox="1"/>
          <p:nvPr/>
        </p:nvSpPr>
        <p:spPr>
          <a:xfrm>
            <a:off x="685800" y="3886200"/>
            <a:ext cx="10820095" cy="256032"/>
          </a:xfrm>
          <a:prstGeom prst="rect">
            <a:avLst/>
          </a:prstGeom>
          <a:noFill/>
        </p:spPr>
        <p:txBody>
          <a:bodyPr wrap="square" lIns="0" rIns="0" tIns="0" bIns="0">
            <a:spAutoFit/>
          </a:bodyPr>
          <a:lstStyle/>
          <a:p>
            <a:pPr algn="l">
              <a:lnSpc>
                <a:spcPct val="100000"/>
              </a:lnSpc>
            </a:pPr>
            <a:r>
              <a:rPr sz="1300" b="1">
                <a:solidFill>
                  <a:srgbClr val="5A5A5A"/>
                </a:solidFill>
                <a:latin typeface="DejaVu Serif"/>
              </a:rPr>
              <a:t>DELIVERED INSTEAD, AND MEASURED</a:t>
            </a:r>
          </a:p>
        </p:txBody>
      </p:sp>
      <p:sp>
        <p:nvSpPr>
          <p:cNvPr id="12" name="Rectangle 11"/>
          <p:cNvSpPr/>
          <p:nvPr/>
        </p:nvSpPr>
        <p:spPr>
          <a:xfrm>
            <a:off x="685800" y="4279392"/>
            <a:ext cx="3456432" cy="120700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ctr">
              <a:lnSpc>
                <a:spcPct val="120000"/>
              </a:lnSpc>
            </a:pPr>
            <a:r>
              <a:rPr sz="1650" b="0">
                <a:solidFill>
                  <a:srgbClr val="1A1A1A"/>
                </a:solidFill>
                <a:latin typeface="DejaVu Serif"/>
              </a:rPr>
              <a:t>Queryable output</a:t>
            </a:r>
          </a:p>
          <a:p>
            <a:pPr algn="ctr">
              <a:lnSpc>
                <a:spcPct val="120000"/>
              </a:lnSpc>
            </a:pPr>
            <a:r>
              <a:rPr sz="1650" b="0">
                <a:solidFill>
                  <a:srgbClr val="1A1A1A"/>
                </a:solidFill>
                <a:latin typeface="DejaVu Serif"/>
              </a:rPr>
              <a:t/>
            </a:r>
          </a:p>
          <a:p>
            <a:pPr algn="ctr">
              <a:lnSpc>
                <a:spcPct val="120000"/>
              </a:lnSpc>
            </a:pPr>
            <a:r>
              <a:rPr sz="1650" b="0">
                <a:solidFill>
                  <a:srgbClr val="1A1A1A"/>
                </a:solidFill>
                <a:latin typeface="DejaVu Serif"/>
              </a:rPr>
              <a:t>any continuous</a:t>
            </a:r>
          </a:p>
          <a:p>
            <a:pPr algn="ctr">
              <a:lnSpc>
                <a:spcPct val="120000"/>
              </a:lnSpc>
            </a:pPr>
            <a:r>
              <a:rPr sz="1650" b="0">
                <a:solidFill>
                  <a:srgbClr val="1A1A1A"/>
                </a:solidFill>
                <a:latin typeface="DejaVu Serif"/>
              </a:rPr>
              <a:t>coordinate</a:t>
            </a:r>
          </a:p>
        </p:txBody>
      </p:sp>
      <p:sp>
        <p:nvSpPr>
          <p:cNvPr id="13" name="Rectangle 12"/>
          <p:cNvSpPr/>
          <p:nvPr/>
        </p:nvSpPr>
        <p:spPr>
          <a:xfrm>
            <a:off x="4370832" y="4279392"/>
            <a:ext cx="3456432" cy="120700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ctr">
              <a:lnSpc>
                <a:spcPct val="120000"/>
              </a:lnSpc>
            </a:pPr>
            <a:r>
              <a:rPr sz="1650" b="0">
                <a:solidFill>
                  <a:srgbClr val="1A1A1A"/>
                </a:solidFill>
                <a:latin typeface="DejaVu Serif"/>
              </a:rPr>
              <a:t>Cheap repeat access</a:t>
            </a:r>
          </a:p>
          <a:p>
            <a:pPr algn="ctr">
              <a:lnSpc>
                <a:spcPct val="120000"/>
              </a:lnSpc>
            </a:pPr>
            <a:r>
              <a:rPr sz="1650" b="0">
                <a:solidFill>
                  <a:srgbClr val="1A1A1A"/>
                </a:solidFill>
                <a:latin typeface="DejaVu Serif"/>
              </a:rPr>
              <a:t/>
            </a:r>
          </a:p>
          <a:p>
            <a:pPr algn="ctr">
              <a:lnSpc>
                <a:spcPct val="120000"/>
              </a:lnSpc>
            </a:pPr>
            <a:r>
              <a:rPr sz="1650" b="0">
                <a:solidFill>
                  <a:srgbClr val="1A1A1A"/>
                </a:solidFill>
                <a:latin typeface="DejaVu Serif"/>
              </a:rPr>
              <a:t>1.25 ms per</a:t>
            </a:r>
          </a:p>
          <a:p>
            <a:pPr algn="ctr">
              <a:lnSpc>
                <a:spcPct val="120000"/>
              </a:lnSpc>
            </a:pPr>
            <a:r>
              <a:rPr sz="1650" b="0">
                <a:solidFill>
                  <a:srgbClr val="1A1A1A"/>
                </a:solidFill>
                <a:latin typeface="DejaVu Serif"/>
              </a:rPr>
              <a:t>further query</a:t>
            </a:r>
          </a:p>
        </p:txBody>
      </p:sp>
      <p:sp>
        <p:nvSpPr>
          <p:cNvPr id="14" name="Rectangle 13"/>
          <p:cNvSpPr/>
          <p:nvPr/>
        </p:nvSpPr>
        <p:spPr>
          <a:xfrm>
            <a:off x="8055864" y="4279392"/>
            <a:ext cx="3456432" cy="120700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73152" bIns="73152"/>
          <a:lstStyle/>
          <a:p>
            <a:pPr algn="ctr">
              <a:lnSpc>
                <a:spcPct val="120000"/>
              </a:lnSpc>
            </a:pPr>
            <a:r>
              <a:rPr sz="1650" b="0">
                <a:solidFill>
                  <a:srgbClr val="1A1A1A"/>
                </a:solidFill>
                <a:latin typeface="DejaVu Serif"/>
              </a:rPr>
              <a:t>Calibrated confidence</a:t>
            </a:r>
          </a:p>
          <a:p>
            <a:pPr algn="ctr">
              <a:lnSpc>
                <a:spcPct val="120000"/>
              </a:lnSpc>
            </a:pPr>
            <a:r>
              <a:rPr sz="1650" b="0">
                <a:solidFill>
                  <a:srgbClr val="1A1A1A"/>
                </a:solidFill>
                <a:latin typeface="DejaVu Serif"/>
              </a:rPr>
              <a:t/>
            </a:r>
          </a:p>
          <a:p>
            <a:pPr algn="ctr">
              <a:lnSpc>
                <a:spcPct val="120000"/>
              </a:lnSpc>
            </a:pPr>
            <a:r>
              <a:rPr sz="1650" b="0">
                <a:solidFill>
                  <a:srgbClr val="1A1A1A"/>
                </a:solidFill>
                <a:latin typeface="DejaVu Serif"/>
              </a:rPr>
              <a:t>a per-query</a:t>
            </a:r>
          </a:p>
          <a:p>
            <a:pPr algn="ctr">
              <a:lnSpc>
                <a:spcPct val="120000"/>
              </a:lnSpc>
            </a:pPr>
            <a:r>
              <a:rPr sz="1650" b="0">
                <a:solidFill>
                  <a:srgbClr val="1A1A1A"/>
                </a:solidFill>
                <a:latin typeface="DejaVu Serif"/>
              </a:rPr>
              <a:t>error estimate</a:t>
            </a:r>
          </a:p>
        </p:txBody>
      </p:sp>
      <p:sp>
        <p:nvSpPr>
          <p:cNvPr id="15" name="TextBox 14"/>
          <p:cNvSpPr txBox="1"/>
          <p:nvPr/>
        </p:nvSpPr>
        <p:spPr>
          <a:xfrm>
            <a:off x="685800" y="6327648"/>
            <a:ext cx="10317175" cy="237744"/>
          </a:xfrm>
          <a:prstGeom prst="rect">
            <a:avLst/>
          </a:prstGeom>
          <a:noFill/>
        </p:spPr>
        <p:txBody>
          <a:bodyPr wrap="square" lIns="0" rIns="0" tIns="0" bIns="0">
            <a:spAutoFit/>
          </a:bodyPr>
          <a:lstStyle/>
          <a:p>
            <a:pPr algn="l">
              <a:lnSpc>
                <a:spcPct val="100000"/>
              </a:lnSpc>
            </a:pPr>
            <a:r>
              <a:rPr sz="1150" b="0">
                <a:solidFill>
                  <a:srgbClr val="808080"/>
                </a:solidFill>
                <a:latin typeface="DejaVu Serif"/>
              </a:rPr>
              <a:t>Next: a full-resolution stem, then embedded measurement.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