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" name="r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tb"/>
          <p:cNvSpPr/>
          <p:nvPr/>
        </p:nvSpPr>
        <p:spPr>
          <a:xfrm>
            <a:off x="685800" y="214884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5000" spc="-1" strike="noStrike">
                <a:solidFill>
                  <a:srgbClr val="20242b"/>
                </a:solidFill>
                <a:latin typeface="Calibri"/>
              </a:rPr>
              <a:t>NeuFlow v3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41" name="tb"/>
          <p:cNvSpPr/>
          <p:nvPr/>
        </p:nvSpPr>
        <p:spPr>
          <a:xfrm>
            <a:off x="685800" y="3246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1f4e79"/>
                </a:solidFill>
                <a:latin typeface="Calibri"/>
              </a:rPr>
              <a:t>Implicit neural decoding for optical flow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" name="r"/>
          <p:cNvSpPr/>
          <p:nvPr/>
        </p:nvSpPr>
        <p:spPr>
          <a:xfrm>
            <a:off x="685800" y="4069080"/>
            <a:ext cx="2925720" cy="1872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tb"/>
          <p:cNvSpPr/>
          <p:nvPr/>
        </p:nvSpPr>
        <p:spPr>
          <a:xfrm>
            <a:off x="685800" y="4343400"/>
            <a:ext cx="10058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3c414b"/>
                </a:solidFill>
                <a:latin typeface="Calibri"/>
              </a:rPr>
              <a:t>A progress update: a frozen-backbone implicit decoder inspired by InfiniDepth, evaluated against the NeuFlow v2 baseline on Virtual KITTI 2.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" name="tb"/>
          <p:cNvSpPr/>
          <p:nvPr/>
        </p:nvSpPr>
        <p:spPr>
          <a:xfrm>
            <a:off x="685800" y="57150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20242b"/>
                </a:solidFill>
                <a:latin typeface="Calibri"/>
              </a:rPr>
              <a:t>Shriman Raghav Srinivasan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81"/>
              </a:spcBef>
              <a:buNone/>
            </a:pPr>
            <a:r>
              <a:rPr b="0" lang="en-US" sz="1100" spc="-1" strike="noStrike">
                <a:solidFill>
                  <a:srgbClr val="7b838f"/>
                </a:solidFill>
                <a:latin typeface="Calibri"/>
              </a:rPr>
              <a:t>MS Robotics, Northeastern University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b"/>
          <p:cNvSpPr/>
          <p:nvPr/>
        </p:nvSpPr>
        <p:spPr>
          <a:xfrm>
            <a:off x="68580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050" spc="199" strike="noStrike">
                <a:solidFill>
                  <a:srgbClr val="1f4e79"/>
                </a:solidFill>
                <a:latin typeface="Calibri"/>
              </a:rPr>
              <a:t>MOTIVATION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7" name="tb"/>
          <p:cNvSpPr/>
          <p:nvPr/>
        </p:nvSpPr>
        <p:spPr>
          <a:xfrm>
            <a:off x="667440" y="6584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20242b"/>
                </a:solidFill>
                <a:latin typeface="Calibri"/>
              </a:rPr>
              <a:t>The problem worth solving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8" name="r"/>
          <p:cNvSpPr/>
          <p:nvPr/>
        </p:nvSpPr>
        <p:spPr>
          <a:xfrm>
            <a:off x="685800" y="148140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b"/>
          <p:cNvSpPr/>
          <p:nvPr/>
        </p:nvSpPr>
        <p:spPr>
          <a:xfrm>
            <a:off x="685800" y="1783080"/>
            <a:ext cx="68576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8000"/>
              </a:lnSpc>
              <a:buNone/>
            </a:pPr>
            <a:r>
              <a:rPr b="0" lang="en-US" sz="1450" spc="-1" strike="noStrike">
                <a:solidFill>
                  <a:srgbClr val="3c414b"/>
                </a:solidFill>
                <a:latin typeface="Calibri"/>
              </a:rPr>
              <a:t>Optical flow is computed as a dense, fixed-resolution map. For image registration and mapping that is the wrong tool.</a:t>
            </a:r>
            <a:endParaRPr b="0" lang="en-US" sz="145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901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50" spc="-1" strike="noStrike">
                <a:solidFill>
                  <a:srgbClr val="3c414b"/>
                </a:solidFill>
                <a:latin typeface="Calibri"/>
              </a:rPr>
              <a:t>You usually need accurate correspondences only at well-textured points, often on imagery far too large to run dense flow on.</a:t>
            </a:r>
            <a:endParaRPr b="0" lang="en-US" sz="145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601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50" spc="-1" strike="noStrike">
                <a:solidFill>
                  <a:srgbClr val="3c414b"/>
                </a:solidFill>
                <a:latin typeface="Calibri"/>
              </a:rPr>
              <a:t>NeuFlow v2's convex upsampler can only produce that one dense grid, at one resolution, at a fixed cost.</a:t>
            </a:r>
            <a:endParaRPr b="0" lang="en-US" sz="145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601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50" spc="-1" strike="noStrike">
                <a:solidFill>
                  <a:srgbClr val="3c414b"/>
                </a:solidFill>
                <a:latin typeface="Calibri"/>
              </a:rPr>
              <a:t>Idea: make flow queryable. One backbone pass, then ask for flow at any points, at any resolution, at a cost that scales with queries, not image size.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50" name="r"/>
          <p:cNvSpPr/>
          <p:nvPr/>
        </p:nvSpPr>
        <p:spPr>
          <a:xfrm>
            <a:off x="8001000" y="1783080"/>
            <a:ext cx="3702960" cy="3200040"/>
          </a:xfrm>
          <a:prstGeom prst="rect">
            <a:avLst/>
          </a:prstGeom>
          <a:solidFill>
            <a:srgbClr val="ed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r"/>
          <p:cNvSpPr/>
          <p:nvPr/>
        </p:nvSpPr>
        <p:spPr>
          <a:xfrm>
            <a:off x="8001000" y="1783080"/>
            <a:ext cx="63720" cy="32000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b"/>
          <p:cNvSpPr/>
          <p:nvPr/>
        </p:nvSpPr>
        <p:spPr>
          <a:xfrm>
            <a:off x="8275320" y="2057400"/>
            <a:ext cx="3200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f4e79"/>
                </a:solidFill>
                <a:latin typeface="Calibri"/>
              </a:rPr>
              <a:t>Core problem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601"/>
              </a:spcBef>
              <a:buNone/>
            </a:pPr>
            <a:r>
              <a:rPr b="0" lang="en-US" sz="1400" spc="-1" strike="noStrike">
                <a:solidFill>
                  <a:srgbClr val="20242b"/>
                </a:solidFill>
                <a:latin typeface="Calibri"/>
              </a:rPr>
              <a:t>Flow where dense flow is wasteful or impossible: large survey and mapping imagery, and compute-limited field robots.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700"/>
              </a:spcBef>
              <a:buNone/>
            </a:pPr>
            <a:r>
              <a:rPr b="1" lang="en-US" sz="1350" spc="-1" strike="noStrike">
                <a:solidFill>
                  <a:srgbClr val="2e7d32"/>
                </a:solidFill>
                <a:latin typeface="Calibri"/>
              </a:rPr>
              <a:t>Turn flow from a full-frame product into an on-demand correspondence engine.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3" name="r"/>
          <p:cNvSpPr/>
          <p:nvPr/>
        </p:nvSpPr>
        <p:spPr>
          <a:xfrm>
            <a:off x="685800" y="580644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b"/>
          <p:cNvSpPr/>
          <p:nvPr/>
        </p:nvSpPr>
        <p:spPr>
          <a:xfrm>
            <a:off x="685800" y="5934600"/>
            <a:ext cx="1081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0000"/>
              </a:lnSpc>
              <a:buNone/>
            </a:pPr>
            <a:r>
              <a:rPr b="1" lang="en-US" sz="1100" spc="-1" strike="noStrike">
                <a:solidFill>
                  <a:srgbClr val="1f4e79"/>
                </a:solidFill>
                <a:latin typeface="Calibri"/>
              </a:rPr>
              <a:t>Takeaway   </a:t>
            </a:r>
            <a:r>
              <a:rPr b="0" lang="en-US" sz="1200" spc="-1" strike="noStrike">
                <a:solidFill>
                  <a:srgbClr val="20242b"/>
                </a:solidFill>
                <a:latin typeface="Calibri"/>
              </a:rPr>
              <a:t>The contribution is a new accuracy / compute / resolution operating point, not a lower EPE.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" name="tb"/>
          <p:cNvSpPr/>
          <p:nvPr/>
        </p:nvSpPr>
        <p:spPr>
          <a:xfrm>
            <a:off x="68580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NeuFlow v3  ·  progress update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6" name="tb"/>
          <p:cNvSpPr/>
          <p:nvPr/>
        </p:nvSpPr>
        <p:spPr>
          <a:xfrm>
            <a:off x="10607040" y="64191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b"/>
          <p:cNvSpPr/>
          <p:nvPr/>
        </p:nvSpPr>
        <p:spPr>
          <a:xfrm>
            <a:off x="68580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050" spc="199" strike="noStrike">
                <a:solidFill>
                  <a:srgbClr val="1f4e79"/>
                </a:solidFill>
                <a:latin typeface="Calibri"/>
              </a:rPr>
              <a:t>APPROACH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9" name="tb"/>
          <p:cNvSpPr/>
          <p:nvPr/>
        </p:nvSpPr>
        <p:spPr>
          <a:xfrm>
            <a:off x="667440" y="6584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20242b"/>
                </a:solidFill>
                <a:latin typeface="Calibri"/>
              </a:rPr>
              <a:t>Method: what changed from v2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0" name="r"/>
          <p:cNvSpPr/>
          <p:nvPr/>
        </p:nvSpPr>
        <p:spPr>
          <a:xfrm>
            <a:off x="685800" y="148140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b"/>
          <p:cNvSpPr/>
          <p:nvPr/>
        </p:nvSpPr>
        <p:spPr>
          <a:xfrm>
            <a:off x="685800" y="1783080"/>
            <a:ext cx="667476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450" spc="-1" strike="noStrike">
                <a:solidFill>
                  <a:srgbClr val="20242b"/>
                </a:solidFill>
                <a:latin typeface="Calibri"/>
              </a:rPr>
              <a:t>Frozen v2 backbone.</a:t>
            </a:r>
            <a:endParaRPr b="0" lang="en-US" sz="145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3c414b"/>
                </a:solidFill>
                <a:latin typeface="Calibri"/>
              </a:rPr>
              <a:t>The CNN encoder, cross-attention and GRU refinement are unchanged. Only the upsampling head is replaced.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1" lang="en-US" sz="1450" spc="-1" strike="noStrike">
                <a:solidFill>
                  <a:srgbClr val="20242b"/>
                </a:solidFill>
                <a:latin typeface="Calibri"/>
              </a:rPr>
              <a:t>New implicit decoder.</a:t>
            </a:r>
            <a:endParaRPr b="0" lang="en-US" sz="145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3c414b"/>
                </a:solidFill>
                <a:latin typeface="Calibri"/>
              </a:rPr>
              <a:t>Samples three scales: ctx_s8 (64d), feat_s8 (128d), feat_s16 (128d).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3c414b"/>
                </a:solidFill>
                <a:latin typeface="Calibri"/>
              </a:rPr>
              <a:t>Hierarchical gated-residual fusion, then an MLP predicts a correction on top of the coarse flow.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3c414b"/>
                </a:solidFill>
                <a:latin typeface="Calibri"/>
              </a:rPr>
              <a:t>Adds warped img1 features for cross-frame correspondence, which single-image depth never needs.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3c414b"/>
                </a:solidFill>
                <a:latin typeface="Calibri"/>
              </a:rPr>
              <a:t>Output layer is zero-initialised, so at step 0 it reproduces v2 exactly.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1" lang="en-US" sz="1450" spc="-1" strike="noStrike">
                <a:solidFill>
                  <a:srgbClr val="20242b"/>
                </a:solidFill>
                <a:latin typeface="Calibri"/>
              </a:rPr>
              <a:t>Queryable by construction.</a:t>
            </a:r>
            <a:endParaRPr b="0" lang="en-US" sz="145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3c414b"/>
                </a:solidFill>
                <a:latin typeface="Calibri"/>
              </a:rPr>
              <a:t>One backbone pass caches the state; flow is then decoded at any N points or any resolution. Decode cost is O(N), not O(H x W).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2" name="r"/>
          <p:cNvSpPr/>
          <p:nvPr/>
        </p:nvSpPr>
        <p:spPr>
          <a:xfrm>
            <a:off x="7955280" y="1810440"/>
            <a:ext cx="3748680" cy="548280"/>
          </a:xfrm>
          <a:prstGeom prst="rect">
            <a:avLst/>
          </a:prstGeom>
          <a:solidFill>
            <a:srgbClr val="edf2f7"/>
          </a:solidFill>
          <a:ln w="9525">
            <a:solidFill>
              <a:srgbClr val="d6dce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r"/>
          <p:cNvSpPr/>
          <p:nvPr/>
        </p:nvSpPr>
        <p:spPr>
          <a:xfrm>
            <a:off x="7955280" y="1810440"/>
            <a:ext cx="54360" cy="54828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b"/>
          <p:cNvSpPr/>
          <p:nvPr/>
        </p:nvSpPr>
        <p:spPr>
          <a:xfrm>
            <a:off x="8156520" y="181044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0242b"/>
                </a:solidFill>
                <a:latin typeface="Calibri"/>
              </a:rPr>
              <a:t>Frozen v2 backbone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5" name="r"/>
          <p:cNvSpPr/>
          <p:nvPr/>
        </p:nvSpPr>
        <p:spPr>
          <a:xfrm>
            <a:off x="9823320" y="2359080"/>
            <a:ext cx="12240" cy="237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r"/>
          <p:cNvSpPr/>
          <p:nvPr/>
        </p:nvSpPr>
        <p:spPr>
          <a:xfrm>
            <a:off x="7955280" y="2597040"/>
            <a:ext cx="3748680" cy="548280"/>
          </a:xfrm>
          <a:prstGeom prst="rect">
            <a:avLst/>
          </a:prstGeom>
          <a:solidFill>
            <a:srgbClr val="edf2f7"/>
          </a:solidFill>
          <a:ln w="9525">
            <a:solidFill>
              <a:srgbClr val="d6dce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r"/>
          <p:cNvSpPr/>
          <p:nvPr/>
        </p:nvSpPr>
        <p:spPr>
          <a:xfrm>
            <a:off x="7955280" y="2597040"/>
            <a:ext cx="54360" cy="54828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b"/>
          <p:cNvSpPr/>
          <p:nvPr/>
        </p:nvSpPr>
        <p:spPr>
          <a:xfrm>
            <a:off x="8156520" y="259704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0242b"/>
                </a:solidFill>
                <a:latin typeface="Calibri"/>
              </a:rPr>
              <a:t>Multi-scale features  (ctx_s8 · feat_s8 · feat_s16)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r"/>
          <p:cNvSpPr/>
          <p:nvPr/>
        </p:nvSpPr>
        <p:spPr>
          <a:xfrm>
            <a:off x="9823320" y="3145680"/>
            <a:ext cx="12240" cy="237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r"/>
          <p:cNvSpPr/>
          <p:nvPr/>
        </p:nvSpPr>
        <p:spPr>
          <a:xfrm>
            <a:off x="7955280" y="3383280"/>
            <a:ext cx="3748680" cy="548280"/>
          </a:xfrm>
          <a:prstGeom prst="rect">
            <a:avLst/>
          </a:prstGeom>
          <a:solidFill>
            <a:srgbClr val="edf2f7"/>
          </a:solidFill>
          <a:ln w="9525">
            <a:solidFill>
              <a:srgbClr val="d6dce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r"/>
          <p:cNvSpPr/>
          <p:nvPr/>
        </p:nvSpPr>
        <p:spPr>
          <a:xfrm>
            <a:off x="7955280" y="3383280"/>
            <a:ext cx="54360" cy="54828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b"/>
          <p:cNvSpPr/>
          <p:nvPr/>
        </p:nvSpPr>
        <p:spPr>
          <a:xfrm>
            <a:off x="8156520" y="338328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0242b"/>
                </a:solidFill>
                <a:latin typeface="Calibri"/>
              </a:rPr>
              <a:t>Warped img1 features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3" name="r"/>
          <p:cNvSpPr/>
          <p:nvPr/>
        </p:nvSpPr>
        <p:spPr>
          <a:xfrm>
            <a:off x="9823320" y="3931920"/>
            <a:ext cx="12240" cy="237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r"/>
          <p:cNvSpPr/>
          <p:nvPr/>
        </p:nvSpPr>
        <p:spPr>
          <a:xfrm>
            <a:off x="7955280" y="4169520"/>
            <a:ext cx="3748680" cy="548280"/>
          </a:xfrm>
          <a:prstGeom prst="rect">
            <a:avLst/>
          </a:prstGeom>
          <a:solidFill>
            <a:srgbClr val="edf2f7"/>
          </a:solidFill>
          <a:ln w="9525">
            <a:solidFill>
              <a:srgbClr val="d6dce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r"/>
          <p:cNvSpPr/>
          <p:nvPr/>
        </p:nvSpPr>
        <p:spPr>
          <a:xfrm>
            <a:off x="7955280" y="4169520"/>
            <a:ext cx="54360" cy="54828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b"/>
          <p:cNvSpPr/>
          <p:nvPr/>
        </p:nvSpPr>
        <p:spPr>
          <a:xfrm>
            <a:off x="8156520" y="416952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0242b"/>
                </a:solidFill>
                <a:latin typeface="Calibri"/>
              </a:rPr>
              <a:t>Implicit MLP decoder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7" name="r"/>
          <p:cNvSpPr/>
          <p:nvPr/>
        </p:nvSpPr>
        <p:spPr>
          <a:xfrm>
            <a:off x="9823320" y="4718160"/>
            <a:ext cx="12240" cy="237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r"/>
          <p:cNvSpPr/>
          <p:nvPr/>
        </p:nvSpPr>
        <p:spPr>
          <a:xfrm>
            <a:off x="7955280" y="4956120"/>
            <a:ext cx="3748680" cy="54828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r"/>
          <p:cNvSpPr/>
          <p:nvPr/>
        </p:nvSpPr>
        <p:spPr>
          <a:xfrm>
            <a:off x="7955280" y="4956120"/>
            <a:ext cx="54360" cy="548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b"/>
          <p:cNvSpPr/>
          <p:nvPr/>
        </p:nvSpPr>
        <p:spPr>
          <a:xfrm>
            <a:off x="8156520" y="495612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Residual flow correction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r"/>
          <p:cNvSpPr/>
          <p:nvPr/>
        </p:nvSpPr>
        <p:spPr>
          <a:xfrm>
            <a:off x="685800" y="580644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b"/>
          <p:cNvSpPr/>
          <p:nvPr/>
        </p:nvSpPr>
        <p:spPr>
          <a:xfrm>
            <a:off x="685800" y="5934600"/>
            <a:ext cx="1081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0000"/>
              </a:lnSpc>
              <a:buNone/>
            </a:pPr>
            <a:r>
              <a:rPr b="1" lang="en-US" sz="1100" spc="-1" strike="noStrike">
                <a:solidFill>
                  <a:srgbClr val="1f4e79"/>
                </a:solidFill>
                <a:latin typeface="Calibri"/>
              </a:rPr>
              <a:t>Takeaway   </a:t>
            </a:r>
            <a:r>
              <a:rPr b="0" lang="en-US" sz="1200" spc="-1" strike="noStrike">
                <a:solidFill>
                  <a:srgbClr val="20242b"/>
                </a:solidFill>
                <a:latin typeface="Calibri"/>
              </a:rPr>
              <a:t>The backbone is untouched; all the new capability lives in a small queryable head.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3" name="tb"/>
          <p:cNvSpPr/>
          <p:nvPr/>
        </p:nvSpPr>
        <p:spPr>
          <a:xfrm>
            <a:off x="68580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NeuFlow v3  ·  progress update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4" name="tb"/>
          <p:cNvSpPr/>
          <p:nvPr/>
        </p:nvSpPr>
        <p:spPr>
          <a:xfrm>
            <a:off x="10607040" y="64191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"/>
          <p:cNvSpPr/>
          <p:nvPr/>
        </p:nvSpPr>
        <p:spPr>
          <a:xfrm>
            <a:off x="3600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b"/>
          <p:cNvSpPr/>
          <p:nvPr/>
        </p:nvSpPr>
        <p:spPr>
          <a:xfrm>
            <a:off x="68580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050" spc="199" strike="noStrike">
                <a:solidFill>
                  <a:srgbClr val="1f4e79"/>
                </a:solidFill>
                <a:latin typeface="Calibri"/>
              </a:rPr>
              <a:t>SCENE18 + SCENE20, 1174 PAIRS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7" name="tb"/>
          <p:cNvSpPr/>
          <p:nvPr/>
        </p:nvSpPr>
        <p:spPr>
          <a:xfrm>
            <a:off x="667440" y="6584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20242b"/>
                </a:solidFill>
                <a:latin typeface="Calibri"/>
              </a:rPr>
              <a:t>Results on Virtual KITTI 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8" name="r"/>
          <p:cNvSpPr/>
          <p:nvPr/>
        </p:nvSpPr>
        <p:spPr>
          <a:xfrm>
            <a:off x="685800" y="148140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b"/>
          <p:cNvSpPr/>
          <p:nvPr/>
        </p:nvSpPr>
        <p:spPr>
          <a:xfrm>
            <a:off x="685800" y="164592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1f4e79"/>
                </a:solidFill>
                <a:latin typeface="Calibri"/>
              </a:rPr>
              <a:t>Final model vs baseline</a:t>
            </a:r>
            <a:endParaRPr b="0" lang="en-US" sz="1100" spc="-1" strike="noStrike">
              <a:latin typeface="Arial"/>
            </a:endParaRPr>
          </a:p>
        </p:txBody>
      </p:sp>
      <p:graphicFrame>
        <p:nvGraphicFramePr>
          <p:cNvPr id="90" name="tbl"/>
          <p:cNvGraphicFramePr/>
          <p:nvPr/>
        </p:nvGraphicFramePr>
        <p:xfrm>
          <a:off x="685800" y="2011680"/>
          <a:ext cx="6811920" cy="1371240"/>
        </p:xfrm>
        <a:graphic>
          <a:graphicData uri="http://schemas.openxmlformats.org/drawingml/2006/table">
            <a:tbl>
              <a:tblPr/>
              <a:tblGrid>
                <a:gridCol w="2697480"/>
                <a:gridCol w="1097280"/>
                <a:gridCol w="1005840"/>
                <a:gridCol w="1005840"/>
                <a:gridCol w="1005840"/>
              </a:tblGrid>
              <a:tr h="457200">
                <a:tc>
                  <a:txBody>
                    <a:bodyPr lIns="63720" rIns="63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Model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1f4e79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Mean EPE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1f4e79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Median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1f4e79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1px acc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1f4e79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3px acc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9360">
                      <a:solidFill>
                        <a:srgbClr val="1f4e79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lIns="63720" rIns="63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20242b"/>
                          </a:solidFill>
                          <a:latin typeface="Calibri"/>
                        </a:rPr>
                        <a:t>NeuFlow v2 (baseline)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2.23 px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1.08 px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46.2%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78.4%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lIns="63720" rIns="63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20242b"/>
                          </a:solidFill>
                          <a:latin typeface="Calibri"/>
                        </a:rPr>
                        <a:t>NeuFlow v3 (step 10k)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b23a2e"/>
                          </a:solidFill>
                          <a:latin typeface="Calibri"/>
                        </a:rPr>
                        <a:t>3.15 px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1.87 px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7.2%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71.1%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1" name="tb"/>
          <p:cNvSpPr/>
          <p:nvPr/>
        </p:nvSpPr>
        <p:spPr>
          <a:xfrm>
            <a:off x="8229600" y="16459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1f4e79"/>
                </a:solidFill>
                <a:latin typeface="Calibri"/>
              </a:rPr>
              <a:t>Checkpoint sweep (mean EPE)</a:t>
            </a:r>
            <a:endParaRPr b="0" lang="en-US" sz="1100" spc="-1" strike="noStrike">
              <a:latin typeface="Arial"/>
            </a:endParaRPr>
          </a:p>
        </p:txBody>
      </p:sp>
      <p:graphicFrame>
        <p:nvGraphicFramePr>
          <p:cNvPr id="92" name="tbl"/>
          <p:cNvGraphicFramePr/>
          <p:nvPr/>
        </p:nvGraphicFramePr>
        <p:xfrm>
          <a:off x="8229600" y="2011680"/>
          <a:ext cx="3200040" cy="21438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</a:tblGrid>
              <a:tr h="306000"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Step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1f4e79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Mean EPE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9360">
                      <a:solidFill>
                        <a:srgbClr val="1f4e79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306000"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5k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3.29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</a:tr>
              <a:tr h="306000"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10k (best)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3.15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306000"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15k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3.47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</a:tr>
              <a:tr h="306000"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20k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3.16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</a:tr>
              <a:tr h="306000"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25k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3.56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</a:tr>
              <a:tr h="307800"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30k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  <a:tc>
                  <a:txBody>
                    <a:bodyPr lIns="63720" rIns="63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3c414b"/>
                          </a:solidFill>
                          <a:latin typeface="Calibri"/>
                        </a:rPr>
                        <a:t>3.69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d6dc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3" name="r"/>
          <p:cNvSpPr/>
          <p:nvPr/>
        </p:nvSpPr>
        <p:spPr>
          <a:xfrm>
            <a:off x="685800" y="4343400"/>
            <a:ext cx="10816920" cy="1782720"/>
          </a:xfrm>
          <a:prstGeom prst="rect">
            <a:avLst/>
          </a:prstGeom>
          <a:solidFill>
            <a:srgbClr val="ed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r"/>
          <p:cNvSpPr/>
          <p:nvPr/>
        </p:nvSpPr>
        <p:spPr>
          <a:xfrm>
            <a:off x="685800" y="4343400"/>
            <a:ext cx="63720" cy="178272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b"/>
          <p:cNvSpPr/>
          <p:nvPr/>
        </p:nvSpPr>
        <p:spPr>
          <a:xfrm>
            <a:off x="960120" y="4507920"/>
            <a:ext cx="10332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f4e79"/>
                </a:solidFill>
                <a:latin typeface="Calibri"/>
              </a:rPr>
              <a:t>How to read this</a:t>
            </a:r>
            <a:endParaRPr b="0" lang="en-US" sz="115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49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00" spc="-1" strike="noStrike">
                <a:solidFill>
                  <a:srgbClr val="20242b"/>
                </a:solidFill>
                <a:latin typeface="Calibri"/>
              </a:rPr>
              <a:t>EPE here is a sanity check that the pipeline is sound, not the target. v3 is behind v2 on raw EPE because training is VKITTI2-only (~2.1k pairs, overfits after 10k).</a:t>
            </a:r>
            <a:endParaRPr b="0" lang="en-US" sz="13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00" spc="-1" strike="noStrike">
                <a:solidFill>
                  <a:srgbClr val="20242b"/>
                </a:solidFill>
                <a:latin typeface="Calibri"/>
              </a:rPr>
              <a:t>Unfreezing the backbone diverged on a single GPU; the frozen backbone is the only stable option at this compute scale.</a:t>
            </a:r>
            <a:endParaRPr b="0" lang="en-US" sz="13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00" spc="-1" strike="noStrike">
                <a:solidFill>
                  <a:srgbClr val="20242b"/>
                </a:solidFill>
                <a:latin typeface="Calibri"/>
              </a:rPr>
              <a:t>The contribution is queryable flow for mapping, shown next, not a leaderboard number. Data and compute are the blocker, not the architecture.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6" name="tb"/>
          <p:cNvSpPr/>
          <p:nvPr/>
        </p:nvSpPr>
        <p:spPr>
          <a:xfrm>
            <a:off x="68580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NeuFlow v3  ·  progress update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tb"/>
          <p:cNvSpPr/>
          <p:nvPr/>
        </p:nvSpPr>
        <p:spPr>
          <a:xfrm>
            <a:off x="10607040" y="64191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"/>
          <p:cNvSpPr/>
          <p:nvPr/>
        </p:nvSpPr>
        <p:spPr>
          <a:xfrm>
            <a:off x="36000" y="3600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b"/>
          <p:cNvSpPr/>
          <p:nvPr/>
        </p:nvSpPr>
        <p:spPr>
          <a:xfrm>
            <a:off x="68580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050" spc="199" strike="noStrike">
                <a:solidFill>
                  <a:srgbClr val="1f4e79"/>
                </a:solidFill>
                <a:latin typeface="Calibri"/>
              </a:rPr>
              <a:t>WORKING DEMO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0" name="tb"/>
          <p:cNvSpPr/>
          <p:nvPr/>
        </p:nvSpPr>
        <p:spPr>
          <a:xfrm>
            <a:off x="667440" y="6584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20242b"/>
                </a:solidFill>
                <a:latin typeface="Calibri"/>
              </a:rPr>
              <a:t>Sparse-query registration in action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r"/>
          <p:cNvSpPr/>
          <p:nvPr/>
        </p:nvSpPr>
        <p:spPr>
          <a:xfrm>
            <a:off x="685800" y="148140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2" name="img" descr=""/>
          <p:cNvPicPr/>
          <p:nvPr/>
        </p:nvPicPr>
        <p:blipFill>
          <a:blip r:embed="rId1"/>
          <a:stretch/>
        </p:blipFill>
        <p:spPr>
          <a:xfrm>
            <a:off x="685800" y="1828800"/>
            <a:ext cx="7040520" cy="3520080"/>
          </a:xfrm>
          <a:prstGeom prst="rect">
            <a:avLst/>
          </a:prstGeom>
          <a:ln w="9525">
            <a:solidFill>
              <a:srgbClr val="d6dce4"/>
            </a:solidFill>
            <a:round/>
          </a:ln>
        </p:spPr>
      </p:pic>
      <p:sp>
        <p:nvSpPr>
          <p:cNvPr id="103" name="tb"/>
          <p:cNvSpPr/>
          <p:nvPr/>
        </p:nvSpPr>
        <p:spPr>
          <a:xfrm>
            <a:off x="685800" y="5459040"/>
            <a:ext cx="7040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6000"/>
              </a:lnSpc>
              <a:buNone/>
            </a:pPr>
            <a:r>
              <a:rPr b="0" lang="en-US" sz="1000" spc="-1" strike="noStrike">
                <a:solidFill>
                  <a:srgbClr val="7b838f"/>
                </a:solidFill>
                <a:latin typeface="Calibri"/>
              </a:rPr>
              <a:t>VKITTI2 Scene18 (~14 px mean motion). Flow decoded at 800 textured points, no dense flow, then a RANSAC homography (73% inliers) registers frame t+1 to frame t. Per-point flow is still noisy (~6 px EPE); robust fitting absorbs it to align the dominant scene.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" name="r"/>
          <p:cNvSpPr/>
          <p:nvPr/>
        </p:nvSpPr>
        <p:spPr>
          <a:xfrm>
            <a:off x="8229600" y="1828800"/>
            <a:ext cx="3501720" cy="3748680"/>
          </a:xfrm>
          <a:prstGeom prst="rect">
            <a:avLst/>
          </a:prstGeom>
          <a:solidFill>
            <a:srgbClr val="ed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r"/>
          <p:cNvSpPr/>
          <p:nvPr/>
        </p:nvSpPr>
        <p:spPr>
          <a:xfrm>
            <a:off x="8229600" y="1828800"/>
            <a:ext cx="63720" cy="374868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b"/>
          <p:cNvSpPr/>
          <p:nvPr/>
        </p:nvSpPr>
        <p:spPr>
          <a:xfrm>
            <a:off x="8503920" y="2057400"/>
            <a:ext cx="299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f4e79"/>
                </a:solidFill>
                <a:latin typeface="Calibri"/>
              </a:rPr>
              <a:t>What the numbers say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07" name="tb"/>
          <p:cNvSpPr/>
          <p:nvPr/>
        </p:nvSpPr>
        <p:spPr>
          <a:xfrm>
            <a:off x="8503920" y="2606040"/>
            <a:ext cx="2998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f4e79"/>
                </a:solidFill>
                <a:latin typeface="Calibri"/>
              </a:rPr>
              <a:t>0.6%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8" name="tb"/>
          <p:cNvSpPr/>
          <p:nvPr/>
        </p:nvSpPr>
        <p:spPr>
          <a:xfrm>
            <a:off x="8503920" y="3063240"/>
            <a:ext cx="299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0000"/>
              </a:lnSpc>
              <a:buNone/>
            </a:pPr>
            <a:r>
              <a:rPr b="0" lang="en-US" sz="1050" spc="-1" strike="noStrike">
                <a:solidFill>
                  <a:srgbClr val="3c414b"/>
                </a:solidFill>
                <a:latin typeface="Calibri"/>
              </a:rPr>
              <a:t>of a dense field queried (800 points)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9" name="tb"/>
          <p:cNvSpPr/>
          <p:nvPr/>
        </p:nvSpPr>
        <p:spPr>
          <a:xfrm>
            <a:off x="8503920" y="3611880"/>
            <a:ext cx="2998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f4e79"/>
                </a:solidFill>
                <a:latin typeface="Calibri"/>
              </a:rPr>
              <a:t>0.00 px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0" name="tb"/>
          <p:cNvSpPr/>
          <p:nvPr/>
        </p:nvSpPr>
        <p:spPr>
          <a:xfrm>
            <a:off x="8503920" y="4069080"/>
            <a:ext cx="299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0000"/>
              </a:lnSpc>
              <a:buNone/>
            </a:pPr>
            <a:r>
              <a:rPr b="0" lang="en-US" sz="1050" spc="-1" strike="noStrike">
                <a:solidFill>
                  <a:srgbClr val="3c414b"/>
                </a:solidFill>
                <a:latin typeface="Calibri"/>
              </a:rPr>
              <a:t>sparse query vs dense decoder (exact, O(N) cost)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1" name="tb"/>
          <p:cNvSpPr/>
          <p:nvPr/>
        </p:nvSpPr>
        <p:spPr>
          <a:xfrm>
            <a:off x="8503920" y="4617720"/>
            <a:ext cx="2998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f4e79"/>
                </a:solidFill>
                <a:latin typeface="Calibri"/>
              </a:rPr>
              <a:t>-32%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2" name="tb"/>
          <p:cNvSpPr/>
          <p:nvPr/>
        </p:nvSpPr>
        <p:spPr>
          <a:xfrm>
            <a:off x="8503920" y="5074920"/>
            <a:ext cx="299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0000"/>
              </a:lnSpc>
              <a:buNone/>
            </a:pPr>
            <a:r>
              <a:rPr b="0" lang="en-US" sz="1050" spc="-1" strike="noStrike">
                <a:solidFill>
                  <a:srgbClr val="3c414b"/>
                </a:solidFill>
                <a:latin typeface="Calibri"/>
              </a:rPr>
              <a:t>photometric error vs no registration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3" name="tb"/>
          <p:cNvSpPr/>
          <p:nvPr/>
        </p:nvSpPr>
        <p:spPr>
          <a:xfrm>
            <a:off x="68580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NeuFlow v3  ·  progress update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4" name="tb"/>
          <p:cNvSpPr/>
          <p:nvPr/>
        </p:nvSpPr>
        <p:spPr>
          <a:xfrm>
            <a:off x="10607040" y="64191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b"/>
          <p:cNvSpPr/>
          <p:nvPr/>
        </p:nvSpPr>
        <p:spPr>
          <a:xfrm>
            <a:off x="68580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050" spc="199" strike="noStrike">
                <a:solidFill>
                  <a:srgbClr val="1f4e79"/>
                </a:solidFill>
                <a:latin typeface="Calibri"/>
              </a:rPr>
              <a:t>WHAT I NEED, 1 OF 2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7" name="tb"/>
          <p:cNvSpPr/>
          <p:nvPr/>
        </p:nvSpPr>
        <p:spPr>
          <a:xfrm>
            <a:off x="667440" y="6584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20242b"/>
                </a:solidFill>
                <a:latin typeface="Calibri"/>
              </a:rPr>
              <a:t>Validation plan and dataset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8" name="r"/>
          <p:cNvSpPr/>
          <p:nvPr/>
        </p:nvSpPr>
        <p:spPr>
          <a:xfrm>
            <a:off x="685800" y="148140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b"/>
          <p:cNvSpPr/>
          <p:nvPr/>
        </p:nvSpPr>
        <p:spPr>
          <a:xfrm>
            <a:off x="685800" y="16916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2000"/>
              </a:lnSpc>
              <a:buNone/>
            </a:pPr>
            <a:r>
              <a:rPr b="1" lang="en-US" sz="1350" spc="-1" strike="noStrike">
                <a:solidFill>
                  <a:srgbClr val="20242b"/>
                </a:solidFill>
                <a:latin typeface="Calibri"/>
              </a:rPr>
              <a:t>Direction is set, I am committed to this for the thesis. I plan to validate on two tiers: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0" name="tb"/>
          <p:cNvSpPr/>
          <p:nvPr/>
        </p:nvSpPr>
        <p:spPr>
          <a:xfrm>
            <a:off x="685800" y="2331720"/>
            <a:ext cx="65833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4e79"/>
                </a:solidFill>
                <a:latin typeface="Calibri"/>
              </a:rPr>
              <a:t>Tier 1, flow accuracy.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50" spc="-1" strike="noStrike">
                <a:solidFill>
                  <a:srgbClr val="3c414b"/>
                </a:solidFill>
                <a:latin typeface="Calibri"/>
              </a:rPr>
              <a:t>A standard benchmark with ground-truth flow (KITTI-2015, Sintel, or TartanAir) to show the flow itself improves: queried-point EPE and accuracy vs query budget.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51"/>
              </a:spcBef>
              <a:buNone/>
            </a:pPr>
            <a:r>
              <a:rPr b="1" lang="en-US" sz="1400" spc="-1" strike="noStrike">
                <a:solidFill>
                  <a:srgbClr val="1f4e79"/>
                </a:solidFill>
                <a:latin typeface="Calibri"/>
              </a:rPr>
              <a:t>Tier 2, mapping capability.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50" spc="-1" strike="noStrike">
                <a:solidFill>
                  <a:srgbClr val="3c414b"/>
                </a:solidFill>
                <a:latin typeface="Calibri"/>
              </a:rPr>
              <a:t>A registration or mapping dataset to show queryable flow aligns overlapping imagery at a fraction of dense-flow compute. This is the thesis differentiator.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1" name="r"/>
          <p:cNvSpPr/>
          <p:nvPr/>
        </p:nvSpPr>
        <p:spPr>
          <a:xfrm>
            <a:off x="7863840" y="2331720"/>
            <a:ext cx="3867480" cy="3108600"/>
          </a:xfrm>
          <a:prstGeom prst="rect">
            <a:avLst/>
          </a:prstGeom>
          <a:solidFill>
            <a:srgbClr val="ed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r"/>
          <p:cNvSpPr/>
          <p:nvPr/>
        </p:nvSpPr>
        <p:spPr>
          <a:xfrm>
            <a:off x="7863840" y="2331720"/>
            <a:ext cx="63720" cy="310860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b"/>
          <p:cNvSpPr/>
          <p:nvPr/>
        </p:nvSpPr>
        <p:spPr>
          <a:xfrm>
            <a:off x="8156520" y="2569320"/>
            <a:ext cx="3318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f4e79"/>
                </a:solidFill>
                <a:latin typeface="Calibri"/>
              </a:rPr>
              <a:t>Where I need you</a:t>
            </a:r>
            <a:endParaRPr b="0" lang="en-US" sz="1300" spc="-1" strike="noStrike">
              <a:latin typeface="Arial"/>
            </a:endParaRPr>
          </a:p>
          <a:p>
            <a:pPr marL="228600" indent="-228600">
              <a:lnSpc>
                <a:spcPct val="114000"/>
              </a:lnSpc>
              <a:spcBef>
                <a:spcPts val="49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250" spc="-1" strike="noStrike">
                <a:solidFill>
                  <a:srgbClr val="20242b"/>
                </a:solidFill>
                <a:latin typeface="Calibri"/>
              </a:rPr>
              <a:t>Which domain should Tier 2 target? Do you have lab data (marine, aerial, field) I can validate on?</a:t>
            </a:r>
            <a:endParaRPr b="0" lang="en-US" sz="1250" spc="-1" strike="noStrike">
              <a:latin typeface="Arial"/>
            </a:endParaRPr>
          </a:p>
          <a:p>
            <a:pPr marL="228600" indent="-228600">
              <a:lnSpc>
                <a:spcPct val="1140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250" spc="-1" strike="noStrike">
                <a:solidFill>
                  <a:srgbClr val="20242b"/>
                </a:solidFill>
                <a:latin typeface="Calibri"/>
              </a:rPr>
              <a:t>If not, which public registration / mapping dataset would you trust for a thesis?</a:t>
            </a:r>
            <a:endParaRPr b="0" lang="en-US" sz="1250" spc="-1" strike="noStrike">
              <a:latin typeface="Arial"/>
            </a:endParaRPr>
          </a:p>
          <a:p>
            <a:pPr marL="228600" indent="-228600">
              <a:lnSpc>
                <a:spcPct val="1140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250" spc="-1" strike="noStrike">
                <a:solidFill>
                  <a:srgbClr val="20242b"/>
                </a:solidFill>
                <a:latin typeface="Calibri"/>
              </a:rPr>
              <a:t>Any accuracy benchmark beyond KITTI / Sintel a committee would expect?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4" name="r"/>
          <p:cNvSpPr/>
          <p:nvPr/>
        </p:nvSpPr>
        <p:spPr>
          <a:xfrm>
            <a:off x="685800" y="580644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b"/>
          <p:cNvSpPr/>
          <p:nvPr/>
        </p:nvSpPr>
        <p:spPr>
          <a:xfrm>
            <a:off x="685800" y="5934600"/>
            <a:ext cx="1081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0000"/>
              </a:lnSpc>
              <a:buNone/>
            </a:pPr>
            <a:r>
              <a:rPr b="1" lang="en-US" sz="1100" spc="-1" strike="noStrike">
                <a:solidFill>
                  <a:srgbClr val="1f4e79"/>
                </a:solidFill>
                <a:latin typeface="Calibri"/>
              </a:rPr>
              <a:t>Takeaway   </a:t>
            </a:r>
            <a:r>
              <a:rPr b="0" lang="en-US" sz="1200" spc="-1" strike="noStrike">
                <a:solidFill>
                  <a:srgbClr val="20242b"/>
                </a:solidFill>
                <a:latin typeface="Calibri"/>
              </a:rPr>
              <a:t>Two tiers: a standard benchmark for accuracy, a domain dataset for the mapping claim.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6" name="tb"/>
          <p:cNvSpPr/>
          <p:nvPr/>
        </p:nvSpPr>
        <p:spPr>
          <a:xfrm>
            <a:off x="68580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NeuFlow v3  ·  progress update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7" name="tb"/>
          <p:cNvSpPr/>
          <p:nvPr/>
        </p:nvSpPr>
        <p:spPr>
          <a:xfrm>
            <a:off x="10607040" y="64191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b"/>
          <p:cNvSpPr/>
          <p:nvPr/>
        </p:nvSpPr>
        <p:spPr>
          <a:xfrm>
            <a:off x="68580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050" spc="199" strike="noStrike">
                <a:solidFill>
                  <a:srgbClr val="1f4e79"/>
                </a:solidFill>
                <a:latin typeface="Calibri"/>
              </a:rPr>
              <a:t>WHAT I NEED, 2 OF 2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0" name="tb"/>
          <p:cNvSpPr/>
          <p:nvPr/>
        </p:nvSpPr>
        <p:spPr>
          <a:xfrm>
            <a:off x="667440" y="6584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20242b"/>
                </a:solidFill>
                <a:latin typeface="Calibri"/>
              </a:rPr>
              <a:t>Improving NeuFlow v3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1" name="r"/>
          <p:cNvSpPr/>
          <p:nvPr/>
        </p:nvSpPr>
        <p:spPr>
          <a:xfrm>
            <a:off x="685800" y="148140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b"/>
          <p:cNvSpPr/>
          <p:nvPr/>
        </p:nvSpPr>
        <p:spPr>
          <a:xfrm>
            <a:off x="685800" y="169164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4000"/>
              </a:lnSpc>
              <a:buNone/>
            </a:pPr>
            <a:r>
              <a:rPr b="1" lang="en-US" sz="1300" spc="-1" strike="noStrike">
                <a:solidFill>
                  <a:srgbClr val="20242b"/>
                </a:solidFill>
                <a:latin typeface="Calibri"/>
              </a:rPr>
              <a:t>Current bottleneck: ~6 px flow at queried points, overfits after 10k steps on ~2.1k VKITTI2 pairs. Frozen backbone is stable; end-to-end diverges on one GPU.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3" name="tb"/>
          <p:cNvSpPr/>
          <p:nvPr/>
        </p:nvSpPr>
        <p:spPr>
          <a:xfrm>
            <a:off x="685800" y="2468880"/>
            <a:ext cx="65833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4e79"/>
                </a:solidFill>
                <a:latin typeface="Calibri"/>
              </a:rPr>
              <a:t>Levers I plan to try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00" spc="-1" strike="noStrike">
                <a:solidFill>
                  <a:srgbClr val="3c414b"/>
                </a:solidFill>
                <a:latin typeface="Calibri"/>
              </a:rPr>
              <a:t>Data curriculum: FlyingChairs to FlyingThings3D, then fine-tune. The standard fix, needs compute.</a:t>
            </a:r>
            <a:endParaRPr b="0" lang="en-US" sz="13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00" spc="-1" strike="noStrike">
                <a:solidFill>
                  <a:srgbClr val="3c414b"/>
                </a:solidFill>
                <a:latin typeface="Calibri"/>
              </a:rPr>
              <a:t>Stronger correspondence signal: add local cost-volume / correlation features at each query point, not just warped img1 features.</a:t>
            </a:r>
            <a:endParaRPr b="0" lang="en-US" sz="13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00" spc="-1" strike="noStrike">
                <a:solidFill>
                  <a:srgbClr val="3c414b"/>
                </a:solidFill>
                <a:latin typeface="Calibri"/>
              </a:rPr>
              <a:t>Stable unfreeze: warmup, gradient clipping, low-LR backbone or adapter layers instead of a full unfreeze.</a:t>
            </a:r>
            <a:endParaRPr b="0" lang="en-US" sz="1300" spc="-1" strike="noStrike">
              <a:latin typeface="Arial"/>
            </a:endParaRPr>
          </a:p>
          <a:p>
            <a:pPr marL="228600" indent="-228600">
              <a:lnSpc>
                <a:spcPct val="112000"/>
              </a:lnSpc>
              <a:spcBef>
                <a:spcPts val="34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300" spc="-1" strike="noStrike">
                <a:solidFill>
                  <a:srgbClr val="3c414b"/>
                </a:solidFill>
                <a:latin typeface="Calibri"/>
              </a:rPr>
              <a:t>Augmentation and boundary-weighted query sampling to fight overfitting before more data.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4" name="r"/>
          <p:cNvSpPr/>
          <p:nvPr/>
        </p:nvSpPr>
        <p:spPr>
          <a:xfrm>
            <a:off x="7863840" y="2468880"/>
            <a:ext cx="3867480" cy="3017160"/>
          </a:xfrm>
          <a:prstGeom prst="rect">
            <a:avLst/>
          </a:prstGeom>
          <a:solidFill>
            <a:srgbClr val="ed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r"/>
          <p:cNvSpPr/>
          <p:nvPr/>
        </p:nvSpPr>
        <p:spPr>
          <a:xfrm>
            <a:off x="7863840" y="2468880"/>
            <a:ext cx="63720" cy="301716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b"/>
          <p:cNvSpPr/>
          <p:nvPr/>
        </p:nvSpPr>
        <p:spPr>
          <a:xfrm>
            <a:off x="8156520" y="2706480"/>
            <a:ext cx="331884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f4e79"/>
                </a:solidFill>
                <a:latin typeface="Calibri"/>
              </a:rPr>
              <a:t>Where I need you</a:t>
            </a:r>
            <a:endParaRPr b="0" lang="en-US" sz="1300" spc="-1" strike="noStrike">
              <a:latin typeface="Arial"/>
            </a:endParaRPr>
          </a:p>
          <a:p>
            <a:pPr marL="228600" indent="-228600">
              <a:lnSpc>
                <a:spcPct val="114000"/>
              </a:lnSpc>
              <a:spcBef>
                <a:spcPts val="499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250" spc="-1" strike="noStrike">
                <a:solidFill>
                  <a:srgbClr val="20242b"/>
                </a:solidFill>
                <a:latin typeface="Calibri"/>
              </a:rPr>
              <a:t>Which lever would you prioritise first?</a:t>
            </a:r>
            <a:endParaRPr b="0" lang="en-US" sz="1250" spc="-1" strike="noStrike">
              <a:latin typeface="Arial"/>
            </a:endParaRPr>
          </a:p>
          <a:p>
            <a:pPr marL="228600" indent="-228600">
              <a:lnSpc>
                <a:spcPct val="1140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250" spc="-1" strike="noStrike">
                <a:solidFill>
                  <a:srgbClr val="20242b"/>
                </a:solidFill>
                <a:latin typeface="Calibri"/>
              </a:rPr>
              <a:t>University GPU or HPC access for the pretraining curriculum?</a:t>
            </a:r>
            <a:endParaRPr b="0" lang="en-US" sz="1250" spc="-1" strike="noStrike">
              <a:latin typeface="Arial"/>
            </a:endParaRPr>
          </a:p>
          <a:p>
            <a:pPr marL="228600" indent="-228600">
              <a:lnSpc>
                <a:spcPct val="1140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–"/>
            </a:pPr>
            <a:r>
              <a:rPr b="0" lang="en-US" sz="1250" spc="-1" strike="noStrike">
                <a:solidFill>
                  <a:srgbClr val="20242b"/>
                </a:solidFill>
                <a:latin typeface="Calibri"/>
              </a:rPr>
              <a:t>Is the implicit-decoder design sound, or would you change how correspondence is represented?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7" name="r"/>
          <p:cNvSpPr/>
          <p:nvPr/>
        </p:nvSpPr>
        <p:spPr>
          <a:xfrm>
            <a:off x="685800" y="5806440"/>
            <a:ext cx="10816920" cy="12240"/>
          </a:xfrm>
          <a:prstGeom prst="rect">
            <a:avLst/>
          </a:prstGeom>
          <a:solidFill>
            <a:srgbClr val="d6d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b"/>
          <p:cNvSpPr/>
          <p:nvPr/>
        </p:nvSpPr>
        <p:spPr>
          <a:xfrm>
            <a:off x="685800" y="5934600"/>
            <a:ext cx="1081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10000"/>
              </a:lnSpc>
              <a:buNone/>
            </a:pPr>
            <a:r>
              <a:rPr b="1" lang="en-US" sz="1100" spc="-1" strike="noStrike">
                <a:solidFill>
                  <a:srgbClr val="1f4e79"/>
                </a:solidFill>
                <a:latin typeface="Calibri"/>
              </a:rPr>
              <a:t>Takeaway   </a:t>
            </a:r>
            <a:r>
              <a:rPr b="0" lang="en-US" sz="1200" spc="-1" strike="noStrike">
                <a:solidFill>
                  <a:srgbClr val="20242b"/>
                </a:solidFill>
                <a:latin typeface="Calibri"/>
              </a:rPr>
              <a:t>Biggest single lever I see: an explicit cost-volume at the query point.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9" name="tb"/>
          <p:cNvSpPr/>
          <p:nvPr/>
        </p:nvSpPr>
        <p:spPr>
          <a:xfrm>
            <a:off x="68580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NeuFlow v3  ·  progress update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0" name="tb"/>
          <p:cNvSpPr/>
          <p:nvPr/>
        </p:nvSpPr>
        <p:spPr>
          <a:xfrm>
            <a:off x="10607040" y="64191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7b838f"/>
                </a:solidFill>
                <a:latin typeface="Calibri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b"/>
      </a:dk2>
      <a:lt2>
        <a:srgbClr val="edf2f7"/>
      </a:lt2>
      <a:accent1>
        <a:srgbClr val="1f4e79"/>
      </a:accent1>
      <a:accent2>
        <a:srgbClr val="2e7d32"/>
      </a:accent2>
      <a:accent3>
        <a:srgbClr val="b23a2e"/>
      </a:accent3>
      <a:accent4>
        <a:srgbClr val="7b838f"/>
      </a:accent4>
      <a:accent5>
        <a:srgbClr val="16a085"/>
      </a:accent5>
      <a:accent6>
        <a:srgbClr val="f39c12"/>
      </a:accent6>
      <a:hlink>
        <a:srgbClr val="1f4e79"/>
      </a:hlink>
      <a:folHlink>
        <a:srgbClr val="7b838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2026-06-27T17:33:16Z</dcterms:modified>
  <cp:revision>1</cp:revision>
  <dc:subject/>
  <dc:title/>
</cp:coreProperties>
</file>