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project stands rather than a full presentation of it. I will do the scorecard first so you know immediately what is and is not done, then seven results, then the one thing I have not solved, then what I would do next and the handful of places where I would like your judgement. Stop me anywhere.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with the scorecard because it is the honest summary. Against the three objectives I wrote down at the start, two are not met and one is partly met. Better accuracy than v2: not met, and I will show you exactly how much and why. Less compute: it depends entirely on which mode, dense is slower and repeat queries are twenty-seven times cheaper. Edge capable: unproven, because every number I have is from a laptop GPU. What the project did deliver is the three things at the bottom, none of which were on the original list, and all three are measured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one-slide reminder of what actually changed. Everything in v2 that understands motion is frozen and verified: all 137 shared tensors bit-identical to v2, checked per checkpoint, so any difference you see in the results is the decoder and nothing else. The new part is phase two, which takes a coordinate and returns a convex blend of the neighbouring coarse flow values. Two properties matter. Convexity means it cannot invent motion, and zero-initialised it is exactly bilinear upsampling, so it starts from a known-good operating point. And phase one being cached is what makes repeat queries cheap, which is the thread through the whole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and I would rather lead with it than have you find it. Every v3 configuration is less accurate than the baseline on mean end-point error. The best is 2.384 against 2.324, so 2.6 percent worse. The honest comparison is the like-for-like one, chairs only against v2's things only, and that is 7.6 percent behind. The model is thirteen percent smaller, which is worth something but does not excuse it. I know the mechanism and it is on the open-problem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because there are three numbers here and only one of them is a win. Dense output is ten percent slower than v2. A first sparse query is level with v2, because ninety-six percent of the cost is the coarse pass and both models pay it. The win is repeat access: asking a second question about a frame you have already processed costs one and a quarter milliseconds against thirty-three, because v2 keeps nothing between calls. Anything that revisits a frame gets that, and that is structural rather than a margin.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I would most like your reaction to, so I have put the calibration and what it buys on one slide. The head predicts an error scale for every query, trained under a Laplace likelihood. Binned by predicted uncertainty, actual error rises monotonically across all five bins, a fifteen-fold span over 2.35 million queries. What that buys is the curve: mean error over all pixels is one operating point and it is the only one v2 has, because it cannot tell you which outputs to trust. Discard the least confident fifth and error on the remainder is 1.06 pixels. The reason I do not think this is a selection trick is that for registration and mapping you are choosing a few hundred points anyway.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enabling result for the whole fast-platform framing. Keep full resolution, process fourteen percent of the frame, and it costs thirty-four thousandths of a pixel and runs four and a half times faster. The margin is the part worth dwelling on: without one, error jumps sixty-five percent and a quarter of the large-motion pixels fail completely, because this network locates large displacement with attention over the whole image and a tight crop takes that away. I should be clear that this applies to any flow network including v2 unchanged, so it is a platform technique rather than something the decoder provides.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whether the margin rule was fitted to one dataset or was something more general, so I tested it on aerial sequences, which move about a third as fast. The prediction was that the required margin scales with motion, so the knee should move from thirty-two pixels down to about nine. It did. On the right, divided by mean motion, both domains start at the same penalty and both have shed most of it by the point where the margin equals one frame of motion. To be precise about the limit: this predicts the scale rather than the exact curve, because the residuals beyond a ratio of one differ by scene. It is still enough to size a margin in advance.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result that is specific to the architecture rather than to cropping, and it is the case I think is most relevant to a moving platform. A frame is already in flight when a new object enters the field of view. Because the coarse pass is cached, answering about it costs one point seven milliseconds. A cropped pipeline cannot reuse anything, because the new object is outside its box, so it runs a whole new pass at seven point three milliseconds and the answer is worse, three point six pixels against two point one, because a fresh crop has lost the surrounding context. The general point is that this buys the ability to answer a question you did not know you would have when the frame arrived.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result I did not expect. Everything else is measured on driving sequences, where v3 trained on driving data and v2 did not, which is a confound I have flagged throughout. Aerial is neutral ground: neither model has seen anything like it. There v3 comes out ahead at all seven margin settings. My guess at the reason is that the decoder saw three datasets where v2 saw one, and the convex head is bounded so it cannot invent motion, which should degrade more gracefully out of domain. I want to be careful how much weight this carries: the margins are small, it is forty pairs and one seed, and v3 is still worse on the large-motion pixels. What makes it worth showing is that it is consistent across seven independent settings.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I have not solved, and it is one mechanism rather than a list of unrelated weaknesses. The decoder never sees full-resolution features. Its finest input is at one-eighth resolution, so inside an eight by eight cell it is looking at almost the same evidence wherever you query. That single fact explains the accuracy gap, and it explains why three separate experiments returned null: the Fourier encoding, sub-pixel querying, and reduced-resolution querying. Three nulls with one explanation is what makes me confident in the diagnosis rather than merely suspicious. The remedy I would try is a cheap full-resolution stem, and it is the only candidate on my list that is specific to this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in the order I would take them, with costs, so you can tell me if you disagree with the ordering. The full-resolution stem is first because it is the only one that attacks the diagnosed cause and the only one specific to this architecture. Second is repeating the uncertainty run with a different seed, because the apparent gain from the uncertainty head is inside the checkpoint-to-checkpoint variation I measured, so at the moment I cannot claim it. Third is a Jetson measurement, because edge is in the title and I have no embedded number. Fourth is the Spring four-K evaluation, which is the one test v2 structurally cannot take, and the script is already written. Tiled refinement is last because it would help the baseline just as much.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a generic questions slide, these are the four decisions where what you say actually changes what I do next. The first is the one I care most about: selective prediction is the strongest result I have and it is also the one I am least sure I am presenting correctly, so I would rather you push on it here than in the defence. The second is a genuine fork given the time left. The third and fourth are about how much weight to put on results I have flagged as thin.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 kept here so that the results slides could each carry one claim rather than a grid of numbers. Two things worth pointing at if we end up here. The ordering is monotonic as training data is added, which is what you would expect and is a weak check that nothing is broken. And the gap between the uncertainty row and the row above it is 0.008, which is smaller than the checkpoint-to-checkpoint variation, so I do not claim the uncertainty head improves accuracy.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1554480"/>
            <a:ext cx="10820095" cy="1371600"/>
          </a:xfrm>
          <a:prstGeom prst="rect">
            <a:avLst/>
          </a:prstGeom>
          <a:noFill/>
        </p:spPr>
        <p:txBody>
          <a:bodyPr wrap="square" lIns="0" rIns="0" tIns="0" bIns="0">
            <a:spAutoFit/>
          </a:bodyPr>
          <a:lstStyle/>
          <a:p>
            <a:pPr algn="l">
              <a:lnSpc>
                <a:spcPct val="110000"/>
              </a:lnSpc>
            </a:pPr>
            <a:r>
              <a:rPr sz="4000" b="1">
                <a:solidFill>
                  <a:srgbClr val="1A1A1A"/>
                </a:solidFill>
                <a:latin typeface="DejaVu Serif"/>
              </a:rPr>
              <a:t>NeuFlow v3</a:t>
            </a:r>
          </a:p>
        </p:txBody>
      </p:sp>
      <p:sp>
        <p:nvSpPr>
          <p:cNvPr id="3" name="TextBox 2"/>
          <p:cNvSpPr txBox="1"/>
          <p:nvPr/>
        </p:nvSpPr>
        <p:spPr>
          <a:xfrm>
            <a:off x="685800" y="2395728"/>
            <a:ext cx="10820095" cy="1097280"/>
          </a:xfrm>
          <a:prstGeom prst="rect">
            <a:avLst/>
          </a:prstGeom>
          <a:noFill/>
        </p:spPr>
        <p:txBody>
          <a:bodyPr wrap="square" lIns="0" rIns="0" tIns="0" bIns="0">
            <a:spAutoFit/>
          </a:bodyPr>
          <a:lstStyle/>
          <a:p>
            <a:pPr algn="l">
              <a:lnSpc>
                <a:spcPct val="124000"/>
              </a:lnSpc>
            </a:pPr>
            <a:r>
              <a:rPr sz="2600" b="0">
                <a:solidFill>
                  <a:srgbClr val="1A1A1A"/>
                </a:solidFill>
                <a:latin typeface="DejaVu Serif"/>
              </a:rPr>
              <a:t>A queryable, uncertainty-aware flow decoder</a:t>
            </a:r>
          </a:p>
          <a:p>
            <a:pPr algn="l">
              <a:lnSpc>
                <a:spcPct val="124000"/>
              </a:lnSpc>
            </a:pPr>
            <a:r>
              <a:rPr sz="2600" b="0">
                <a:solidFill>
                  <a:srgbClr val="1A1A1A"/>
                </a:solidFill>
                <a:latin typeface="DejaVu Serif"/>
              </a:rPr>
              <a:t>for edge robotics</a:t>
            </a:r>
          </a:p>
        </p:txBody>
      </p:sp>
      <p:sp>
        <p:nvSpPr>
          <p:cNvPr id="4" name="Rectangle 3"/>
          <p:cNvSpPr/>
          <p:nvPr/>
        </p:nvSpPr>
        <p:spPr>
          <a:xfrm>
            <a:off x="685800" y="3749039"/>
            <a:ext cx="2377440" cy="444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4023360"/>
            <a:ext cx="10820095" cy="9326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The decoder works and is measured. It costs 2.6 percent of mean accuracy, buys three capabilities the baseline cannot express, and has one diagnosed limitation that is not yet closed.</a:t>
            </a:r>
          </a:p>
        </p:txBody>
      </p:sp>
      <p:sp>
        <p:nvSpPr>
          <p:cNvPr id="6" name="TextBox 5"/>
          <p:cNvSpPr txBox="1"/>
          <p:nvPr/>
        </p:nvSpPr>
        <p:spPr>
          <a:xfrm>
            <a:off x="685800" y="5303520"/>
            <a:ext cx="10820095" cy="822960"/>
          </a:xfrm>
          <a:prstGeom prst="rect">
            <a:avLst/>
          </a:prstGeom>
          <a:noFill/>
        </p:spPr>
        <p:txBody>
          <a:bodyPr wrap="square" lIns="0" rIns="0" tIns="0" bIns="0">
            <a:spAutoFit/>
          </a:bodyPr>
          <a:lstStyle/>
          <a:p>
            <a:pPr algn="l">
              <a:lnSpc>
                <a:spcPct val="140000"/>
              </a:lnSpc>
            </a:pPr>
            <a:r>
              <a:rPr sz="1150" b="0">
                <a:solidFill>
                  <a:srgbClr val="808080"/>
                </a:solidFill>
                <a:latin typeface="DejaVu Serif"/>
              </a:rPr>
              <a:t>Shriman Raghav Srinivasan   |   MS Robotics, Northeastern University</a:t>
            </a:r>
          </a:p>
          <a:p>
            <a:pPr algn="l">
              <a:lnSpc>
                <a:spcPct val="140000"/>
              </a:lnSpc>
            </a:pPr>
            <a:r>
              <a:rPr sz="1150" b="0">
                <a:solidFill>
                  <a:srgbClr val="808080"/>
                </a:solidFill>
                <a:latin typeface="DejaVu Serif"/>
              </a:rPr>
              <a:t>Field Robotics Lab   |   Status review,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Two of the three objectives I set are not met.</a:t>
            </a:r>
          </a:p>
          <a:p>
            <a:pPr algn="l">
              <a:lnSpc>
                <a:spcPct val="110000"/>
              </a:lnSpc>
            </a:pPr>
            <a:r>
              <a:rPr sz="3000" b="1">
                <a:solidFill>
                  <a:srgbClr val="1A1A1A"/>
                </a:solidFill>
                <a:latin typeface="DejaVu Serif"/>
              </a:rPr>
              <a:t>Three capabilities were not on the list</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64208"/>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09928"/>
            <a:ext cx="324612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Objective set at the start</a:t>
            </a:r>
          </a:p>
        </p:txBody>
      </p:sp>
      <p:sp>
        <p:nvSpPr>
          <p:cNvPr id="7" name="TextBox 6"/>
          <p:cNvSpPr txBox="1"/>
          <p:nvPr/>
        </p:nvSpPr>
        <p:spPr>
          <a:xfrm>
            <a:off x="3931920" y="1709928"/>
            <a:ext cx="1417320" cy="234442"/>
          </a:xfrm>
          <a:prstGeom prst="rect">
            <a:avLst/>
          </a:prstGeom>
          <a:noFill/>
        </p:spPr>
        <p:txBody>
          <a:bodyPr wrap="square" lIns="0" rIns="0" tIns="0" bIns="0">
            <a:spAutoFit/>
          </a:bodyPr>
          <a:lstStyle/>
          <a:p>
            <a:pPr algn="ctr">
              <a:lnSpc>
                <a:spcPct val="100000"/>
              </a:lnSpc>
            </a:pPr>
            <a:r>
              <a:rPr sz="1300" b="1">
                <a:solidFill>
                  <a:srgbClr val="5A5A5A"/>
                </a:solidFill>
                <a:latin typeface="DejaVu Serif"/>
              </a:rPr>
              <a:t>Verdict</a:t>
            </a:r>
          </a:p>
        </p:txBody>
      </p:sp>
      <p:sp>
        <p:nvSpPr>
          <p:cNvPr id="8" name="TextBox 7"/>
          <p:cNvSpPr txBox="1"/>
          <p:nvPr/>
        </p:nvSpPr>
        <p:spPr>
          <a:xfrm>
            <a:off x="5349240" y="1709928"/>
            <a:ext cx="6153912"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Evidence</a:t>
            </a:r>
          </a:p>
        </p:txBody>
      </p:sp>
      <p:sp>
        <p:nvSpPr>
          <p:cNvPr id="9" name="Rectangle 8"/>
          <p:cNvSpPr/>
          <p:nvPr/>
        </p:nvSpPr>
        <p:spPr>
          <a:xfrm>
            <a:off x="685800" y="1971802"/>
            <a:ext cx="10817352"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44954"/>
            <a:ext cx="32461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Better accuracy than v2</a:t>
            </a:r>
          </a:p>
        </p:txBody>
      </p:sp>
      <p:sp>
        <p:nvSpPr>
          <p:cNvPr id="11" name="TextBox 10"/>
          <p:cNvSpPr txBox="1"/>
          <p:nvPr/>
        </p:nvSpPr>
        <p:spPr>
          <a:xfrm>
            <a:off x="3931920" y="2044954"/>
            <a:ext cx="1417320" cy="234442"/>
          </a:xfrm>
          <a:prstGeom prst="rect">
            <a:avLst/>
          </a:prstGeom>
          <a:noFill/>
        </p:spPr>
        <p:txBody>
          <a:bodyPr wrap="square" lIns="0" rIns="0" tIns="0" bIns="0">
            <a:spAutoFit/>
          </a:bodyPr>
          <a:lstStyle/>
          <a:p>
            <a:pPr algn="ctr">
              <a:lnSpc>
                <a:spcPct val="100000"/>
              </a:lnSpc>
            </a:pPr>
            <a:r>
              <a:rPr sz="1300" b="0">
                <a:solidFill>
                  <a:srgbClr val="1A1A1A"/>
                </a:solidFill>
                <a:latin typeface="DejaVu Serif"/>
              </a:rPr>
              <a:t>not met</a:t>
            </a:r>
          </a:p>
        </p:txBody>
      </p:sp>
      <p:sp>
        <p:nvSpPr>
          <p:cNvPr id="12" name="TextBox 11"/>
          <p:cNvSpPr txBox="1"/>
          <p:nvPr/>
        </p:nvSpPr>
        <p:spPr>
          <a:xfrm>
            <a:off x="5349240" y="2044954"/>
            <a:ext cx="615391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2.384 against 2.324; like-for-like 7.6% behind</a:t>
            </a:r>
          </a:p>
        </p:txBody>
      </p:sp>
      <p:sp>
        <p:nvSpPr>
          <p:cNvPr id="13" name="TextBox 12"/>
          <p:cNvSpPr txBox="1"/>
          <p:nvPr/>
        </p:nvSpPr>
        <p:spPr>
          <a:xfrm>
            <a:off x="685800" y="2279396"/>
            <a:ext cx="32461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Less compute than v2</a:t>
            </a:r>
          </a:p>
        </p:txBody>
      </p:sp>
      <p:sp>
        <p:nvSpPr>
          <p:cNvPr id="14" name="TextBox 13"/>
          <p:cNvSpPr txBox="1"/>
          <p:nvPr/>
        </p:nvSpPr>
        <p:spPr>
          <a:xfrm>
            <a:off x="3931920" y="2279396"/>
            <a:ext cx="1417320" cy="234442"/>
          </a:xfrm>
          <a:prstGeom prst="rect">
            <a:avLst/>
          </a:prstGeom>
          <a:noFill/>
        </p:spPr>
        <p:txBody>
          <a:bodyPr wrap="square" lIns="0" rIns="0" tIns="0" bIns="0">
            <a:spAutoFit/>
          </a:bodyPr>
          <a:lstStyle/>
          <a:p>
            <a:pPr algn="ctr">
              <a:lnSpc>
                <a:spcPct val="100000"/>
              </a:lnSpc>
            </a:pPr>
            <a:r>
              <a:rPr sz="1300" b="0">
                <a:solidFill>
                  <a:srgbClr val="1A1A1A"/>
                </a:solidFill>
                <a:latin typeface="DejaVu Serif"/>
              </a:rPr>
              <a:t>partly</a:t>
            </a:r>
          </a:p>
        </p:txBody>
      </p:sp>
      <p:sp>
        <p:nvSpPr>
          <p:cNvPr id="15" name="TextBox 14"/>
          <p:cNvSpPr txBox="1"/>
          <p:nvPr/>
        </p:nvSpPr>
        <p:spPr>
          <a:xfrm>
            <a:off x="5349240" y="2279396"/>
            <a:ext cx="615391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dense 10% slower; repeat query 27x cheaper</a:t>
            </a:r>
          </a:p>
        </p:txBody>
      </p:sp>
      <p:sp>
        <p:nvSpPr>
          <p:cNvPr id="16" name="TextBox 15"/>
          <p:cNvSpPr txBox="1"/>
          <p:nvPr/>
        </p:nvSpPr>
        <p:spPr>
          <a:xfrm>
            <a:off x="685800" y="2513838"/>
            <a:ext cx="32461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Runs on edge devices</a:t>
            </a:r>
          </a:p>
        </p:txBody>
      </p:sp>
      <p:sp>
        <p:nvSpPr>
          <p:cNvPr id="17" name="TextBox 16"/>
          <p:cNvSpPr txBox="1"/>
          <p:nvPr/>
        </p:nvSpPr>
        <p:spPr>
          <a:xfrm>
            <a:off x="3931920" y="2513838"/>
            <a:ext cx="1417320" cy="234442"/>
          </a:xfrm>
          <a:prstGeom prst="rect">
            <a:avLst/>
          </a:prstGeom>
          <a:noFill/>
        </p:spPr>
        <p:txBody>
          <a:bodyPr wrap="square" lIns="0" rIns="0" tIns="0" bIns="0">
            <a:spAutoFit/>
          </a:bodyPr>
          <a:lstStyle/>
          <a:p>
            <a:pPr algn="ctr">
              <a:lnSpc>
                <a:spcPct val="100000"/>
              </a:lnSpc>
            </a:pPr>
            <a:r>
              <a:rPr sz="1300" b="0">
                <a:solidFill>
                  <a:srgbClr val="1A1A1A"/>
                </a:solidFill>
                <a:latin typeface="DejaVu Serif"/>
              </a:rPr>
              <a:t>unproven</a:t>
            </a:r>
          </a:p>
        </p:txBody>
      </p:sp>
      <p:sp>
        <p:nvSpPr>
          <p:cNvPr id="18" name="TextBox 17"/>
          <p:cNvSpPr txBox="1"/>
          <p:nvPr/>
        </p:nvSpPr>
        <p:spPr>
          <a:xfrm>
            <a:off x="5349240" y="2513838"/>
            <a:ext cx="615391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every figure is from a RTX 4060 laptop</a:t>
            </a:r>
          </a:p>
        </p:txBody>
      </p:sp>
      <p:sp>
        <p:nvSpPr>
          <p:cNvPr id="19" name="Rectangle 18"/>
          <p:cNvSpPr/>
          <p:nvPr/>
        </p:nvSpPr>
        <p:spPr>
          <a:xfrm>
            <a:off x="685800" y="2784856"/>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611880"/>
            <a:ext cx="10820095"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DELIVERED, AND MEASURED</a:t>
            </a:r>
          </a:p>
        </p:txBody>
      </p:sp>
      <p:sp>
        <p:nvSpPr>
          <p:cNvPr id="21" name="Rectangle 20"/>
          <p:cNvSpPr/>
          <p:nvPr/>
        </p:nvSpPr>
        <p:spPr>
          <a:xfrm>
            <a:off x="685800" y="4005072"/>
            <a:ext cx="3456432" cy="12984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300" b="0">
                <a:solidFill>
                  <a:srgbClr val="1A1A1A"/>
                </a:solidFill>
                <a:latin typeface="DejaVu Serif"/>
              </a:rPr>
              <a:t>Queryable output</a:t>
            </a:r>
          </a:p>
          <a:p>
            <a:pPr algn="ctr">
              <a:lnSpc>
                <a:spcPct val="120000"/>
              </a:lnSpc>
            </a:pPr>
            <a:r>
              <a:rPr sz="1300" b="0">
                <a:solidFill>
                  <a:srgbClr val="1A1A1A"/>
                </a:solidFill>
                <a:latin typeface="DejaVu Serif"/>
              </a:rPr>
              <a:t/>
            </a:r>
          </a:p>
          <a:p>
            <a:pPr algn="ctr">
              <a:lnSpc>
                <a:spcPct val="120000"/>
              </a:lnSpc>
            </a:pPr>
            <a:r>
              <a:rPr sz="1300" b="0">
                <a:solidFill>
                  <a:srgbClr val="1A1A1A"/>
                </a:solidFill>
                <a:latin typeface="DejaVu Serif"/>
              </a:rPr>
              <a:t>flow at any continuous coordinate;</a:t>
            </a:r>
          </a:p>
          <a:p>
            <a:pPr algn="ctr">
              <a:lnSpc>
                <a:spcPct val="120000"/>
              </a:lnSpc>
            </a:pPr>
            <a:r>
              <a:rPr sz="1300" b="0">
                <a:solidFill>
                  <a:srgbClr val="1A1A1A"/>
                </a:solidFill>
                <a:latin typeface="DejaVu Serif"/>
              </a:rPr>
              <a:t>sparse reproduces dense exactly</a:t>
            </a:r>
          </a:p>
        </p:txBody>
      </p:sp>
      <p:sp>
        <p:nvSpPr>
          <p:cNvPr id="22" name="Rectangle 21"/>
          <p:cNvSpPr/>
          <p:nvPr/>
        </p:nvSpPr>
        <p:spPr>
          <a:xfrm>
            <a:off x="4370832" y="4005072"/>
            <a:ext cx="3456432" cy="12984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300" b="0">
                <a:solidFill>
                  <a:srgbClr val="1A1A1A"/>
                </a:solidFill>
                <a:latin typeface="DejaVu Serif"/>
              </a:rPr>
              <a:t>Cheap repeat access</a:t>
            </a:r>
          </a:p>
          <a:p>
            <a:pPr algn="ctr">
              <a:lnSpc>
                <a:spcPct val="120000"/>
              </a:lnSpc>
            </a:pPr>
            <a:r>
              <a:rPr sz="1300" b="0">
                <a:solidFill>
                  <a:srgbClr val="1A1A1A"/>
                </a:solidFill>
                <a:latin typeface="DejaVu Serif"/>
              </a:rPr>
              <a:t/>
            </a:r>
          </a:p>
          <a:p>
            <a:pPr algn="ctr">
              <a:lnSpc>
                <a:spcPct val="120000"/>
              </a:lnSpc>
            </a:pPr>
            <a:r>
              <a:rPr sz="1300" b="0">
                <a:solidFill>
                  <a:srgbClr val="1A1A1A"/>
                </a:solidFill>
                <a:latin typeface="DejaVu Serif"/>
              </a:rPr>
              <a:t>1.25 ms per further query batch</a:t>
            </a:r>
          </a:p>
          <a:p>
            <a:pPr algn="ctr">
              <a:lnSpc>
                <a:spcPct val="120000"/>
              </a:lnSpc>
            </a:pPr>
            <a:r>
              <a:rPr sz="1300" b="0">
                <a:solidFill>
                  <a:srgbClr val="1A1A1A"/>
                </a:solidFill>
                <a:latin typeface="DejaVu Serif"/>
              </a:rPr>
              <a:t>against a cached frame</a:t>
            </a:r>
          </a:p>
        </p:txBody>
      </p:sp>
      <p:sp>
        <p:nvSpPr>
          <p:cNvPr id="23" name="Rectangle 22"/>
          <p:cNvSpPr/>
          <p:nvPr/>
        </p:nvSpPr>
        <p:spPr>
          <a:xfrm>
            <a:off x="8055864" y="4005072"/>
            <a:ext cx="3456432" cy="12984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300" b="0">
                <a:solidFill>
                  <a:srgbClr val="1A1A1A"/>
                </a:solidFill>
                <a:latin typeface="DejaVu Serif"/>
              </a:rPr>
              <a:t>Calibrated confidence</a:t>
            </a:r>
          </a:p>
          <a:p>
            <a:pPr algn="ctr">
              <a:lnSpc>
                <a:spcPct val="120000"/>
              </a:lnSpc>
            </a:pPr>
            <a:r>
              <a:rPr sz="1300" b="0">
                <a:solidFill>
                  <a:srgbClr val="1A1A1A"/>
                </a:solidFill>
                <a:latin typeface="DejaVu Serif"/>
              </a:rPr>
              <a:t/>
            </a:r>
          </a:p>
          <a:p>
            <a:pPr algn="ctr">
              <a:lnSpc>
                <a:spcPct val="120000"/>
              </a:lnSpc>
            </a:pPr>
            <a:r>
              <a:rPr sz="1300" b="0">
                <a:solidFill>
                  <a:srgbClr val="1A1A1A"/>
                </a:solidFill>
                <a:latin typeface="DejaVu Serif"/>
              </a:rPr>
              <a:t>a per-query error estimate,</a:t>
            </a:r>
          </a:p>
          <a:p>
            <a:pPr algn="ctr">
              <a:lnSpc>
                <a:spcPct val="120000"/>
              </a:lnSpc>
            </a:pPr>
            <a:r>
              <a:rPr sz="1300" b="0">
                <a:solidFill>
                  <a:srgbClr val="1A1A1A"/>
                </a:solidFill>
                <a:latin typeface="DejaVu Serif"/>
              </a:rPr>
              <a:t>monotonic against real error</a:t>
            </a:r>
          </a:p>
        </p:txBody>
      </p:sp>
      <p:sp>
        <p:nvSpPr>
          <p:cNvPr id="24" name="TextBox 23"/>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Accuracy on 1,174 held-out Virtual KITTI 2 pairs, 460,573,660 valid pixels. Timings on a RTX 4060 laptop, fp16, 384 x 1248.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3</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change is confined to the last stage,</a:t>
            </a:r>
          </a:p>
          <a:p>
            <a:pPr algn="l">
              <a:lnSpc>
                <a:spcPct val="110000"/>
              </a:lnSpc>
            </a:pPr>
            <a:r>
              <a:rPr sz="3000" b="1">
                <a:solidFill>
                  <a:srgbClr val="1A1A1A"/>
                </a:solidFill>
                <a:latin typeface="DejaVu Serif"/>
              </a:rPr>
              <a:t>and the front end is verified unchanged</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6172200" cy="2926080"/>
          </a:xfrm>
          <a:prstGeom prst="rect">
            <a:avLst/>
          </a:prstGeom>
          <a:noFill/>
        </p:spPr>
        <p:txBody>
          <a:bodyPr wrap="square" lIns="0" rIns="0">
            <a:spAutoFit/>
          </a:bodyPr>
          <a:lstStyle/>
          <a:p>
            <a:pPr>
              <a:lnSpc>
                <a:spcPct val="114000"/>
              </a:lnSpc>
              <a:spcAft>
                <a:spcPts val="1300"/>
              </a:spcAft>
            </a:pPr>
            <a:r>
              <a:rPr sz="1650" b="1">
                <a:solidFill>
                  <a:srgbClr val="1A1A1A"/>
                </a:solidFill>
                <a:latin typeface="DejaVu Serif"/>
              </a:rPr>
              <a:t>Phase 1, once per frame pair. </a:t>
            </a:r>
            <a:r>
              <a:rPr sz="1650" b="0">
                <a:solidFill>
                  <a:srgbClr val="1A1A1A"/>
                </a:solidFill>
                <a:latin typeface="DejaVu Serif"/>
              </a:rPr>
              <a:t>v2 exactly as published, up to its 1/8 coarse flow. 33 ms, and the result is cached.</a:t>
            </a:r>
          </a:p>
          <a:p>
            <a:pPr>
              <a:lnSpc>
                <a:spcPct val="114000"/>
              </a:lnSpc>
              <a:spcAft>
                <a:spcPts val="1300"/>
              </a:spcAft>
            </a:pPr>
            <a:r>
              <a:rPr sz="1650" b="1">
                <a:solidFill>
                  <a:srgbClr val="1A1A1A"/>
                </a:solidFill>
                <a:latin typeface="DejaVu Serif"/>
              </a:rPr>
              <a:t>Phase 2, once per query batch. </a:t>
            </a:r>
            <a:r>
              <a:rPr sz="1650" b="0">
                <a:solidFill>
                  <a:srgbClr val="1A1A1A"/>
                </a:solidFill>
                <a:latin typeface="DejaVu Serif"/>
              </a:rPr>
              <a:t>A coordinate goes in, a convex blend of the nine neighbouring coarse-flow values plus a bilinear sample comes out. 1.25 ms, and cost scales with the number of queries rather than with image area.</a:t>
            </a:r>
          </a:p>
          <a:p>
            <a:pPr>
              <a:lnSpc>
                <a:spcPct val="114000"/>
              </a:lnSpc>
              <a:spcAft>
                <a:spcPts val="1300"/>
              </a:spcAft>
            </a:pPr>
            <a:r>
              <a:rPr sz="1650" b="1">
                <a:solidFill>
                  <a:srgbClr val="1A1A1A"/>
                </a:solidFill>
                <a:latin typeface="DejaVu Serif"/>
              </a:rPr>
              <a:t>The control. </a:t>
            </a:r>
            <a:r>
              <a:rPr sz="1650" b="0">
                <a:solidFill>
                  <a:srgbClr val="1A1A1A"/>
                </a:solidFill>
                <a:latin typeface="DejaVu Serif"/>
              </a:rPr>
              <a:t>All 137 tensors shared with v2 are verified bit-identical per checkpoint, and both evaluation scenes are held out of every training set.</a:t>
            </a:r>
          </a:p>
        </p:txBody>
      </p:sp>
      <p:sp>
        <p:nvSpPr>
          <p:cNvPr id="6" name="Rectangle 5"/>
          <p:cNvSpPr/>
          <p:nvPr/>
        </p:nvSpPr>
        <p:spPr>
          <a:xfrm>
            <a:off x="7178040" y="1664208"/>
            <a:ext cx="4325112" cy="1417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650" b="0">
                <a:solidFill>
                  <a:srgbClr val="1A1A1A"/>
                </a:solidFill>
                <a:latin typeface="DejaVu Serif"/>
              </a:rPr>
              <a:t>Because the blend is convex,</a:t>
            </a:r>
          </a:p>
          <a:p>
            <a:pPr algn="ctr">
              <a:lnSpc>
                <a:spcPct val="120000"/>
              </a:lnSpc>
            </a:pPr>
            <a:r>
              <a:rPr sz="1650" b="0">
                <a:solidFill>
                  <a:srgbClr val="1A1A1A"/>
                </a:solidFill>
                <a:latin typeface="DejaVu Serif"/>
              </a:rPr>
              <a:t>the decoder cannot predict motion</a:t>
            </a:r>
          </a:p>
          <a:p>
            <a:pPr algn="ctr">
              <a:lnSpc>
                <a:spcPct val="120000"/>
              </a:lnSpc>
            </a:pPr>
            <a:r>
              <a:rPr sz="1650" b="0">
                <a:solidFill>
                  <a:srgbClr val="1A1A1A"/>
                </a:solidFill>
                <a:latin typeface="DejaVu Serif"/>
              </a:rPr>
              <a:t>its inputs do not locally support.</a:t>
            </a:r>
          </a:p>
        </p:txBody>
      </p:sp>
      <p:sp>
        <p:nvSpPr>
          <p:cNvPr id="7" name="Rectangle 6"/>
          <p:cNvSpPr/>
          <p:nvPr/>
        </p:nvSpPr>
        <p:spPr>
          <a:xfrm>
            <a:off x="7178040" y="3291840"/>
            <a:ext cx="4325112" cy="12984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650" b="0">
                <a:solidFill>
                  <a:srgbClr val="1A1A1A"/>
                </a:solidFill>
                <a:latin typeface="DejaVu Serif"/>
              </a:rPr>
              <a:t>Zero-initialised, the decoder is</a:t>
            </a:r>
          </a:p>
          <a:p>
            <a:pPr algn="ctr">
              <a:lnSpc>
                <a:spcPct val="120000"/>
              </a:lnSpc>
            </a:pPr>
            <a:r>
              <a:rPr sz="1650" b="0">
                <a:solidFill>
                  <a:srgbClr val="1A1A1A"/>
                </a:solidFill>
                <a:latin typeface="DejaVu Serif"/>
              </a:rPr>
              <a:t>exactly bilinear upsampling.</a:t>
            </a:r>
          </a:p>
        </p:txBody>
      </p:sp>
      <p:sp>
        <p:nvSpPr>
          <p:cNvPr id="8" name="Rectangle 7"/>
          <p:cNvSpPr/>
          <p:nvPr/>
        </p:nvSpPr>
        <p:spPr>
          <a:xfrm>
            <a:off x="685800" y="5074920"/>
            <a:ext cx="10820095"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Because Phase 1 is cached, a second question about a frame already processed costs 1.25 ms instead of 33.3. That is the property the rest of this deck turns on.</a:t>
            </a:r>
          </a:p>
        </p:txBody>
      </p:sp>
      <p:sp>
        <p:nvSpPr>
          <p:cNvPr id="9" name="TextBox 8"/>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Convex-weight formulation follows AnyFlow (2023). Gated multi-scale fusion follows InfiniDepth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4</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price is 2.6% of mean error, from a</a:t>
            </a:r>
          </a:p>
          <a:p>
            <a:pPr algn="l">
              <a:lnSpc>
                <a:spcPct val="110000"/>
              </a:lnSpc>
            </a:pPr>
            <a:r>
              <a:rPr sz="3000" b="1">
                <a:solidFill>
                  <a:srgbClr val="1A1A1A"/>
                </a:solidFill>
                <a:latin typeface="DejaVu Serif"/>
              </a:rPr>
              <a:t>model 13% smaller</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ccuracy_bars.png"/>
          <p:cNvPicPr>
            <a:picLocks noChangeAspect="1"/>
          </p:cNvPicPr>
          <p:nvPr/>
        </p:nvPicPr>
        <p:blipFill>
          <a:blip r:embed="rId2"/>
          <a:stretch>
            <a:fillRect/>
          </a:stretch>
        </p:blipFill>
        <p:spPr>
          <a:xfrm>
            <a:off x="685800" y="1783080"/>
            <a:ext cx="6766560" cy="3725409"/>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THE COST, STATED FIRST</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Every configuration sits above v2. The best is 2.384 against 2.324.</a:t>
            </a:r>
          </a:p>
          <a:p>
            <a:pPr>
              <a:lnSpc>
                <a:spcPct val="114000"/>
              </a:lnSpc>
              <a:spcAft>
                <a:spcPts val="1200"/>
              </a:spcAft>
            </a:pPr>
            <a:r>
              <a:rPr sz="1650" b="0">
                <a:solidFill>
                  <a:srgbClr val="1A1A1A"/>
                </a:solidFill>
                <a:latin typeface="DejaVu Serif"/>
              </a:rPr>
              <a:t>Like-for-like, trained on FlyingChairs alone as v2 was trained on FlyingThings alone: 2.5, or 7.6% behind.</a:t>
            </a:r>
          </a:p>
          <a:p>
            <a:pPr>
              <a:lnSpc>
                <a:spcPct val="114000"/>
              </a:lnSpc>
              <a:spcAft>
                <a:spcPts val="1200"/>
              </a:spcAft>
            </a:pPr>
            <a:r>
              <a:rPr sz="1650" b="0">
                <a:solidFill>
                  <a:srgbClr val="1A1A1A"/>
                </a:solidFill>
                <a:latin typeface="DejaVu Serif"/>
              </a:rPr>
              <a:t>7.83 M parameters against 9.03 M.</a:t>
            </a:r>
          </a:p>
        </p:txBody>
      </p:sp>
      <p:sp>
        <p:nvSpPr>
          <p:cNvPr id="8" name="Rectangle 7"/>
          <p:cNvSpPr/>
          <p:nvPr/>
        </p:nvSpPr>
        <p:spPr>
          <a:xfrm>
            <a:off x="7726679" y="4855455"/>
            <a:ext cx="31750" cy="65303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828023"/>
            <a:ext cx="3593591" cy="653034"/>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2.384</a:t>
            </a:r>
          </a:p>
          <a:p>
            <a:pPr algn="l">
              <a:lnSpc>
                <a:spcPct val="130000"/>
              </a:lnSpc>
            </a:pPr>
            <a:r>
              <a:rPr sz="1650" b="1">
                <a:solidFill>
                  <a:srgbClr val="1A1A1A"/>
                </a:solidFill>
                <a:latin typeface="DejaVu Serif"/>
              </a:rPr>
              <a:t>against 2.324</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Mean end-point error per pixel, 1,174 held-out VKITTI 2 pairs. Lower is better.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5</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State reuse is the win: a repeat query costs</a:t>
            </a:r>
          </a:p>
          <a:p>
            <a:pPr algn="l">
              <a:lnSpc>
                <a:spcPct val="110000"/>
              </a:lnSpc>
            </a:pPr>
            <a:r>
              <a:rPr sz="3000" b="1">
                <a:solidFill>
                  <a:srgbClr val="1A1A1A"/>
                </a:solidFill>
                <a:latin typeface="DejaVu Serif"/>
              </a:rPr>
              <a:t>1.25 ms against 33.3 ms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eed_bars.png"/>
          <p:cNvPicPr>
            <a:picLocks noChangeAspect="1"/>
          </p:cNvPicPr>
          <p:nvPr/>
        </p:nvPicPr>
        <p:blipFill>
          <a:blip r:embed="rId2"/>
          <a:stretch>
            <a:fillRect/>
          </a:stretch>
        </p:blipFill>
        <p:spPr>
          <a:xfrm>
            <a:off x="685800" y="1847088"/>
            <a:ext cx="6766560" cy="3349105"/>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WHICH CLAIM I AM MAKING</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Dense output is 10% slower than v2. That mode is not what the decoder is for.</a:t>
            </a:r>
          </a:p>
          <a:p>
            <a:pPr>
              <a:lnSpc>
                <a:spcPct val="114000"/>
              </a:lnSpc>
              <a:spcAft>
                <a:spcPts val="1200"/>
              </a:spcAft>
            </a:pPr>
            <a:r>
              <a:rPr sz="1650" b="0">
                <a:solidFill>
                  <a:srgbClr val="1A1A1A"/>
                </a:solidFill>
                <a:latin typeface="DejaVu Serif"/>
              </a:rPr>
              <a:t>A first sparse query is level with v2: 96% of the cost is the coarse pass, which both pay and which cannot be skipped.</a:t>
            </a:r>
          </a:p>
          <a:p>
            <a:pPr>
              <a:lnSpc>
                <a:spcPct val="114000"/>
              </a:lnSpc>
              <a:spcAft>
                <a:spcPts val="1200"/>
              </a:spcAft>
            </a:pPr>
            <a:r>
              <a:rPr sz="1650" b="0">
                <a:solidFill>
                  <a:srgbClr val="1A1A1A"/>
                </a:solidFill>
                <a:latin typeface="DejaVu Serif"/>
              </a:rPr>
              <a:t>The win is the second question about the same frame. v2 keeps no state, so it recomputes everything.</a:t>
            </a:r>
          </a:p>
        </p:txBody>
      </p:sp>
      <p:sp>
        <p:nvSpPr>
          <p:cNvPr id="8" name="Rectangle 7"/>
          <p:cNvSpPr/>
          <p:nvPr/>
        </p:nvSpPr>
        <p:spPr>
          <a:xfrm>
            <a:off x="7726679" y="5474970"/>
            <a:ext cx="31750" cy="372237"/>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5447538"/>
            <a:ext cx="3593591" cy="372237"/>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27x on repeat access</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RTX 4060 laptop, fp16, 384 x 1248, median of 50 runs after warm-up.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6</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Confidence is the capability v2 cannot express,</a:t>
            </a:r>
          </a:p>
          <a:p>
            <a:pPr algn="l">
              <a:lnSpc>
                <a:spcPct val="110000"/>
              </a:lnSpc>
            </a:pPr>
            <a:r>
              <a:rPr sz="3000" b="1">
                <a:solidFill>
                  <a:srgbClr val="1A1A1A"/>
                </a:solidFill>
                <a:latin typeface="DejaVu Serif"/>
              </a:rPr>
              <a:t>and it buys accuracy back</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lective_accuracy.png"/>
          <p:cNvPicPr>
            <a:picLocks noChangeAspect="1"/>
          </p:cNvPicPr>
          <p:nvPr/>
        </p:nvPicPr>
        <p:blipFill>
          <a:blip r:embed="rId2"/>
          <a:stretch>
            <a:fillRect/>
          </a:stretch>
        </p:blipFill>
        <p:spPr>
          <a:xfrm>
            <a:off x="685800" y="1828800"/>
            <a:ext cx="6766560" cy="3671219"/>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CALIBRATION BEHIND THE CURVE</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Real error rises monotonically across five bins, 0.48 px to 7.10 px, over 2,348,000 queries.</a:t>
            </a:r>
          </a:p>
          <a:p>
            <a:pPr>
              <a:lnSpc>
                <a:spcPct val="114000"/>
              </a:lnSpc>
              <a:spcAft>
                <a:spcPts val="1200"/>
              </a:spcAft>
            </a:pPr>
            <a:r>
              <a:rPr sz="1650" b="0">
                <a:solidFill>
                  <a:srgbClr val="1A1A1A"/>
                </a:solidFill>
                <a:latin typeface="DejaVu Serif"/>
              </a:rPr>
              <a:t>Pearson r = 0.318: informative rather than tight, and usable for weighting or rejecting matches.</a:t>
            </a:r>
          </a:p>
          <a:p>
            <a:pPr>
              <a:lnSpc>
                <a:spcPct val="114000"/>
              </a:lnSpc>
              <a:spcAft>
                <a:spcPts val="1200"/>
              </a:spcAft>
            </a:pPr>
            <a:r>
              <a:rPr sz="1650" b="0">
                <a:solidFill>
                  <a:srgbClr val="1A1A1A"/>
                </a:solidFill>
                <a:latin typeface="DejaVu Serif"/>
              </a:rPr>
              <a:t>v2 emits flow alone, so it has one operating point where v3 has a curve.</a:t>
            </a:r>
          </a:p>
        </p:txBody>
      </p:sp>
      <p:sp>
        <p:nvSpPr>
          <p:cNvPr id="8" name="Rectangle 7"/>
          <p:cNvSpPr/>
          <p:nvPr/>
        </p:nvSpPr>
        <p:spPr>
          <a:xfrm>
            <a:off x="7726679" y="5177409"/>
            <a:ext cx="31750" cy="65303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5149977"/>
            <a:ext cx="3593591" cy="653034"/>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1.058 px over 80%</a:t>
            </a:r>
          </a:p>
          <a:p>
            <a:pPr algn="l">
              <a:lnSpc>
                <a:spcPct val="130000"/>
              </a:lnSpc>
            </a:pPr>
            <a:r>
              <a:rPr sz="1650" b="1">
                <a:solidFill>
                  <a:srgbClr val="1A1A1A"/>
                </a:solidFill>
                <a:latin typeface="DejaVu Serif"/>
              </a:rPr>
              <a:t>of the frame</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Per-query error scale under a Laplace likelihood. Coverage is the share of queries answered. Same 2,348,000 queries as the calibration bins.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7</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Flowing 14% of the frame costs 0.034 px</a:t>
            </a:r>
          </a:p>
          <a:p>
            <a:pPr algn="l">
              <a:lnSpc>
                <a:spcPct val="110000"/>
              </a:lnSpc>
            </a:pPr>
            <a:r>
              <a:rPr sz="3000" b="1">
                <a:solidFill>
                  <a:srgbClr val="1A1A1A"/>
                </a:solidFill>
                <a:latin typeface="DejaVu Serif"/>
              </a:rPr>
              <a:t>and runs 4.4x faster</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64208"/>
            <a:ext cx="7013448"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09928"/>
            <a:ext cx="2697480" cy="270510"/>
          </a:xfrm>
          <a:prstGeom prst="rect">
            <a:avLst/>
          </a:prstGeom>
          <a:noFill/>
        </p:spPr>
        <p:txBody>
          <a:bodyPr wrap="square" lIns="0" rIns="0" tIns="0" bIns="0">
            <a:spAutoFit/>
          </a:bodyPr>
          <a:lstStyle/>
          <a:p>
            <a:pPr algn="l">
              <a:lnSpc>
                <a:spcPct val="100000"/>
              </a:lnSpc>
            </a:pPr>
            <a:r>
              <a:rPr sz="1500" b="1">
                <a:solidFill>
                  <a:srgbClr val="5A5A5A"/>
                </a:solidFill>
                <a:latin typeface="DejaVu Serif"/>
              </a:rPr>
              <a:t>Region processed</a:t>
            </a:r>
          </a:p>
        </p:txBody>
      </p:sp>
      <p:sp>
        <p:nvSpPr>
          <p:cNvPr id="7" name="TextBox 6"/>
          <p:cNvSpPr txBox="1"/>
          <p:nvPr/>
        </p:nvSpPr>
        <p:spPr>
          <a:xfrm>
            <a:off x="3383280" y="1709928"/>
            <a:ext cx="758952"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Area</a:t>
            </a:r>
          </a:p>
        </p:txBody>
      </p:sp>
      <p:sp>
        <p:nvSpPr>
          <p:cNvPr id="8" name="TextBox 7"/>
          <p:cNvSpPr txBox="1"/>
          <p:nvPr/>
        </p:nvSpPr>
        <p:spPr>
          <a:xfrm>
            <a:off x="4142232" y="1709928"/>
            <a:ext cx="950976"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Latency</a:t>
            </a:r>
          </a:p>
        </p:txBody>
      </p:sp>
      <p:sp>
        <p:nvSpPr>
          <p:cNvPr id="9" name="TextBox 8"/>
          <p:cNvSpPr txBox="1"/>
          <p:nvPr/>
        </p:nvSpPr>
        <p:spPr>
          <a:xfrm>
            <a:off x="5093208" y="1709928"/>
            <a:ext cx="1024128"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Speedup</a:t>
            </a:r>
          </a:p>
        </p:txBody>
      </p:sp>
      <p:sp>
        <p:nvSpPr>
          <p:cNvPr id="10" name="TextBox 9"/>
          <p:cNvSpPr txBox="1"/>
          <p:nvPr/>
        </p:nvSpPr>
        <p:spPr>
          <a:xfrm>
            <a:off x="6117336" y="1709928"/>
            <a:ext cx="1581912"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EPE in region</a:t>
            </a:r>
          </a:p>
        </p:txBody>
      </p:sp>
      <p:sp>
        <p:nvSpPr>
          <p:cNvPr id="11" name="Rectangle 10"/>
          <p:cNvSpPr/>
          <p:nvPr/>
        </p:nvSpPr>
        <p:spPr>
          <a:xfrm>
            <a:off x="685800" y="2007870"/>
            <a:ext cx="7013448"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08102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Full frame</a:t>
            </a:r>
          </a:p>
        </p:txBody>
      </p:sp>
      <p:sp>
        <p:nvSpPr>
          <p:cNvPr id="13" name="TextBox 12"/>
          <p:cNvSpPr txBox="1"/>
          <p:nvPr/>
        </p:nvSpPr>
        <p:spPr>
          <a:xfrm>
            <a:off x="3383280" y="208102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100%</a:t>
            </a:r>
          </a:p>
        </p:txBody>
      </p:sp>
      <p:sp>
        <p:nvSpPr>
          <p:cNvPr id="14" name="TextBox 13"/>
          <p:cNvSpPr txBox="1"/>
          <p:nvPr/>
        </p:nvSpPr>
        <p:spPr>
          <a:xfrm>
            <a:off x="4142232" y="208102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33.3 ms</a:t>
            </a:r>
          </a:p>
        </p:txBody>
      </p:sp>
      <p:sp>
        <p:nvSpPr>
          <p:cNvPr id="15" name="TextBox 14"/>
          <p:cNvSpPr txBox="1"/>
          <p:nvPr/>
        </p:nvSpPr>
        <p:spPr>
          <a:xfrm>
            <a:off x="5093208" y="208102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1.0x</a:t>
            </a:r>
          </a:p>
        </p:txBody>
      </p:sp>
      <p:sp>
        <p:nvSpPr>
          <p:cNvPr id="16" name="TextBox 15"/>
          <p:cNvSpPr txBox="1"/>
          <p:nvPr/>
        </p:nvSpPr>
        <p:spPr>
          <a:xfrm>
            <a:off x="6117336" y="208102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0.657</a:t>
            </a:r>
          </a:p>
        </p:txBody>
      </p:sp>
      <p:sp>
        <p:nvSpPr>
          <p:cNvPr id="17" name="TextBox 16"/>
          <p:cNvSpPr txBox="1"/>
          <p:nvPr/>
        </p:nvSpPr>
        <p:spPr>
          <a:xfrm>
            <a:off x="685800" y="235153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Region, no margin</a:t>
            </a:r>
          </a:p>
        </p:txBody>
      </p:sp>
      <p:sp>
        <p:nvSpPr>
          <p:cNvPr id="18" name="TextBox 17"/>
          <p:cNvSpPr txBox="1"/>
          <p:nvPr/>
        </p:nvSpPr>
        <p:spPr>
          <a:xfrm>
            <a:off x="3383280" y="235153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7.9%</a:t>
            </a:r>
          </a:p>
        </p:txBody>
      </p:sp>
      <p:sp>
        <p:nvSpPr>
          <p:cNvPr id="19" name="TextBox 18"/>
          <p:cNvSpPr txBox="1"/>
          <p:nvPr/>
        </p:nvSpPr>
        <p:spPr>
          <a:xfrm>
            <a:off x="4142232" y="235153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7.8 ms</a:t>
            </a:r>
          </a:p>
        </p:txBody>
      </p:sp>
      <p:sp>
        <p:nvSpPr>
          <p:cNvPr id="20" name="TextBox 19"/>
          <p:cNvSpPr txBox="1"/>
          <p:nvPr/>
        </p:nvSpPr>
        <p:spPr>
          <a:xfrm>
            <a:off x="5093208" y="235153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4.3x</a:t>
            </a:r>
          </a:p>
        </p:txBody>
      </p:sp>
      <p:sp>
        <p:nvSpPr>
          <p:cNvPr id="21" name="TextBox 20"/>
          <p:cNvSpPr txBox="1"/>
          <p:nvPr/>
        </p:nvSpPr>
        <p:spPr>
          <a:xfrm>
            <a:off x="6117336" y="235153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1.089</a:t>
            </a:r>
          </a:p>
        </p:txBody>
      </p:sp>
      <p:sp>
        <p:nvSpPr>
          <p:cNvPr id="22" name="TextBox 21"/>
          <p:cNvSpPr txBox="1"/>
          <p:nvPr/>
        </p:nvSpPr>
        <p:spPr>
          <a:xfrm>
            <a:off x="685800" y="2622042"/>
            <a:ext cx="2697480" cy="270510"/>
          </a:xfrm>
          <a:prstGeom prst="rect">
            <a:avLst/>
          </a:prstGeom>
          <a:noFill/>
        </p:spPr>
        <p:txBody>
          <a:bodyPr wrap="square" lIns="0" rIns="0" tIns="0" bIns="0">
            <a:spAutoFit/>
          </a:bodyPr>
          <a:lstStyle/>
          <a:p>
            <a:pPr algn="l">
              <a:lnSpc>
                <a:spcPct val="100000"/>
              </a:lnSpc>
            </a:pPr>
            <a:r>
              <a:rPr sz="1500" b="1">
                <a:solidFill>
                  <a:srgbClr val="1A1A1A"/>
                </a:solidFill>
                <a:latin typeface="DejaVu Serif"/>
              </a:rPr>
              <a:t>Region + 32 px margin</a:t>
            </a:r>
          </a:p>
        </p:txBody>
      </p:sp>
      <p:sp>
        <p:nvSpPr>
          <p:cNvPr id="23" name="TextBox 22"/>
          <p:cNvSpPr txBox="1"/>
          <p:nvPr/>
        </p:nvSpPr>
        <p:spPr>
          <a:xfrm>
            <a:off x="3383280" y="2622042"/>
            <a:ext cx="758952"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13.8%</a:t>
            </a:r>
          </a:p>
        </p:txBody>
      </p:sp>
      <p:sp>
        <p:nvSpPr>
          <p:cNvPr id="24" name="TextBox 23"/>
          <p:cNvSpPr txBox="1"/>
          <p:nvPr/>
        </p:nvSpPr>
        <p:spPr>
          <a:xfrm>
            <a:off x="4142232" y="2622042"/>
            <a:ext cx="950976"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7.6 ms</a:t>
            </a:r>
          </a:p>
        </p:txBody>
      </p:sp>
      <p:sp>
        <p:nvSpPr>
          <p:cNvPr id="25" name="TextBox 24"/>
          <p:cNvSpPr txBox="1"/>
          <p:nvPr/>
        </p:nvSpPr>
        <p:spPr>
          <a:xfrm>
            <a:off x="5093208" y="2622042"/>
            <a:ext cx="1024128"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4.4x</a:t>
            </a:r>
          </a:p>
        </p:txBody>
      </p:sp>
      <p:sp>
        <p:nvSpPr>
          <p:cNvPr id="26" name="TextBox 25"/>
          <p:cNvSpPr txBox="1"/>
          <p:nvPr/>
        </p:nvSpPr>
        <p:spPr>
          <a:xfrm>
            <a:off x="6117336" y="2622042"/>
            <a:ext cx="1581912"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0.691</a:t>
            </a:r>
          </a:p>
        </p:txBody>
      </p:sp>
      <p:sp>
        <p:nvSpPr>
          <p:cNvPr id="27" name="TextBox 26"/>
          <p:cNvSpPr txBox="1"/>
          <p:nvPr/>
        </p:nvSpPr>
        <p:spPr>
          <a:xfrm>
            <a:off x="685800" y="289255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Region + 64 px margin</a:t>
            </a:r>
          </a:p>
        </p:txBody>
      </p:sp>
      <p:sp>
        <p:nvSpPr>
          <p:cNvPr id="28" name="TextBox 27"/>
          <p:cNvSpPr txBox="1"/>
          <p:nvPr/>
        </p:nvSpPr>
        <p:spPr>
          <a:xfrm>
            <a:off x="3383280" y="289255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20.1%</a:t>
            </a:r>
          </a:p>
        </p:txBody>
      </p:sp>
      <p:sp>
        <p:nvSpPr>
          <p:cNvPr id="29" name="TextBox 28"/>
          <p:cNvSpPr txBox="1"/>
          <p:nvPr/>
        </p:nvSpPr>
        <p:spPr>
          <a:xfrm>
            <a:off x="4142232" y="289255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8.1 ms</a:t>
            </a:r>
          </a:p>
        </p:txBody>
      </p:sp>
      <p:sp>
        <p:nvSpPr>
          <p:cNvPr id="30" name="TextBox 29"/>
          <p:cNvSpPr txBox="1"/>
          <p:nvPr/>
        </p:nvSpPr>
        <p:spPr>
          <a:xfrm>
            <a:off x="5093208" y="289255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4.1x</a:t>
            </a:r>
          </a:p>
        </p:txBody>
      </p:sp>
      <p:sp>
        <p:nvSpPr>
          <p:cNvPr id="31" name="TextBox 30"/>
          <p:cNvSpPr txBox="1"/>
          <p:nvPr/>
        </p:nvSpPr>
        <p:spPr>
          <a:xfrm>
            <a:off x="6117336" y="289255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0.667</a:t>
            </a:r>
          </a:p>
        </p:txBody>
      </p:sp>
      <p:sp>
        <p:nvSpPr>
          <p:cNvPr id="32" name="TextBox 31"/>
          <p:cNvSpPr txBox="1"/>
          <p:nvPr/>
        </p:nvSpPr>
        <p:spPr>
          <a:xfrm>
            <a:off x="685800" y="316306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Region + 128 px margin</a:t>
            </a:r>
          </a:p>
        </p:txBody>
      </p:sp>
      <p:sp>
        <p:nvSpPr>
          <p:cNvPr id="33" name="TextBox 32"/>
          <p:cNvSpPr txBox="1"/>
          <p:nvPr/>
        </p:nvSpPr>
        <p:spPr>
          <a:xfrm>
            <a:off x="3383280" y="316306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34.2%</a:t>
            </a:r>
          </a:p>
        </p:txBody>
      </p:sp>
      <p:sp>
        <p:nvSpPr>
          <p:cNvPr id="34" name="TextBox 33"/>
          <p:cNvSpPr txBox="1"/>
          <p:nvPr/>
        </p:nvSpPr>
        <p:spPr>
          <a:xfrm>
            <a:off x="4142232" y="316306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9.9 ms</a:t>
            </a:r>
          </a:p>
        </p:txBody>
      </p:sp>
      <p:sp>
        <p:nvSpPr>
          <p:cNvPr id="35" name="TextBox 34"/>
          <p:cNvSpPr txBox="1"/>
          <p:nvPr/>
        </p:nvSpPr>
        <p:spPr>
          <a:xfrm>
            <a:off x="5093208" y="316306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3.4x</a:t>
            </a:r>
          </a:p>
        </p:txBody>
      </p:sp>
      <p:sp>
        <p:nvSpPr>
          <p:cNvPr id="36" name="TextBox 35"/>
          <p:cNvSpPr txBox="1"/>
          <p:nvPr/>
        </p:nvSpPr>
        <p:spPr>
          <a:xfrm>
            <a:off x="6117336" y="316306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0.655</a:t>
            </a:r>
          </a:p>
        </p:txBody>
      </p:sp>
      <p:sp>
        <p:nvSpPr>
          <p:cNvPr id="37" name="Rectangle 36"/>
          <p:cNvSpPr/>
          <p:nvPr/>
        </p:nvSpPr>
        <p:spPr>
          <a:xfrm>
            <a:off x="685800" y="3470148"/>
            <a:ext cx="7013448"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01000" y="1664208"/>
            <a:ext cx="3502152" cy="18105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650" b="0">
                <a:solidFill>
                  <a:srgbClr val="1A1A1A"/>
                </a:solidFill>
                <a:latin typeface="DejaVu Serif"/>
              </a:rPr>
              <a:t>Design rule</a:t>
            </a:r>
          </a:p>
          <a:p>
            <a:pPr algn="ctr">
              <a:lnSpc>
                <a:spcPct val="120000"/>
              </a:lnSpc>
            </a:pPr>
            <a:r>
              <a:rPr sz="1650" b="0">
                <a:solidFill>
                  <a:srgbClr val="1A1A1A"/>
                </a:solidFill>
                <a:latin typeface="DejaVu Serif"/>
              </a:rPr>
              <a:t/>
            </a:r>
          </a:p>
          <a:p>
            <a:pPr algn="ctr">
              <a:lnSpc>
                <a:spcPct val="120000"/>
              </a:lnSpc>
            </a:pPr>
            <a:r>
              <a:rPr sz="1650" b="0">
                <a:solidFill>
                  <a:srgbClr val="1A1A1A"/>
                </a:solidFill>
                <a:latin typeface="DejaVu Serif"/>
              </a:rPr>
              <a:t>margin ≈ expected motion</a:t>
            </a:r>
          </a:p>
          <a:p>
            <a:pPr algn="ctr">
              <a:lnSpc>
                <a:spcPct val="120000"/>
              </a:lnSpc>
            </a:pPr>
            <a:r>
              <a:rPr sz="1650" b="0">
                <a:solidFill>
                  <a:srgbClr val="1A1A1A"/>
                </a:solidFill>
                <a:latin typeface="DejaVu Serif"/>
              </a:rPr>
              <a:t>≈ speed / frame rate</a:t>
            </a:r>
          </a:p>
        </p:txBody>
      </p:sp>
      <p:sp>
        <p:nvSpPr>
          <p:cNvPr id="39" name="Rectangle 38"/>
          <p:cNvSpPr/>
          <p:nvPr/>
        </p:nvSpPr>
        <p:spPr>
          <a:xfrm>
            <a:off x="685800" y="4480560"/>
            <a:ext cx="10820095"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The margin is not optional. Without one, error rises 65 percent and a quarter of large-motion pixels fail outright, because global matching loses the context it uses to locate distant correspondences.</a:t>
            </a:r>
          </a:p>
        </p:txBody>
      </p:sp>
      <p:sp>
        <p:nvSpPr>
          <p:cNvPr id="40" name="TextBox 3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Applies to any network in this family, v2 included. A platform technique, not a property of the decoder.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8</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margin needed is set by motion,</a:t>
            </a:r>
          </a:p>
          <a:p>
            <a:pPr algn="l">
              <a:lnSpc>
                <a:spcPct val="110000"/>
              </a:lnSpc>
            </a:pPr>
            <a:r>
              <a:rPr sz="3000" b="1">
                <a:solidFill>
                  <a:srgbClr val="1A1A1A"/>
                </a:solidFill>
                <a:latin typeface="DejaVu Serif"/>
              </a:rPr>
              <a:t>not by image size</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rgin_rule.png"/>
          <p:cNvPicPr>
            <a:picLocks noChangeAspect="1"/>
          </p:cNvPicPr>
          <p:nvPr/>
        </p:nvPicPr>
        <p:blipFill>
          <a:blip r:embed="rId2"/>
          <a:stretch>
            <a:fillRect/>
          </a:stretch>
        </p:blipFill>
        <p:spPr>
          <a:xfrm>
            <a:off x="1435608" y="1719072"/>
            <a:ext cx="9326880" cy="3459634"/>
          </a:xfrm>
          <a:prstGeom prst="rect">
            <a:avLst/>
          </a:prstGeom>
        </p:spPr>
      </p:pic>
      <p:sp>
        <p:nvSpPr>
          <p:cNvPr id="6" name="Rectangle 5"/>
          <p:cNvSpPr/>
          <p:nvPr/>
        </p:nvSpPr>
        <p:spPr>
          <a:xfrm>
            <a:off x="685800" y="5248656"/>
            <a:ext cx="10820095"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Driving averages 26.6 px of motion and needs about 32 px of margin. Aerial averages 9.26 px and needs about 8 px. Both shed most of the penalty by one frame of motion, so a margin can be sized from speed and frame rate before anything is run.</a:t>
            </a:r>
          </a:p>
        </p:txBody>
      </p:sp>
      <p:sp>
        <p:nvSpPr>
          <p:cNvPr id="7" name="TextBox 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Measured with the baseline network. Agreement holds to a ratio of one; residuals beyond that differ by scene.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9</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A region found mid-frame costs 1.7 ms,</a:t>
            </a:r>
          </a:p>
          <a:p>
            <a:pPr algn="l">
              <a:lnSpc>
                <a:spcPct val="110000"/>
              </a:lnSpc>
            </a:pPr>
            <a:r>
              <a:rPr sz="3000" b="1">
                <a:solidFill>
                  <a:srgbClr val="1A1A1A"/>
                </a:solidFill>
                <a:latin typeface="DejaVu Serif"/>
              </a:rPr>
              <a:t>against 7.3 ms for a fresh crop</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enario3_marginal.png"/>
          <p:cNvPicPr>
            <a:picLocks noChangeAspect="1"/>
          </p:cNvPicPr>
          <p:nvPr/>
        </p:nvPicPr>
        <p:blipFill>
          <a:blip r:embed="rId2"/>
          <a:stretch>
            <a:fillRect/>
          </a:stretch>
        </p:blipFill>
        <p:spPr>
          <a:xfrm>
            <a:off x="1435608" y="1719072"/>
            <a:ext cx="9326880" cy="3453819"/>
          </a:xfrm>
          <a:prstGeom prst="rect">
            <a:avLst/>
          </a:prstGeom>
        </p:spPr>
      </p:pic>
      <p:sp>
        <p:nvSpPr>
          <p:cNvPr id="6" name="Rectangle 5"/>
          <p:cNvSpPr/>
          <p:nvPr/>
        </p:nvSpPr>
        <p:spPr>
          <a:xfrm>
            <a:off x="685800" y="5248656"/>
            <a:ext cx="10820095"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The cached coarse state answers a question the platform did not have when the frame arrived. A cropped pipeline must run an entire new pass, and is less accurate doing it. Two disjoint crops cost more than one full frame: crop once, or not at all.</a:t>
            </a:r>
          </a:p>
        </p:txBody>
      </p:sp>
      <p:sp>
        <p:nvSpPr>
          <p:cNvPr id="7" name="TextBox 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Held-out VKITTI 2. The second region is disjoint from the first, so nothing computed for the first can be reused by a cropped pipeline.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10</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On a domain neither model trained for,</a:t>
            </a:r>
          </a:p>
          <a:p>
            <a:pPr algn="l">
              <a:lnSpc>
                <a:spcPct val="110000"/>
              </a:lnSpc>
            </a:pPr>
            <a:r>
              <a:rPr sz="3000" b="1">
                <a:solidFill>
                  <a:srgbClr val="1A1A1A"/>
                </a:solidFill>
                <a:latin typeface="DejaVu Serif"/>
              </a:rPr>
              <a:t>v3 leads at all seven margin settings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975104"/>
            <a:ext cx="6263640"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20824"/>
            <a:ext cx="2331720" cy="270510"/>
          </a:xfrm>
          <a:prstGeom prst="rect">
            <a:avLst/>
          </a:prstGeom>
          <a:noFill/>
        </p:spPr>
        <p:txBody>
          <a:bodyPr wrap="square" lIns="0" rIns="0" tIns="0" bIns="0">
            <a:spAutoFit/>
          </a:bodyPr>
          <a:lstStyle/>
          <a:p>
            <a:pPr algn="l">
              <a:lnSpc>
                <a:spcPct val="100000"/>
              </a:lnSpc>
            </a:pPr>
            <a:r>
              <a:rPr sz="1500" b="1">
                <a:solidFill>
                  <a:srgbClr val="5A5A5A"/>
                </a:solidFill>
                <a:latin typeface="DejaVu Serif"/>
              </a:rPr>
              <a:t>Crop margin</a:t>
            </a:r>
          </a:p>
        </p:txBody>
      </p:sp>
      <p:sp>
        <p:nvSpPr>
          <p:cNvPr id="7" name="TextBox 6"/>
          <p:cNvSpPr txBox="1"/>
          <p:nvPr/>
        </p:nvSpPr>
        <p:spPr>
          <a:xfrm>
            <a:off x="3017520" y="2020824"/>
            <a:ext cx="1965960"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NeuFlow v2</a:t>
            </a:r>
          </a:p>
        </p:txBody>
      </p:sp>
      <p:sp>
        <p:nvSpPr>
          <p:cNvPr id="8" name="TextBox 7"/>
          <p:cNvSpPr txBox="1"/>
          <p:nvPr/>
        </p:nvSpPr>
        <p:spPr>
          <a:xfrm>
            <a:off x="4983479" y="2020824"/>
            <a:ext cx="1965960"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NeuFlow v3</a:t>
            </a:r>
          </a:p>
        </p:txBody>
      </p:sp>
      <p:sp>
        <p:nvSpPr>
          <p:cNvPr id="9" name="Rectangle 8"/>
          <p:cNvSpPr/>
          <p:nvPr/>
        </p:nvSpPr>
        <p:spPr>
          <a:xfrm>
            <a:off x="685800" y="2318766"/>
            <a:ext cx="626364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191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full frame</a:t>
            </a:r>
          </a:p>
        </p:txBody>
      </p:sp>
      <p:sp>
        <p:nvSpPr>
          <p:cNvPr id="11" name="TextBox 10"/>
          <p:cNvSpPr txBox="1"/>
          <p:nvPr/>
        </p:nvSpPr>
        <p:spPr>
          <a:xfrm>
            <a:off x="3017520" y="239191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0.781</a:t>
            </a:r>
          </a:p>
        </p:txBody>
      </p:sp>
      <p:sp>
        <p:nvSpPr>
          <p:cNvPr id="12" name="TextBox 11"/>
          <p:cNvSpPr txBox="1"/>
          <p:nvPr/>
        </p:nvSpPr>
        <p:spPr>
          <a:xfrm>
            <a:off x="4983479" y="239191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0.777</a:t>
            </a:r>
          </a:p>
        </p:txBody>
      </p:sp>
      <p:sp>
        <p:nvSpPr>
          <p:cNvPr id="13" name="TextBox 12"/>
          <p:cNvSpPr txBox="1"/>
          <p:nvPr/>
        </p:nvSpPr>
        <p:spPr>
          <a:xfrm>
            <a:off x="685800" y="266242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0 px</a:t>
            </a:r>
          </a:p>
        </p:txBody>
      </p:sp>
      <p:sp>
        <p:nvSpPr>
          <p:cNvPr id="14" name="TextBox 13"/>
          <p:cNvSpPr txBox="1"/>
          <p:nvPr/>
        </p:nvSpPr>
        <p:spPr>
          <a:xfrm>
            <a:off x="3017520" y="266242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1.205</a:t>
            </a:r>
          </a:p>
        </p:txBody>
      </p:sp>
      <p:sp>
        <p:nvSpPr>
          <p:cNvPr id="15" name="TextBox 14"/>
          <p:cNvSpPr txBox="1"/>
          <p:nvPr/>
        </p:nvSpPr>
        <p:spPr>
          <a:xfrm>
            <a:off x="4983479" y="266242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1.176</a:t>
            </a:r>
          </a:p>
        </p:txBody>
      </p:sp>
      <p:sp>
        <p:nvSpPr>
          <p:cNvPr id="16" name="TextBox 15"/>
          <p:cNvSpPr txBox="1"/>
          <p:nvPr/>
        </p:nvSpPr>
        <p:spPr>
          <a:xfrm>
            <a:off x="685800" y="293293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8 px</a:t>
            </a:r>
          </a:p>
        </p:txBody>
      </p:sp>
      <p:sp>
        <p:nvSpPr>
          <p:cNvPr id="17" name="TextBox 16"/>
          <p:cNvSpPr txBox="1"/>
          <p:nvPr/>
        </p:nvSpPr>
        <p:spPr>
          <a:xfrm>
            <a:off x="3017520" y="293293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0.901</a:t>
            </a:r>
          </a:p>
        </p:txBody>
      </p:sp>
      <p:sp>
        <p:nvSpPr>
          <p:cNvPr id="18" name="TextBox 17"/>
          <p:cNvSpPr txBox="1"/>
          <p:nvPr/>
        </p:nvSpPr>
        <p:spPr>
          <a:xfrm>
            <a:off x="4983479" y="293293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0.881</a:t>
            </a:r>
          </a:p>
        </p:txBody>
      </p:sp>
      <p:sp>
        <p:nvSpPr>
          <p:cNvPr id="19" name="TextBox 18"/>
          <p:cNvSpPr txBox="1"/>
          <p:nvPr/>
        </p:nvSpPr>
        <p:spPr>
          <a:xfrm>
            <a:off x="685800" y="320344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16 px</a:t>
            </a:r>
          </a:p>
        </p:txBody>
      </p:sp>
      <p:sp>
        <p:nvSpPr>
          <p:cNvPr id="20" name="TextBox 19"/>
          <p:cNvSpPr txBox="1"/>
          <p:nvPr/>
        </p:nvSpPr>
        <p:spPr>
          <a:xfrm>
            <a:off x="3017520" y="320344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0.872</a:t>
            </a:r>
          </a:p>
        </p:txBody>
      </p:sp>
      <p:sp>
        <p:nvSpPr>
          <p:cNvPr id="21" name="TextBox 20"/>
          <p:cNvSpPr txBox="1"/>
          <p:nvPr/>
        </p:nvSpPr>
        <p:spPr>
          <a:xfrm>
            <a:off x="4983479" y="320344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0.865</a:t>
            </a:r>
          </a:p>
        </p:txBody>
      </p:sp>
      <p:sp>
        <p:nvSpPr>
          <p:cNvPr id="22" name="TextBox 21"/>
          <p:cNvSpPr txBox="1"/>
          <p:nvPr/>
        </p:nvSpPr>
        <p:spPr>
          <a:xfrm>
            <a:off x="685800" y="347395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24 px</a:t>
            </a:r>
          </a:p>
        </p:txBody>
      </p:sp>
      <p:sp>
        <p:nvSpPr>
          <p:cNvPr id="23" name="TextBox 22"/>
          <p:cNvSpPr txBox="1"/>
          <p:nvPr/>
        </p:nvSpPr>
        <p:spPr>
          <a:xfrm>
            <a:off x="3017520" y="347395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0.879</a:t>
            </a:r>
          </a:p>
        </p:txBody>
      </p:sp>
      <p:sp>
        <p:nvSpPr>
          <p:cNvPr id="24" name="TextBox 23"/>
          <p:cNvSpPr txBox="1"/>
          <p:nvPr/>
        </p:nvSpPr>
        <p:spPr>
          <a:xfrm>
            <a:off x="4983479" y="347395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0.854</a:t>
            </a:r>
          </a:p>
        </p:txBody>
      </p:sp>
      <p:sp>
        <p:nvSpPr>
          <p:cNvPr id="25" name="TextBox 24"/>
          <p:cNvSpPr txBox="1"/>
          <p:nvPr/>
        </p:nvSpPr>
        <p:spPr>
          <a:xfrm>
            <a:off x="685800" y="374446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32 px</a:t>
            </a:r>
          </a:p>
        </p:txBody>
      </p:sp>
      <p:sp>
        <p:nvSpPr>
          <p:cNvPr id="26" name="TextBox 25"/>
          <p:cNvSpPr txBox="1"/>
          <p:nvPr/>
        </p:nvSpPr>
        <p:spPr>
          <a:xfrm>
            <a:off x="3017520" y="374446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0.834</a:t>
            </a:r>
          </a:p>
        </p:txBody>
      </p:sp>
      <p:sp>
        <p:nvSpPr>
          <p:cNvPr id="27" name="TextBox 26"/>
          <p:cNvSpPr txBox="1"/>
          <p:nvPr/>
        </p:nvSpPr>
        <p:spPr>
          <a:xfrm>
            <a:off x="4983479" y="374446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0.814</a:t>
            </a:r>
          </a:p>
        </p:txBody>
      </p:sp>
      <p:sp>
        <p:nvSpPr>
          <p:cNvPr id="28" name="TextBox 27"/>
          <p:cNvSpPr txBox="1"/>
          <p:nvPr/>
        </p:nvSpPr>
        <p:spPr>
          <a:xfrm>
            <a:off x="685800" y="401497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64 px</a:t>
            </a:r>
          </a:p>
        </p:txBody>
      </p:sp>
      <p:sp>
        <p:nvSpPr>
          <p:cNvPr id="29" name="TextBox 28"/>
          <p:cNvSpPr txBox="1"/>
          <p:nvPr/>
        </p:nvSpPr>
        <p:spPr>
          <a:xfrm>
            <a:off x="3017520" y="401497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0.793</a:t>
            </a:r>
          </a:p>
        </p:txBody>
      </p:sp>
      <p:sp>
        <p:nvSpPr>
          <p:cNvPr id="30" name="TextBox 29"/>
          <p:cNvSpPr txBox="1"/>
          <p:nvPr/>
        </p:nvSpPr>
        <p:spPr>
          <a:xfrm>
            <a:off x="4983479" y="401497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0.778</a:t>
            </a:r>
          </a:p>
        </p:txBody>
      </p:sp>
      <p:sp>
        <p:nvSpPr>
          <p:cNvPr id="31" name="Rectangle 30"/>
          <p:cNvSpPr/>
          <p:nvPr/>
        </p:nvSpPr>
        <p:spPr>
          <a:xfrm>
            <a:off x="685800" y="4322064"/>
            <a:ext cx="6263640"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HOW MUCH IT COUNTS</a:t>
            </a:r>
          </a:p>
        </p:txBody>
      </p:sp>
      <p:sp>
        <p:nvSpPr>
          <p:cNvPr id="33" name="TextBox 32"/>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The only unconfounded comparison I have. Every other table is on a domain v3 trained on and v2 did not.</a:t>
            </a:r>
          </a:p>
          <a:p>
            <a:pPr>
              <a:lnSpc>
                <a:spcPct val="114000"/>
              </a:lnSpc>
              <a:spcAft>
                <a:spcPts val="1200"/>
              </a:spcAft>
            </a:pPr>
            <a:r>
              <a:rPr sz="1650" b="0">
                <a:solidFill>
                  <a:srgbClr val="1A1A1A"/>
                </a:solidFill>
                <a:latin typeface="DejaVu Serif"/>
              </a:rPr>
              <a:t>Consistent rather than large: 0.004 to 0.029 px, over 40 pairs and one seed.</a:t>
            </a:r>
          </a:p>
          <a:p>
            <a:pPr>
              <a:lnSpc>
                <a:spcPct val="114000"/>
              </a:lnSpc>
              <a:spcAft>
                <a:spcPts val="1200"/>
              </a:spcAft>
            </a:pPr>
            <a:r>
              <a:rPr sz="1650" b="0">
                <a:solidFill>
                  <a:srgbClr val="1A1A1A"/>
                </a:solidFill>
                <a:latin typeface="DejaVu Serif"/>
              </a:rPr>
              <a:t>v3 is still worse on large-motion failures, 7.2% against 6.5%.</a:t>
            </a:r>
          </a:p>
        </p:txBody>
      </p:sp>
      <p:sp>
        <p:nvSpPr>
          <p:cNvPr id="34" name="TextBox 33"/>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Mean end-point error, px. v2 trained on FlyingThings; v3 on FlyingChairs, VKITTI 2 and Sintel. Neither trained on aerial imagery.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11</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One diagnosed cause, three experiments</a:t>
            </a:r>
          </a:p>
          <a:p>
            <a:pPr algn="l">
              <a:lnSpc>
                <a:spcPct val="110000"/>
              </a:lnSpc>
            </a:pPr>
            <a:r>
              <a:rPr sz="3000" b="1">
                <a:solidFill>
                  <a:srgbClr val="1A1A1A"/>
                </a:solidFill>
                <a:latin typeface="DejaVu Serif"/>
              </a:rPr>
              <a:t>converging on it, not yet fixed</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6309360" cy="3108960"/>
          </a:xfrm>
          <a:prstGeom prst="rect">
            <a:avLst/>
          </a:prstGeom>
          <a:noFill/>
        </p:spPr>
        <p:txBody>
          <a:bodyPr wrap="square" lIns="0" rIns="0">
            <a:spAutoFit/>
          </a:bodyPr>
          <a:lstStyle/>
          <a:p>
            <a:pPr>
              <a:lnSpc>
                <a:spcPct val="114000"/>
              </a:lnSpc>
              <a:spcAft>
                <a:spcPts val="1300"/>
              </a:spcAft>
            </a:pPr>
            <a:r>
              <a:rPr sz="1650" b="1">
                <a:solidFill>
                  <a:srgbClr val="1A1A1A"/>
                </a:solidFill>
                <a:latin typeface="DejaVu Serif"/>
              </a:rPr>
              <a:t>The cause. </a:t>
            </a:r>
            <a:r>
              <a:rPr sz="1650" b="0">
                <a:solidFill>
                  <a:srgbClr val="1A1A1A"/>
                </a:solidFill>
                <a:latin typeface="DejaVu Serif"/>
              </a:rPr>
              <a:t>The decoder’s finest input is at 1/8 resolution, so the evidence available to it barely varies inside an 8x8 cell. The upsampler it replaces reads the full-resolution frame directly.</a:t>
            </a:r>
          </a:p>
          <a:p>
            <a:pPr>
              <a:lnSpc>
                <a:spcPct val="114000"/>
              </a:lnSpc>
              <a:spcAft>
                <a:spcPts val="1300"/>
              </a:spcAft>
            </a:pPr>
            <a:r>
              <a:rPr sz="1650" b="1">
                <a:solidFill>
                  <a:srgbClr val="1A1A1A"/>
                </a:solidFill>
                <a:latin typeface="DejaVu Serif"/>
              </a:rPr>
              <a:t>Three independent nulls. </a:t>
            </a:r>
            <a:r>
              <a:rPr sz="1650" b="0">
                <a:solidFill>
                  <a:srgbClr val="1A1A1A"/>
                </a:solidFill>
                <a:latin typeface="DejaVu Serif"/>
              </a:rPr>
              <a:t>A Fourier positional encoding, sub-pixel querying, and reduced-resolution querying all returned null, and all three are explained by that one mechanism.</a:t>
            </a:r>
          </a:p>
          <a:p>
            <a:pPr>
              <a:lnSpc>
                <a:spcPct val="114000"/>
              </a:lnSpc>
              <a:spcAft>
                <a:spcPts val="1300"/>
              </a:spcAft>
            </a:pPr>
            <a:r>
              <a:rPr sz="1650" b="1">
                <a:solidFill>
                  <a:srgbClr val="1A1A1A"/>
                </a:solidFill>
                <a:latin typeface="DejaVu Serif"/>
              </a:rPr>
              <a:t>What it also explains. </a:t>
            </a:r>
            <a:r>
              <a:rPr sz="1650" b="0">
                <a:solidFill>
                  <a:srgbClr val="1A1A1A"/>
                </a:solidFill>
                <a:latin typeface="DejaVu Serif"/>
              </a:rPr>
              <a:t>Querying between pixels is presently closer to interpolation than inference. The interface is exact; the extra information recoverable is small.</a:t>
            </a:r>
          </a:p>
        </p:txBody>
      </p:sp>
      <p:sp>
        <p:nvSpPr>
          <p:cNvPr id="6" name="Rectangle 5"/>
          <p:cNvSpPr/>
          <p:nvPr/>
        </p:nvSpPr>
        <p:spPr>
          <a:xfrm>
            <a:off x="7269480" y="1664208"/>
            <a:ext cx="4233672"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650" b="0">
                <a:solidFill>
                  <a:srgbClr val="1A1A1A"/>
                </a:solidFill>
                <a:latin typeface="DejaVu Serif"/>
              </a:rPr>
              <a:t>Proposed remedy</a:t>
            </a:r>
          </a:p>
          <a:p>
            <a:pPr algn="ctr">
              <a:lnSpc>
                <a:spcPct val="120000"/>
              </a:lnSpc>
            </a:pPr>
            <a:r>
              <a:rPr sz="1650" b="0">
                <a:solidFill>
                  <a:srgbClr val="1A1A1A"/>
                </a:solidFill>
                <a:latin typeface="DejaVu Serif"/>
              </a:rPr>
              <a:t/>
            </a:r>
          </a:p>
          <a:p>
            <a:pPr algn="ctr">
              <a:lnSpc>
                <a:spcPct val="120000"/>
              </a:lnSpc>
            </a:pPr>
            <a:r>
              <a:rPr sz="1650" b="0">
                <a:solidFill>
                  <a:srgbClr val="1A1A1A"/>
                </a:solidFill>
                <a:latin typeface="DejaVu Serif"/>
              </a:rPr>
              <a:t>A full-resolution stem: a cheap</a:t>
            </a:r>
          </a:p>
          <a:p>
            <a:pPr algn="ctr">
              <a:lnSpc>
                <a:spcPct val="120000"/>
              </a:lnSpc>
            </a:pPr>
            <a:r>
              <a:rPr sz="1650" b="0">
                <a:solidFill>
                  <a:srgbClr val="1A1A1A"/>
                </a:solidFill>
                <a:latin typeface="DejaVu Serif"/>
              </a:rPr>
              <a:t>stride-8 convolution over the</a:t>
            </a:r>
          </a:p>
          <a:p>
            <a:pPr algn="ctr">
              <a:lnSpc>
                <a:spcPct val="120000"/>
              </a:lnSpc>
            </a:pPr>
            <a:r>
              <a:rPr sz="1650" b="0">
                <a:solidFill>
                  <a:srgbClr val="1A1A1A"/>
                </a:solidFill>
                <a:latin typeface="DejaVu Serif"/>
              </a:rPr>
              <a:t>full-resolution image, fed to</a:t>
            </a:r>
          </a:p>
          <a:p>
            <a:pPr algn="ctr">
              <a:lnSpc>
                <a:spcPct val="120000"/>
              </a:lnSpc>
            </a:pPr>
            <a:r>
              <a:rPr sz="1650" b="0">
                <a:solidFill>
                  <a:srgbClr val="1A1A1A"/>
                </a:solidFill>
                <a:latin typeface="DejaVu Serif"/>
              </a:rPr>
              <a:t>the decoder. Roughly 1 to 2 ms.</a:t>
            </a:r>
          </a:p>
        </p:txBody>
      </p:sp>
      <p:sp>
        <p:nvSpPr>
          <p:cNvPr id="7" name="Rectangle 6"/>
          <p:cNvSpPr/>
          <p:nvPr/>
        </p:nvSpPr>
        <p:spPr>
          <a:xfrm>
            <a:off x="685800" y="5138928"/>
            <a:ext cx="10820095" cy="7498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This is the only candidate that is specific to v3. The baseline’s upsampler already reads full resolution, so nothing here transfers to it.</a:t>
            </a:r>
          </a:p>
        </p:txBody>
      </p:sp>
      <p:sp>
        <p:nvSpPr>
          <p:cNvPr id="8" name="TextBox 7"/>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Other limitations: no embedded measurement, one evaluation domain, and one seed per configuration, so differences below about 0.05 px are not resolved.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12</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What I would do next, in priority order,</a:t>
            </a:r>
          </a:p>
          <a:p>
            <a:pPr algn="l">
              <a:lnSpc>
                <a:spcPct val="110000"/>
              </a:lnSpc>
            </a:pPr>
            <a:r>
              <a:rPr sz="3000" b="1">
                <a:solidFill>
                  <a:srgbClr val="1A1A1A"/>
                </a:solidFill>
                <a:latin typeface="DejaVu Serif"/>
              </a:rPr>
              <a:t>with what each costs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64208"/>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09928"/>
            <a:ext cx="352044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Next experiment</a:t>
            </a:r>
          </a:p>
        </p:txBody>
      </p:sp>
      <p:sp>
        <p:nvSpPr>
          <p:cNvPr id="7" name="TextBox 6"/>
          <p:cNvSpPr txBox="1"/>
          <p:nvPr/>
        </p:nvSpPr>
        <p:spPr>
          <a:xfrm>
            <a:off x="4206240" y="1709928"/>
            <a:ext cx="507492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Why it is next</a:t>
            </a:r>
          </a:p>
        </p:txBody>
      </p:sp>
      <p:sp>
        <p:nvSpPr>
          <p:cNvPr id="8" name="TextBox 7"/>
          <p:cNvSpPr txBox="1"/>
          <p:nvPr/>
        </p:nvSpPr>
        <p:spPr>
          <a:xfrm>
            <a:off x="9281159" y="1709928"/>
            <a:ext cx="2221992"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Cost</a:t>
            </a:r>
          </a:p>
        </p:txBody>
      </p:sp>
      <p:sp>
        <p:nvSpPr>
          <p:cNvPr id="9" name="Rectangle 8"/>
          <p:cNvSpPr/>
          <p:nvPr/>
        </p:nvSpPr>
        <p:spPr>
          <a:xfrm>
            <a:off x="685800" y="1971802"/>
            <a:ext cx="10817352"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44954"/>
            <a:ext cx="35204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Full-resolution stem</a:t>
            </a:r>
          </a:p>
        </p:txBody>
      </p:sp>
      <p:sp>
        <p:nvSpPr>
          <p:cNvPr id="11" name="TextBox 10"/>
          <p:cNvSpPr txBox="1"/>
          <p:nvPr/>
        </p:nvSpPr>
        <p:spPr>
          <a:xfrm>
            <a:off x="4206240" y="2044954"/>
            <a:ext cx="5074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the direct attack on the one diagnosed cause</a:t>
            </a:r>
          </a:p>
        </p:txBody>
      </p:sp>
      <p:sp>
        <p:nvSpPr>
          <p:cNvPr id="12" name="TextBox 11"/>
          <p:cNvSpPr txBox="1"/>
          <p:nvPr/>
        </p:nvSpPr>
        <p:spPr>
          <a:xfrm>
            <a:off x="9281159" y="2044954"/>
            <a:ext cx="222199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half a day, 5 h train</a:t>
            </a:r>
          </a:p>
        </p:txBody>
      </p:sp>
      <p:sp>
        <p:nvSpPr>
          <p:cNvPr id="13" name="TextBox 12"/>
          <p:cNvSpPr txBox="1"/>
          <p:nvPr/>
        </p:nvSpPr>
        <p:spPr>
          <a:xfrm>
            <a:off x="685800" y="2279396"/>
            <a:ext cx="35204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Repeat uncertainty run, new seed</a:t>
            </a:r>
          </a:p>
        </p:txBody>
      </p:sp>
      <p:sp>
        <p:nvSpPr>
          <p:cNvPr id="14" name="TextBox 13"/>
          <p:cNvSpPr txBox="1"/>
          <p:nvPr/>
        </p:nvSpPr>
        <p:spPr>
          <a:xfrm>
            <a:off x="4206240" y="2279396"/>
            <a:ext cx="5074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the 2.392 to 2.384 gain is inside checkpoint noise</a:t>
            </a:r>
          </a:p>
        </p:txBody>
      </p:sp>
      <p:sp>
        <p:nvSpPr>
          <p:cNvPr id="15" name="TextBox 14"/>
          <p:cNvSpPr txBox="1"/>
          <p:nvPr/>
        </p:nvSpPr>
        <p:spPr>
          <a:xfrm>
            <a:off x="9281159" y="2279396"/>
            <a:ext cx="222199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5 h train</a:t>
            </a:r>
          </a:p>
        </p:txBody>
      </p:sp>
      <p:sp>
        <p:nvSpPr>
          <p:cNvPr id="16" name="TextBox 15"/>
          <p:cNvSpPr txBox="1"/>
          <p:nvPr/>
        </p:nvSpPr>
        <p:spPr>
          <a:xfrm>
            <a:off x="685800" y="2513838"/>
            <a:ext cx="35204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Jetson measurement</a:t>
            </a:r>
          </a:p>
        </p:txBody>
      </p:sp>
      <p:sp>
        <p:nvSpPr>
          <p:cNvPr id="17" name="TextBox 16"/>
          <p:cNvSpPr txBox="1"/>
          <p:nvPr/>
        </p:nvSpPr>
        <p:spPr>
          <a:xfrm>
            <a:off x="4206240" y="2513838"/>
            <a:ext cx="5074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the word edge is currently a design target, not a result</a:t>
            </a:r>
          </a:p>
        </p:txBody>
      </p:sp>
      <p:sp>
        <p:nvSpPr>
          <p:cNvPr id="18" name="TextBox 17"/>
          <p:cNvSpPr txBox="1"/>
          <p:nvPr/>
        </p:nvSpPr>
        <p:spPr>
          <a:xfrm>
            <a:off x="9281159" y="2513838"/>
            <a:ext cx="222199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hardware dependent</a:t>
            </a:r>
          </a:p>
        </p:txBody>
      </p:sp>
      <p:sp>
        <p:nvSpPr>
          <p:cNvPr id="19" name="TextBox 18"/>
          <p:cNvSpPr txBox="1"/>
          <p:nvPr/>
        </p:nvSpPr>
        <p:spPr>
          <a:xfrm>
            <a:off x="685800" y="2748280"/>
            <a:ext cx="35204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Spring 4K evaluation</a:t>
            </a:r>
          </a:p>
        </p:txBody>
      </p:sp>
      <p:sp>
        <p:nvSpPr>
          <p:cNvPr id="20" name="TextBox 19"/>
          <p:cNvSpPr txBox="1"/>
          <p:nvPr/>
        </p:nvSpPr>
        <p:spPr>
          <a:xfrm>
            <a:off x="4206240" y="2748280"/>
            <a:ext cx="5074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the one test the baseline structurally cannot take</a:t>
            </a:r>
          </a:p>
        </p:txBody>
      </p:sp>
      <p:sp>
        <p:nvSpPr>
          <p:cNvPr id="21" name="TextBox 20"/>
          <p:cNvSpPr txBox="1"/>
          <p:nvPr/>
        </p:nvSpPr>
        <p:spPr>
          <a:xfrm>
            <a:off x="9281159" y="2748280"/>
            <a:ext cx="222199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1 h, script exists</a:t>
            </a:r>
          </a:p>
        </p:txBody>
      </p:sp>
      <p:sp>
        <p:nvSpPr>
          <p:cNvPr id="22" name="TextBox 21"/>
          <p:cNvSpPr txBox="1"/>
          <p:nvPr/>
        </p:nvSpPr>
        <p:spPr>
          <a:xfrm>
            <a:off x="685800" y="2982722"/>
            <a:ext cx="35204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Tiled refinement</a:t>
            </a:r>
          </a:p>
        </p:txBody>
      </p:sp>
      <p:sp>
        <p:nvSpPr>
          <p:cNvPr id="23" name="TextBox 22"/>
          <p:cNvSpPr txBox="1"/>
          <p:nvPr/>
        </p:nvSpPr>
        <p:spPr>
          <a:xfrm>
            <a:off x="4206240" y="2982722"/>
            <a:ext cx="5074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roughly 2x, but it would benefit the baseline equally</a:t>
            </a:r>
          </a:p>
        </p:txBody>
      </p:sp>
      <p:sp>
        <p:nvSpPr>
          <p:cNvPr id="24" name="TextBox 23"/>
          <p:cNvSpPr txBox="1"/>
          <p:nvPr/>
        </p:nvSpPr>
        <p:spPr>
          <a:xfrm>
            <a:off x="9281159" y="2982722"/>
            <a:ext cx="222199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not built</a:t>
            </a:r>
          </a:p>
        </p:txBody>
      </p:sp>
      <p:sp>
        <p:nvSpPr>
          <p:cNvPr id="25" name="Rectangle 24"/>
          <p:cNvSpPr/>
          <p:nvPr/>
        </p:nvSpPr>
        <p:spPr>
          <a:xfrm>
            <a:off x="685800" y="3253740"/>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4343400"/>
            <a:ext cx="10820095"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Only the first is a claim about this architecture. The second decides whether the uncertainty head’s accuracy gain is real. The third decides whether the edge premise can be stated at all.</a:t>
            </a:r>
          </a:p>
        </p:txBody>
      </p:sp>
      <p:sp>
        <p:nvSpPr>
          <p:cNvPr id="27" name="TextBox 2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Training costs are on the Explorer cluster; evaluation on the laptop GPU.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13</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Four places where your judgement would</a:t>
            </a:r>
          </a:p>
          <a:p>
            <a:pPr algn="l">
              <a:lnSpc>
                <a:spcPct val="110000"/>
              </a:lnSpc>
            </a:pPr>
            <a:r>
              <a:rPr sz="3000" b="1">
                <a:solidFill>
                  <a:srgbClr val="1A1A1A"/>
                </a:solidFill>
                <a:latin typeface="DejaVu Serif"/>
              </a:rPr>
              <a:t>change what I do</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64208"/>
            <a:ext cx="31750" cy="784097"/>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664208"/>
            <a:ext cx="10545775" cy="494537"/>
          </a:xfrm>
          <a:prstGeom prst="rect">
            <a:avLst/>
          </a:prstGeom>
          <a:noFill/>
        </p:spPr>
        <p:txBody>
          <a:bodyPr wrap="square" lIns="0" rIns="0" tIns="0" bIns="0">
            <a:spAutoFit/>
          </a:bodyPr>
          <a:lstStyle/>
          <a:p>
            <a:pPr algn="l">
              <a:lnSpc>
                <a:spcPct val="118000"/>
              </a:lnSpc>
            </a:pPr>
            <a:r>
              <a:rPr sz="1650" b="1">
                <a:solidFill>
                  <a:srgbClr val="1A1A1A"/>
                </a:solidFill>
                <a:latin typeface="DejaVu Serif"/>
              </a:rPr>
              <a:t>Is selective prediction a fair reframing of the accuracy result, or does it need a different baseline?</a:t>
            </a:r>
          </a:p>
        </p:txBody>
      </p:sp>
      <p:sp>
        <p:nvSpPr>
          <p:cNvPr id="7" name="TextBox 6"/>
          <p:cNvSpPr txBox="1"/>
          <p:nvPr/>
        </p:nvSpPr>
        <p:spPr>
          <a:xfrm>
            <a:off x="905256" y="2231898"/>
            <a:ext cx="10545775" cy="198119"/>
          </a:xfrm>
          <a:prstGeom prst="rect">
            <a:avLst/>
          </a:prstGeom>
          <a:noFill/>
        </p:spPr>
        <p:txBody>
          <a:bodyPr wrap="square" lIns="0" rIns="0" tIns="0" bIns="0">
            <a:spAutoFit/>
          </a:bodyPr>
          <a:lstStyle/>
          <a:p>
            <a:pPr algn="l">
              <a:lnSpc>
                <a:spcPct val="120000"/>
              </a:lnSpc>
            </a:pPr>
            <a:r>
              <a:rPr sz="1300" b="0">
                <a:solidFill>
                  <a:srgbClr val="5A5A5A"/>
                </a:solidFill>
                <a:latin typeface="DejaVu Serif"/>
              </a:rPr>
              <a:t>It is the strongest thing I have and the thing I am least certain is being presented correctly.</a:t>
            </a:r>
          </a:p>
        </p:txBody>
      </p:sp>
      <p:sp>
        <p:nvSpPr>
          <p:cNvPr id="8" name="Rectangle 7"/>
          <p:cNvSpPr/>
          <p:nvPr/>
        </p:nvSpPr>
        <p:spPr>
          <a:xfrm>
            <a:off x="685800" y="2795778"/>
            <a:ext cx="31750" cy="53682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795778"/>
            <a:ext cx="10545775" cy="247268"/>
          </a:xfrm>
          <a:prstGeom prst="rect">
            <a:avLst/>
          </a:prstGeom>
          <a:noFill/>
        </p:spPr>
        <p:txBody>
          <a:bodyPr wrap="square" lIns="0" rIns="0" tIns="0" bIns="0">
            <a:spAutoFit/>
          </a:bodyPr>
          <a:lstStyle/>
          <a:p>
            <a:pPr algn="l">
              <a:lnSpc>
                <a:spcPct val="118000"/>
              </a:lnSpc>
            </a:pPr>
            <a:r>
              <a:rPr sz="1650" b="1">
                <a:solidFill>
                  <a:srgbClr val="1A1A1A"/>
                </a:solidFill>
                <a:latin typeface="DejaVu Serif"/>
              </a:rPr>
              <a:t>Full-resolution stem first, or embedded measurement first?</a:t>
            </a:r>
          </a:p>
        </p:txBody>
      </p:sp>
      <p:sp>
        <p:nvSpPr>
          <p:cNvPr id="10" name="TextBox 9"/>
          <p:cNvSpPr txBox="1"/>
          <p:nvPr/>
        </p:nvSpPr>
        <p:spPr>
          <a:xfrm>
            <a:off x="905256" y="3116199"/>
            <a:ext cx="10545775" cy="198119"/>
          </a:xfrm>
          <a:prstGeom prst="rect">
            <a:avLst/>
          </a:prstGeom>
          <a:noFill/>
        </p:spPr>
        <p:txBody>
          <a:bodyPr wrap="square" lIns="0" rIns="0" tIns="0" bIns="0">
            <a:spAutoFit/>
          </a:bodyPr>
          <a:lstStyle/>
          <a:p>
            <a:pPr algn="l">
              <a:lnSpc>
                <a:spcPct val="120000"/>
              </a:lnSpc>
            </a:pPr>
            <a:r>
              <a:rPr sz="1300" b="0">
                <a:solidFill>
                  <a:srgbClr val="5A5A5A"/>
                </a:solidFill>
                <a:latin typeface="DejaVu Serif"/>
              </a:rPr>
              <a:t>The stem closes the scientific gap. The measurement closes the claim in the title. There is not time for both to be leisurely.</a:t>
            </a:r>
          </a:p>
        </p:txBody>
      </p:sp>
      <p:sp>
        <p:nvSpPr>
          <p:cNvPr id="11" name="Rectangle 10"/>
          <p:cNvSpPr/>
          <p:nvPr/>
        </p:nvSpPr>
        <p:spPr>
          <a:xfrm>
            <a:off x="685800" y="3680079"/>
            <a:ext cx="31750" cy="73494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680079"/>
            <a:ext cx="10545775" cy="247268"/>
          </a:xfrm>
          <a:prstGeom prst="rect">
            <a:avLst/>
          </a:prstGeom>
          <a:noFill/>
        </p:spPr>
        <p:txBody>
          <a:bodyPr wrap="square" lIns="0" rIns="0" tIns="0" bIns="0">
            <a:spAutoFit/>
          </a:bodyPr>
          <a:lstStyle/>
          <a:p>
            <a:pPr algn="l">
              <a:lnSpc>
                <a:spcPct val="118000"/>
              </a:lnSpc>
            </a:pPr>
            <a:r>
              <a:rPr sz="1650" b="1">
                <a:solidFill>
                  <a:srgbClr val="1A1A1A"/>
                </a:solidFill>
                <a:latin typeface="DejaVu Serif"/>
              </a:rPr>
              <a:t>Is one seed per configuration acceptable for the write-up?</a:t>
            </a:r>
          </a:p>
        </p:txBody>
      </p:sp>
      <p:sp>
        <p:nvSpPr>
          <p:cNvPr id="13" name="TextBox 12"/>
          <p:cNvSpPr txBox="1"/>
          <p:nvPr/>
        </p:nvSpPr>
        <p:spPr>
          <a:xfrm>
            <a:off x="905256" y="4000500"/>
            <a:ext cx="10545775" cy="396239"/>
          </a:xfrm>
          <a:prstGeom prst="rect">
            <a:avLst/>
          </a:prstGeom>
          <a:noFill/>
        </p:spPr>
        <p:txBody>
          <a:bodyPr wrap="square" lIns="0" rIns="0" tIns="0" bIns="0">
            <a:spAutoFit/>
          </a:bodyPr>
          <a:lstStyle/>
          <a:p>
            <a:pPr algn="l">
              <a:lnSpc>
                <a:spcPct val="120000"/>
              </a:lnSpc>
            </a:pPr>
            <a:r>
              <a:rPr sz="1300" b="0">
                <a:solidFill>
                  <a:srgbClr val="5A5A5A"/>
                </a:solidFill>
                <a:latin typeface="DejaVu Serif"/>
              </a:rPr>
              <a:t>It is what I have. It means nothing below about 0.05 px is resolved, and I have said so wherever a difference is smaller than that.</a:t>
            </a:r>
          </a:p>
        </p:txBody>
      </p:sp>
      <p:sp>
        <p:nvSpPr>
          <p:cNvPr id="14" name="Rectangle 13"/>
          <p:cNvSpPr/>
          <p:nvPr/>
        </p:nvSpPr>
        <p:spPr>
          <a:xfrm>
            <a:off x="685800" y="4762500"/>
            <a:ext cx="31750" cy="53682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4762500"/>
            <a:ext cx="10545775" cy="247268"/>
          </a:xfrm>
          <a:prstGeom prst="rect">
            <a:avLst/>
          </a:prstGeom>
          <a:noFill/>
        </p:spPr>
        <p:txBody>
          <a:bodyPr wrap="square" lIns="0" rIns="0" tIns="0" bIns="0">
            <a:spAutoFit/>
          </a:bodyPr>
          <a:lstStyle/>
          <a:p>
            <a:pPr algn="l">
              <a:lnSpc>
                <a:spcPct val="118000"/>
              </a:lnSpc>
            </a:pPr>
            <a:r>
              <a:rPr sz="1650" b="1">
                <a:solidFill>
                  <a:srgbClr val="1A1A1A"/>
                </a:solidFill>
                <a:latin typeface="DejaVu Serif"/>
              </a:rPr>
              <a:t>Is the aerial result worth foregrounding, given it is 40 pairs?</a:t>
            </a:r>
          </a:p>
        </p:txBody>
      </p:sp>
      <p:sp>
        <p:nvSpPr>
          <p:cNvPr id="16" name="TextBox 15"/>
          <p:cNvSpPr txBox="1"/>
          <p:nvPr/>
        </p:nvSpPr>
        <p:spPr>
          <a:xfrm>
            <a:off x="905256" y="5082921"/>
            <a:ext cx="10545775" cy="198119"/>
          </a:xfrm>
          <a:prstGeom prst="rect">
            <a:avLst/>
          </a:prstGeom>
          <a:noFill/>
        </p:spPr>
        <p:txBody>
          <a:bodyPr wrap="square" lIns="0" rIns="0" tIns="0" bIns="0">
            <a:spAutoFit/>
          </a:bodyPr>
          <a:lstStyle/>
          <a:p>
            <a:pPr algn="l">
              <a:lnSpc>
                <a:spcPct val="120000"/>
              </a:lnSpc>
            </a:pPr>
            <a:r>
              <a:rPr sz="1300" b="0">
                <a:solidFill>
                  <a:srgbClr val="5A5A5A"/>
                </a:solidFill>
                <a:latin typeface="DejaVu Serif"/>
              </a:rPr>
              <a:t>It is the only comparison in the study without a training-domain confound, but it is also the smallest sample.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91440"/>
            <a:ext cx="10820095" cy="201168"/>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Appendix:  every number in this deck, in one place</a:t>
            </a:r>
          </a:p>
        </p:txBody>
      </p:sp>
      <p:sp>
        <p:nvSpPr>
          <p:cNvPr id="3" name="TextBox 2"/>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14</a:t>
            </a:r>
          </a:p>
        </p:txBody>
      </p:sp>
      <p:sp>
        <p:nvSpPr>
          <p:cNvPr id="4" name="TextBox 3"/>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Full result table</a:t>
            </a:r>
          </a:p>
        </p:txBody>
      </p:sp>
      <p:sp>
        <p:nvSpPr>
          <p:cNvPr id="5" name="Rectangle 4"/>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664208"/>
            <a:ext cx="8732519"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09928"/>
            <a:ext cx="214884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Model</a:t>
            </a:r>
          </a:p>
        </p:txBody>
      </p:sp>
      <p:sp>
        <p:nvSpPr>
          <p:cNvPr id="8" name="TextBox 7"/>
          <p:cNvSpPr txBox="1"/>
          <p:nvPr/>
        </p:nvSpPr>
        <p:spPr>
          <a:xfrm>
            <a:off x="2834640" y="1709928"/>
            <a:ext cx="278892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Training data</a:t>
            </a:r>
          </a:p>
        </p:txBody>
      </p:sp>
      <p:sp>
        <p:nvSpPr>
          <p:cNvPr id="9" name="TextBox 8"/>
          <p:cNvSpPr txBox="1"/>
          <p:nvPr/>
        </p:nvSpPr>
        <p:spPr>
          <a:xfrm>
            <a:off x="5623560" y="1709928"/>
            <a:ext cx="1234440"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EPE</a:t>
            </a:r>
          </a:p>
        </p:txBody>
      </p:sp>
      <p:sp>
        <p:nvSpPr>
          <p:cNvPr id="10" name="TextBox 9"/>
          <p:cNvSpPr txBox="1"/>
          <p:nvPr/>
        </p:nvSpPr>
        <p:spPr>
          <a:xfrm>
            <a:off x="6858000" y="1709928"/>
            <a:ext cx="1234440"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1 px</a:t>
            </a:r>
          </a:p>
        </p:txBody>
      </p:sp>
      <p:sp>
        <p:nvSpPr>
          <p:cNvPr id="11" name="TextBox 10"/>
          <p:cNvSpPr txBox="1"/>
          <p:nvPr/>
        </p:nvSpPr>
        <p:spPr>
          <a:xfrm>
            <a:off x="8092440" y="1709928"/>
            <a:ext cx="1325880"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Params</a:t>
            </a:r>
          </a:p>
        </p:txBody>
      </p:sp>
      <p:sp>
        <p:nvSpPr>
          <p:cNvPr id="12" name="Rectangle 11"/>
          <p:cNvSpPr/>
          <p:nvPr/>
        </p:nvSpPr>
        <p:spPr>
          <a:xfrm>
            <a:off x="685800" y="1971802"/>
            <a:ext cx="8732519"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044954"/>
            <a:ext cx="21488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NeuFlow v2</a:t>
            </a:r>
          </a:p>
        </p:txBody>
      </p:sp>
      <p:sp>
        <p:nvSpPr>
          <p:cNvPr id="14" name="TextBox 13"/>
          <p:cNvSpPr txBox="1"/>
          <p:nvPr/>
        </p:nvSpPr>
        <p:spPr>
          <a:xfrm>
            <a:off x="2834640" y="2044954"/>
            <a:ext cx="2788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FlyingThings</a:t>
            </a:r>
          </a:p>
        </p:txBody>
      </p:sp>
      <p:sp>
        <p:nvSpPr>
          <p:cNvPr id="15" name="TextBox 14"/>
          <p:cNvSpPr txBox="1"/>
          <p:nvPr/>
        </p:nvSpPr>
        <p:spPr>
          <a:xfrm>
            <a:off x="5623560" y="2044954"/>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2.324</a:t>
            </a:r>
          </a:p>
        </p:txBody>
      </p:sp>
      <p:sp>
        <p:nvSpPr>
          <p:cNvPr id="16" name="TextBox 15"/>
          <p:cNvSpPr txBox="1"/>
          <p:nvPr/>
        </p:nvSpPr>
        <p:spPr>
          <a:xfrm>
            <a:off x="6858000" y="2044954"/>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77.63</a:t>
            </a:r>
          </a:p>
        </p:txBody>
      </p:sp>
      <p:sp>
        <p:nvSpPr>
          <p:cNvPr id="17" name="TextBox 16"/>
          <p:cNvSpPr txBox="1"/>
          <p:nvPr/>
        </p:nvSpPr>
        <p:spPr>
          <a:xfrm>
            <a:off x="8092440" y="2044954"/>
            <a:ext cx="132588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9.03 M</a:t>
            </a:r>
          </a:p>
        </p:txBody>
      </p:sp>
      <p:sp>
        <p:nvSpPr>
          <p:cNvPr id="18" name="TextBox 17"/>
          <p:cNvSpPr txBox="1"/>
          <p:nvPr/>
        </p:nvSpPr>
        <p:spPr>
          <a:xfrm>
            <a:off x="685800" y="2279396"/>
            <a:ext cx="21488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NeuFlow v3</a:t>
            </a:r>
          </a:p>
        </p:txBody>
      </p:sp>
      <p:sp>
        <p:nvSpPr>
          <p:cNvPr id="19" name="TextBox 18"/>
          <p:cNvSpPr txBox="1"/>
          <p:nvPr/>
        </p:nvSpPr>
        <p:spPr>
          <a:xfrm>
            <a:off x="2834640" y="2279396"/>
            <a:ext cx="2788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FlyingChairs</a:t>
            </a:r>
          </a:p>
        </p:txBody>
      </p:sp>
      <p:sp>
        <p:nvSpPr>
          <p:cNvPr id="20" name="TextBox 19"/>
          <p:cNvSpPr txBox="1"/>
          <p:nvPr/>
        </p:nvSpPr>
        <p:spPr>
          <a:xfrm>
            <a:off x="5623560" y="2279396"/>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2.500</a:t>
            </a:r>
          </a:p>
        </p:txBody>
      </p:sp>
      <p:sp>
        <p:nvSpPr>
          <p:cNvPr id="21" name="TextBox 20"/>
          <p:cNvSpPr txBox="1"/>
          <p:nvPr/>
        </p:nvSpPr>
        <p:spPr>
          <a:xfrm>
            <a:off x="6858000" y="2279396"/>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72.81</a:t>
            </a:r>
          </a:p>
        </p:txBody>
      </p:sp>
      <p:sp>
        <p:nvSpPr>
          <p:cNvPr id="22" name="TextBox 21"/>
          <p:cNvSpPr txBox="1"/>
          <p:nvPr/>
        </p:nvSpPr>
        <p:spPr>
          <a:xfrm>
            <a:off x="8092440" y="2279396"/>
            <a:ext cx="132588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7.83 M</a:t>
            </a:r>
          </a:p>
        </p:txBody>
      </p:sp>
      <p:sp>
        <p:nvSpPr>
          <p:cNvPr id="23" name="TextBox 22"/>
          <p:cNvSpPr txBox="1"/>
          <p:nvPr/>
        </p:nvSpPr>
        <p:spPr>
          <a:xfrm>
            <a:off x="685800" y="2513838"/>
            <a:ext cx="21488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NeuFlow v3</a:t>
            </a:r>
          </a:p>
        </p:txBody>
      </p:sp>
      <p:sp>
        <p:nvSpPr>
          <p:cNvPr id="24" name="TextBox 23"/>
          <p:cNvSpPr txBox="1"/>
          <p:nvPr/>
        </p:nvSpPr>
        <p:spPr>
          <a:xfrm>
            <a:off x="2834640" y="2513838"/>
            <a:ext cx="2788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 VKITTI 2</a:t>
            </a:r>
          </a:p>
        </p:txBody>
      </p:sp>
      <p:sp>
        <p:nvSpPr>
          <p:cNvPr id="25" name="TextBox 24"/>
          <p:cNvSpPr txBox="1"/>
          <p:nvPr/>
        </p:nvSpPr>
        <p:spPr>
          <a:xfrm>
            <a:off x="5623560" y="2513838"/>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2.398</a:t>
            </a:r>
          </a:p>
        </p:txBody>
      </p:sp>
      <p:sp>
        <p:nvSpPr>
          <p:cNvPr id="26" name="TextBox 25"/>
          <p:cNvSpPr txBox="1"/>
          <p:nvPr/>
        </p:nvSpPr>
        <p:spPr>
          <a:xfrm>
            <a:off x="6858000" y="2513838"/>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75.74</a:t>
            </a:r>
          </a:p>
        </p:txBody>
      </p:sp>
      <p:sp>
        <p:nvSpPr>
          <p:cNvPr id="27" name="TextBox 26"/>
          <p:cNvSpPr txBox="1"/>
          <p:nvPr/>
        </p:nvSpPr>
        <p:spPr>
          <a:xfrm>
            <a:off x="8092440" y="2513838"/>
            <a:ext cx="132588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7.83 M</a:t>
            </a:r>
          </a:p>
        </p:txBody>
      </p:sp>
      <p:sp>
        <p:nvSpPr>
          <p:cNvPr id="28" name="TextBox 27"/>
          <p:cNvSpPr txBox="1"/>
          <p:nvPr/>
        </p:nvSpPr>
        <p:spPr>
          <a:xfrm>
            <a:off x="685800" y="2748280"/>
            <a:ext cx="21488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NeuFlow v3</a:t>
            </a:r>
          </a:p>
        </p:txBody>
      </p:sp>
      <p:sp>
        <p:nvSpPr>
          <p:cNvPr id="29" name="TextBox 28"/>
          <p:cNvSpPr txBox="1"/>
          <p:nvPr/>
        </p:nvSpPr>
        <p:spPr>
          <a:xfrm>
            <a:off x="2834640" y="2748280"/>
            <a:ext cx="2788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 MPI-Sintel</a:t>
            </a:r>
          </a:p>
        </p:txBody>
      </p:sp>
      <p:sp>
        <p:nvSpPr>
          <p:cNvPr id="30" name="TextBox 29"/>
          <p:cNvSpPr txBox="1"/>
          <p:nvPr/>
        </p:nvSpPr>
        <p:spPr>
          <a:xfrm>
            <a:off x="5623560" y="2748280"/>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2.392</a:t>
            </a:r>
          </a:p>
        </p:txBody>
      </p:sp>
      <p:sp>
        <p:nvSpPr>
          <p:cNvPr id="31" name="TextBox 30"/>
          <p:cNvSpPr txBox="1"/>
          <p:nvPr/>
        </p:nvSpPr>
        <p:spPr>
          <a:xfrm>
            <a:off x="6858000" y="2748280"/>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75.83</a:t>
            </a:r>
          </a:p>
        </p:txBody>
      </p:sp>
      <p:sp>
        <p:nvSpPr>
          <p:cNvPr id="32" name="TextBox 31"/>
          <p:cNvSpPr txBox="1"/>
          <p:nvPr/>
        </p:nvSpPr>
        <p:spPr>
          <a:xfrm>
            <a:off x="8092440" y="2748280"/>
            <a:ext cx="132588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7.83 M</a:t>
            </a:r>
          </a:p>
        </p:txBody>
      </p:sp>
      <p:sp>
        <p:nvSpPr>
          <p:cNvPr id="33" name="TextBox 32"/>
          <p:cNvSpPr txBox="1"/>
          <p:nvPr/>
        </p:nvSpPr>
        <p:spPr>
          <a:xfrm>
            <a:off x="685800" y="2982722"/>
            <a:ext cx="214884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NeuFlow v3</a:t>
            </a:r>
          </a:p>
        </p:txBody>
      </p:sp>
      <p:sp>
        <p:nvSpPr>
          <p:cNvPr id="34" name="TextBox 33"/>
          <p:cNvSpPr txBox="1"/>
          <p:nvPr/>
        </p:nvSpPr>
        <p:spPr>
          <a:xfrm>
            <a:off x="2834640" y="2982722"/>
            <a:ext cx="27889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 uncertainty head</a:t>
            </a:r>
          </a:p>
        </p:txBody>
      </p:sp>
      <p:sp>
        <p:nvSpPr>
          <p:cNvPr id="35" name="TextBox 34"/>
          <p:cNvSpPr txBox="1"/>
          <p:nvPr/>
        </p:nvSpPr>
        <p:spPr>
          <a:xfrm>
            <a:off x="5623560" y="2982722"/>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2.384</a:t>
            </a:r>
          </a:p>
        </p:txBody>
      </p:sp>
      <p:sp>
        <p:nvSpPr>
          <p:cNvPr id="36" name="TextBox 35"/>
          <p:cNvSpPr txBox="1"/>
          <p:nvPr/>
        </p:nvSpPr>
        <p:spPr>
          <a:xfrm>
            <a:off x="6858000" y="2982722"/>
            <a:ext cx="12344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76.13</a:t>
            </a:r>
          </a:p>
        </p:txBody>
      </p:sp>
      <p:sp>
        <p:nvSpPr>
          <p:cNvPr id="37" name="TextBox 36"/>
          <p:cNvSpPr txBox="1"/>
          <p:nvPr/>
        </p:nvSpPr>
        <p:spPr>
          <a:xfrm>
            <a:off x="8092440" y="2982722"/>
            <a:ext cx="132588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7.83 M</a:t>
            </a:r>
          </a:p>
        </p:txBody>
      </p:sp>
      <p:sp>
        <p:nvSpPr>
          <p:cNvPr id="38" name="Rectangle 37"/>
          <p:cNvSpPr/>
          <p:nvPr/>
        </p:nvSpPr>
        <p:spPr>
          <a:xfrm>
            <a:off x="685800" y="3253740"/>
            <a:ext cx="8732519"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3840480"/>
            <a:ext cx="10820095"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COMPUTE, SAME DEVICE THROUGHOUT</a:t>
            </a:r>
          </a:p>
        </p:txBody>
      </p:sp>
      <p:sp>
        <p:nvSpPr>
          <p:cNvPr id="40" name="Rectangle 39"/>
          <p:cNvSpPr/>
          <p:nvPr/>
        </p:nvSpPr>
        <p:spPr>
          <a:xfrm>
            <a:off x="685800" y="4187952"/>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233672"/>
            <a:ext cx="461772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Mode</a:t>
            </a:r>
          </a:p>
        </p:txBody>
      </p:sp>
      <p:sp>
        <p:nvSpPr>
          <p:cNvPr id="42" name="TextBox 41"/>
          <p:cNvSpPr txBox="1"/>
          <p:nvPr/>
        </p:nvSpPr>
        <p:spPr>
          <a:xfrm>
            <a:off x="5303520" y="4233672"/>
            <a:ext cx="1691640"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Latency</a:t>
            </a:r>
          </a:p>
        </p:txBody>
      </p:sp>
      <p:sp>
        <p:nvSpPr>
          <p:cNvPr id="43" name="TextBox 42"/>
          <p:cNvSpPr txBox="1"/>
          <p:nvPr/>
        </p:nvSpPr>
        <p:spPr>
          <a:xfrm>
            <a:off x="6995160" y="4233672"/>
            <a:ext cx="4507992"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Note</a:t>
            </a:r>
          </a:p>
        </p:txBody>
      </p:sp>
      <p:sp>
        <p:nvSpPr>
          <p:cNvPr id="44" name="Rectangle 43"/>
          <p:cNvSpPr/>
          <p:nvPr/>
        </p:nvSpPr>
        <p:spPr>
          <a:xfrm>
            <a:off x="685800" y="4495546"/>
            <a:ext cx="10817352"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568698"/>
            <a:ext cx="46177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v2, full frame</a:t>
            </a:r>
          </a:p>
        </p:txBody>
      </p:sp>
      <p:sp>
        <p:nvSpPr>
          <p:cNvPr id="46" name="TextBox 45"/>
          <p:cNvSpPr txBox="1"/>
          <p:nvPr/>
        </p:nvSpPr>
        <p:spPr>
          <a:xfrm>
            <a:off x="5303520" y="4568698"/>
            <a:ext cx="16916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33.3 ms</a:t>
            </a:r>
          </a:p>
        </p:txBody>
      </p:sp>
      <p:sp>
        <p:nvSpPr>
          <p:cNvPr id="47" name="TextBox 46"/>
          <p:cNvSpPr txBox="1"/>
          <p:nvPr/>
        </p:nvSpPr>
        <p:spPr>
          <a:xfrm>
            <a:off x="6995160" y="4568698"/>
            <a:ext cx="4507992"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its only mode</a:t>
            </a:r>
          </a:p>
        </p:txBody>
      </p:sp>
      <p:sp>
        <p:nvSpPr>
          <p:cNvPr id="48" name="TextBox 47"/>
          <p:cNvSpPr txBox="1"/>
          <p:nvPr/>
        </p:nvSpPr>
        <p:spPr>
          <a:xfrm>
            <a:off x="685800" y="4803140"/>
            <a:ext cx="46177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v3 sparse, first query on a new pair</a:t>
            </a:r>
          </a:p>
        </p:txBody>
      </p:sp>
      <p:sp>
        <p:nvSpPr>
          <p:cNvPr id="49" name="TextBox 48"/>
          <p:cNvSpPr txBox="1"/>
          <p:nvPr/>
        </p:nvSpPr>
        <p:spPr>
          <a:xfrm>
            <a:off x="5303520" y="4803140"/>
            <a:ext cx="16916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34.1 ms</a:t>
            </a:r>
          </a:p>
        </p:txBody>
      </p:sp>
      <p:sp>
        <p:nvSpPr>
          <p:cNvPr id="50" name="TextBox 49"/>
          <p:cNvSpPr txBox="1"/>
          <p:nvPr/>
        </p:nvSpPr>
        <p:spPr>
          <a:xfrm>
            <a:off x="6995160" y="4803140"/>
            <a:ext cx="4507992"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equivalent to v2</a:t>
            </a:r>
          </a:p>
        </p:txBody>
      </p:sp>
      <p:sp>
        <p:nvSpPr>
          <p:cNvPr id="51" name="TextBox 50"/>
          <p:cNvSpPr txBox="1"/>
          <p:nvPr/>
        </p:nvSpPr>
        <p:spPr>
          <a:xfrm>
            <a:off x="685800" y="5037582"/>
            <a:ext cx="46177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v3 sparse, repeat query on a cached pair</a:t>
            </a:r>
          </a:p>
        </p:txBody>
      </p:sp>
      <p:sp>
        <p:nvSpPr>
          <p:cNvPr id="52" name="TextBox 51"/>
          <p:cNvSpPr txBox="1"/>
          <p:nvPr/>
        </p:nvSpPr>
        <p:spPr>
          <a:xfrm>
            <a:off x="5303520" y="5037582"/>
            <a:ext cx="16916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1.25 ms</a:t>
            </a:r>
          </a:p>
        </p:txBody>
      </p:sp>
      <p:sp>
        <p:nvSpPr>
          <p:cNvPr id="53" name="TextBox 52"/>
          <p:cNvSpPr txBox="1"/>
          <p:nvPr/>
        </p:nvSpPr>
        <p:spPr>
          <a:xfrm>
            <a:off x="6995160" y="5037582"/>
            <a:ext cx="4507992"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27x cheaper</a:t>
            </a:r>
          </a:p>
        </p:txBody>
      </p:sp>
      <p:sp>
        <p:nvSpPr>
          <p:cNvPr id="54" name="TextBox 53"/>
          <p:cNvSpPr txBox="1"/>
          <p:nvPr/>
        </p:nvSpPr>
        <p:spPr>
          <a:xfrm>
            <a:off x="685800" y="5272024"/>
            <a:ext cx="461772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v3 dense output, stride 2</a:t>
            </a:r>
          </a:p>
        </p:txBody>
      </p:sp>
      <p:sp>
        <p:nvSpPr>
          <p:cNvPr id="55" name="TextBox 54"/>
          <p:cNvSpPr txBox="1"/>
          <p:nvPr/>
        </p:nvSpPr>
        <p:spPr>
          <a:xfrm>
            <a:off x="5303520" y="5272024"/>
            <a:ext cx="169164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37.1 ms</a:t>
            </a:r>
          </a:p>
        </p:txBody>
      </p:sp>
      <p:sp>
        <p:nvSpPr>
          <p:cNvPr id="56" name="TextBox 55"/>
          <p:cNvSpPr txBox="1"/>
          <p:nvPr/>
        </p:nvSpPr>
        <p:spPr>
          <a:xfrm>
            <a:off x="6995160" y="5272024"/>
            <a:ext cx="4507992"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not the intended mode</a:t>
            </a:r>
          </a:p>
        </p:txBody>
      </p:sp>
      <p:sp>
        <p:nvSpPr>
          <p:cNvPr id="57" name="Rectangle 56"/>
          <p:cNvSpPr/>
          <p:nvPr/>
        </p:nvSpPr>
        <p:spPr>
          <a:xfrm>
            <a:off x="685800" y="5543042"/>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1,174 held-out VKITTI 2 pairs, 460,573,660 valid pixels. RTX 4060 laptop, fp16, 384 x 1248.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