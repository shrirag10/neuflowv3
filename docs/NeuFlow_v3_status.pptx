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version of where the project is. I replaced NeuFlow v2's fixed upsampler with a decoder you can query at any coordinate. The headline result is that this buys three capabilities v2 does not have, and costs 2.6 percent of mean accuracy, and I will show you both sides. The most interesting result is the third slide of results, on selective accuracy, so I would like to get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and what that costs.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laptop GPU it runs a full frame in 33.3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speed I want to be precise about which claim I am making. Dense output is eleven percent slower, and that mode is not what the decoder is for. A first sparse query is level with v2, because eighty-seven percent of the cost is the coarse pass, which both share and which cannot be skipped since global matching needs the whole image. The win is the fourth bar. Asking a second question about a frame you have already processed costs 1.3 milliseconds against v2's 33.3, because v2 keeps no state and has to redo everything. Anything that revisits a frame gets that: iterative registration, RANSAC refinement, a user inspecting a scene.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6.7 in the least confident, a twenty-one fold span. It is not perfectly correlated, r is 0.345,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most like your reaction to. The accuracy table earlier reports mean error over every pixel, which is the only operating point v2 has, because it cannot tell you which of its outputs to trust. v3 can, so instead of a point it has a curve. Discard the least confident fifth of queries and error on what remains falls to 1.06 pixels, against v2's 2.32 over the whole frame. So more than twice as accurate over eighty percent of the image. Keep only the most confident fifth and it is 0.48, close to five times better. Why this is not just a statistical trick: for registration and mapping you are choosing a few hundred points anyway, so declining to answer where the model is unsure costs you nothing. Same 2.35 million queries as the calibration bins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situations you described, on real frames. First, something worth flowing enters the field of view and you start tracking it. Second, the platform turns and that region now overlaps a second object. Third, a new object appears in a frame you are already part way through processing. On the right is what the model actually computes: flow inside the marked regions only, and nothing elsewhere. The grey area is not computed at all. That is the whole premise, and the next two slides put numbers on what it costs and what you get 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flowing only a region actually buys. Keep full resolution, process fourteen percent of the frame, and it costs thirty four thousandths of a pixel. That is the enabling result for the whole scenario. The margin is the part worth dwelling on. Without one, error jumps sixty five percent and a quarter of the large-motion pixels fail completely, because this network finds large displacement using attention over the whole image and a tight crop takes that away. The margin has to be about one frame of expected motion, which is speed over frame rate. Mean motion in these sequences is twenty six point six pixels and the knee sits at thirty two, which is the rule falling out of the data. I should be clear that this applies to any flow network including v2 unchanged: it is a platform technique, not something my decoder provides. What the decoder adds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whether the margin rule was a curve fitted to one dataset or something more general, so I tested it on aerial sequences, which move very differently: nine point three pixels per frame against twenty six point six for driving. The prediction was that the margin needed should scale with the motion, so the knee should move from thirty two pixels down to about nine. It did. On the left you can see the two need different absolute margins. On the right, dividing by the mean motion, both start at the same penalty and both have lost most of it by the point where the margin equals one frame of motion. I will be precise about the limits: the agreement is good up to that point and the residuals differ beyond it, so this predicts the scale rather than the exact curve. That is still enough to size a margin from speed and frame rate before running anything, which is what a platform designer needs.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result I did not expect. Everything else in this deck is measured on driving sequences, and v3 trained on driving data while v2 did not, which is a confound I have flagged throughout. Aerial data is neutral ground: v2 trained on FlyingThings, v3 on chairs, driving and Sintel, and neither has seen anything like this. On that neutral ground v3 comes out ahead at all seven margin settings, by between four thousandths and twenty nine thousandths of a pixel. The likely reason is that the decoder saw three datasets where v2 saw one, and the convex head is bounded so it cannot invent motion its inputs do not support, which should degrade more gracefully out of domain. I want to be careful about how much weight this carries: the margins are small, it is forty pairs and one seed, and v3 is still slightly worse on the large-motion pixels. What makes it worth showing is that it is consistent across seven independent settings, and that it is the only unconfounded head to head I have.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scenario you described where the repeat query matters, and it is the one result that is specific to this architecture rather than to cropping. A frame is already in flight, and a new object enters the field of view. Because the coarse pass is cached, answering costs one point seven milliseconds for eight hundred points. A cropped pipeline cannot reuse anything: the new object is outside its box, so it runs a whole new pass at seven point three milliseconds, four times more, and the answer is worse, three point six pixels against two point one, because a fresh crop has lost the surrounding context. NeuFlow v2 keeps no state at all between calls. The general point is that this buys you the ability to answer a question you did not know you would have when the frame arrived, which on a moving platform is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without yet addressing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Everything that follows is measured on held-out VKITTI2 scenes,</a:t>
            </a:r>
          </a:p>
          <a:p>
            <a:pPr algn="l">
              <a:lnSpc>
                <a:spcPct val="115000"/>
              </a:lnSpc>
            </a:pPr>
            <a:r>
              <a:rPr sz="1200" b="0">
                <a:solidFill>
                  <a:srgbClr val="1A1A1A"/>
                </a:solidFill>
                <a:latin typeface="Georgia"/>
              </a:rPr>
              <a:t>1,174 pairs, 460 million pixels.</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(RTX 4060 laptop,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33.3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(33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(1.3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1.3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decoder costs 2.6 percent on the mean</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Every v3 configuration sits above v2.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Best: 2.384 against v2 at 2.324, so 2.6%</a:t>
            </a:r>
          </a:p>
          <a:p>
            <a:pPr algn="l">
              <a:lnSpc>
                <a:spcPct val="118000"/>
              </a:lnSpc>
            </a:pPr>
            <a:r>
              <a:rPr sz="1150" b="0">
                <a:solidFill>
                  <a:srgbClr val="1A1A1A"/>
                </a:solidFill>
                <a:latin typeface="Georgia"/>
              </a:rPr>
              <a:t>worse on mean error and 1.5 points worse</a:t>
            </a:r>
          </a:p>
          <a:p>
            <a:pPr algn="l">
              <a:lnSpc>
                <a:spcPct val="118000"/>
              </a:lnSpc>
            </a:pPr>
            <a:r>
              <a:rPr sz="1150" b="0">
                <a:solidFill>
                  <a:srgbClr val="1A1A1A"/>
                </a:solidFill>
                <a:latin typeface="Georgia"/>
              </a:rPr>
              <a:t>on 1-pixel accuracy.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Like-for-like, trained on FlyingChairs only</a:t>
            </a:r>
          </a:p>
          <a:p>
            <a:pPr algn="l">
              <a:lnSpc>
                <a:spcPct val="118000"/>
              </a:lnSpc>
            </a:pPr>
            <a:r>
              <a:rPr sz="1150" b="0">
                <a:solidFill>
                  <a:srgbClr val="1A1A1A"/>
                </a:solidFill>
                <a:latin typeface="Georgia"/>
              </a:rPr>
              <a:t>as v2 was, it is 2.500, or 7.6% behind.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implicit decoder is less accurate than</a:t>
            </a:r>
          </a:p>
          <a:p>
            <a:pPr algn="l">
              <a:lnSpc>
                <a:spcPct val="118000"/>
              </a:lnSpc>
            </a:pPr>
            <a:r>
              <a:rPr sz="1150" b="0">
                <a:solidFill>
                  <a:srgbClr val="1A1A1A"/>
                </a:solidFill>
                <a:latin typeface="Georgia"/>
              </a:rPr>
              <a:t>the convex upsampler it replaces. The cause</a:t>
            </a:r>
          </a:p>
          <a:p>
            <a:pPr algn="l">
              <a:lnSpc>
                <a:spcPct val="118000"/>
              </a:lnSpc>
            </a:pPr>
            <a:r>
              <a:rPr sz="1150" b="0">
                <a:solidFill>
                  <a:srgbClr val="1A1A1A"/>
                </a:solidFill>
                <a:latin typeface="Georgia"/>
              </a:rPr>
              <a:t>is diagnosed and has a proposed remedy.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error over every pixel is also the</a:t>
            </a:r>
          </a:p>
          <a:p>
            <a:pPr algn="l">
              <a:lnSpc>
                <a:spcPct val="118000"/>
              </a:lnSpc>
            </a:pPr>
            <a:r>
              <a:rPr sz="1150" b="0">
                <a:solidFill>
                  <a:srgbClr val="1A1A1A"/>
                </a:solidFill>
                <a:latin typeface="Georgia"/>
              </a:rPr>
              <a:t>case the decoder is least suited to. Two</a:t>
            </a:r>
          </a:p>
          <a:p>
            <a:pPr algn="l">
              <a:lnSpc>
                <a:spcPct val="118000"/>
              </a:lnSpc>
            </a:pPr>
            <a:r>
              <a:rPr sz="1150" b="0">
                <a:solidFill>
                  <a:srgbClr val="1A1A1A"/>
                </a:solidFill>
                <a:latin typeface="Georgia"/>
              </a:rPr>
              <a:t>slides on, the same model is twice as</a:t>
            </a:r>
          </a:p>
          <a:p>
            <a:pPr algn="l">
              <a:lnSpc>
                <a:spcPct val="118000"/>
              </a:lnSpc>
            </a:pPr>
            <a:r>
              <a:rPr sz="1150" b="0">
                <a:solidFill>
                  <a:srgbClr val="1A1A1A"/>
                </a:solidFill>
                <a:latin typeface="Georgia"/>
              </a:rPr>
              <a:t>accurate as v2 over 80 percent of the</a:t>
            </a:r>
          </a:p>
          <a:p>
            <a:pPr algn="l">
              <a:lnSpc>
                <a:spcPct val="118000"/>
              </a:lnSpc>
            </a:pPr>
            <a:r>
              <a:rPr sz="1150" b="0">
                <a:solidFill>
                  <a:srgbClr val="1A1A1A"/>
                </a:solidFill>
                <a:latin typeface="Georgia"/>
              </a:rPr>
              <a:t>frame, once it is allowed to abstain.</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Front end verified bit-identical to v2 on all</a:t>
            </a:r>
          </a:p>
          <a:p>
            <a:pPr algn="ctr"/>
            <a:r>
              <a:rPr sz="1050" b="0">
                <a:solidFill>
                  <a:srgbClr val="1A1A1A"/>
                </a:solidFill>
                <a:latin typeface="Georgia"/>
              </a:rPr>
              <a:t>137 shared tensors, so this isolates the</a:t>
            </a:r>
          </a:p>
          <a:p>
            <a:pPr algn="ctr"/>
            <a:r>
              <a:rPr sz="1050" b="0">
                <a:solidFill>
                  <a:srgbClr val="1A1A1A"/>
                </a:solidFill>
                <a:latin typeface="Georgia"/>
              </a:rPr>
              <a:t>decoder and nothing else.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repeat queries are 27x cheaper</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output: v3 is 11%</a:t>
            </a:r>
          </a:p>
          <a:p>
            <a:pPr algn="l">
              <a:lnSpc>
                <a:spcPct val="118000"/>
              </a:lnSpc>
            </a:pPr>
            <a:r>
              <a:rPr sz="1150" b="0">
                <a:solidFill>
                  <a:srgbClr val="1A1A1A"/>
                </a:solidFill>
                <a:latin typeface="Georgia"/>
              </a:rPr>
              <a:t>slower. That mode is not</a:t>
            </a:r>
          </a:p>
          <a:p>
            <a:pPr algn="l">
              <a:lnSpc>
                <a:spcPct val="118000"/>
              </a:lnSpc>
            </a:pPr>
            <a:r>
              <a:rPr sz="1150" b="0">
                <a:solidFill>
                  <a:srgbClr val="1A1A1A"/>
                </a:solidFill>
                <a:latin typeface="Georgia"/>
              </a:rPr>
              <a:t>what the decoder is for.</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first sparse query is</a:t>
            </a:r>
          </a:p>
          <a:p>
            <a:pPr algn="l">
              <a:lnSpc>
                <a:spcPct val="118000"/>
              </a:lnSpc>
            </a:pPr>
            <a:r>
              <a:rPr sz="1150" b="0">
                <a:solidFill>
                  <a:srgbClr val="1A1A1A"/>
                </a:solidFill>
                <a:latin typeface="Georgia"/>
              </a:rPr>
              <a:t>level with v2: the coarse</a:t>
            </a:r>
          </a:p>
          <a:p>
            <a:pPr algn="l">
              <a:lnSpc>
                <a:spcPct val="118000"/>
              </a:lnSpc>
            </a:pPr>
            <a:r>
              <a:rPr sz="1150" b="0">
                <a:solidFill>
                  <a:srgbClr val="1A1A1A"/>
                </a:solidFill>
                <a:latin typeface="Georgia"/>
              </a:rPr>
              <a:t>pass dominates and is</a:t>
            </a:r>
          </a:p>
          <a:p>
            <a:pPr algn="l">
              <a:lnSpc>
                <a:spcPct val="118000"/>
              </a:lnSpc>
            </a:pPr>
            <a:r>
              <a:rPr sz="1150" b="0">
                <a:solidFill>
                  <a:srgbClr val="1A1A1A"/>
                </a:solidFill>
                <a:latin typeface="Georgia"/>
              </a:rPr>
              <a:t>shared by both.</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Everything after the first</a:t>
            </a:r>
          </a:p>
          <a:p>
            <a:pPr algn="l">
              <a:lnSpc>
                <a:spcPct val="118000"/>
              </a:lnSpc>
            </a:pPr>
            <a:r>
              <a:rPr sz="1150" b="0">
                <a:solidFill>
                  <a:srgbClr val="1A1A1A"/>
                </a:solidFill>
                <a:latin typeface="Georgia"/>
              </a:rPr>
              <a:t>query is where v3 wins.</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1.3 ms against 33.3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0.48 px to 7.10 px,</a:t>
            </a:r>
          </a:p>
          <a:p>
            <a:pPr algn="l">
              <a:lnSpc>
                <a:spcPct val="118000"/>
              </a:lnSpc>
            </a:pPr>
            <a:r>
              <a:rPr sz="1150" b="0">
                <a:solidFill>
                  <a:srgbClr val="1A1A1A"/>
                </a:solidFill>
                <a:latin typeface="Georgia"/>
              </a:rPr>
              <a:t>a 15x span. Pearson r = 0.318 over</a:t>
            </a:r>
          </a:p>
          <a:p>
            <a:pPr algn="l">
              <a:lnSpc>
                <a:spcPct val="118000"/>
              </a:lnSpc>
            </a:pPr>
            <a:r>
              <a:rPr sz="1150" b="0">
                <a:solidFill>
                  <a:srgbClr val="1A1A1A"/>
                </a:solidFill>
                <a:latin typeface="Georgia"/>
              </a:rPr>
              <a:t>2,348,000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Confidence buys the accuracy back: 2.2x better over 80% of the frame</a:t>
            </a:r>
          </a:p>
        </p:txBody>
      </p:sp>
      <p:pic>
        <p:nvPicPr>
          <p:cNvPr id="4" name="Picture 3" descr="selective_accuracy.png"/>
          <p:cNvPicPr>
            <a:picLocks noChangeAspect="1"/>
          </p:cNvPicPr>
          <p:nvPr/>
        </p:nvPicPr>
        <p:blipFill>
          <a:blip r:embed="rId2"/>
          <a:stretch>
            <a:fillRect/>
          </a:stretch>
        </p:blipFill>
        <p:spPr>
          <a:xfrm>
            <a:off x="731520" y="1463040"/>
            <a:ext cx="7498079" cy="4068107"/>
          </a:xfrm>
          <a:prstGeom prst="rect">
            <a:avLst/>
          </a:prstGeom>
        </p:spPr>
      </p:pic>
      <p:sp>
        <p:nvSpPr>
          <p:cNvPr id="5" name="TextBox 4"/>
          <p:cNvSpPr txBox="1"/>
          <p:nvPr/>
        </p:nvSpPr>
        <p:spPr>
          <a:xfrm>
            <a:off x="8549640" y="1645920"/>
            <a:ext cx="3200400" cy="3291840"/>
          </a:xfrm>
          <a:prstGeom prst="rect">
            <a:avLst/>
          </a:prstGeom>
          <a:noFill/>
        </p:spPr>
        <p:txBody>
          <a:bodyPr wrap="square">
            <a:spAutoFit/>
          </a:bodyPr>
          <a:lstStyle/>
          <a:p>
            <a:pPr algn="l">
              <a:lnSpc>
                <a:spcPct val="118000"/>
              </a:lnSpc>
            </a:pPr>
            <a:r>
              <a:rPr sz="1150" b="0">
                <a:solidFill>
                  <a:srgbClr val="1A1A1A"/>
                </a:solidFill>
                <a:latin typeface="Georgia"/>
              </a:rPr>
              <a:t>Mean error over every pixel is</a:t>
            </a:r>
          </a:p>
          <a:p>
            <a:pPr algn="l">
              <a:lnSpc>
                <a:spcPct val="118000"/>
              </a:lnSpc>
            </a:pPr>
            <a:r>
              <a:rPr sz="1150" b="0">
                <a:solidFill>
                  <a:srgbClr val="1A1A1A"/>
                </a:solidFill>
                <a:latin typeface="Georgia"/>
              </a:rPr>
              <a:t>one operating point, and it is</a:t>
            </a:r>
          </a:p>
          <a:p>
            <a:pPr algn="l">
              <a:lnSpc>
                <a:spcPct val="118000"/>
              </a:lnSpc>
            </a:pPr>
            <a:r>
              <a:rPr sz="1150" b="0">
                <a:solidFill>
                  <a:srgbClr val="1A1A1A"/>
                </a:solidFill>
                <a:latin typeface="Georgia"/>
              </a:rPr>
              <a:t>the only one v2 has.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With a confidence value per</a:t>
            </a:r>
          </a:p>
          <a:p>
            <a:pPr algn="l">
              <a:lnSpc>
                <a:spcPct val="118000"/>
              </a:lnSpc>
            </a:pPr>
            <a:r>
              <a:rPr sz="1150" b="0">
                <a:solidFill>
                  <a:srgbClr val="1A1A1A"/>
                </a:solidFill>
                <a:latin typeface="Georgia"/>
              </a:rPr>
              <a:t>query, v3 has a curve.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Drop the least confident 20%</a:t>
            </a:r>
          </a:p>
          <a:p>
            <a:pPr algn="l">
              <a:lnSpc>
                <a:spcPct val="118000"/>
              </a:lnSpc>
            </a:pPr>
            <a:r>
              <a:rPr sz="1150" b="0">
                <a:solidFill>
                  <a:srgbClr val="1A1A1A"/>
                </a:solidFill>
                <a:latin typeface="Georgia"/>
              </a:rPr>
              <a:t>and error falls to 1.06 px,</a:t>
            </a:r>
          </a:p>
          <a:p>
            <a:pPr algn="l">
              <a:lnSpc>
                <a:spcPct val="118000"/>
              </a:lnSpc>
            </a:pPr>
            <a:r>
              <a:rPr sz="1150" b="0">
                <a:solidFill>
                  <a:srgbClr val="1A1A1A"/>
                </a:solidFill>
                <a:latin typeface="Georgia"/>
              </a:rPr>
              <a:t>against v2 at 2.32.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Keep the best fifth and it is</a:t>
            </a:r>
          </a:p>
          <a:p>
            <a:pPr algn="l">
              <a:lnSpc>
                <a:spcPct val="118000"/>
              </a:lnSpc>
            </a:pPr>
            <a:r>
              <a:rPr sz="1150" b="0">
                <a:solidFill>
                  <a:srgbClr val="1A1A1A"/>
                </a:solidFill>
                <a:latin typeface="Georgia"/>
              </a:rPr>
              <a:t>0.48 px, nearly 5x better.</a:t>
            </a:r>
          </a:p>
        </p:txBody>
      </p:sp>
      <p:sp>
        <p:nvSpPr>
          <p:cNvPr id="6" name="Rounded Rectangle 5"/>
          <p:cNvSpPr/>
          <p:nvPr/>
        </p:nvSpPr>
        <p:spPr>
          <a:xfrm>
            <a:off x="8549640" y="5120640"/>
            <a:ext cx="3200400" cy="9144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For registration and mapping,</a:t>
            </a:r>
          </a:p>
          <a:p>
            <a:pPr algn="ctr"/>
            <a:r>
              <a:rPr sz="1050" b="0">
                <a:solidFill>
                  <a:srgbClr val="0B6A63"/>
                </a:solidFill>
                <a:latin typeface="Georgia"/>
              </a:rPr>
              <a:t>where you pick your points</a:t>
            </a:r>
          </a:p>
          <a:p>
            <a:pPr algn="ctr"/>
            <a:r>
              <a:rPr sz="1050" b="0">
                <a:solidFill>
                  <a:srgbClr val="0B6A63"/>
                </a:solidFill>
                <a:latin typeface="Georgia"/>
              </a:rPr>
              <a:t>anyway, abstaining is free.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SCENARIOS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Three situations a fast platform meets</a:t>
            </a:r>
          </a:p>
        </p:txBody>
      </p:sp>
      <p:pic>
        <p:nvPicPr>
          <p:cNvPr id="4" name="Picture 3" descr="scenarios_illustrated.png"/>
          <p:cNvPicPr>
            <a:picLocks noChangeAspect="1"/>
          </p:cNvPicPr>
          <p:nvPr/>
        </p:nvPicPr>
        <p:blipFill>
          <a:blip r:embed="rId2"/>
          <a:stretch>
            <a:fillRect/>
          </a:stretch>
        </p:blipFill>
        <p:spPr>
          <a:xfrm>
            <a:off x="685800" y="1325880"/>
            <a:ext cx="10515600" cy="4775014"/>
          </a:xfrm>
          <a:prstGeom prst="rect">
            <a:avLst/>
          </a:prstGeom>
        </p:spPr>
      </p:pic>
      <p:sp>
        <p:nvSpPr>
          <p:cNvPr id="5" name="TextBox 4"/>
          <p:cNvSpPr txBox="1"/>
          <p:nvPr/>
        </p:nvSpPr>
        <p:spPr>
          <a:xfrm>
            <a:off x="685800" y="5989320"/>
            <a:ext cx="10881360" cy="731520"/>
          </a:xfrm>
          <a:prstGeom prst="rect">
            <a:avLst/>
          </a:prstGeom>
          <a:noFill/>
        </p:spPr>
        <p:txBody>
          <a:bodyPr wrap="square">
            <a:spAutoFit/>
          </a:bodyPr>
          <a:lstStyle/>
          <a:p>
            <a:pPr algn="l">
              <a:lnSpc>
                <a:spcPct val="115000"/>
              </a:lnSpc>
            </a:pPr>
            <a:r>
              <a:rPr sz="1150" b="0">
                <a:solidFill>
                  <a:srgbClr val="1A1A1A"/>
                </a:solidFill>
                <a:latin typeface="Georgia"/>
              </a:rPr>
              <a:t>Left: the frame, with the regions being tracked. Right: the flow actually returned, computed only inside those</a:t>
            </a:r>
          </a:p>
          <a:p>
            <a:pPr algn="l">
              <a:lnSpc>
                <a:spcPct val="115000"/>
              </a:lnSpc>
            </a:pPr>
            <a:r>
              <a:rPr sz="1150" b="0">
                <a:solidFill>
                  <a:srgbClr val="1A1A1A"/>
                </a:solidFill>
                <a:latin typeface="Georgia"/>
              </a:rPr>
              <a:t>regions. Same geometry as the measurements that follow, on held-out VKITTI2 driving sequences.</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Flowing a region instead of the frame: 4.4x for 0.034 px</a:t>
            </a:r>
          </a:p>
        </p:txBody>
      </p:sp>
      <p:sp>
        <p:nvSpPr>
          <p:cNvPr id="4" name="TextBox 3"/>
          <p:cNvSpPr txBox="1"/>
          <p:nvPr/>
        </p:nvSpPr>
        <p:spPr>
          <a:xfrm>
            <a:off x="685800" y="1600200"/>
            <a:ext cx="3200400" cy="237744"/>
          </a:xfrm>
          <a:prstGeom prst="rect">
            <a:avLst/>
          </a:prstGeom>
          <a:noFill/>
        </p:spPr>
        <p:txBody>
          <a:bodyPr wrap="square">
            <a:spAutoFit/>
          </a:bodyPr>
          <a:lstStyle/>
          <a:p>
            <a:pPr algn="l">
              <a:lnSpc>
                <a:spcPct val="100000"/>
              </a:lnSpc>
            </a:pPr>
            <a:r>
              <a:rPr sz="1250" b="1">
                <a:solidFill>
                  <a:srgbClr val="1A1A1A"/>
                </a:solidFill>
                <a:latin typeface="Georgia"/>
              </a:rPr>
              <a:t>Region processed</a:t>
            </a:r>
          </a:p>
        </p:txBody>
      </p:sp>
      <p:sp>
        <p:nvSpPr>
          <p:cNvPr id="5" name="TextBox 4"/>
          <p:cNvSpPr txBox="1"/>
          <p:nvPr/>
        </p:nvSpPr>
        <p:spPr>
          <a:xfrm>
            <a:off x="3886200" y="1600200"/>
            <a:ext cx="1280160" cy="237744"/>
          </a:xfrm>
          <a:prstGeom prst="rect">
            <a:avLst/>
          </a:prstGeom>
          <a:noFill/>
        </p:spPr>
        <p:txBody>
          <a:bodyPr wrap="square">
            <a:spAutoFit/>
          </a:bodyPr>
          <a:lstStyle/>
          <a:p>
            <a:pPr algn="r">
              <a:lnSpc>
                <a:spcPct val="100000"/>
              </a:lnSpc>
            </a:pPr>
            <a:r>
              <a:rPr sz="1250" b="1">
                <a:solidFill>
                  <a:srgbClr val="1A1A1A"/>
                </a:solidFill>
                <a:latin typeface="Georgia"/>
              </a:rPr>
              <a:t>Area</a:t>
            </a:r>
          </a:p>
        </p:txBody>
      </p:sp>
      <p:sp>
        <p:nvSpPr>
          <p:cNvPr id="6" name="TextBox 5"/>
          <p:cNvSpPr txBox="1"/>
          <p:nvPr/>
        </p:nvSpPr>
        <p:spPr>
          <a:xfrm>
            <a:off x="5166360" y="1600200"/>
            <a:ext cx="1371600" cy="237744"/>
          </a:xfrm>
          <a:prstGeom prst="rect">
            <a:avLst/>
          </a:prstGeom>
          <a:noFill/>
        </p:spPr>
        <p:txBody>
          <a:bodyPr wrap="square">
            <a:spAutoFit/>
          </a:bodyPr>
          <a:lstStyle/>
          <a:p>
            <a:pPr algn="r">
              <a:lnSpc>
                <a:spcPct val="100000"/>
              </a:lnSpc>
            </a:pPr>
            <a:r>
              <a:rPr sz="1250" b="1">
                <a:solidFill>
                  <a:srgbClr val="1A1A1A"/>
                </a:solidFill>
                <a:latin typeface="Georgia"/>
              </a:rPr>
              <a:t>Latency</a:t>
            </a:r>
          </a:p>
        </p:txBody>
      </p:sp>
      <p:sp>
        <p:nvSpPr>
          <p:cNvPr id="7" name="TextBox 6"/>
          <p:cNvSpPr txBox="1"/>
          <p:nvPr/>
        </p:nvSpPr>
        <p:spPr>
          <a:xfrm>
            <a:off x="6537960" y="1600200"/>
            <a:ext cx="1280160" cy="237744"/>
          </a:xfrm>
          <a:prstGeom prst="rect">
            <a:avLst/>
          </a:prstGeom>
          <a:noFill/>
        </p:spPr>
        <p:txBody>
          <a:bodyPr wrap="square">
            <a:spAutoFit/>
          </a:bodyPr>
          <a:lstStyle/>
          <a:p>
            <a:pPr algn="r">
              <a:lnSpc>
                <a:spcPct val="100000"/>
              </a:lnSpc>
            </a:pPr>
            <a:r>
              <a:rPr sz="1250" b="1">
                <a:solidFill>
                  <a:srgbClr val="1A1A1A"/>
                </a:solidFill>
                <a:latin typeface="Georgia"/>
              </a:rPr>
              <a:t>Speedup</a:t>
            </a:r>
          </a:p>
        </p:txBody>
      </p:sp>
      <p:sp>
        <p:nvSpPr>
          <p:cNvPr id="8" name="TextBox 7"/>
          <p:cNvSpPr txBox="1"/>
          <p:nvPr/>
        </p:nvSpPr>
        <p:spPr>
          <a:xfrm>
            <a:off x="7818120" y="1600200"/>
            <a:ext cx="1554480" cy="237744"/>
          </a:xfrm>
          <a:prstGeom prst="rect">
            <a:avLst/>
          </a:prstGeom>
          <a:noFill/>
        </p:spPr>
        <p:txBody>
          <a:bodyPr wrap="square">
            <a:spAutoFit/>
          </a:bodyPr>
          <a:lstStyle/>
          <a:p>
            <a:pPr algn="r">
              <a:lnSpc>
                <a:spcPct val="100000"/>
              </a:lnSpc>
            </a:pPr>
            <a:r>
              <a:rPr sz="1250" b="1">
                <a:solidFill>
                  <a:srgbClr val="1A1A1A"/>
                </a:solidFill>
                <a:latin typeface="Georgia"/>
              </a:rPr>
              <a:t>EPE in region</a:t>
            </a:r>
          </a:p>
        </p:txBody>
      </p:sp>
      <p:sp>
        <p:nvSpPr>
          <p:cNvPr id="9" name="Rectangle 8"/>
          <p:cNvSpPr/>
          <p:nvPr/>
        </p:nvSpPr>
        <p:spPr>
          <a:xfrm>
            <a:off x="685800" y="1837943"/>
            <a:ext cx="868680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3200400" cy="237744"/>
          </a:xfrm>
          <a:prstGeom prst="rect">
            <a:avLst/>
          </a:prstGeom>
          <a:noFill/>
        </p:spPr>
        <p:txBody>
          <a:bodyPr wrap="square">
            <a:spAutoFit/>
          </a:bodyPr>
          <a:lstStyle/>
          <a:p>
            <a:pPr algn="l">
              <a:lnSpc>
                <a:spcPct val="100000"/>
              </a:lnSpc>
            </a:pPr>
            <a:r>
              <a:rPr sz="1250" b="0">
                <a:solidFill>
                  <a:srgbClr val="1A1A1A"/>
                </a:solidFill>
                <a:latin typeface="Georgia"/>
              </a:rPr>
              <a:t>Full frame</a:t>
            </a:r>
          </a:p>
        </p:txBody>
      </p:sp>
      <p:sp>
        <p:nvSpPr>
          <p:cNvPr id="11" name="TextBox 10"/>
          <p:cNvSpPr txBox="1"/>
          <p:nvPr/>
        </p:nvSpPr>
        <p:spPr>
          <a:xfrm>
            <a:off x="3886200" y="1874519"/>
            <a:ext cx="1280160" cy="237744"/>
          </a:xfrm>
          <a:prstGeom prst="rect">
            <a:avLst/>
          </a:prstGeom>
          <a:noFill/>
        </p:spPr>
        <p:txBody>
          <a:bodyPr wrap="square">
            <a:spAutoFit/>
          </a:bodyPr>
          <a:lstStyle/>
          <a:p>
            <a:pPr algn="r">
              <a:lnSpc>
                <a:spcPct val="100000"/>
              </a:lnSpc>
            </a:pPr>
            <a:r>
              <a:rPr sz="1250" b="0">
                <a:solidFill>
                  <a:srgbClr val="1A1A1A"/>
                </a:solidFill>
                <a:latin typeface="Georgia"/>
              </a:rPr>
              <a:t>100%</a:t>
            </a:r>
          </a:p>
        </p:txBody>
      </p:sp>
      <p:sp>
        <p:nvSpPr>
          <p:cNvPr id="12" name="TextBox 11"/>
          <p:cNvSpPr txBox="1"/>
          <p:nvPr/>
        </p:nvSpPr>
        <p:spPr>
          <a:xfrm>
            <a:off x="5166360" y="1874519"/>
            <a:ext cx="1371600" cy="237744"/>
          </a:xfrm>
          <a:prstGeom prst="rect">
            <a:avLst/>
          </a:prstGeom>
          <a:noFill/>
        </p:spPr>
        <p:txBody>
          <a:bodyPr wrap="square">
            <a:spAutoFit/>
          </a:bodyPr>
          <a:lstStyle/>
          <a:p>
            <a:pPr algn="r">
              <a:lnSpc>
                <a:spcPct val="100000"/>
              </a:lnSpc>
            </a:pPr>
            <a:r>
              <a:rPr sz="1250" b="0">
                <a:solidFill>
                  <a:srgbClr val="1A1A1A"/>
                </a:solidFill>
                <a:latin typeface="Georgia"/>
              </a:rPr>
              <a:t>33.3 ms</a:t>
            </a:r>
          </a:p>
        </p:txBody>
      </p:sp>
      <p:sp>
        <p:nvSpPr>
          <p:cNvPr id="13" name="TextBox 12"/>
          <p:cNvSpPr txBox="1"/>
          <p:nvPr/>
        </p:nvSpPr>
        <p:spPr>
          <a:xfrm>
            <a:off x="6537960" y="1874519"/>
            <a:ext cx="1280160" cy="237744"/>
          </a:xfrm>
          <a:prstGeom prst="rect">
            <a:avLst/>
          </a:prstGeom>
          <a:noFill/>
        </p:spPr>
        <p:txBody>
          <a:bodyPr wrap="square">
            <a:spAutoFit/>
          </a:bodyPr>
          <a:lstStyle/>
          <a:p>
            <a:pPr algn="r">
              <a:lnSpc>
                <a:spcPct val="100000"/>
              </a:lnSpc>
            </a:pPr>
            <a:r>
              <a:rPr sz="1250" b="0">
                <a:solidFill>
                  <a:srgbClr val="1A1A1A"/>
                </a:solidFill>
                <a:latin typeface="Georgia"/>
              </a:rPr>
              <a:t>1.0x</a:t>
            </a:r>
          </a:p>
        </p:txBody>
      </p:sp>
      <p:sp>
        <p:nvSpPr>
          <p:cNvPr id="14" name="TextBox 13"/>
          <p:cNvSpPr txBox="1"/>
          <p:nvPr/>
        </p:nvSpPr>
        <p:spPr>
          <a:xfrm>
            <a:off x="7818120" y="187451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0.657</a:t>
            </a:r>
          </a:p>
        </p:txBody>
      </p:sp>
      <p:sp>
        <p:nvSpPr>
          <p:cNvPr id="15" name="TextBox 14"/>
          <p:cNvSpPr txBox="1"/>
          <p:nvPr/>
        </p:nvSpPr>
        <p:spPr>
          <a:xfrm>
            <a:off x="685800" y="214883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no margin</a:t>
            </a:r>
          </a:p>
        </p:txBody>
      </p:sp>
      <p:sp>
        <p:nvSpPr>
          <p:cNvPr id="16" name="TextBox 15"/>
          <p:cNvSpPr txBox="1"/>
          <p:nvPr/>
        </p:nvSpPr>
        <p:spPr>
          <a:xfrm>
            <a:off x="3886200" y="2148839"/>
            <a:ext cx="1280160" cy="237744"/>
          </a:xfrm>
          <a:prstGeom prst="rect">
            <a:avLst/>
          </a:prstGeom>
          <a:noFill/>
        </p:spPr>
        <p:txBody>
          <a:bodyPr wrap="square">
            <a:spAutoFit/>
          </a:bodyPr>
          <a:lstStyle/>
          <a:p>
            <a:pPr algn="r">
              <a:lnSpc>
                <a:spcPct val="100000"/>
              </a:lnSpc>
            </a:pPr>
            <a:r>
              <a:rPr sz="1250" b="0">
                <a:solidFill>
                  <a:srgbClr val="1A1A1A"/>
                </a:solidFill>
                <a:latin typeface="Georgia"/>
              </a:rPr>
              <a:t>7.9%</a:t>
            </a:r>
          </a:p>
        </p:txBody>
      </p:sp>
      <p:sp>
        <p:nvSpPr>
          <p:cNvPr id="17" name="TextBox 16"/>
          <p:cNvSpPr txBox="1"/>
          <p:nvPr/>
        </p:nvSpPr>
        <p:spPr>
          <a:xfrm>
            <a:off x="5166360" y="2148839"/>
            <a:ext cx="1371600" cy="237744"/>
          </a:xfrm>
          <a:prstGeom prst="rect">
            <a:avLst/>
          </a:prstGeom>
          <a:noFill/>
        </p:spPr>
        <p:txBody>
          <a:bodyPr wrap="square">
            <a:spAutoFit/>
          </a:bodyPr>
          <a:lstStyle/>
          <a:p>
            <a:pPr algn="r">
              <a:lnSpc>
                <a:spcPct val="100000"/>
              </a:lnSpc>
            </a:pPr>
            <a:r>
              <a:rPr sz="1250" b="0">
                <a:solidFill>
                  <a:srgbClr val="1A1A1A"/>
                </a:solidFill>
                <a:latin typeface="Georgia"/>
              </a:rPr>
              <a:t>7.8 ms</a:t>
            </a:r>
          </a:p>
        </p:txBody>
      </p:sp>
      <p:sp>
        <p:nvSpPr>
          <p:cNvPr id="18" name="TextBox 17"/>
          <p:cNvSpPr txBox="1"/>
          <p:nvPr/>
        </p:nvSpPr>
        <p:spPr>
          <a:xfrm>
            <a:off x="6537960" y="2148839"/>
            <a:ext cx="1280160" cy="237744"/>
          </a:xfrm>
          <a:prstGeom prst="rect">
            <a:avLst/>
          </a:prstGeom>
          <a:noFill/>
        </p:spPr>
        <p:txBody>
          <a:bodyPr wrap="square">
            <a:spAutoFit/>
          </a:bodyPr>
          <a:lstStyle/>
          <a:p>
            <a:pPr algn="r">
              <a:lnSpc>
                <a:spcPct val="100000"/>
              </a:lnSpc>
            </a:pPr>
            <a:r>
              <a:rPr sz="1250" b="0">
                <a:solidFill>
                  <a:srgbClr val="1A1A1A"/>
                </a:solidFill>
                <a:latin typeface="Georgia"/>
              </a:rPr>
              <a:t>4.3x</a:t>
            </a:r>
          </a:p>
        </p:txBody>
      </p:sp>
      <p:sp>
        <p:nvSpPr>
          <p:cNvPr id="19" name="TextBox 18"/>
          <p:cNvSpPr txBox="1"/>
          <p:nvPr/>
        </p:nvSpPr>
        <p:spPr>
          <a:xfrm>
            <a:off x="7818120" y="2148839"/>
            <a:ext cx="1554480" cy="237744"/>
          </a:xfrm>
          <a:prstGeom prst="rect">
            <a:avLst/>
          </a:prstGeom>
          <a:noFill/>
        </p:spPr>
        <p:txBody>
          <a:bodyPr wrap="square">
            <a:spAutoFit/>
          </a:bodyPr>
          <a:lstStyle/>
          <a:p>
            <a:pPr algn="r">
              <a:lnSpc>
                <a:spcPct val="100000"/>
              </a:lnSpc>
            </a:pPr>
            <a:r>
              <a:rPr sz="1250" b="0">
                <a:solidFill>
                  <a:srgbClr val="1A1A1A"/>
                </a:solidFill>
                <a:latin typeface="Georgia"/>
              </a:rPr>
              <a:t>1.089</a:t>
            </a:r>
          </a:p>
        </p:txBody>
      </p:sp>
      <p:sp>
        <p:nvSpPr>
          <p:cNvPr id="20" name="TextBox 19"/>
          <p:cNvSpPr txBox="1"/>
          <p:nvPr/>
        </p:nvSpPr>
        <p:spPr>
          <a:xfrm>
            <a:off x="685800" y="2423159"/>
            <a:ext cx="3200400" cy="237744"/>
          </a:xfrm>
          <a:prstGeom prst="rect">
            <a:avLst/>
          </a:prstGeom>
          <a:noFill/>
        </p:spPr>
        <p:txBody>
          <a:bodyPr wrap="square">
            <a:spAutoFit/>
          </a:bodyPr>
          <a:lstStyle/>
          <a:p>
            <a:pPr algn="l">
              <a:lnSpc>
                <a:spcPct val="100000"/>
              </a:lnSpc>
            </a:pPr>
            <a:r>
              <a:rPr sz="1250" b="1">
                <a:solidFill>
                  <a:srgbClr val="0B6A63"/>
                </a:solidFill>
                <a:latin typeface="Georgia"/>
              </a:rPr>
              <a:t>Region + 32 px margin</a:t>
            </a:r>
          </a:p>
        </p:txBody>
      </p:sp>
      <p:sp>
        <p:nvSpPr>
          <p:cNvPr id="21" name="TextBox 20"/>
          <p:cNvSpPr txBox="1"/>
          <p:nvPr/>
        </p:nvSpPr>
        <p:spPr>
          <a:xfrm>
            <a:off x="3886200" y="2423159"/>
            <a:ext cx="1280160" cy="237744"/>
          </a:xfrm>
          <a:prstGeom prst="rect">
            <a:avLst/>
          </a:prstGeom>
          <a:noFill/>
        </p:spPr>
        <p:txBody>
          <a:bodyPr wrap="square">
            <a:spAutoFit/>
          </a:bodyPr>
          <a:lstStyle/>
          <a:p>
            <a:pPr algn="r">
              <a:lnSpc>
                <a:spcPct val="100000"/>
              </a:lnSpc>
            </a:pPr>
            <a:r>
              <a:rPr sz="1250" b="1">
                <a:solidFill>
                  <a:srgbClr val="0B6A63"/>
                </a:solidFill>
                <a:latin typeface="Georgia"/>
              </a:rPr>
              <a:t>13.8%</a:t>
            </a:r>
          </a:p>
        </p:txBody>
      </p:sp>
      <p:sp>
        <p:nvSpPr>
          <p:cNvPr id="22" name="TextBox 21"/>
          <p:cNvSpPr txBox="1"/>
          <p:nvPr/>
        </p:nvSpPr>
        <p:spPr>
          <a:xfrm>
            <a:off x="5166360" y="2423159"/>
            <a:ext cx="1371600" cy="237744"/>
          </a:xfrm>
          <a:prstGeom prst="rect">
            <a:avLst/>
          </a:prstGeom>
          <a:noFill/>
        </p:spPr>
        <p:txBody>
          <a:bodyPr wrap="square">
            <a:spAutoFit/>
          </a:bodyPr>
          <a:lstStyle/>
          <a:p>
            <a:pPr algn="r">
              <a:lnSpc>
                <a:spcPct val="100000"/>
              </a:lnSpc>
            </a:pPr>
            <a:r>
              <a:rPr sz="1250" b="1">
                <a:solidFill>
                  <a:srgbClr val="0B6A63"/>
                </a:solidFill>
                <a:latin typeface="Georgia"/>
              </a:rPr>
              <a:t>7.6 ms</a:t>
            </a:r>
          </a:p>
        </p:txBody>
      </p:sp>
      <p:sp>
        <p:nvSpPr>
          <p:cNvPr id="23" name="TextBox 22"/>
          <p:cNvSpPr txBox="1"/>
          <p:nvPr/>
        </p:nvSpPr>
        <p:spPr>
          <a:xfrm>
            <a:off x="6537960" y="2423159"/>
            <a:ext cx="1280160" cy="237744"/>
          </a:xfrm>
          <a:prstGeom prst="rect">
            <a:avLst/>
          </a:prstGeom>
          <a:noFill/>
        </p:spPr>
        <p:txBody>
          <a:bodyPr wrap="square">
            <a:spAutoFit/>
          </a:bodyPr>
          <a:lstStyle/>
          <a:p>
            <a:pPr algn="r">
              <a:lnSpc>
                <a:spcPct val="100000"/>
              </a:lnSpc>
            </a:pPr>
            <a:r>
              <a:rPr sz="1250" b="1">
                <a:solidFill>
                  <a:srgbClr val="0B6A63"/>
                </a:solidFill>
                <a:latin typeface="Georgia"/>
              </a:rPr>
              <a:t>4.4x</a:t>
            </a:r>
          </a:p>
        </p:txBody>
      </p:sp>
      <p:sp>
        <p:nvSpPr>
          <p:cNvPr id="24" name="TextBox 23"/>
          <p:cNvSpPr txBox="1"/>
          <p:nvPr/>
        </p:nvSpPr>
        <p:spPr>
          <a:xfrm>
            <a:off x="7818120" y="2423159"/>
            <a:ext cx="1554480" cy="237744"/>
          </a:xfrm>
          <a:prstGeom prst="rect">
            <a:avLst/>
          </a:prstGeom>
          <a:noFill/>
        </p:spPr>
        <p:txBody>
          <a:bodyPr wrap="square">
            <a:spAutoFit/>
          </a:bodyPr>
          <a:lstStyle/>
          <a:p>
            <a:pPr algn="r">
              <a:lnSpc>
                <a:spcPct val="100000"/>
              </a:lnSpc>
            </a:pPr>
            <a:r>
              <a:rPr sz="1250" b="1">
                <a:solidFill>
                  <a:srgbClr val="0B6A63"/>
                </a:solidFill>
                <a:latin typeface="Georgia"/>
              </a:rPr>
              <a:t>0.691</a:t>
            </a:r>
          </a:p>
        </p:txBody>
      </p:sp>
      <p:sp>
        <p:nvSpPr>
          <p:cNvPr id="25" name="TextBox 24"/>
          <p:cNvSpPr txBox="1"/>
          <p:nvPr/>
        </p:nvSpPr>
        <p:spPr>
          <a:xfrm>
            <a:off x="685800" y="269747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+ 64 px margin</a:t>
            </a:r>
          </a:p>
        </p:txBody>
      </p:sp>
      <p:sp>
        <p:nvSpPr>
          <p:cNvPr id="26" name="TextBox 25"/>
          <p:cNvSpPr txBox="1"/>
          <p:nvPr/>
        </p:nvSpPr>
        <p:spPr>
          <a:xfrm>
            <a:off x="3886200" y="2697479"/>
            <a:ext cx="1280160" cy="237744"/>
          </a:xfrm>
          <a:prstGeom prst="rect">
            <a:avLst/>
          </a:prstGeom>
          <a:noFill/>
        </p:spPr>
        <p:txBody>
          <a:bodyPr wrap="square">
            <a:spAutoFit/>
          </a:bodyPr>
          <a:lstStyle/>
          <a:p>
            <a:pPr algn="r">
              <a:lnSpc>
                <a:spcPct val="100000"/>
              </a:lnSpc>
            </a:pPr>
            <a:r>
              <a:rPr sz="1250" b="0">
                <a:solidFill>
                  <a:srgbClr val="1A1A1A"/>
                </a:solidFill>
                <a:latin typeface="Georgia"/>
              </a:rPr>
              <a:t>20.1%</a:t>
            </a:r>
          </a:p>
        </p:txBody>
      </p:sp>
      <p:sp>
        <p:nvSpPr>
          <p:cNvPr id="27" name="TextBox 26"/>
          <p:cNvSpPr txBox="1"/>
          <p:nvPr/>
        </p:nvSpPr>
        <p:spPr>
          <a:xfrm>
            <a:off x="5166360" y="2697479"/>
            <a:ext cx="1371600" cy="237744"/>
          </a:xfrm>
          <a:prstGeom prst="rect">
            <a:avLst/>
          </a:prstGeom>
          <a:noFill/>
        </p:spPr>
        <p:txBody>
          <a:bodyPr wrap="square">
            <a:spAutoFit/>
          </a:bodyPr>
          <a:lstStyle/>
          <a:p>
            <a:pPr algn="r">
              <a:lnSpc>
                <a:spcPct val="100000"/>
              </a:lnSpc>
            </a:pPr>
            <a:r>
              <a:rPr sz="1250" b="0">
                <a:solidFill>
                  <a:srgbClr val="1A1A1A"/>
                </a:solidFill>
                <a:latin typeface="Georgia"/>
              </a:rPr>
              <a:t>8.1 ms</a:t>
            </a:r>
          </a:p>
        </p:txBody>
      </p:sp>
      <p:sp>
        <p:nvSpPr>
          <p:cNvPr id="28" name="TextBox 27"/>
          <p:cNvSpPr txBox="1"/>
          <p:nvPr/>
        </p:nvSpPr>
        <p:spPr>
          <a:xfrm>
            <a:off x="6537960" y="2697479"/>
            <a:ext cx="1280160" cy="237744"/>
          </a:xfrm>
          <a:prstGeom prst="rect">
            <a:avLst/>
          </a:prstGeom>
          <a:noFill/>
        </p:spPr>
        <p:txBody>
          <a:bodyPr wrap="square">
            <a:spAutoFit/>
          </a:bodyPr>
          <a:lstStyle/>
          <a:p>
            <a:pPr algn="r">
              <a:lnSpc>
                <a:spcPct val="100000"/>
              </a:lnSpc>
            </a:pPr>
            <a:r>
              <a:rPr sz="1250" b="0">
                <a:solidFill>
                  <a:srgbClr val="1A1A1A"/>
                </a:solidFill>
                <a:latin typeface="Georgia"/>
              </a:rPr>
              <a:t>4.1x</a:t>
            </a:r>
          </a:p>
        </p:txBody>
      </p:sp>
      <p:sp>
        <p:nvSpPr>
          <p:cNvPr id="29" name="TextBox 28"/>
          <p:cNvSpPr txBox="1"/>
          <p:nvPr/>
        </p:nvSpPr>
        <p:spPr>
          <a:xfrm>
            <a:off x="7818120" y="269747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0.667</a:t>
            </a:r>
          </a:p>
        </p:txBody>
      </p:sp>
      <p:sp>
        <p:nvSpPr>
          <p:cNvPr id="30" name="TextBox 29"/>
          <p:cNvSpPr txBox="1"/>
          <p:nvPr/>
        </p:nvSpPr>
        <p:spPr>
          <a:xfrm>
            <a:off x="685800" y="2971799"/>
            <a:ext cx="3200400" cy="237744"/>
          </a:xfrm>
          <a:prstGeom prst="rect">
            <a:avLst/>
          </a:prstGeom>
          <a:noFill/>
        </p:spPr>
        <p:txBody>
          <a:bodyPr wrap="square">
            <a:spAutoFit/>
          </a:bodyPr>
          <a:lstStyle/>
          <a:p>
            <a:pPr algn="l">
              <a:lnSpc>
                <a:spcPct val="100000"/>
              </a:lnSpc>
            </a:pPr>
            <a:r>
              <a:rPr sz="1250" b="0">
                <a:solidFill>
                  <a:srgbClr val="1A1A1A"/>
                </a:solidFill>
                <a:latin typeface="Georgia"/>
              </a:rPr>
              <a:t>Region + 128 px margin</a:t>
            </a:r>
          </a:p>
        </p:txBody>
      </p:sp>
      <p:sp>
        <p:nvSpPr>
          <p:cNvPr id="31" name="TextBox 30"/>
          <p:cNvSpPr txBox="1"/>
          <p:nvPr/>
        </p:nvSpPr>
        <p:spPr>
          <a:xfrm>
            <a:off x="3886200" y="2971799"/>
            <a:ext cx="1280160" cy="237744"/>
          </a:xfrm>
          <a:prstGeom prst="rect">
            <a:avLst/>
          </a:prstGeom>
          <a:noFill/>
        </p:spPr>
        <p:txBody>
          <a:bodyPr wrap="square">
            <a:spAutoFit/>
          </a:bodyPr>
          <a:lstStyle/>
          <a:p>
            <a:pPr algn="r">
              <a:lnSpc>
                <a:spcPct val="100000"/>
              </a:lnSpc>
            </a:pPr>
            <a:r>
              <a:rPr sz="1250" b="0">
                <a:solidFill>
                  <a:srgbClr val="1A1A1A"/>
                </a:solidFill>
                <a:latin typeface="Georgia"/>
              </a:rPr>
              <a:t>34.2%</a:t>
            </a:r>
          </a:p>
        </p:txBody>
      </p:sp>
      <p:sp>
        <p:nvSpPr>
          <p:cNvPr id="32" name="TextBox 31"/>
          <p:cNvSpPr txBox="1"/>
          <p:nvPr/>
        </p:nvSpPr>
        <p:spPr>
          <a:xfrm>
            <a:off x="5166360" y="2971799"/>
            <a:ext cx="1371600" cy="237744"/>
          </a:xfrm>
          <a:prstGeom prst="rect">
            <a:avLst/>
          </a:prstGeom>
          <a:noFill/>
        </p:spPr>
        <p:txBody>
          <a:bodyPr wrap="square">
            <a:spAutoFit/>
          </a:bodyPr>
          <a:lstStyle/>
          <a:p>
            <a:pPr algn="r">
              <a:lnSpc>
                <a:spcPct val="100000"/>
              </a:lnSpc>
            </a:pPr>
            <a:r>
              <a:rPr sz="1250" b="0">
                <a:solidFill>
                  <a:srgbClr val="1A1A1A"/>
                </a:solidFill>
                <a:latin typeface="Georgia"/>
              </a:rPr>
              <a:t>9.9 ms</a:t>
            </a:r>
          </a:p>
        </p:txBody>
      </p:sp>
      <p:sp>
        <p:nvSpPr>
          <p:cNvPr id="33" name="TextBox 32"/>
          <p:cNvSpPr txBox="1"/>
          <p:nvPr/>
        </p:nvSpPr>
        <p:spPr>
          <a:xfrm>
            <a:off x="6537960" y="2971799"/>
            <a:ext cx="1280160" cy="237744"/>
          </a:xfrm>
          <a:prstGeom prst="rect">
            <a:avLst/>
          </a:prstGeom>
          <a:noFill/>
        </p:spPr>
        <p:txBody>
          <a:bodyPr wrap="square">
            <a:spAutoFit/>
          </a:bodyPr>
          <a:lstStyle/>
          <a:p>
            <a:pPr algn="r">
              <a:lnSpc>
                <a:spcPct val="100000"/>
              </a:lnSpc>
            </a:pPr>
            <a:r>
              <a:rPr sz="1250" b="0">
                <a:solidFill>
                  <a:srgbClr val="1A1A1A"/>
                </a:solidFill>
                <a:latin typeface="Georgia"/>
              </a:rPr>
              <a:t>3.4x</a:t>
            </a:r>
          </a:p>
        </p:txBody>
      </p:sp>
      <p:sp>
        <p:nvSpPr>
          <p:cNvPr id="34" name="TextBox 33"/>
          <p:cNvSpPr txBox="1"/>
          <p:nvPr/>
        </p:nvSpPr>
        <p:spPr>
          <a:xfrm>
            <a:off x="7818120" y="2971799"/>
            <a:ext cx="1554480" cy="237744"/>
          </a:xfrm>
          <a:prstGeom prst="rect">
            <a:avLst/>
          </a:prstGeom>
          <a:noFill/>
        </p:spPr>
        <p:txBody>
          <a:bodyPr wrap="square">
            <a:spAutoFit/>
          </a:bodyPr>
          <a:lstStyle/>
          <a:p>
            <a:pPr algn="r">
              <a:lnSpc>
                <a:spcPct val="100000"/>
              </a:lnSpc>
            </a:pPr>
            <a:r>
              <a:rPr sz="1250" b="0">
                <a:solidFill>
                  <a:srgbClr val="1A1A1A"/>
                </a:solidFill>
                <a:latin typeface="Georgia"/>
              </a:rPr>
              <a:t>0.655</a:t>
            </a:r>
          </a:p>
        </p:txBody>
      </p:sp>
      <p:sp>
        <p:nvSpPr>
          <p:cNvPr id="35" name="TextBox 34"/>
          <p:cNvSpPr txBox="1"/>
          <p:nvPr/>
        </p:nvSpPr>
        <p:spPr>
          <a:xfrm>
            <a:off x="685800" y="3977639"/>
            <a:ext cx="6766560" cy="2011680"/>
          </a:xfrm>
          <a:prstGeom prst="rect">
            <a:avLst/>
          </a:prstGeom>
          <a:noFill/>
        </p:spPr>
        <p:txBody>
          <a:bodyPr wrap="square">
            <a:spAutoFit/>
          </a:bodyPr>
          <a:lstStyle/>
          <a:p>
            <a:pPr algn="l">
              <a:lnSpc>
                <a:spcPct val="118000"/>
              </a:lnSpc>
            </a:pPr>
            <a:r>
              <a:rPr sz="1200" b="0">
                <a:solidFill>
                  <a:srgbClr val="1A1A1A"/>
                </a:solidFill>
                <a:latin typeface="Georgia"/>
              </a:rPr>
              <a:t>Keeping full resolution and processing 14% of the frame costs 0.034 px.</a:t>
            </a:r>
          </a:p>
          <a:p>
            <a:pPr algn="l">
              <a:lnSpc>
                <a:spcPct val="118000"/>
              </a:lnSpc>
            </a:pPr>
            <a:r>
              <a:rPr sz="1200" b="0">
                <a:solidFill>
                  <a:srgbClr val="1A1A1A"/>
                </a:solidFill>
                <a:latin typeface="Georgia"/>
              </a:rPr>
              <a:t/>
            </a:r>
          </a:p>
          <a:p>
            <a:pPr algn="l">
              <a:lnSpc>
                <a:spcPct val="118000"/>
              </a:lnSpc>
            </a:pPr>
            <a:r>
              <a:rPr sz="1200" b="0">
                <a:solidFill>
                  <a:srgbClr val="1A1A1A"/>
                </a:solidFill>
                <a:latin typeface="Georgia"/>
              </a:rPr>
              <a:t>The margin is not optional. With none, error rises 65% and a quarter of</a:t>
            </a:r>
          </a:p>
          <a:p>
            <a:pPr algn="l">
              <a:lnSpc>
                <a:spcPct val="118000"/>
              </a:lnSpc>
            </a:pPr>
            <a:r>
              <a:rPr sz="1200" b="0">
                <a:solidFill>
                  <a:srgbClr val="1A1A1A"/>
                </a:solidFill>
                <a:latin typeface="Georgia"/>
              </a:rPr>
              <a:t>large-motion pixels fail outright, because global matching loses the</a:t>
            </a:r>
          </a:p>
          <a:p>
            <a:pPr algn="l">
              <a:lnSpc>
                <a:spcPct val="118000"/>
              </a:lnSpc>
            </a:pPr>
            <a:r>
              <a:rPr sz="1200" b="0">
                <a:solidFill>
                  <a:srgbClr val="1A1A1A"/>
                </a:solidFill>
                <a:latin typeface="Georgia"/>
              </a:rPr>
              <a:t>context it needs to find them. Past 32 px nothing improves.</a:t>
            </a:r>
          </a:p>
          <a:p>
            <a:pPr algn="l">
              <a:lnSpc>
                <a:spcPct val="118000"/>
              </a:lnSpc>
            </a:pPr>
            <a:r>
              <a:rPr sz="1200" b="0">
                <a:solidFill>
                  <a:srgbClr val="1A1A1A"/>
                </a:solidFill>
                <a:latin typeface="Georgia"/>
              </a:rPr>
              <a:t/>
            </a:r>
          </a:p>
          <a:p>
            <a:pPr algn="l">
              <a:lnSpc>
                <a:spcPct val="118000"/>
              </a:lnSpc>
            </a:pPr>
            <a:r>
              <a:rPr sz="1200" b="0">
                <a:solidFill>
                  <a:srgbClr val="1A1A1A"/>
                </a:solidFill>
                <a:latin typeface="Georgia"/>
              </a:rPr>
              <a:t>The margin has to cover roughly one frame of motion, which for a</a:t>
            </a:r>
          </a:p>
          <a:p>
            <a:pPr algn="l">
              <a:lnSpc>
                <a:spcPct val="118000"/>
              </a:lnSpc>
            </a:pPr>
            <a:r>
              <a:rPr sz="1200" b="0">
                <a:solidFill>
                  <a:srgbClr val="1A1A1A"/>
                </a:solidFill>
                <a:latin typeface="Georgia"/>
              </a:rPr>
              <a:t>platform is speed divided by frame rate. Mean motion here is 26.6 px</a:t>
            </a:r>
          </a:p>
          <a:p>
            <a:pPr algn="l">
              <a:lnSpc>
                <a:spcPct val="118000"/>
              </a:lnSpc>
            </a:pPr>
            <a:r>
              <a:rPr sz="1200" b="0">
                <a:solidFill>
                  <a:srgbClr val="1A1A1A"/>
                </a:solidFill>
                <a:latin typeface="Georgia"/>
              </a:rPr>
              <a:t>and the knee is at 32.</a:t>
            </a:r>
          </a:p>
        </p:txBody>
      </p:sp>
      <p:sp>
        <p:nvSpPr>
          <p:cNvPr id="36" name="Rounded Rectangle 35"/>
          <p:cNvSpPr/>
          <p:nvPr/>
        </p:nvSpPr>
        <p:spPr>
          <a:xfrm>
            <a:off x="7863840" y="4069080"/>
            <a:ext cx="3749039"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Design rule</a:t>
            </a:r>
          </a:p>
          <a:p>
            <a:pPr algn="ctr"/>
            <a:r>
              <a:rPr sz="1150" b="0">
                <a:solidFill>
                  <a:srgbClr val="1A1A1A"/>
                </a:solidFill>
                <a:latin typeface="Georgia"/>
              </a:rPr>
              <a:t/>
            </a:r>
          </a:p>
          <a:p>
            <a:pPr algn="ctr"/>
            <a:r>
              <a:rPr sz="1150" b="0">
                <a:solidFill>
                  <a:srgbClr val="1A1A1A"/>
                </a:solidFill>
                <a:latin typeface="Georgia"/>
              </a:rPr>
              <a:t>margin  ~  expected motion</a:t>
            </a:r>
          </a:p>
          <a:p>
            <a:pPr algn="ctr"/>
            <a:r>
              <a:rPr sz="1150" b="0">
                <a:solidFill>
                  <a:srgbClr val="1A1A1A"/>
                </a:solidFill>
                <a:latin typeface="Georgia"/>
              </a:rPr>
              <a:t>~  speed / frame rate</a:t>
            </a:r>
          </a:p>
          <a:p>
            <a:pPr algn="ctr"/>
            <a:r>
              <a:rPr sz="1150" b="0">
                <a:solidFill>
                  <a:srgbClr val="1A1A1A"/>
                </a:solidFill>
                <a:latin typeface="Georgia"/>
              </a:rPr>
              <a:t/>
            </a:r>
          </a:p>
          <a:p>
            <a:pPr algn="ctr"/>
            <a:r>
              <a:rPr sz="1150" b="0">
                <a:solidFill>
                  <a:srgbClr val="1A1A1A"/>
                </a:solidFill>
                <a:latin typeface="Georgia"/>
              </a:rPr>
              <a:t>A faster platform needs a</a:t>
            </a:r>
          </a:p>
          <a:p>
            <a:pPr algn="ctr"/>
            <a:r>
              <a:rPr sz="1150" b="0">
                <a:solidFill>
                  <a:srgbClr val="1A1A1A"/>
                </a:solidFill>
                <a:latin typeface="Georgia"/>
              </a:rPr>
              <a:t>wider margin, and saves less.</a:t>
            </a:r>
          </a:p>
        </p:txBody>
      </p:sp>
      <p:sp>
        <p:nvSpPr>
          <p:cNvPr id="37" name="TextBox 36"/>
          <p:cNvSpPr txBox="1"/>
          <p:nvPr/>
        </p:nvSpPr>
        <p:spPr>
          <a:xfrm>
            <a:off x="685800" y="6172200"/>
            <a:ext cx="10881360" cy="320040"/>
          </a:xfrm>
          <a:prstGeom prst="rect">
            <a:avLst/>
          </a:prstGeom>
          <a:noFill/>
        </p:spPr>
        <p:txBody>
          <a:bodyPr wrap="square">
            <a:spAutoFit/>
          </a:bodyPr>
          <a:lstStyle/>
          <a:p>
            <a:pPr algn="l">
              <a:lnSpc>
                <a:spcPct val="100000"/>
              </a:lnSpc>
            </a:pPr>
            <a:r>
              <a:rPr sz="1000" b="0">
                <a:solidFill>
                  <a:srgbClr val="8A8A8A"/>
                </a:solidFill>
                <a:latin typeface="Georgia"/>
              </a:rPr>
              <a:t>RTX 4060 laptop, fp16, 375x1242, 40 held-out VKITTI2 pairs. Applies to any flow network, v2 included.</a:t>
            </a:r>
          </a:p>
        </p:txBody>
      </p:sp>
      <p:sp>
        <p:nvSpPr>
          <p:cNvPr id="38" name="TextBox 3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9" name="TextBox 3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margin rule holds across two motion scales</a:t>
            </a:r>
          </a:p>
        </p:txBody>
      </p:sp>
      <p:pic>
        <p:nvPicPr>
          <p:cNvPr id="4" name="Picture 3" descr="margin_rule.png"/>
          <p:cNvPicPr>
            <a:picLocks noChangeAspect="1"/>
          </p:cNvPicPr>
          <p:nvPr/>
        </p:nvPicPr>
        <p:blipFill>
          <a:blip r:embed="rId2"/>
          <a:stretch>
            <a:fillRect/>
          </a:stretch>
        </p:blipFill>
        <p:spPr>
          <a:xfrm>
            <a:off x="960120" y="1463040"/>
            <a:ext cx="10241280" cy="4063457"/>
          </a:xfrm>
          <a:prstGeom prst="rect">
            <a:avLst/>
          </a:prstGeom>
        </p:spPr>
      </p:pic>
      <p:sp>
        <p:nvSpPr>
          <p:cNvPr id="5" name="TextBox 4"/>
          <p:cNvSpPr txBox="1"/>
          <p:nvPr/>
        </p:nvSpPr>
        <p:spPr>
          <a:xfrm>
            <a:off x="685800" y="5394960"/>
            <a:ext cx="10881360" cy="1005840"/>
          </a:xfrm>
          <a:prstGeom prst="rect">
            <a:avLst/>
          </a:prstGeom>
          <a:noFill/>
        </p:spPr>
        <p:txBody>
          <a:bodyPr wrap="square">
            <a:spAutoFit/>
          </a:bodyPr>
          <a:lstStyle/>
          <a:p>
            <a:pPr algn="l">
              <a:lnSpc>
                <a:spcPct val="115000"/>
              </a:lnSpc>
            </a:pPr>
            <a:r>
              <a:rPr sz="1150" b="0">
                <a:solidFill>
                  <a:srgbClr val="1A1A1A"/>
                </a:solidFill>
                <a:latin typeface="Georgia"/>
              </a:rPr>
              <a:t>Driving sequences average 26.6 px of motion and need about 32 px of margin. Aerial sequences average 9.26 px and</a:t>
            </a:r>
          </a:p>
          <a:p>
            <a:pPr algn="l">
              <a:lnSpc>
                <a:spcPct val="115000"/>
              </a:lnSpc>
            </a:pPr>
            <a:r>
              <a:rPr sz="1150" b="0">
                <a:solidFill>
                  <a:srgbClr val="1A1A1A"/>
                </a:solidFill>
                <a:latin typeface="Georgia"/>
              </a:rPr>
              <a:t>need about 8. Both start from the same 0.43 px penalty with no margin, and both have shed most of it by the point</a:t>
            </a:r>
          </a:p>
          <a:p>
            <a:pPr algn="l">
              <a:lnSpc>
                <a:spcPct val="115000"/>
              </a:lnSpc>
            </a:pPr>
            <a:r>
              <a:rPr sz="1150" b="0">
                <a:solidFill>
                  <a:srgbClr val="1A1A1A"/>
                </a:solidFill>
                <a:latin typeface="Georgia"/>
              </a:rPr>
              <a:t>where the margin equals one frame of motion. The requirement is set by displacement, not by image size, which</a:t>
            </a:r>
          </a:p>
          <a:p>
            <a:pPr algn="l">
              <a:lnSpc>
                <a:spcPct val="115000"/>
              </a:lnSpc>
            </a:pPr>
            <a:r>
              <a:rPr sz="1150" b="0">
                <a:solidFill>
                  <a:srgbClr val="1A1A1A"/>
                </a:solidFill>
                <a:latin typeface="Georgia"/>
              </a:rPr>
              <a:t>makes it predictable from platform speed and frame rate before any flow is computed.</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On a domain neither model was trained for, v3 edges ahead</a:t>
            </a:r>
          </a:p>
        </p:txBody>
      </p:sp>
      <p:sp>
        <p:nvSpPr>
          <p:cNvPr id="4" name="TextBox 3"/>
          <p:cNvSpPr txBox="1"/>
          <p:nvPr/>
        </p:nvSpPr>
        <p:spPr>
          <a:xfrm>
            <a:off x="6309360" y="1600200"/>
            <a:ext cx="1920240" cy="237744"/>
          </a:xfrm>
          <a:prstGeom prst="rect">
            <a:avLst/>
          </a:prstGeom>
          <a:noFill/>
        </p:spPr>
        <p:txBody>
          <a:bodyPr wrap="square">
            <a:spAutoFit/>
          </a:bodyPr>
          <a:lstStyle/>
          <a:p>
            <a:pPr algn="l">
              <a:lnSpc>
                <a:spcPct val="100000"/>
              </a:lnSpc>
            </a:pPr>
            <a:r>
              <a:rPr sz="1150" b="1">
                <a:solidFill>
                  <a:srgbClr val="1A1A1A"/>
                </a:solidFill>
                <a:latin typeface="Georgia"/>
              </a:rPr>
              <a:t>Crop margin</a:t>
            </a:r>
          </a:p>
        </p:txBody>
      </p:sp>
      <p:sp>
        <p:nvSpPr>
          <p:cNvPr id="5" name="TextBox 4"/>
          <p:cNvSpPr txBox="1"/>
          <p:nvPr/>
        </p:nvSpPr>
        <p:spPr>
          <a:xfrm>
            <a:off x="8229600" y="1600200"/>
            <a:ext cx="1554480" cy="237744"/>
          </a:xfrm>
          <a:prstGeom prst="rect">
            <a:avLst/>
          </a:prstGeom>
          <a:noFill/>
        </p:spPr>
        <p:txBody>
          <a:bodyPr wrap="square">
            <a:spAutoFit/>
          </a:bodyPr>
          <a:lstStyle/>
          <a:p>
            <a:pPr algn="r">
              <a:lnSpc>
                <a:spcPct val="100000"/>
              </a:lnSpc>
            </a:pPr>
            <a:r>
              <a:rPr sz="1150" b="1">
                <a:solidFill>
                  <a:srgbClr val="1A1A1A"/>
                </a:solidFill>
                <a:latin typeface="Georgia"/>
              </a:rPr>
              <a:t>NeuFlow v2</a:t>
            </a:r>
          </a:p>
        </p:txBody>
      </p:sp>
      <p:sp>
        <p:nvSpPr>
          <p:cNvPr id="6" name="TextBox 5"/>
          <p:cNvSpPr txBox="1"/>
          <p:nvPr/>
        </p:nvSpPr>
        <p:spPr>
          <a:xfrm>
            <a:off x="9784080" y="1600200"/>
            <a:ext cx="1554480" cy="237744"/>
          </a:xfrm>
          <a:prstGeom prst="rect">
            <a:avLst/>
          </a:prstGeom>
          <a:noFill/>
        </p:spPr>
        <p:txBody>
          <a:bodyPr wrap="square">
            <a:spAutoFit/>
          </a:bodyPr>
          <a:lstStyle/>
          <a:p>
            <a:pPr algn="r">
              <a:lnSpc>
                <a:spcPct val="100000"/>
              </a:lnSpc>
            </a:pPr>
            <a:r>
              <a:rPr sz="1150" b="1">
                <a:solidFill>
                  <a:srgbClr val="1A1A1A"/>
                </a:solidFill>
                <a:latin typeface="Georgia"/>
              </a:rPr>
              <a:t>NeuFlow v3</a:t>
            </a:r>
          </a:p>
        </p:txBody>
      </p:sp>
      <p:sp>
        <p:nvSpPr>
          <p:cNvPr id="7" name="Rectangle 6"/>
          <p:cNvSpPr/>
          <p:nvPr/>
        </p:nvSpPr>
        <p:spPr>
          <a:xfrm>
            <a:off x="6309360" y="1837943"/>
            <a:ext cx="502920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874519"/>
            <a:ext cx="1920240" cy="237744"/>
          </a:xfrm>
          <a:prstGeom prst="rect">
            <a:avLst/>
          </a:prstGeom>
          <a:noFill/>
        </p:spPr>
        <p:txBody>
          <a:bodyPr wrap="square">
            <a:spAutoFit/>
          </a:bodyPr>
          <a:lstStyle/>
          <a:p>
            <a:pPr algn="l">
              <a:lnSpc>
                <a:spcPct val="100000"/>
              </a:lnSpc>
            </a:pPr>
            <a:r>
              <a:rPr sz="1150" b="0">
                <a:solidFill>
                  <a:srgbClr val="1A1A1A"/>
                </a:solidFill>
                <a:latin typeface="Georgia"/>
              </a:rPr>
              <a:t>full frame</a:t>
            </a:r>
          </a:p>
        </p:txBody>
      </p:sp>
      <p:sp>
        <p:nvSpPr>
          <p:cNvPr id="9" name="TextBox 8"/>
          <p:cNvSpPr txBox="1"/>
          <p:nvPr/>
        </p:nvSpPr>
        <p:spPr>
          <a:xfrm>
            <a:off x="8229600" y="1874519"/>
            <a:ext cx="1554480" cy="237744"/>
          </a:xfrm>
          <a:prstGeom prst="rect">
            <a:avLst/>
          </a:prstGeom>
          <a:noFill/>
        </p:spPr>
        <p:txBody>
          <a:bodyPr wrap="square">
            <a:spAutoFit/>
          </a:bodyPr>
          <a:lstStyle/>
          <a:p>
            <a:pPr algn="r">
              <a:lnSpc>
                <a:spcPct val="100000"/>
              </a:lnSpc>
            </a:pPr>
            <a:r>
              <a:rPr sz="1150" b="0">
                <a:solidFill>
                  <a:srgbClr val="1A1A1A"/>
                </a:solidFill>
                <a:latin typeface="Georgia"/>
              </a:rPr>
              <a:t>0.781</a:t>
            </a:r>
          </a:p>
        </p:txBody>
      </p:sp>
      <p:sp>
        <p:nvSpPr>
          <p:cNvPr id="10" name="TextBox 9"/>
          <p:cNvSpPr txBox="1"/>
          <p:nvPr/>
        </p:nvSpPr>
        <p:spPr>
          <a:xfrm>
            <a:off x="9784080" y="1874519"/>
            <a:ext cx="1554480" cy="237744"/>
          </a:xfrm>
          <a:prstGeom prst="rect">
            <a:avLst/>
          </a:prstGeom>
          <a:noFill/>
        </p:spPr>
        <p:txBody>
          <a:bodyPr wrap="square">
            <a:spAutoFit/>
          </a:bodyPr>
          <a:lstStyle/>
          <a:p>
            <a:pPr algn="r">
              <a:lnSpc>
                <a:spcPct val="100000"/>
              </a:lnSpc>
            </a:pPr>
            <a:r>
              <a:rPr sz="1150" b="0">
                <a:solidFill>
                  <a:srgbClr val="1A1A1A"/>
                </a:solidFill>
                <a:latin typeface="Georgia"/>
              </a:rPr>
              <a:t>0.777</a:t>
            </a:r>
          </a:p>
        </p:txBody>
      </p:sp>
      <p:sp>
        <p:nvSpPr>
          <p:cNvPr id="11" name="TextBox 10"/>
          <p:cNvSpPr txBox="1"/>
          <p:nvPr/>
        </p:nvSpPr>
        <p:spPr>
          <a:xfrm>
            <a:off x="6309360" y="2148839"/>
            <a:ext cx="1920240" cy="237744"/>
          </a:xfrm>
          <a:prstGeom prst="rect">
            <a:avLst/>
          </a:prstGeom>
          <a:noFill/>
        </p:spPr>
        <p:txBody>
          <a:bodyPr wrap="square">
            <a:spAutoFit/>
          </a:bodyPr>
          <a:lstStyle/>
          <a:p>
            <a:pPr algn="l">
              <a:lnSpc>
                <a:spcPct val="100000"/>
              </a:lnSpc>
            </a:pPr>
            <a:r>
              <a:rPr sz="1150" b="0">
                <a:solidFill>
                  <a:srgbClr val="1A1A1A"/>
                </a:solidFill>
                <a:latin typeface="Georgia"/>
              </a:rPr>
              <a:t>0 px</a:t>
            </a:r>
          </a:p>
        </p:txBody>
      </p:sp>
      <p:sp>
        <p:nvSpPr>
          <p:cNvPr id="12" name="TextBox 11"/>
          <p:cNvSpPr txBox="1"/>
          <p:nvPr/>
        </p:nvSpPr>
        <p:spPr>
          <a:xfrm>
            <a:off x="8229600" y="2148839"/>
            <a:ext cx="1554480" cy="237744"/>
          </a:xfrm>
          <a:prstGeom prst="rect">
            <a:avLst/>
          </a:prstGeom>
          <a:noFill/>
        </p:spPr>
        <p:txBody>
          <a:bodyPr wrap="square">
            <a:spAutoFit/>
          </a:bodyPr>
          <a:lstStyle/>
          <a:p>
            <a:pPr algn="r">
              <a:lnSpc>
                <a:spcPct val="100000"/>
              </a:lnSpc>
            </a:pPr>
            <a:r>
              <a:rPr sz="1150" b="0">
                <a:solidFill>
                  <a:srgbClr val="1A1A1A"/>
                </a:solidFill>
                <a:latin typeface="Georgia"/>
              </a:rPr>
              <a:t>1.205</a:t>
            </a:r>
          </a:p>
        </p:txBody>
      </p:sp>
      <p:sp>
        <p:nvSpPr>
          <p:cNvPr id="13" name="TextBox 12"/>
          <p:cNvSpPr txBox="1"/>
          <p:nvPr/>
        </p:nvSpPr>
        <p:spPr>
          <a:xfrm>
            <a:off x="9784080" y="2148839"/>
            <a:ext cx="1554480" cy="237744"/>
          </a:xfrm>
          <a:prstGeom prst="rect">
            <a:avLst/>
          </a:prstGeom>
          <a:noFill/>
        </p:spPr>
        <p:txBody>
          <a:bodyPr wrap="square">
            <a:spAutoFit/>
          </a:bodyPr>
          <a:lstStyle/>
          <a:p>
            <a:pPr algn="r">
              <a:lnSpc>
                <a:spcPct val="100000"/>
              </a:lnSpc>
            </a:pPr>
            <a:r>
              <a:rPr sz="1150" b="0">
                <a:solidFill>
                  <a:srgbClr val="1A1A1A"/>
                </a:solidFill>
                <a:latin typeface="Georgia"/>
              </a:rPr>
              <a:t>1.176</a:t>
            </a:r>
          </a:p>
        </p:txBody>
      </p:sp>
      <p:sp>
        <p:nvSpPr>
          <p:cNvPr id="14" name="TextBox 13"/>
          <p:cNvSpPr txBox="1"/>
          <p:nvPr/>
        </p:nvSpPr>
        <p:spPr>
          <a:xfrm>
            <a:off x="6309360" y="2423159"/>
            <a:ext cx="1920240" cy="237744"/>
          </a:xfrm>
          <a:prstGeom prst="rect">
            <a:avLst/>
          </a:prstGeom>
          <a:noFill/>
        </p:spPr>
        <p:txBody>
          <a:bodyPr wrap="square">
            <a:spAutoFit/>
          </a:bodyPr>
          <a:lstStyle/>
          <a:p>
            <a:pPr algn="l">
              <a:lnSpc>
                <a:spcPct val="100000"/>
              </a:lnSpc>
            </a:pPr>
            <a:r>
              <a:rPr sz="1150" b="0">
                <a:solidFill>
                  <a:srgbClr val="1A1A1A"/>
                </a:solidFill>
                <a:latin typeface="Georgia"/>
              </a:rPr>
              <a:t>8 px</a:t>
            </a:r>
          </a:p>
        </p:txBody>
      </p:sp>
      <p:sp>
        <p:nvSpPr>
          <p:cNvPr id="15" name="TextBox 14"/>
          <p:cNvSpPr txBox="1"/>
          <p:nvPr/>
        </p:nvSpPr>
        <p:spPr>
          <a:xfrm>
            <a:off x="8229600" y="2423159"/>
            <a:ext cx="1554480" cy="237744"/>
          </a:xfrm>
          <a:prstGeom prst="rect">
            <a:avLst/>
          </a:prstGeom>
          <a:noFill/>
        </p:spPr>
        <p:txBody>
          <a:bodyPr wrap="square">
            <a:spAutoFit/>
          </a:bodyPr>
          <a:lstStyle/>
          <a:p>
            <a:pPr algn="r">
              <a:lnSpc>
                <a:spcPct val="100000"/>
              </a:lnSpc>
            </a:pPr>
            <a:r>
              <a:rPr sz="1150" b="0">
                <a:solidFill>
                  <a:srgbClr val="1A1A1A"/>
                </a:solidFill>
                <a:latin typeface="Georgia"/>
              </a:rPr>
              <a:t>0.901</a:t>
            </a:r>
          </a:p>
        </p:txBody>
      </p:sp>
      <p:sp>
        <p:nvSpPr>
          <p:cNvPr id="16" name="TextBox 15"/>
          <p:cNvSpPr txBox="1"/>
          <p:nvPr/>
        </p:nvSpPr>
        <p:spPr>
          <a:xfrm>
            <a:off x="9784080" y="242315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0.881</a:t>
            </a:r>
          </a:p>
        </p:txBody>
      </p:sp>
      <p:sp>
        <p:nvSpPr>
          <p:cNvPr id="17" name="TextBox 16"/>
          <p:cNvSpPr txBox="1"/>
          <p:nvPr/>
        </p:nvSpPr>
        <p:spPr>
          <a:xfrm>
            <a:off x="6309360" y="2697479"/>
            <a:ext cx="1920240" cy="237744"/>
          </a:xfrm>
          <a:prstGeom prst="rect">
            <a:avLst/>
          </a:prstGeom>
          <a:noFill/>
        </p:spPr>
        <p:txBody>
          <a:bodyPr wrap="square">
            <a:spAutoFit/>
          </a:bodyPr>
          <a:lstStyle/>
          <a:p>
            <a:pPr algn="l">
              <a:lnSpc>
                <a:spcPct val="100000"/>
              </a:lnSpc>
            </a:pPr>
            <a:r>
              <a:rPr sz="1150" b="0">
                <a:solidFill>
                  <a:srgbClr val="1A1A1A"/>
                </a:solidFill>
                <a:latin typeface="Georgia"/>
              </a:rPr>
              <a:t>16 px</a:t>
            </a:r>
          </a:p>
        </p:txBody>
      </p:sp>
      <p:sp>
        <p:nvSpPr>
          <p:cNvPr id="18" name="TextBox 17"/>
          <p:cNvSpPr txBox="1"/>
          <p:nvPr/>
        </p:nvSpPr>
        <p:spPr>
          <a:xfrm>
            <a:off x="8229600" y="269747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0.872</a:t>
            </a:r>
          </a:p>
        </p:txBody>
      </p:sp>
      <p:sp>
        <p:nvSpPr>
          <p:cNvPr id="19" name="TextBox 18"/>
          <p:cNvSpPr txBox="1"/>
          <p:nvPr/>
        </p:nvSpPr>
        <p:spPr>
          <a:xfrm>
            <a:off x="9784080" y="269747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0.865</a:t>
            </a:r>
          </a:p>
        </p:txBody>
      </p:sp>
      <p:sp>
        <p:nvSpPr>
          <p:cNvPr id="20" name="TextBox 19"/>
          <p:cNvSpPr txBox="1"/>
          <p:nvPr/>
        </p:nvSpPr>
        <p:spPr>
          <a:xfrm>
            <a:off x="6309360" y="2971799"/>
            <a:ext cx="1920240" cy="237744"/>
          </a:xfrm>
          <a:prstGeom prst="rect">
            <a:avLst/>
          </a:prstGeom>
          <a:noFill/>
        </p:spPr>
        <p:txBody>
          <a:bodyPr wrap="square">
            <a:spAutoFit/>
          </a:bodyPr>
          <a:lstStyle/>
          <a:p>
            <a:pPr algn="l">
              <a:lnSpc>
                <a:spcPct val="100000"/>
              </a:lnSpc>
            </a:pPr>
            <a:r>
              <a:rPr sz="1150" b="0">
                <a:solidFill>
                  <a:srgbClr val="1A1A1A"/>
                </a:solidFill>
                <a:latin typeface="Georgia"/>
              </a:rPr>
              <a:t>24 px</a:t>
            </a:r>
          </a:p>
        </p:txBody>
      </p:sp>
      <p:sp>
        <p:nvSpPr>
          <p:cNvPr id="21" name="TextBox 20"/>
          <p:cNvSpPr txBox="1"/>
          <p:nvPr/>
        </p:nvSpPr>
        <p:spPr>
          <a:xfrm>
            <a:off x="8229600" y="297179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0.879</a:t>
            </a:r>
          </a:p>
        </p:txBody>
      </p:sp>
      <p:sp>
        <p:nvSpPr>
          <p:cNvPr id="22" name="TextBox 21"/>
          <p:cNvSpPr txBox="1"/>
          <p:nvPr/>
        </p:nvSpPr>
        <p:spPr>
          <a:xfrm>
            <a:off x="9784080" y="297179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0.854</a:t>
            </a:r>
          </a:p>
        </p:txBody>
      </p:sp>
      <p:sp>
        <p:nvSpPr>
          <p:cNvPr id="23" name="TextBox 22"/>
          <p:cNvSpPr txBox="1"/>
          <p:nvPr/>
        </p:nvSpPr>
        <p:spPr>
          <a:xfrm>
            <a:off x="6309360" y="3246119"/>
            <a:ext cx="1920240" cy="237744"/>
          </a:xfrm>
          <a:prstGeom prst="rect">
            <a:avLst/>
          </a:prstGeom>
          <a:noFill/>
        </p:spPr>
        <p:txBody>
          <a:bodyPr wrap="square">
            <a:spAutoFit/>
          </a:bodyPr>
          <a:lstStyle/>
          <a:p>
            <a:pPr algn="l">
              <a:lnSpc>
                <a:spcPct val="100000"/>
              </a:lnSpc>
            </a:pPr>
            <a:r>
              <a:rPr sz="1150" b="0">
                <a:solidFill>
                  <a:srgbClr val="1A1A1A"/>
                </a:solidFill>
                <a:latin typeface="Georgia"/>
              </a:rPr>
              <a:t>32 px</a:t>
            </a:r>
          </a:p>
        </p:txBody>
      </p:sp>
      <p:sp>
        <p:nvSpPr>
          <p:cNvPr id="24" name="TextBox 23"/>
          <p:cNvSpPr txBox="1"/>
          <p:nvPr/>
        </p:nvSpPr>
        <p:spPr>
          <a:xfrm>
            <a:off x="8229600" y="324611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0.834</a:t>
            </a:r>
          </a:p>
        </p:txBody>
      </p:sp>
      <p:sp>
        <p:nvSpPr>
          <p:cNvPr id="25" name="TextBox 24"/>
          <p:cNvSpPr txBox="1"/>
          <p:nvPr/>
        </p:nvSpPr>
        <p:spPr>
          <a:xfrm>
            <a:off x="9784080" y="3246119"/>
            <a:ext cx="1554480" cy="237744"/>
          </a:xfrm>
          <a:prstGeom prst="rect">
            <a:avLst/>
          </a:prstGeom>
          <a:noFill/>
        </p:spPr>
        <p:txBody>
          <a:bodyPr wrap="square">
            <a:spAutoFit/>
          </a:bodyPr>
          <a:lstStyle/>
          <a:p>
            <a:pPr algn="r">
              <a:lnSpc>
                <a:spcPct val="100000"/>
              </a:lnSpc>
            </a:pPr>
            <a:r>
              <a:rPr sz="1150" b="0">
                <a:solidFill>
                  <a:srgbClr val="1A1A1A"/>
                </a:solidFill>
                <a:latin typeface="Georgia"/>
              </a:rPr>
              <a:t>0.814</a:t>
            </a:r>
          </a:p>
        </p:txBody>
      </p:sp>
      <p:sp>
        <p:nvSpPr>
          <p:cNvPr id="26" name="TextBox 25"/>
          <p:cNvSpPr txBox="1"/>
          <p:nvPr/>
        </p:nvSpPr>
        <p:spPr>
          <a:xfrm>
            <a:off x="6309360" y="3520439"/>
            <a:ext cx="1920240" cy="237744"/>
          </a:xfrm>
          <a:prstGeom prst="rect">
            <a:avLst/>
          </a:prstGeom>
          <a:noFill/>
        </p:spPr>
        <p:txBody>
          <a:bodyPr wrap="square">
            <a:spAutoFit/>
          </a:bodyPr>
          <a:lstStyle/>
          <a:p>
            <a:pPr algn="l">
              <a:lnSpc>
                <a:spcPct val="100000"/>
              </a:lnSpc>
            </a:pPr>
            <a:r>
              <a:rPr sz="1150" b="0">
                <a:solidFill>
                  <a:srgbClr val="1A1A1A"/>
                </a:solidFill>
                <a:latin typeface="Georgia"/>
              </a:rPr>
              <a:t>64 px</a:t>
            </a:r>
          </a:p>
        </p:txBody>
      </p:sp>
      <p:sp>
        <p:nvSpPr>
          <p:cNvPr id="27" name="TextBox 26"/>
          <p:cNvSpPr txBox="1"/>
          <p:nvPr/>
        </p:nvSpPr>
        <p:spPr>
          <a:xfrm>
            <a:off x="8229600" y="3520439"/>
            <a:ext cx="1554480" cy="237744"/>
          </a:xfrm>
          <a:prstGeom prst="rect">
            <a:avLst/>
          </a:prstGeom>
          <a:noFill/>
        </p:spPr>
        <p:txBody>
          <a:bodyPr wrap="square">
            <a:spAutoFit/>
          </a:bodyPr>
          <a:lstStyle/>
          <a:p>
            <a:pPr algn="r">
              <a:lnSpc>
                <a:spcPct val="100000"/>
              </a:lnSpc>
            </a:pPr>
            <a:r>
              <a:rPr sz="1150" b="0">
                <a:solidFill>
                  <a:srgbClr val="1A1A1A"/>
                </a:solidFill>
                <a:latin typeface="Georgia"/>
              </a:rPr>
              <a:t>0.793</a:t>
            </a:r>
          </a:p>
        </p:txBody>
      </p:sp>
      <p:sp>
        <p:nvSpPr>
          <p:cNvPr id="28" name="TextBox 27"/>
          <p:cNvSpPr txBox="1"/>
          <p:nvPr/>
        </p:nvSpPr>
        <p:spPr>
          <a:xfrm>
            <a:off x="9784080" y="3520439"/>
            <a:ext cx="1554480" cy="237744"/>
          </a:xfrm>
          <a:prstGeom prst="rect">
            <a:avLst/>
          </a:prstGeom>
          <a:noFill/>
        </p:spPr>
        <p:txBody>
          <a:bodyPr wrap="square">
            <a:spAutoFit/>
          </a:bodyPr>
          <a:lstStyle/>
          <a:p>
            <a:pPr algn="r">
              <a:lnSpc>
                <a:spcPct val="100000"/>
              </a:lnSpc>
            </a:pPr>
            <a:r>
              <a:rPr sz="1150" b="0">
                <a:solidFill>
                  <a:srgbClr val="1A1A1A"/>
                </a:solidFill>
                <a:latin typeface="Georgia"/>
              </a:rPr>
              <a:t>0.778</a:t>
            </a:r>
          </a:p>
        </p:txBody>
      </p:sp>
      <p:sp>
        <p:nvSpPr>
          <p:cNvPr id="29" name="TextBox 28"/>
          <p:cNvSpPr txBox="1"/>
          <p:nvPr/>
        </p:nvSpPr>
        <p:spPr>
          <a:xfrm>
            <a:off x="6309360" y="4251960"/>
            <a:ext cx="5303520" cy="1920240"/>
          </a:xfrm>
          <a:prstGeom prst="rect">
            <a:avLst/>
          </a:prstGeom>
          <a:noFill/>
        </p:spPr>
        <p:txBody>
          <a:bodyPr wrap="square">
            <a:spAutoFit/>
          </a:bodyPr>
          <a:lstStyle/>
          <a:p>
            <a:pPr algn="l">
              <a:lnSpc>
                <a:spcPct val="116000"/>
              </a:lnSpc>
            </a:pPr>
            <a:r>
              <a:rPr sz="1100" b="0">
                <a:solidFill>
                  <a:srgbClr val="1A1A1A"/>
                </a:solidFill>
                <a:latin typeface="Georgia"/>
              </a:rPr>
              <a:t>v3 is ahead at all seven settings, by 0.004 to 0.029 px.</a:t>
            </a:r>
          </a:p>
          <a:p>
            <a:pPr algn="l">
              <a:lnSpc>
                <a:spcPct val="116000"/>
              </a:lnSpc>
            </a:pPr>
            <a:r>
              <a:rPr sz="1100" b="0">
                <a:solidFill>
                  <a:srgbClr val="1A1A1A"/>
                </a:solidFill>
                <a:latin typeface="Georgia"/>
              </a:rPr>
              <a:t/>
            </a:r>
          </a:p>
          <a:p>
            <a:pPr algn="l">
              <a:lnSpc>
                <a:spcPct val="116000"/>
              </a:lnSpc>
            </a:pPr>
            <a:r>
              <a:rPr sz="1100" b="0">
                <a:solidFill>
                  <a:srgbClr val="1A1A1A"/>
                </a:solidFill>
                <a:latin typeface="Georgia"/>
              </a:rPr>
              <a:t>This is the cleanest comparison available: v2 trained on</a:t>
            </a:r>
          </a:p>
          <a:p>
            <a:pPr algn="l">
              <a:lnSpc>
                <a:spcPct val="116000"/>
              </a:lnSpc>
            </a:pPr>
            <a:r>
              <a:rPr sz="1100" b="0">
                <a:solidFill>
                  <a:srgbClr val="1A1A1A"/>
                </a:solidFill>
                <a:latin typeface="Georgia"/>
              </a:rPr>
              <a:t>FlyingThings, v3 on FlyingChairs, VKITTI2 and Sintel, and</a:t>
            </a:r>
          </a:p>
          <a:p>
            <a:pPr algn="l">
              <a:lnSpc>
                <a:spcPct val="116000"/>
              </a:lnSpc>
            </a:pPr>
            <a:r>
              <a:rPr sz="1100" b="0">
                <a:solidFill>
                  <a:srgbClr val="1A1A1A"/>
                </a:solidFill>
                <a:latin typeface="Georgia"/>
              </a:rPr>
              <a:t>neither has seen aerial imagery. Every other table in this</a:t>
            </a:r>
          </a:p>
          <a:p>
            <a:pPr algn="l">
              <a:lnSpc>
                <a:spcPct val="116000"/>
              </a:lnSpc>
            </a:pPr>
            <a:r>
              <a:rPr sz="1100" b="0">
                <a:solidFill>
                  <a:srgbClr val="1A1A1A"/>
                </a:solidFill>
                <a:latin typeface="Georgia"/>
              </a:rPr>
              <a:t>deck is measured on a domain v3 trained on.</a:t>
            </a:r>
          </a:p>
          <a:p>
            <a:pPr algn="l">
              <a:lnSpc>
                <a:spcPct val="116000"/>
              </a:lnSpc>
            </a:pPr>
            <a:r>
              <a:rPr sz="1100" b="0">
                <a:solidFill>
                  <a:srgbClr val="1A1A1A"/>
                </a:solidFill>
                <a:latin typeface="Georgia"/>
              </a:rPr>
              <a:t/>
            </a:r>
          </a:p>
          <a:p>
            <a:pPr algn="l">
              <a:lnSpc>
                <a:spcPct val="116000"/>
              </a:lnSpc>
            </a:pPr>
            <a:r>
              <a:rPr sz="1100" b="0">
                <a:solidFill>
                  <a:srgbClr val="1A1A1A"/>
                </a:solidFill>
                <a:latin typeface="Georgia"/>
              </a:rPr>
              <a:t>Read it as consistent rather than large. Forty pairs, one</a:t>
            </a:r>
          </a:p>
          <a:p>
            <a:pPr algn="l">
              <a:lnSpc>
                <a:spcPct val="116000"/>
              </a:lnSpc>
            </a:pPr>
            <a:r>
              <a:rPr sz="1100" b="0">
                <a:solidFill>
                  <a:srgbClr val="1A1A1A"/>
                </a:solidFill>
                <a:latin typeface="Georgia"/>
              </a:rPr>
              <a:t>seed, and v3 remains slightly worse on large-motion pixels</a:t>
            </a:r>
          </a:p>
          <a:p>
            <a:pPr algn="l">
              <a:lnSpc>
                <a:spcPct val="116000"/>
              </a:lnSpc>
            </a:pPr>
            <a:r>
              <a:rPr sz="1100" b="0">
                <a:solidFill>
                  <a:srgbClr val="1A1A1A"/>
                </a:solidFill>
                <a:latin typeface="Georgia"/>
              </a:rPr>
              <a:t>(7.2% failures against 6.5%). Better on typical pixels,</a:t>
            </a:r>
          </a:p>
          <a:p>
            <a:pPr algn="l">
              <a:lnSpc>
                <a:spcPct val="116000"/>
              </a:lnSpc>
            </a:pPr>
            <a:r>
              <a:rPr sz="1100" b="0">
                <a:solidFill>
                  <a:srgbClr val="1A1A1A"/>
                </a:solidFill>
                <a:latin typeface="Georgia"/>
              </a:rPr>
              <a:t>not on the hard ones.</a:t>
            </a:r>
          </a:p>
        </p:txBody>
      </p:sp>
      <p:sp>
        <p:nvSpPr>
          <p:cNvPr id="30" name="TextBox 29"/>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1" name="TextBox 30"/>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new object appears: 1.7 ms, against 7.3 for a new crop</a:t>
            </a:r>
          </a:p>
        </p:txBody>
      </p:sp>
      <p:pic>
        <p:nvPicPr>
          <p:cNvPr id="4" name="Picture 3" descr="scenario3_marginal.png"/>
          <p:cNvPicPr>
            <a:picLocks noChangeAspect="1"/>
          </p:cNvPicPr>
          <p:nvPr/>
        </p:nvPicPr>
        <p:blipFill>
          <a:blip r:embed="rId2"/>
          <a:stretch>
            <a:fillRect/>
          </a:stretch>
        </p:blipFill>
        <p:spPr>
          <a:xfrm>
            <a:off x="1234440" y="1463040"/>
            <a:ext cx="9692640" cy="3862969"/>
          </a:xfrm>
          <a:prstGeom prst="rect">
            <a:avLst/>
          </a:prstGeom>
        </p:spPr>
      </p:pic>
      <p:sp>
        <p:nvSpPr>
          <p:cNvPr id="5" name="TextBox 4"/>
          <p:cNvSpPr txBox="1"/>
          <p:nvPr/>
        </p:nvSpPr>
        <p:spPr>
          <a:xfrm>
            <a:off x="685800" y="5440680"/>
            <a:ext cx="10881360" cy="1005840"/>
          </a:xfrm>
          <a:prstGeom prst="rect">
            <a:avLst/>
          </a:prstGeom>
          <a:noFill/>
        </p:spPr>
        <p:txBody>
          <a:bodyPr wrap="square">
            <a:spAutoFit/>
          </a:bodyPr>
          <a:lstStyle/>
          <a:p>
            <a:pPr algn="l">
              <a:lnSpc>
                <a:spcPct val="115000"/>
              </a:lnSpc>
            </a:pPr>
            <a:r>
              <a:rPr sz="1150" b="0">
                <a:solidFill>
                  <a:srgbClr val="1A1A1A"/>
                </a:solidFill>
                <a:latin typeface="Georgia"/>
              </a:rPr>
              <a:t>The third scenario: a frame is already being processed when something new enters the field of view. Because the</a:t>
            </a:r>
          </a:p>
          <a:p>
            <a:pPr algn="l">
              <a:lnSpc>
                <a:spcPct val="115000"/>
              </a:lnSpc>
            </a:pPr>
            <a:r>
              <a:rPr sz="1150" b="0">
                <a:solidFill>
                  <a:srgbClr val="1A1A1A"/>
                </a:solidFill>
                <a:latin typeface="Georgia"/>
              </a:rPr>
              <a:t>coarse pass is cached, the decoder answers for 1.7 ms. A cropped pipeline has to run an entire new pass, 7.3 ms,</a:t>
            </a:r>
          </a:p>
          <a:p>
            <a:pPr algn="l">
              <a:lnSpc>
                <a:spcPct val="115000"/>
              </a:lnSpc>
            </a:pPr>
            <a:r>
              <a:rPr sz="1150" b="0">
                <a:solidFill>
                  <a:srgbClr val="1A1A1A"/>
                </a:solidFill>
                <a:latin typeface="Georgia"/>
              </a:rPr>
              <a:t>and is markedly less accurate doing it because a fresh crop loses the global context that finds large motion.</a:t>
            </a:r>
          </a:p>
          <a:p>
            <a:pPr algn="l">
              <a:lnSpc>
                <a:spcPct val="115000"/>
              </a:lnSpc>
            </a:pPr>
            <a:r>
              <a:rPr sz="1150" b="0">
                <a:solidFill>
                  <a:srgbClr val="1A1A1A"/>
                </a:solidFill>
                <a:latin typeface="Georgia"/>
              </a:rPr>
              <a:t>v2 keeps no state between calls, so it has nothing to answer from.</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33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1.3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best v3 2.384 vs 2.324; every config above v2</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like-for-like 2.500, i.e. 7.6% behind</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11%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27x cheaper (1.3 vs 33.3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a laptop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1.3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from a laptop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and checkpoint noise the size of the effects</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Step 90k vs 100k of the same run moves EPE by up to 0.038 px, reversing two of the orderings. Nothing finer than about 0.05 px is resolvable here.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