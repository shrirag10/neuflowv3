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version of where the project is. I replaced NeuFlow v2's fixed upsampler with a decoder you can query at any coordinate. The headline result is that this buys three capabilities v2 does not have, and costs 2.6 percent of mean accuracy, and I will show you both sides. The most interesting result is the third slide of results, on selective accuracy, so I would like to get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and what that costs.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V100 it runs a full frame in 19.3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speed I want to be precise about which claim I am making. Dense output is fourteen percent slower, and that mode is not what the decoder is for. A first sparse query is level with v2, because eighty-seven percent of the cost is the coarse pass, which both share and which cannot be skipped since global matching needs the whole image. The win is the fourth bar. Asking a second question about a frame you have already processed costs 2.6 milliseconds against v2's 19.3, because v2 keeps no state and has to redo everything. Anything that revisits a frame gets that: iterative registration, RANSAC refinement, a user inspecting a scene.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6.7 in the least confident, a twenty-one fold span. It is not perfectly correlated, r is 0.345,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most like your reaction to. The accuracy table earlier reports mean error over every pixel, which is the only operating point v2 has, because it cannot tell you which of its outputs to trust. v3 can, so instead of a point it has a curve. Discard the least confident fifth of queries and error on what remains falls to 1.06 pixels, against v2's 2.32 over the whole frame. So more than twice as accurate over eighty percent of the image. Keep only the most confident fifth and it is 0.48, close to five times better. Why this is not just a statistical trick: for registration and mapping you are choosing a few hundred points anyway, so declining to answer where the model is unsure costs you nothing. Same 2.35 million queries as the calibration bins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platform finding, and I want to be clear that it applies to any flow network, not just mine. Crop to a region with a margin and you keep full resolution where you are looking. The accuracy cost is small and fixed: thirty four thousandths of a pixel at a thirty-two pixel margin, identical on both devices because it is the same computation. The speed benefit is not fixed at all. On the laptop GPU it is four point four times. On the V100 it is one point one eight, and at large margins it is actually slower. The reason is that the V100 already does the whole frame in under eighteen milliseconds and is bound by the number of kernel launches rather than the number of pixels, and cropping does not reduce the launch count. The useful part is the direction: this technique pays off precisely on the constrained hardware a drone would carry, and looks pointless on a datacentre GPU. So the number has to be quoted per device. The margin itself follows a rule: it needs to be about one frame of expected motion, which is speed over frame rate. Below that, global matching loses the context it needs and a quarter of the large-motion pixels fail.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scenario you described where the repeat query matters, and it is the one result that is specific to this architecture rather than to cropping. A frame is already in flight, and a new object enters the field of view. Because the coarse pass is cached, answering costs one point seven milliseconds for eight hundred points. A cropped pipeline cannot reuse anything: the new object is outside its box, so it runs a whole new pass at seven point three milliseconds, four times more, and the answer is worse, three point six pixels against two point one, because a fresh crop has lost the surrounding context. NeuFlow v2 keeps no state at all between calls. The general point is that this buys you the ability to answer a question you did not know you would have when the frame arrived, which on a moving platform is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V100 or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but not fixed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Everything that follows is measured on held-out VKITTI2 scenes,</a:t>
            </a:r>
          </a:p>
          <a:p>
            <a:pPr algn="l">
              <a:lnSpc>
                <a:spcPct val="115000"/>
              </a:lnSpc>
            </a:pPr>
            <a:r>
              <a:rPr sz="1200" b="0">
                <a:solidFill>
                  <a:srgbClr val="1A1A1A"/>
                </a:solidFill>
                <a:latin typeface="Georgia"/>
              </a:rPr>
              <a:t>1,174 pairs, 460 million pixels.</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(V100,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19.3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(17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(2.6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2.6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decoder costs 2.6 percent on the mean</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Every v3 configuration sits above v2.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Best: 2.384 against v2 at 2.324, so 2.6%</a:t>
            </a:r>
          </a:p>
          <a:p>
            <a:pPr algn="l">
              <a:lnSpc>
                <a:spcPct val="118000"/>
              </a:lnSpc>
            </a:pPr>
            <a:r>
              <a:rPr sz="1150" b="0">
                <a:solidFill>
                  <a:srgbClr val="1A1A1A"/>
                </a:solidFill>
                <a:latin typeface="Georgia"/>
              </a:rPr>
              <a:t>worse on mean error and 1.5 points worse</a:t>
            </a:r>
          </a:p>
          <a:p>
            <a:pPr algn="l">
              <a:lnSpc>
                <a:spcPct val="118000"/>
              </a:lnSpc>
            </a:pPr>
            <a:r>
              <a:rPr sz="1150" b="0">
                <a:solidFill>
                  <a:srgbClr val="1A1A1A"/>
                </a:solidFill>
                <a:latin typeface="Georgia"/>
              </a:rPr>
              <a:t>on 1-pixel accuracy.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Like-for-like, trained on FlyingChairs only</a:t>
            </a:r>
          </a:p>
          <a:p>
            <a:pPr algn="l">
              <a:lnSpc>
                <a:spcPct val="118000"/>
              </a:lnSpc>
            </a:pPr>
            <a:r>
              <a:rPr sz="1150" b="0">
                <a:solidFill>
                  <a:srgbClr val="1A1A1A"/>
                </a:solidFill>
                <a:latin typeface="Georgia"/>
              </a:rPr>
              <a:t>as v2 was, it is 2.500, or 7.6% behind.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implicit decoder is less accurate than</a:t>
            </a:r>
          </a:p>
          <a:p>
            <a:pPr algn="l">
              <a:lnSpc>
                <a:spcPct val="118000"/>
              </a:lnSpc>
            </a:pPr>
            <a:r>
              <a:rPr sz="1150" b="0">
                <a:solidFill>
                  <a:srgbClr val="1A1A1A"/>
                </a:solidFill>
                <a:latin typeface="Georgia"/>
              </a:rPr>
              <a:t>the convex upsampler it replaces. The cause</a:t>
            </a:r>
          </a:p>
          <a:p>
            <a:pPr algn="l">
              <a:lnSpc>
                <a:spcPct val="118000"/>
              </a:lnSpc>
            </a:pPr>
            <a:r>
              <a:rPr sz="1150" b="0">
                <a:solidFill>
                  <a:srgbClr val="1A1A1A"/>
                </a:solidFill>
                <a:latin typeface="Georgia"/>
              </a:rPr>
              <a:t>is diagnosed and has a proposed fix.</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error over every pixel is also the</a:t>
            </a:r>
          </a:p>
          <a:p>
            <a:pPr algn="l">
              <a:lnSpc>
                <a:spcPct val="118000"/>
              </a:lnSpc>
            </a:pPr>
            <a:r>
              <a:rPr sz="1150" b="0">
                <a:solidFill>
                  <a:srgbClr val="1A1A1A"/>
                </a:solidFill>
                <a:latin typeface="Georgia"/>
              </a:rPr>
              <a:t>case the decoder is least suited to. Two</a:t>
            </a:r>
          </a:p>
          <a:p>
            <a:pPr algn="l">
              <a:lnSpc>
                <a:spcPct val="118000"/>
              </a:lnSpc>
            </a:pPr>
            <a:r>
              <a:rPr sz="1150" b="0">
                <a:solidFill>
                  <a:srgbClr val="1A1A1A"/>
                </a:solidFill>
                <a:latin typeface="Georgia"/>
              </a:rPr>
              <a:t>slides on, the same model is twice as</a:t>
            </a:r>
          </a:p>
          <a:p>
            <a:pPr algn="l">
              <a:lnSpc>
                <a:spcPct val="118000"/>
              </a:lnSpc>
            </a:pPr>
            <a:r>
              <a:rPr sz="1150" b="0">
                <a:solidFill>
                  <a:srgbClr val="1A1A1A"/>
                </a:solidFill>
                <a:latin typeface="Georgia"/>
              </a:rPr>
              <a:t>accurate as v2 over 80 percent of the</a:t>
            </a:r>
          </a:p>
          <a:p>
            <a:pPr algn="l">
              <a:lnSpc>
                <a:spcPct val="118000"/>
              </a:lnSpc>
            </a:pPr>
            <a:r>
              <a:rPr sz="1150" b="0">
                <a:solidFill>
                  <a:srgbClr val="1A1A1A"/>
                </a:solidFill>
                <a:latin typeface="Georgia"/>
              </a:rPr>
              <a:t>frame, once it is allowed to abstain.</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Front end verified bit-identical to v2 on all</a:t>
            </a:r>
          </a:p>
          <a:p>
            <a:pPr algn="ctr"/>
            <a:r>
              <a:rPr sz="1050" b="0">
                <a:solidFill>
                  <a:srgbClr val="1A1A1A"/>
                </a:solidFill>
                <a:latin typeface="Georgia"/>
              </a:rPr>
              <a:t>137 shared tensors, so this isolates the</a:t>
            </a:r>
          </a:p>
          <a:p>
            <a:pPr algn="ctr"/>
            <a:r>
              <a:rPr sz="1050" b="0">
                <a:solidFill>
                  <a:srgbClr val="1A1A1A"/>
                </a:solidFill>
                <a:latin typeface="Georgia"/>
              </a:rPr>
              <a:t>decoder and nothing else.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repeat queries are 7.7x cheaper</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output: v3 is 14%</a:t>
            </a:r>
          </a:p>
          <a:p>
            <a:pPr algn="l">
              <a:lnSpc>
                <a:spcPct val="118000"/>
              </a:lnSpc>
            </a:pPr>
            <a:r>
              <a:rPr sz="1150" b="0">
                <a:solidFill>
                  <a:srgbClr val="1A1A1A"/>
                </a:solidFill>
                <a:latin typeface="Georgia"/>
              </a:rPr>
              <a:t>slower. That mode is not</a:t>
            </a:r>
          </a:p>
          <a:p>
            <a:pPr algn="l">
              <a:lnSpc>
                <a:spcPct val="118000"/>
              </a:lnSpc>
            </a:pPr>
            <a:r>
              <a:rPr sz="1150" b="0">
                <a:solidFill>
                  <a:srgbClr val="1A1A1A"/>
                </a:solidFill>
                <a:latin typeface="Georgia"/>
              </a:rPr>
              <a:t>what the decoder is for.</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first sparse query is</a:t>
            </a:r>
          </a:p>
          <a:p>
            <a:pPr algn="l">
              <a:lnSpc>
                <a:spcPct val="118000"/>
              </a:lnSpc>
            </a:pPr>
            <a:r>
              <a:rPr sz="1150" b="0">
                <a:solidFill>
                  <a:srgbClr val="1A1A1A"/>
                </a:solidFill>
                <a:latin typeface="Georgia"/>
              </a:rPr>
              <a:t>level with v2: the coarse</a:t>
            </a:r>
          </a:p>
          <a:p>
            <a:pPr algn="l">
              <a:lnSpc>
                <a:spcPct val="118000"/>
              </a:lnSpc>
            </a:pPr>
            <a:r>
              <a:rPr sz="1150" b="0">
                <a:solidFill>
                  <a:srgbClr val="1A1A1A"/>
                </a:solidFill>
                <a:latin typeface="Georgia"/>
              </a:rPr>
              <a:t>pass dominates and is</a:t>
            </a:r>
          </a:p>
          <a:p>
            <a:pPr algn="l">
              <a:lnSpc>
                <a:spcPct val="118000"/>
              </a:lnSpc>
            </a:pPr>
            <a:r>
              <a:rPr sz="1150" b="0">
                <a:solidFill>
                  <a:srgbClr val="1A1A1A"/>
                </a:solidFill>
                <a:latin typeface="Georgia"/>
              </a:rPr>
              <a:t>shared by both.</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Everything after the first</a:t>
            </a:r>
          </a:p>
          <a:p>
            <a:pPr algn="l">
              <a:lnSpc>
                <a:spcPct val="118000"/>
              </a:lnSpc>
            </a:pPr>
            <a:r>
              <a:rPr sz="1150" b="0">
                <a:solidFill>
                  <a:srgbClr val="1A1A1A"/>
                </a:solidFill>
                <a:latin typeface="Georgia"/>
              </a:rPr>
              <a:t>query is where v3 wins.</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2.6 ms against 19.3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0.48 px to 7.10 px,</a:t>
            </a:r>
          </a:p>
          <a:p>
            <a:pPr algn="l">
              <a:lnSpc>
                <a:spcPct val="118000"/>
              </a:lnSpc>
            </a:pPr>
            <a:r>
              <a:rPr sz="1150" b="0">
                <a:solidFill>
                  <a:srgbClr val="1A1A1A"/>
                </a:solidFill>
                <a:latin typeface="Georgia"/>
              </a:rPr>
              <a:t>a 15x span. Pearson r = 0.318 over</a:t>
            </a:r>
          </a:p>
          <a:p>
            <a:pPr algn="l">
              <a:lnSpc>
                <a:spcPct val="118000"/>
              </a:lnSpc>
            </a:pPr>
            <a:r>
              <a:rPr sz="1150" b="0">
                <a:solidFill>
                  <a:srgbClr val="1A1A1A"/>
                </a:solidFill>
                <a:latin typeface="Georgia"/>
              </a:rPr>
              <a:t>2,348,000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Confidence buys the accuracy back: 2.2x better over 80% of the frame</a:t>
            </a:r>
          </a:p>
        </p:txBody>
      </p:sp>
      <p:pic>
        <p:nvPicPr>
          <p:cNvPr id="4" name="Picture 3" descr="selective_accuracy.png"/>
          <p:cNvPicPr>
            <a:picLocks noChangeAspect="1"/>
          </p:cNvPicPr>
          <p:nvPr/>
        </p:nvPicPr>
        <p:blipFill>
          <a:blip r:embed="rId2"/>
          <a:stretch>
            <a:fillRect/>
          </a:stretch>
        </p:blipFill>
        <p:spPr>
          <a:xfrm>
            <a:off x="731520" y="1463040"/>
            <a:ext cx="7498079" cy="4068107"/>
          </a:xfrm>
          <a:prstGeom prst="rect">
            <a:avLst/>
          </a:prstGeom>
        </p:spPr>
      </p:pic>
      <p:sp>
        <p:nvSpPr>
          <p:cNvPr id="5" name="TextBox 4"/>
          <p:cNvSpPr txBox="1"/>
          <p:nvPr/>
        </p:nvSpPr>
        <p:spPr>
          <a:xfrm>
            <a:off x="8549640" y="1645920"/>
            <a:ext cx="3200400" cy="3291840"/>
          </a:xfrm>
          <a:prstGeom prst="rect">
            <a:avLst/>
          </a:prstGeom>
          <a:noFill/>
        </p:spPr>
        <p:txBody>
          <a:bodyPr wrap="square">
            <a:spAutoFit/>
          </a:bodyPr>
          <a:lstStyle/>
          <a:p>
            <a:pPr algn="l">
              <a:lnSpc>
                <a:spcPct val="118000"/>
              </a:lnSpc>
            </a:pPr>
            <a:r>
              <a:rPr sz="1150" b="0">
                <a:solidFill>
                  <a:srgbClr val="1A1A1A"/>
                </a:solidFill>
                <a:latin typeface="Georgia"/>
              </a:rPr>
              <a:t>Mean error over every pixel is</a:t>
            </a:r>
          </a:p>
          <a:p>
            <a:pPr algn="l">
              <a:lnSpc>
                <a:spcPct val="118000"/>
              </a:lnSpc>
            </a:pPr>
            <a:r>
              <a:rPr sz="1150" b="0">
                <a:solidFill>
                  <a:srgbClr val="1A1A1A"/>
                </a:solidFill>
                <a:latin typeface="Georgia"/>
              </a:rPr>
              <a:t>one operating point, and it is</a:t>
            </a:r>
          </a:p>
          <a:p>
            <a:pPr algn="l">
              <a:lnSpc>
                <a:spcPct val="118000"/>
              </a:lnSpc>
            </a:pPr>
            <a:r>
              <a:rPr sz="1150" b="0">
                <a:solidFill>
                  <a:srgbClr val="1A1A1A"/>
                </a:solidFill>
                <a:latin typeface="Georgia"/>
              </a:rPr>
              <a:t>the only one v2 has.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With a confidence value per</a:t>
            </a:r>
          </a:p>
          <a:p>
            <a:pPr algn="l">
              <a:lnSpc>
                <a:spcPct val="118000"/>
              </a:lnSpc>
            </a:pPr>
            <a:r>
              <a:rPr sz="1150" b="0">
                <a:solidFill>
                  <a:srgbClr val="1A1A1A"/>
                </a:solidFill>
                <a:latin typeface="Georgia"/>
              </a:rPr>
              <a:t>query, v3 has a curve.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Drop the least confident 20%</a:t>
            </a:r>
          </a:p>
          <a:p>
            <a:pPr algn="l">
              <a:lnSpc>
                <a:spcPct val="118000"/>
              </a:lnSpc>
            </a:pPr>
            <a:r>
              <a:rPr sz="1150" b="0">
                <a:solidFill>
                  <a:srgbClr val="1A1A1A"/>
                </a:solidFill>
                <a:latin typeface="Georgia"/>
              </a:rPr>
              <a:t>and error falls to 1.06 px,</a:t>
            </a:r>
          </a:p>
          <a:p>
            <a:pPr algn="l">
              <a:lnSpc>
                <a:spcPct val="118000"/>
              </a:lnSpc>
            </a:pPr>
            <a:r>
              <a:rPr sz="1150" b="0">
                <a:solidFill>
                  <a:srgbClr val="1A1A1A"/>
                </a:solidFill>
                <a:latin typeface="Georgia"/>
              </a:rPr>
              <a:t>against v2 at 2.32.</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Keep the best fifth and it is</a:t>
            </a:r>
          </a:p>
          <a:p>
            <a:pPr algn="l">
              <a:lnSpc>
                <a:spcPct val="118000"/>
              </a:lnSpc>
            </a:pPr>
            <a:r>
              <a:rPr sz="1150" b="0">
                <a:solidFill>
                  <a:srgbClr val="1A1A1A"/>
                </a:solidFill>
                <a:latin typeface="Georgia"/>
              </a:rPr>
              <a:t>0.48 px, nearly 5x better.</a:t>
            </a:r>
          </a:p>
        </p:txBody>
      </p:sp>
      <p:sp>
        <p:nvSpPr>
          <p:cNvPr id="6" name="Rounded Rectangle 5"/>
          <p:cNvSpPr/>
          <p:nvPr/>
        </p:nvSpPr>
        <p:spPr>
          <a:xfrm>
            <a:off x="8549640" y="5120640"/>
            <a:ext cx="3200400" cy="9144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For registration and mapping,</a:t>
            </a:r>
          </a:p>
          <a:p>
            <a:pPr algn="ctr"/>
            <a:r>
              <a:rPr sz="1050" b="0">
                <a:solidFill>
                  <a:srgbClr val="0B6A63"/>
                </a:solidFill>
                <a:latin typeface="Georgia"/>
              </a:rPr>
              <a:t>where you pick your points</a:t>
            </a:r>
          </a:p>
          <a:p>
            <a:pPr algn="ctr"/>
            <a:r>
              <a:rPr sz="1050" b="0">
                <a:solidFill>
                  <a:srgbClr val="0B6A63"/>
                </a:solidFill>
                <a:latin typeface="Georgia"/>
              </a:rPr>
              <a:t>anyway, abstaining is free.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Flowing only part of the frame: where it pays</a:t>
            </a:r>
          </a:p>
        </p:txBody>
      </p:sp>
      <p:pic>
        <p:nvPicPr>
          <p:cNvPr id="4" name="Picture 3" descr="roi_crop_devices.png"/>
          <p:cNvPicPr>
            <a:picLocks noChangeAspect="1"/>
          </p:cNvPicPr>
          <p:nvPr/>
        </p:nvPicPr>
        <p:blipFill>
          <a:blip r:embed="rId2"/>
          <a:stretch>
            <a:fillRect/>
          </a:stretch>
        </p:blipFill>
        <p:spPr>
          <a:xfrm>
            <a:off x="1234440" y="1463040"/>
            <a:ext cx="9692640" cy="3862969"/>
          </a:xfrm>
          <a:prstGeom prst="rect">
            <a:avLst/>
          </a:prstGeom>
        </p:spPr>
      </p:pic>
      <p:sp>
        <p:nvSpPr>
          <p:cNvPr id="5" name="TextBox 4"/>
          <p:cNvSpPr txBox="1"/>
          <p:nvPr/>
        </p:nvSpPr>
        <p:spPr>
          <a:xfrm>
            <a:off x="685800" y="5440680"/>
            <a:ext cx="10881360" cy="1005840"/>
          </a:xfrm>
          <a:prstGeom prst="rect">
            <a:avLst/>
          </a:prstGeom>
          <a:noFill/>
        </p:spPr>
        <p:txBody>
          <a:bodyPr wrap="square">
            <a:spAutoFit/>
          </a:bodyPr>
          <a:lstStyle/>
          <a:p>
            <a:pPr algn="l">
              <a:lnSpc>
                <a:spcPct val="115000"/>
              </a:lnSpc>
            </a:pPr>
            <a:r>
              <a:rPr sz="1150" b="0">
                <a:solidFill>
                  <a:srgbClr val="1A1A1A"/>
                </a:solidFill>
                <a:latin typeface="Georgia"/>
              </a:rPr>
              <a:t>Same script, same 40 pairs, same margins, two devices. The accuracy cost of cropping is fixed at +0.034 px; the</a:t>
            </a:r>
          </a:p>
          <a:p>
            <a:pPr algn="l">
              <a:lnSpc>
                <a:spcPct val="115000"/>
              </a:lnSpc>
            </a:pPr>
            <a:r>
              <a:rPr sz="1150" b="0">
                <a:solidFill>
                  <a:srgbClr val="1A1A1A"/>
                </a:solidFill>
                <a:latin typeface="Georgia"/>
              </a:rPr>
              <a:t>speed benefit is 4.4x on an RTX 4060 and 1.18x on a V100. The V100 finishes a full frame in 17.8 ms and is bound by</a:t>
            </a:r>
          </a:p>
          <a:p>
            <a:pPr algn="l">
              <a:lnSpc>
                <a:spcPct val="115000"/>
              </a:lnSpc>
            </a:pPr>
            <a:r>
              <a:rPr sz="1150" b="0">
                <a:solidFill>
                  <a:srgbClr val="1A1A1A"/>
                </a:solidFill>
                <a:latin typeface="Georgia"/>
              </a:rPr>
              <a:t>kernel launches, not pixels, so removing 86% of the area removes almost no work. Constrained hardware is compute</a:t>
            </a:r>
          </a:p>
          <a:p>
            <a:pPr algn="l">
              <a:lnSpc>
                <a:spcPct val="115000"/>
              </a:lnSpc>
            </a:pPr>
            <a:r>
              <a:rPr sz="1150" b="0">
                <a:solidFill>
                  <a:srgbClr val="1A1A1A"/>
                </a:solidFill>
                <a:latin typeface="Georgia"/>
              </a:rPr>
              <a:t>bound and converts the saving nearly in full, which is the deployment case.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new object appears: 1.7 ms, against 7.3 for a new crop</a:t>
            </a:r>
          </a:p>
        </p:txBody>
      </p:sp>
      <p:pic>
        <p:nvPicPr>
          <p:cNvPr id="4" name="Picture 3" descr="scenario3_marginal.png"/>
          <p:cNvPicPr>
            <a:picLocks noChangeAspect="1"/>
          </p:cNvPicPr>
          <p:nvPr/>
        </p:nvPicPr>
        <p:blipFill>
          <a:blip r:embed="rId2"/>
          <a:stretch>
            <a:fillRect/>
          </a:stretch>
        </p:blipFill>
        <p:spPr>
          <a:xfrm>
            <a:off x="1234440" y="1463040"/>
            <a:ext cx="9692640" cy="3862969"/>
          </a:xfrm>
          <a:prstGeom prst="rect">
            <a:avLst/>
          </a:prstGeom>
        </p:spPr>
      </p:pic>
      <p:sp>
        <p:nvSpPr>
          <p:cNvPr id="5" name="TextBox 4"/>
          <p:cNvSpPr txBox="1"/>
          <p:nvPr/>
        </p:nvSpPr>
        <p:spPr>
          <a:xfrm>
            <a:off x="685800" y="5440680"/>
            <a:ext cx="10881360" cy="1005840"/>
          </a:xfrm>
          <a:prstGeom prst="rect">
            <a:avLst/>
          </a:prstGeom>
          <a:noFill/>
        </p:spPr>
        <p:txBody>
          <a:bodyPr wrap="square">
            <a:spAutoFit/>
          </a:bodyPr>
          <a:lstStyle/>
          <a:p>
            <a:pPr algn="l">
              <a:lnSpc>
                <a:spcPct val="115000"/>
              </a:lnSpc>
            </a:pPr>
            <a:r>
              <a:rPr sz="1150" b="0">
                <a:solidFill>
                  <a:srgbClr val="1A1A1A"/>
                </a:solidFill>
                <a:latin typeface="Georgia"/>
              </a:rPr>
              <a:t>The third scenario: a frame is already being processed when something new enters the field of view. Because the</a:t>
            </a:r>
          </a:p>
          <a:p>
            <a:pPr algn="l">
              <a:lnSpc>
                <a:spcPct val="115000"/>
              </a:lnSpc>
            </a:pPr>
            <a:r>
              <a:rPr sz="1150" b="0">
                <a:solidFill>
                  <a:srgbClr val="1A1A1A"/>
                </a:solidFill>
                <a:latin typeface="Georgia"/>
              </a:rPr>
              <a:t>coarse pass is cached, the decoder answers for 1.7 ms. A cropped pipeline has to run an entire new pass, 7.3 ms,</a:t>
            </a:r>
          </a:p>
          <a:p>
            <a:pPr algn="l">
              <a:lnSpc>
                <a:spcPct val="115000"/>
              </a:lnSpc>
            </a:pPr>
            <a:r>
              <a:rPr sz="1150" b="0">
                <a:solidFill>
                  <a:srgbClr val="1A1A1A"/>
                </a:solidFill>
                <a:latin typeface="Georgia"/>
              </a:rPr>
              <a:t>and is markedly less accurate doing it because a fresh crop loses the global context that finds large motion.</a:t>
            </a:r>
          </a:p>
          <a:p>
            <a:pPr algn="l">
              <a:lnSpc>
                <a:spcPct val="115000"/>
              </a:lnSpc>
            </a:pPr>
            <a:r>
              <a:rPr sz="1150" b="0">
                <a:solidFill>
                  <a:srgbClr val="1A1A1A"/>
                </a:solidFill>
                <a:latin typeface="Georgia"/>
              </a:rPr>
              <a:t>v2 keeps no state between calls, so it has nothing to answer from.</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17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2.6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best v3 2.384 vs 2.324; every config above v2</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like-for-like 2.500, i.e. 7.6% behind</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14%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7.7x cheaper (2.6 vs 19.3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V100 and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2.6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 but not fixed.</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V100 or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and checkpoint noise the size of the effects</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Step 90k vs 100k of the same run moves EPE by up to 0.038 px, reversing two of the orderings. Nothing finer than about 0.05 px is resolvable here.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