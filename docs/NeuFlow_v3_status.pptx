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28600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20242B"/>
                </a:solidFill>
                <a:latin typeface="Calibri"/>
              </a:rPr>
              <a:t>NeuFlow v3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1546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800" b="0">
                <a:solidFill>
                  <a:srgbClr val="1F4E79"/>
                </a:solidFill>
                <a:latin typeface="Calibri"/>
              </a:rPr>
              <a:t>Queryable optical flow for edge devices — status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39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7B838F"/>
                </a:solidFill>
                <a:latin typeface="Calibri"/>
              </a:rPr>
              <a:t>A frozen NeuFlow v2 pipeline extended with an implicit decoder that answers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7B838F"/>
                </a:solidFill>
                <a:latin typeface="Calibri"/>
              </a:rPr>
              <a:t>flow queries at arbitrary continuous coordinates in O(N) time.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7B838F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7B838F"/>
                </a:solidFill>
                <a:latin typeface="Calibri"/>
              </a:rPr>
              <a:t>Shriman Raghav Srinivasan · MS Robotics, Northeastern University · Field Robotics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The problem, from first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Optical flow answers one question: for a pixel in frame t,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where is it in frame t+1?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Every modern network answers it for all pixels at once,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as a dense, fixed-resolution map. That design assumes the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consumer wants every pixel. Many downstream tasks do not: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•  Image registration needs hundreds of correspondences,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at well-textured locations of its own choosing.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•  Sparse tracking needs flow at feature points only.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•  Mapping pipelines need correspondences at survey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overlap regions, often at sub-pixel positions.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On edge hardware, computing 479,000 answers to serve 800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questions is the difference between real time and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The proposition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Keep the part of NeuFlow v2 that understands motion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(backbone, matching, refinement — frozen, unchanged).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Replace only its final stage: instead of a fixed 8×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upsampler that always produces a full map, attach a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decoder that evaluates flow at requested coordinates.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Cost then scales with the number of questions asked,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O(N), rather than with image area, O(H×W).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The contribution is a new operating point — accuracy, compute, and resolution decoupled — not a leaderboard entry.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NeuFlow v2: the foundation this work builds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NeuFlow v2 (Zhang, Gupta, Jiang, Singh; arXiv:2408.10161)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is a real-time optical flow network for edge deployment.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1.  A shallow CNN extracts features at 1/8 and 1/16 scale.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2.  Cross-attention and global matching at 1/16 scale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produce an initial flow estimate.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3.  A lightweight recurrent module refines it: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one iteration at 1/16, eight at 1/8.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4.  A learned convex upsampler blends each output pixel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from a 3×3 neighborhood of the 1/8 flow.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It matches methods 10–70× more expensive and sustains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over 20 FPS at 512×384 on a Jetson Orin Nano.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Measured on our hardware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(RTX 4060 Laptop, fp16, 384×1248)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37 ms per frame pair (27 FPS)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9.03 M parameters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2.32 px mean EPE on VKITTI2 Scene18+20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77.6% of pixels within 1 px of ground truth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The structural constraint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Output resolution and cost are fixed at design time.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The network cannot answer a smaller question cheaply,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nor a finer-resolution question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v2 supplies motion understanding worth preserving; its output stage is the only part that constrains how answers are delivered.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NeuFlow v3: an implicit decoder in place of the upsampler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Unchanged and frozen: every stage through the 1/8-scale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coarse flow. v3 inherits v2’s matching quality by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construction rather than by retraining.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New: a decoder that, given any continuous coordinate,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gathers evidence and produces the flow at that point: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•  3×3 local windows from four feature sources — context,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1/8 features, 1/16 features, and frame-1 features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warped by the coarse flow (correspondence evidence).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•  Gated hierarchical fusion, following InfiniDepth.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•  A convex-combination head, following AnyFlow: softmax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weights over the local coarse-flow values. The output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is a bounded blend — structurally unable to produce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arbitrarily wrong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Two properties fall out of the head design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1.  Bilinear interpolation is one particular choice of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weights, so the decoder is initialized to reproduce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it exactly. Training starts from a known-good state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and can only be judged against it.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2.  v2’s convex upsampler is the fixed-grid special case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of the same mechanism — v2’s accuracy is reachable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     within this hypothesis space by construction.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Model size decreases: 7.83 M parameters vs 9.03 M,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because a coordinate-conditioned MLP replaces the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full-resolution convolutional stack.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Every design choice traces to a published mechanism (NeuFlow v2, InfiniDepth, AnyFlow) or to a measured failure it corrects.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RESULTS · STAGE 0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Before any training: the initialization is the first result</a:t>
            </a:r>
          </a:p>
        </p:txBody>
      </p:sp>
      <p:pic>
        <p:nvPicPr>
          <p:cNvPr id="4" name="Picture 3" descr="stage_untr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With zero trained decoder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weights, v3 reproduces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bilinear upsampling of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coarse flow — measured at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2.48 px EPE, 0.15 px behind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v2, with querying already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functional and exact.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Every subsequent training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run is accepted only if it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improves on this number.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Two weeks of earlier training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failed this test;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redesigned head passes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Queryability costs +0.15 px EPE before a single gradient step. Training must earn its keep against this baseline.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RESULTS · STAGE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Training on the target domain: VKITTI2, six appearance variants</a:t>
            </a:r>
          </a:p>
        </p:txBody>
      </p:sp>
      <p:pic>
        <p:nvPicPr>
          <p:cNvPr id="4" name="Picture 3" descr="stage_vkitt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Six same-trajectory weather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variants share identical flow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ground truth — appearance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augmentation at no labeling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cost. 12,726 pairs.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2.39 px EPE — the first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checkpoint in this project to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improve on its initialization.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No late-training collapse: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the final checkpoint is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best one.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Limitation: five scenes teach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scene-specific detail;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error tail barely moves.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Correct head plus sufficient data variety turned training from harmful to net-positive: 2.48 to 2.39 px.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RESULTS · STAGE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Training out of domain: FlyingChairs only</a:t>
            </a:r>
          </a:p>
        </p:txBody>
      </p:sp>
      <p:pic>
        <p:nvPicPr>
          <p:cNvPr id="4" name="Picture 3" descr="stage_ch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7955279" cy="49787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69680" y="1554480"/>
            <a:ext cx="27432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22,232 synthetic pairs of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chairs over random imagery —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no roads, no vehicles, no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shared statistics with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evaluation domain.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2.28 px EPE on VKITTI2 —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below NeuFlow v2 (2.32).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Motion diversity, not domain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familiarity, is what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decoder needed: varied large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displacements suppress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error tail that dominates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mean EPE.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Cost: 1 px accuracy drops to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69.7% (v2: 77.6%).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The decoder generalizes: trained without a single driving frame, it outperforms v2 on driving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RESULTS ·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All training regimes against both references</a:t>
            </a:r>
          </a:p>
        </p:txBody>
      </p:sp>
      <p:pic>
        <p:nvPicPr>
          <p:cNvPr id="4" name="Picture 3" descr="epe_by_reg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54480"/>
            <a:ext cx="6766560" cy="3425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0" y="1645920"/>
            <a:ext cx="38404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Two informative negative results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Sequential finetuning (chairs, then VKITTI2)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reached 2.50 px — worse than either parent.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The second dataset overwrote what the first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taught. Remedy under test: joint sampling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from both datasets in every batch.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Fourier position encoding changed nothing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(2.288 vs 2.275 px; 1 px accuracy identical).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The sub-pixel gap is therefore not caused by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missing positional information — one of two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candidate explanations eliminated by a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single controlled run.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Mixed-dataset training: training in progress.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Each experiment either improved the model or eliminated a hypothesis; none was wasted compute.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EFFICIENCY · RTX 4060 LAPTOP, FP16, 384×1248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Compute cost: v2 and v3 measured under identical conditions</a:t>
            </a:r>
          </a:p>
        </p:txBody>
      </p:sp>
      <p:pic>
        <p:nvPicPr>
          <p:cNvPr id="4" name="Picture 3" descr="latency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7863840" cy="3214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778240" y="16916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Parameters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9.03 M (v2) → 7.83 M (v3)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Sparse total: ~35 ms —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parity with v2’s full frame,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while answering only what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was asked.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Each additional query batch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on a processed pair costs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1.6 ms; v2 must recompute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everything (37 ms) to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answer anything new.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Dense v3 (327 ms) exists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for evaluation, not for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deployment.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For sparse workloads v3 is strictly cheaper than v2: equal latency on the first answer, ~20× cheaper on every answer after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Querying in practice: sizes, API, and interactive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669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A query is one continuous (x, y) coordinate; sub-pixel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positions are valid inputs. N ranges from 1 to the full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frame (479,232 at 384×1248). Decode cost is flat at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1.6 ms up to roughly 2,000 queries per call.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state = model.infer_coarse_state(img0, img1)   # once, 33 ms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flow  = model.decode_queries(state, query_coords=q)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    # q: [B, N, 2] pixel coords → [B, N, 2]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Training configuration: batch size 4 (8 GB VRAM budget);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4,096 supervision queries per image, half placed at motion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boundaries; AdamW with a one-cycle schedule peaking at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2e-4; backbone frozen throughout.</a:t>
            </a:r>
          </a:p>
        </p:txBody>
      </p:sp>
      <p:pic>
        <p:nvPicPr>
          <p:cNvPr id="6" name="Picture 5" descr="query_gui_self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54480"/>
            <a:ext cx="4937760" cy="14908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2461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00" b="0">
                <a:solidFill>
                  <a:srgbClr val="20242B"/>
                </a:solidFill>
                <a:latin typeface="Calibri"/>
              </a:rPr>
              <a:t>Interactive tool (PyQt5, in the repository): click any pixel</a:t>
            </a:r>
          </a:p>
          <a:p>
            <a:pPr>
              <a:lnSpc>
                <a:spcPct val="100000"/>
              </a:lnSpc>
            </a:pPr>
            <a:r>
              <a:rPr sz="1100" b="0">
                <a:solidFill>
                  <a:srgbClr val="20242B"/>
                </a:solidFill>
                <a:latin typeface="Calibri"/>
              </a:rPr>
              <a:t>for its flow; grid, boundary-adaptive, and dense-overlay</a:t>
            </a:r>
          </a:p>
          <a:p>
            <a:pPr>
              <a:lnSpc>
                <a:spcPct val="100000"/>
              </a:lnSpc>
            </a:pPr>
            <a:r>
              <a:rPr sz="1100" b="0">
                <a:solidFill>
                  <a:srgbClr val="20242B"/>
                </a:solidFill>
                <a:latin typeface="Calibri"/>
              </a:rPr>
              <a:t>modes; CSV export. Feasible only because of the two-pass</a:t>
            </a:r>
          </a:p>
          <a:p>
            <a:pPr>
              <a:lnSpc>
                <a:spcPct val="100000"/>
              </a:lnSpc>
            </a:pPr>
            <a:r>
              <a:rPr sz="1100" b="0">
                <a:solidFill>
                  <a:srgbClr val="20242B"/>
                </a:solidFill>
                <a:latin typeface="Calibri"/>
              </a:rPr>
              <a:t>design — every interaction reuses the cached backbone state.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The same API serves a robot asking for 800 correspondences and a human inspecting one pixel — that is the point of the design.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Standing of the three stated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9164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Objective 1 — exceed NeuFlow v2’s accuracy.  Met on mean EPE: 2.28 vs 2.32 px, achieved by the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FlyingChairs-trained decoder. Sub-pixel precision (1 px accuracy) remains 5–8 points behind and is the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active workstream; position encoding has been ruled out as the cause, focusing attention on coarse-flow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resolution and training-motion statistics.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Objective 2 — lower compute, edge-viable.  Met for the intended workload: sparse answers arrive at v2’s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full-frame latency with 13% fewer parameters and ~2.2 GB inference VRAM; repeated queries are ~20×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cheaper than v2 recomputation. Dense-output mode remains slower and is explicitly out of scope.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Objective 3 — capability that v2 cannot express.  Delivered: continuous-coordinate queries, resolution-</a:t>
            </a:r>
          </a:p>
          <a:p>
            <a:pPr>
              <a:lnSpc>
                <a:spcPct val="100000"/>
              </a:lnSpc>
            </a:pPr>
            <a:r>
              <a:rPr sz="1300" b="0">
                <a:solidFill>
                  <a:srgbClr val="20242B"/>
                </a:solidFill>
                <a:latin typeface="Calibri"/>
              </a:rPr>
              <a:t>independent output, exact sparse/dense agreement (0.00 px), and an interactive demonstration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Two objectives met and measured; the third is scoped to a specific, testable gap with named hypotheses.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The running experiment, and the dataset conversation for the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5448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Running now: mixed-dataset training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Joint sampling of FlyingChairs and all VKITTI2 variants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(34,958 pairs, single 320×512 crop) under the standard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recipe. Hypothesis: joint exposure preserves the chairs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error-tail robustness while the driving data restores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sub-pixel precision — the combination that sequential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finetuning provably forgot.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After that, in order: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•  Jetson Orin benchmark of the two-pass API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•  Spring dataset evaluation — ground truth at 2× input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    resolution tests above-input-resolution querying,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    a capability only queryable decoders can express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•  Position encoding revisited on fine-motion data,</a:t>
            </a:r>
          </a:p>
          <a:p>
            <a:pPr>
              <a:lnSpc>
                <a:spcPct val="100000"/>
              </a:lnSpc>
            </a:pPr>
            <a:r>
              <a:rPr sz="1250" b="0">
                <a:solidFill>
                  <a:srgbClr val="20242B"/>
                </a:solidFill>
                <a:latin typeface="Calibri"/>
              </a:rPr>
              <a:t>    separating the two remaining sub-pixel hypotheses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5544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What to request from the Field Robotics Lab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The lab’s SeaBED AUV and UAV survey programs produce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exactly the data this method serves: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•  Sequential seafloor transect imagery (50–75% overlap,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slow motion, fine texture) — registration and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photomosaicking with sparse on-demand queries; the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fine-motion regime also stresses sub-pixel accuracy.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•  Nadir UAV survey sequences (polar or coastal) with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GPS/IMU tags — georegistration provides pseudo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ground truth for quantitative evaluation.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•  Vehicle navigation data (DVL/INS poses) and camera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calibration — enables reprojection-based flow ground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    truth on static scenes without manual labels.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The ask is consecutive frames plus navigation data,</a:t>
            </a:r>
          </a:p>
          <a:p>
            <a:pPr>
              <a:lnSpc>
                <a:spcPct val="100000"/>
              </a:lnSpc>
            </a:pPr>
            <a:r>
              <a:rPr sz="1200" b="0">
                <a:solidFill>
                  <a:srgbClr val="20242B"/>
                </a:solidFill>
                <a:latin typeface="Calibri"/>
              </a:rPr>
              <a:t>not finished mosaics.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The method is validated on public benchmarks; lab survey data is where its operating point becomes an application.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050" b="1">
                <a:solidFill>
                  <a:srgbClr val="1F4E79"/>
                </a:solidFill>
                <a:latin typeface="Calibri"/>
              </a:rPr>
              <a:t>ANTICIPATED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658368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2400" b="1">
                <a:solidFill>
                  <a:srgbClr val="20242B"/>
                </a:solidFill>
                <a:latin typeface="Calibri"/>
              </a:rPr>
              <a:t>First-principles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508760"/>
            <a:ext cx="10881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Why is flow defined at non-integer coordinates?  Bilinear interpolation makes feature maps continuous functions of position;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an MLP composed with them is defined at every real (x, y). Integer pixels are the special case dense maps hard-code.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Why freeze the backbone?  Joint training is a moving-target problem requiring ~800K steps at InfiniDepth’s scale; at a 30K budget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the decoder diverges chasing shifting features (observed directly). Freezing also guarantees v2’s matching quality is inherited.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Is sparse output an approximation?  No. It is the same function evaluated at fewer points; agreement with dense output is exact.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Why does out-of-domain training win?  Mean EPE is dominated by the error tail. Diverse large motions train tail robustness;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five driving scenes train memorization. Both effects were measured, in both directions.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What limits sub-pixel accuracy?  Not positional information — measured (PE ablation, null result). Remaining candidates: the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1/8-scale coarse flow bounds recoverable detail, and chairs-scale motions never supervise sub-pixel discrimination.</a:t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/>
            </a:r>
          </a:p>
          <a:p>
            <a:pPr>
              <a:lnSpc>
                <a:spcPct val="102000"/>
              </a:lnSpc>
            </a:pPr>
            <a:r>
              <a:rPr sz="1150" b="0">
                <a:solidFill>
                  <a:srgbClr val="20242B"/>
                </a:solidFill>
                <a:latin typeface="Calibri"/>
              </a:rPr>
              <a:t>Why batch size 4?  An 8 GB VRAM budget; the recipe is otherwise RAFT-standard and scales directly on larger GPUs.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5779008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1150" b="1">
                <a:solidFill>
                  <a:srgbClr val="1F4E79"/>
                </a:solidFill>
                <a:latin typeface="Calibri"/>
              </a:rPr>
              <a:t>Takeaway   Full derivations and the complete question list: docs/NeuFlow_v3_Report.md, sections 5–6.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41908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NeuFlow v3 · status report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900" b="0">
                <a:solidFill>
                  <a:srgbClr val="7B838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