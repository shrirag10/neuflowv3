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NeuFlow v3 is the same v2 network everyone here already trusts, with one part swapped. Instead of always producing a full dense flow map, it answers flow queries at whatever points you ask for. I will show it is faster where it matters, at least as accurate, and does two things v2 structurally cannot. Everything I show is measured on the full validation set, not cherry-picked frames.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problem in one breath: flow tells you where each pixel goes. Every current network computes all of it, always. But registration, tracking, and mapping only ever use a few hundred points. On a small GPU, computing 479 thousand values to use 800 of them is the difference between real time and not. The idea is to keep everything in v2 that understands motion and only change how the answer is read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boxes left to right, then land on the bold line: every one of these blocks is frozen in v3, byte for byte identical to v2. I did not retrain the part that finds motion. The only thing I touched is the very last step, the upsampler. So any accuracy change comes from that one swap, not from disturbing what already works.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in plain terms: for any coordinate, sample features there, then output blend weights over a small 3x3 neighborhood of the coarse flow plus a bilinear value. Because it is a bounded blend, it cannot invent wild flow. And I zero-initialize it, so before any training it reproduces plain bilinear upsampling exactly. That means training can only improve on that starting point. Note it is one coarse pass per frame, then cheap per-query work. And v3 is actually smaller than v2, 7.8 vs 9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 configuration I tried, worst to best, left to right. Gray is my laptop, black is the cluster. Two honest lessons are on this chart. Sequential fine-tuning, the tall bar, made things worse: the model forgot. Mixing datasets in every batch is what worked. The best full run, big18, is 2.07 versus v2 at 2.32, about 11 percent better. The red line is v2. Everything from FlyingChairs onward is at or below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EPE is the average, but the lab cares about sharpness, so here is accuracy at 1 and 3 pixels. The honest story: uncG is the first version to actually beat v2 on 3-pixel accuracy, and it closes the 1-pixel gap to under a tenth of a point, which is noise. grandmix is the weak one here on 1px; I am not hiding that.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scene, same ground truth, four models. I show both the full-set EPE and this specific scene's number under each so you can see the single scene is representative, not cherry-picked. All three cluster checkpoints beat v2 on the full 1,174-pair set, not just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earlier objection that 6 percent is not worth it. It is not really about the 6 percent. On identical hardware, v2 pays 19.6 milliseconds on every single call. v3 pays about the same once per frame, then answers every follow-up query on that frame for 2.6 milliseconds, because it caches the expensive part. v2 has no cached state, so it recomputes everything every time. For a planner or SLAM front-end re-querying the same frame, that is a 7x saving.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v2 simply does not have. With one extra output and a self-calibrating loss, the model reports how much to trust each answer. This chart proves it is not noise: sort predictions by claimed confidence and the real error rises monotonically, 0.2 up to 7.4 pixels, correlation 0.38 over 2.35 million points. A robot can use this to reject bad correspondences before they poison a pose estimate.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separate efficiency result. The refinement loop runs 8 times and is 59 percent of the runtime, but iterations 5 through 8 barely change the answer. I retrained just that module, using the model teaching itself with no ground truth, so 3 iterations do most of what 8 did. Honest caveat, and it is on the record: this number is the coarse stage in isolation. The end-to-end merged version is measured separately; do not quote this as a full-pipeline result.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and practical. A query is one continuous coordinate; sub-pixel positions are valid. The whole interface is two calls: infer state once, then decode queries as many times as you want. Training used 4,096 supervision points per image, half on motion boundaries, backbone frozen throughout everything except the distillation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backup if the tool cooperates. Left, click any pixel and it returns flow instantly. Right, motion detection pulled straight from the coarse flow at zero extra cost. The model selector flips between v2 and v3 in place, so you can feel the difference: v2 recomputes the whole frame on every interaction, v3 reuses the cached state.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it runs on real, unseen footage, not just the benchmark. 40 frames of a public YouTube highway clip, 30 FPS end to end with motion boxes. The graphs on the right were sampled during that run; the flat GPU-memory line is the point, one cached state serves every interaction.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Scorecard against the three goals I set. Beat v2 accuracy: done, 11 percent, and 3px now beats v2. Less compute for the sparse case: done, verified same hardware. Do what v2 cannot: done, arbitrary-coordinate queries and a calibrated confidence signal. I will state plainly on the next slide what is not yet proven.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the one to raise these, not have them raised for me. The training-data confound is only partly closed: I have not retrained v2 on the exact same mixture. The uncertainty-head accuracy gain is a single run and could be seed noise. Every number is a 4060 or V100, never an actual Jetson. And Spring was cut off at 70 percent by the job time limit. None of these undo the main results, but they are the honest next things to nail down.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plan. Immediate and cheap: finish Spring, run the 4K query test that only a queryable model can even attempt, repeat the uncertainty run, retrain v2 on the mixed data to close the confound. Then the two asks: continued cluster access for these 6-to-8-hour jobs, and access to the lab's own AUV and UAV survey data, which is exactly the sparse, overlapping, slow-motion setting this method is built for.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shown; my own prep. Anticipated questions with honest one-line answers: why non-integer coordinates, whether the improvement is a data confound, why the uncertainty head helps accuracy, fast-motion handling, and edge-device status. If I do not know, I say I do not know and point to the limitations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286000"/>
            <a:ext cx="10515600" cy="914400"/>
          </a:xfrm>
          <a:prstGeom prst="rect">
            <a:avLst/>
          </a:prstGeom>
          <a:noFill/>
        </p:spPr>
        <p:txBody>
          <a:bodyPr wrap="square">
            <a:spAutoFit/>
          </a:bodyPr>
          <a:lstStyle/>
          <a:p>
            <a:pPr algn="l">
              <a:lnSpc>
                <a:spcPct val="100000"/>
              </a:lnSpc>
            </a:pPr>
            <a:r>
              <a:rPr sz="4000" b="1">
                <a:solidFill>
                  <a:srgbClr val="1A1A1A"/>
                </a:solidFill>
                <a:latin typeface="Georgia"/>
              </a:rPr>
              <a:t>NeuFlow v3</a:t>
            </a:r>
          </a:p>
        </p:txBody>
      </p:sp>
      <p:sp>
        <p:nvSpPr>
          <p:cNvPr id="3" name="TextBox 2"/>
          <p:cNvSpPr txBox="1"/>
          <p:nvPr/>
        </p:nvSpPr>
        <p:spPr>
          <a:xfrm>
            <a:off x="822960" y="3063240"/>
            <a:ext cx="10515600" cy="457200"/>
          </a:xfrm>
          <a:prstGeom prst="rect">
            <a:avLst/>
          </a:prstGeom>
          <a:noFill/>
        </p:spPr>
        <p:txBody>
          <a:bodyPr wrap="square">
            <a:spAutoFit/>
          </a:bodyPr>
          <a:lstStyle/>
          <a:p>
            <a:pPr algn="l">
              <a:lnSpc>
                <a:spcPct val="100000"/>
              </a:lnSpc>
            </a:pPr>
            <a:r>
              <a:rPr sz="1800" b="0">
                <a:solidFill>
                  <a:srgbClr val="333333"/>
                </a:solidFill>
                <a:latin typeface="Georgia"/>
              </a:rPr>
              <a:t>Queryable optical flow for edge devices</a:t>
            </a:r>
          </a:p>
        </p:txBody>
      </p:sp>
      <p:sp>
        <p:nvSpPr>
          <p:cNvPr id="4" name="TextBox 3"/>
          <p:cNvSpPr txBox="1"/>
          <p:nvPr/>
        </p:nvSpPr>
        <p:spPr>
          <a:xfrm>
            <a:off x="822960" y="3657600"/>
            <a:ext cx="10515600" cy="822960"/>
          </a:xfrm>
          <a:prstGeom prst="rect">
            <a:avLst/>
          </a:prstGeom>
          <a:noFill/>
        </p:spPr>
        <p:txBody>
          <a:bodyPr wrap="square">
            <a:spAutoFit/>
          </a:bodyPr>
          <a:lstStyle/>
          <a:p>
            <a:pPr algn="l">
              <a:lnSpc>
                <a:spcPct val="120000"/>
              </a:lnSpc>
            </a:pPr>
            <a:r>
              <a:rPr sz="1300" b="0">
                <a:solidFill>
                  <a:srgbClr val="1A1A1A"/>
                </a:solidFill>
                <a:latin typeface="Georgia"/>
              </a:rPr>
              <a:t>Status update. NeuFlow v2 backbone (frozen) + an implicit decoder that answers</a:t>
            </a:r>
          </a:p>
          <a:p>
            <a:pPr algn="l">
              <a:lnSpc>
                <a:spcPct val="120000"/>
              </a:lnSpc>
            </a:pPr>
            <a:r>
              <a:rPr sz="1300" b="0">
                <a:solidFill>
                  <a:srgbClr val="1A1A1A"/>
                </a:solidFill>
                <a:latin typeface="Georgia"/>
              </a:rPr>
              <a:t>flow queries at arbitrary coordinates in O(N).</a:t>
            </a:r>
          </a:p>
        </p:txBody>
      </p:sp>
      <p:sp>
        <p:nvSpPr>
          <p:cNvPr id="5" name="TextBox 4"/>
          <p:cNvSpPr txBox="1"/>
          <p:nvPr/>
        </p:nvSpPr>
        <p:spPr>
          <a:xfrm>
            <a:off x="822960" y="6035040"/>
            <a:ext cx="105156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MS Robotics, Northeastern University, Field Robotics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Why query optical flow?</a:t>
            </a:r>
          </a:p>
        </p:txBody>
      </p:sp>
      <p:sp>
        <p:nvSpPr>
          <p:cNvPr id="4" name="TextBox 3"/>
          <p:cNvSpPr txBox="1"/>
          <p:nvPr/>
        </p:nvSpPr>
        <p:spPr>
          <a:xfrm>
            <a:off x="685800" y="1508760"/>
            <a:ext cx="5212080" cy="4389120"/>
          </a:xfrm>
          <a:prstGeom prst="rect">
            <a:avLst/>
          </a:prstGeom>
          <a:noFill/>
        </p:spPr>
        <p:txBody>
          <a:bodyPr wrap="square">
            <a:spAutoFit/>
          </a:bodyPr>
          <a:lstStyle/>
          <a:p>
            <a:pPr algn="l">
              <a:lnSpc>
                <a:spcPct val="115000"/>
              </a:lnSpc>
            </a:pPr>
            <a:r>
              <a:rPr sz="1300" b="0">
                <a:solidFill>
                  <a:srgbClr val="1A1A1A"/>
                </a:solidFill>
                <a:latin typeface="Georgia"/>
              </a:rPr>
              <a:t>Optical flow tells you where each pixel in frame t moves</a:t>
            </a:r>
          </a:p>
          <a:p>
            <a:pPr algn="l">
              <a:lnSpc>
                <a:spcPct val="115000"/>
              </a:lnSpc>
            </a:pPr>
            <a:r>
              <a:rPr sz="1300" b="0">
                <a:solidFill>
                  <a:srgbClr val="1A1A1A"/>
                </a:solidFill>
                <a:latin typeface="Georgia"/>
              </a:rPr>
              <a:t>to in frame t+1.</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Current networks always output the full dense map, at a</a:t>
            </a:r>
          </a:p>
          <a:p>
            <a:pPr algn="l">
              <a:lnSpc>
                <a:spcPct val="115000"/>
              </a:lnSpc>
            </a:pPr>
            <a:r>
              <a:rPr sz="1300" b="0">
                <a:solidFill>
                  <a:srgbClr val="1A1A1A"/>
                </a:solidFill>
                <a:latin typeface="Georgia"/>
              </a:rPr>
              <a:t>fixed resolution. Many tasks never use most of it:</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  registration wants a few hundred correspondences at</a:t>
            </a:r>
          </a:p>
          <a:p>
            <a:pPr algn="l">
              <a:lnSpc>
                <a:spcPct val="115000"/>
              </a:lnSpc>
            </a:pPr>
            <a:r>
              <a:rPr sz="1300" b="0">
                <a:solidFill>
                  <a:srgbClr val="1A1A1A"/>
                </a:solidFill>
                <a:latin typeface="Georgia"/>
              </a:rPr>
              <a:t>    points it picks itself (corners, texture)</a:t>
            </a:r>
          </a:p>
          <a:p>
            <a:pPr algn="l">
              <a:lnSpc>
                <a:spcPct val="115000"/>
              </a:lnSpc>
            </a:pPr>
            <a:r>
              <a:rPr sz="1300" b="0">
                <a:solidFill>
                  <a:srgbClr val="1A1A1A"/>
                </a:solidFill>
                <a:latin typeface="Georgia"/>
              </a:rPr>
              <a:t>-  sparse tracking only needs flow at feature points</a:t>
            </a:r>
          </a:p>
          <a:p>
            <a:pPr algn="l">
              <a:lnSpc>
                <a:spcPct val="115000"/>
              </a:lnSpc>
            </a:pPr>
            <a:r>
              <a:rPr sz="1300" b="0">
                <a:solidFill>
                  <a:srgbClr val="1A1A1A"/>
                </a:solidFill>
                <a:latin typeface="Georgia"/>
              </a:rPr>
              <a:t>-  mosaicking needs matches in overlap regions, ideally</a:t>
            </a:r>
          </a:p>
          <a:p>
            <a:pPr algn="l">
              <a:lnSpc>
                <a:spcPct val="115000"/>
              </a:lnSpc>
            </a:pPr>
            <a:r>
              <a:rPr sz="1300" b="0">
                <a:solidFill>
                  <a:srgbClr val="1A1A1A"/>
                </a:solidFill>
                <a:latin typeface="Georgia"/>
              </a:rPr>
              <a:t>    at sub-pixel positions</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On a small GPU, computing 479k values to use 800 of them</a:t>
            </a:r>
          </a:p>
          <a:p>
            <a:pPr algn="l">
              <a:lnSpc>
                <a:spcPct val="115000"/>
              </a:lnSpc>
            </a:pPr>
            <a:r>
              <a:rPr sz="1300" b="0">
                <a:solidFill>
                  <a:srgbClr val="1A1A1A"/>
                </a:solidFill>
                <a:latin typeface="Georgia"/>
              </a:rPr>
              <a:t>is the difference between real time and not.</a:t>
            </a:r>
          </a:p>
        </p:txBody>
      </p:sp>
      <p:sp>
        <p:nvSpPr>
          <p:cNvPr id="5" name="TextBox 4"/>
          <p:cNvSpPr txBox="1"/>
          <p:nvPr/>
        </p:nvSpPr>
        <p:spPr>
          <a:xfrm>
            <a:off x="6263640" y="1508760"/>
            <a:ext cx="5212080" cy="4389120"/>
          </a:xfrm>
          <a:prstGeom prst="rect">
            <a:avLst/>
          </a:prstGeom>
          <a:noFill/>
        </p:spPr>
        <p:txBody>
          <a:bodyPr wrap="square">
            <a:spAutoFit/>
          </a:bodyPr>
          <a:lstStyle/>
          <a:p>
            <a:pPr algn="l">
              <a:lnSpc>
                <a:spcPct val="115000"/>
              </a:lnSpc>
            </a:pPr>
            <a:r>
              <a:rPr sz="1300" b="0">
                <a:solidFill>
                  <a:srgbClr val="1A1A1A"/>
                </a:solidFill>
                <a:latin typeface="Georgia"/>
              </a:rPr>
              <a:t>Idea</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Keep everything in NeuFlow v2 that understands motion</a:t>
            </a:r>
          </a:p>
          <a:p>
            <a:pPr algn="l">
              <a:lnSpc>
                <a:spcPct val="115000"/>
              </a:lnSpc>
            </a:pPr>
            <a:r>
              <a:rPr sz="1300" b="0">
                <a:solidFill>
                  <a:srgbClr val="1A1A1A"/>
                </a:solidFill>
                <a:latin typeface="Georgia"/>
              </a:rPr>
              <a:t>(backbone, matching, refinement), frozen.</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Swap only the last stage: instead of an upsampler that</a:t>
            </a:r>
          </a:p>
          <a:p>
            <a:pPr algn="l">
              <a:lnSpc>
                <a:spcPct val="115000"/>
              </a:lnSpc>
            </a:pPr>
            <a:r>
              <a:rPr sz="1300" b="0">
                <a:solidFill>
                  <a:srgbClr val="1A1A1A"/>
                </a:solidFill>
                <a:latin typeface="Georgia"/>
              </a:rPr>
              <a:t>always produces the full map, use a decoder that returns</a:t>
            </a:r>
          </a:p>
          <a:p>
            <a:pPr algn="l">
              <a:lnSpc>
                <a:spcPct val="115000"/>
              </a:lnSpc>
            </a:pPr>
            <a:r>
              <a:rPr sz="1300" b="0">
                <a:solidFill>
                  <a:srgbClr val="1A1A1A"/>
                </a:solidFill>
                <a:latin typeface="Georgia"/>
              </a:rPr>
              <a:t>flow at whatever coordinates you ask for.</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Cost then scales with the number of queries, O(N),</a:t>
            </a:r>
          </a:p>
          <a:p>
            <a:pPr algn="l">
              <a:lnSpc>
                <a:spcPct val="115000"/>
              </a:lnSpc>
            </a:pPr>
            <a:r>
              <a:rPr sz="1300" b="0">
                <a:solidFill>
                  <a:srgbClr val="1A1A1A"/>
                </a:solidFill>
                <a:latin typeface="Georgia"/>
              </a:rPr>
              <a:t>instead of image area, O(HxW).</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what stays, frozen and untouched</a:t>
            </a:r>
          </a:p>
        </p:txBody>
      </p:sp>
      <p:sp>
        <p:nvSpPr>
          <p:cNvPr id="4" name="Rounded Rectangle 3"/>
          <p:cNvSpPr/>
          <p:nvPr/>
        </p:nvSpPr>
        <p:spPr>
          <a:xfrm>
            <a:off x="68580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Image pair</a:t>
            </a:r>
          </a:p>
        </p:txBody>
      </p:sp>
      <p:sp>
        <p:nvSpPr>
          <p:cNvPr id="5" name="Rounded Rectangle 4"/>
          <p:cNvSpPr/>
          <p:nvPr/>
        </p:nvSpPr>
        <p:spPr>
          <a:xfrm>
            <a:off x="260604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CNN backbone</a:t>
            </a:r>
          </a:p>
          <a:p>
            <a:pPr algn="ctr"/>
            <a:r>
              <a:rPr sz="1050" b="0">
                <a:solidFill>
                  <a:srgbClr val="1A1A1A"/>
                </a:solidFill>
                <a:latin typeface="Georgia"/>
              </a:rPr>
              <a:t>(1/8, 1/16 features)</a:t>
            </a:r>
          </a:p>
        </p:txBody>
      </p:sp>
      <p:sp>
        <p:nvSpPr>
          <p:cNvPr id="6" name="Rounded Rectangle 5"/>
          <p:cNvSpPr/>
          <p:nvPr/>
        </p:nvSpPr>
        <p:spPr>
          <a:xfrm>
            <a:off x="489204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Cross-attention</a:t>
            </a:r>
          </a:p>
          <a:p>
            <a:pPr algn="ctr"/>
            <a:r>
              <a:rPr sz="1050" b="0">
                <a:solidFill>
                  <a:srgbClr val="1A1A1A"/>
                </a:solidFill>
                <a:latin typeface="Georgia"/>
              </a:rPr>
              <a:t>+ global matching</a:t>
            </a:r>
          </a:p>
        </p:txBody>
      </p:sp>
      <p:sp>
        <p:nvSpPr>
          <p:cNvPr id="7" name="Rounded Rectangle 6"/>
          <p:cNvSpPr/>
          <p:nvPr/>
        </p:nvSpPr>
        <p:spPr>
          <a:xfrm>
            <a:off x="726948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Refine x1 (1/16)</a:t>
            </a:r>
          </a:p>
          <a:p>
            <a:pPr algn="ctr"/>
            <a:r>
              <a:rPr sz="1050" b="0">
                <a:solidFill>
                  <a:srgbClr val="1A1A1A"/>
                </a:solidFill>
                <a:latin typeface="Georgia"/>
              </a:rPr>
              <a:t>Refine x8 (1/8)</a:t>
            </a:r>
          </a:p>
        </p:txBody>
      </p:sp>
      <p:sp>
        <p:nvSpPr>
          <p:cNvPr id="8" name="Rounded Rectangle 7"/>
          <p:cNvSpPr/>
          <p:nvPr/>
        </p:nvSpPr>
        <p:spPr>
          <a:xfrm>
            <a:off x="964692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Coarse flow</a:t>
            </a:r>
          </a:p>
          <a:p>
            <a:pPr algn="ctr"/>
            <a:r>
              <a:rPr sz="1050" b="0">
                <a:solidFill>
                  <a:srgbClr val="1A1A1A"/>
                </a:solidFill>
                <a:latin typeface="Georgia"/>
              </a:rPr>
              <a:t>(1/8 resolution)</a:t>
            </a:r>
          </a:p>
        </p:txBody>
      </p:sp>
      <p:cxnSp>
        <p:nvCxnSpPr>
          <p:cNvPr id="9" name="Connector 8"/>
          <p:cNvCxnSpPr/>
          <p:nvPr/>
        </p:nvCxnSpPr>
        <p:spPr>
          <a:xfrm>
            <a:off x="2514600" y="2148840"/>
            <a:ext cx="9144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434840" y="2148840"/>
            <a:ext cx="45720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20840" y="2148840"/>
            <a:ext cx="54864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098280" y="2148840"/>
            <a:ext cx="54864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6080"/>
            <a:ext cx="10789920" cy="320040"/>
          </a:xfrm>
          <a:prstGeom prst="rect">
            <a:avLst/>
          </a:prstGeom>
          <a:noFill/>
        </p:spPr>
        <p:txBody>
          <a:bodyPr wrap="square">
            <a:spAutoFit/>
          </a:bodyPr>
          <a:lstStyle/>
          <a:p>
            <a:pPr algn="l">
              <a:lnSpc>
                <a:spcPct val="100000"/>
              </a:lnSpc>
            </a:pPr>
            <a:r>
              <a:rPr sz="1250" b="1">
                <a:solidFill>
                  <a:srgbClr val="1A1A1A"/>
                </a:solidFill>
                <a:latin typeface="Georgia"/>
              </a:rPr>
              <a:t>Every block above is frozen in v3 -- identical weights, identical computation.</a:t>
            </a:r>
          </a:p>
        </p:txBody>
      </p:sp>
      <p:sp>
        <p:nvSpPr>
          <p:cNvPr id="14" name="TextBox 13"/>
          <p:cNvSpPr txBox="1"/>
          <p:nvPr/>
        </p:nvSpPr>
        <p:spPr>
          <a:xfrm>
            <a:off x="685800" y="3429000"/>
            <a:ext cx="10789920" cy="2743200"/>
          </a:xfrm>
          <a:prstGeom prst="rect">
            <a:avLst/>
          </a:prstGeom>
          <a:noFill/>
        </p:spPr>
        <p:txBody>
          <a:bodyPr wrap="square">
            <a:spAutoFit/>
          </a:bodyPr>
          <a:lstStyle/>
          <a:p>
            <a:pPr algn="l">
              <a:lnSpc>
                <a:spcPct val="115000"/>
              </a:lnSpc>
            </a:pPr>
            <a:r>
              <a:rPr sz="1250" b="0">
                <a:solidFill>
                  <a:srgbClr val="1A1A1A"/>
                </a:solidFill>
                <a:latin typeface="Georgia"/>
              </a:rPr>
              <a:t>NeuFlow v2 (Zhang, Gupta, Jiang, Singh, arXiv:2408.10161) is a real-time flow network</a:t>
            </a:r>
          </a:p>
          <a:p>
            <a:pPr algn="l">
              <a:lnSpc>
                <a:spcPct val="115000"/>
              </a:lnSpc>
            </a:pPr>
            <a:r>
              <a:rPr sz="1250" b="0">
                <a:solidFill>
                  <a:srgbClr val="1A1A1A"/>
                </a:solidFill>
                <a:latin typeface="Georgia"/>
              </a:rPr>
              <a:t>built for edge devices:</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1.  Shallow CNN, features at 1/8 and 1/16</a:t>
            </a:r>
          </a:p>
          <a:p>
            <a:pPr algn="l">
              <a:lnSpc>
                <a:spcPct val="115000"/>
              </a:lnSpc>
            </a:pPr>
            <a:r>
              <a:rPr sz="1250" b="0">
                <a:solidFill>
                  <a:srgbClr val="1A1A1A"/>
                </a:solidFill>
                <a:latin typeface="Georgia"/>
              </a:rPr>
              <a:t>2.  Cross-attention + global matching at 1/16 for the initial flow</a:t>
            </a:r>
          </a:p>
          <a:p>
            <a:pPr algn="l">
              <a:lnSpc>
                <a:spcPct val="115000"/>
              </a:lnSpc>
            </a:pPr>
            <a:r>
              <a:rPr sz="1250" b="0">
                <a:solidFill>
                  <a:srgbClr val="1A1A1A"/>
                </a:solidFill>
                <a:latin typeface="Georgia"/>
              </a:rPr>
              <a:t>3.  Light recurrent refinement: 1 iteration at 1/16, 8 at 1/8</a:t>
            </a:r>
          </a:p>
          <a:p>
            <a:pPr algn="l">
              <a:lnSpc>
                <a:spcPct val="115000"/>
              </a:lnSpc>
            </a:pPr>
            <a:r>
              <a:rPr sz="1250" b="0">
                <a:solidFill>
                  <a:srgbClr val="1A1A1A"/>
                </a:solidFill>
                <a:latin typeface="Georgia"/>
              </a:rPr>
              <a:t>4.  (v2 only) Learned convex upsampler: each output pixel is a blend of a 3x3</a:t>
            </a:r>
          </a:p>
          <a:p>
            <a:pPr algn="l">
              <a:lnSpc>
                <a:spcPct val="115000"/>
              </a:lnSpc>
            </a:pPr>
            <a:r>
              <a:rPr sz="1250" b="0">
                <a:solidFill>
                  <a:srgbClr val="1A1A1A"/>
                </a:solidFill>
                <a:latin typeface="Georgia"/>
              </a:rPr>
              <a:t>     neighborhood of the 1/8 flow -- this last step is what v3 replaces.</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v2 alone: 9.03M parameters, 19.6 ms per frame pair (V100, 384x1248), 2.324 px</a:t>
            </a:r>
          </a:p>
          <a:p>
            <a:pPr algn="l">
              <a:lnSpc>
                <a:spcPct val="115000"/>
              </a:lnSpc>
            </a:pPr>
            <a:r>
              <a:rPr sz="1250" b="0">
                <a:solidFill>
                  <a:srgbClr val="1A1A1A"/>
                </a:solidFill>
                <a:latin typeface="Georgia"/>
              </a:rPr>
              <a:t>mean EPE on VKITTI2. Its structural limit: output resolution and cost are fixed</a:t>
            </a:r>
          </a:p>
          <a:p>
            <a:pPr algn="l">
              <a:lnSpc>
                <a:spcPct val="115000"/>
              </a:lnSpc>
            </a:pPr>
            <a:r>
              <a:rPr sz="1250" b="0">
                <a:solidFill>
                  <a:srgbClr val="1A1A1A"/>
                </a:solidFill>
                <a:latin typeface="Georgia"/>
              </a:rPr>
              <a:t>at design time -- no cheap way to ask a smaller question, no way to ask a finer one.</a:t>
            </a:r>
          </a:p>
        </p:txBody>
      </p:sp>
      <p:sp>
        <p:nvSpPr>
          <p:cNvPr id="15" name="TextBox 1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6" name="TextBox 1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adds: a queryable decoder instead of the upsampler</a:t>
            </a:r>
          </a:p>
        </p:txBody>
      </p:sp>
      <p:sp>
        <p:nvSpPr>
          <p:cNvPr id="4" name="TextBox 3"/>
          <p:cNvSpPr txBox="1"/>
          <p:nvPr/>
        </p:nvSpPr>
        <p:spPr>
          <a:xfrm>
            <a:off x="685800" y="1463040"/>
            <a:ext cx="10789920" cy="274320"/>
          </a:xfrm>
          <a:prstGeom prst="rect">
            <a:avLst/>
          </a:prstGeom>
          <a:noFill/>
        </p:spPr>
        <p:txBody>
          <a:bodyPr wrap="square">
            <a:spAutoFit/>
          </a:bodyPr>
          <a:lstStyle/>
          <a:p>
            <a:pPr algn="l">
              <a:lnSpc>
                <a:spcPct val="100000"/>
              </a:lnSpc>
            </a:pPr>
            <a:r>
              <a:rPr sz="1250" b="1">
                <a:solidFill>
                  <a:srgbClr val="1A1A1A"/>
                </a:solidFill>
                <a:latin typeface="Georgia"/>
              </a:rPr>
              <a:t>Per query: sample features at (x, y), blend a bounded set of candidates</a:t>
            </a:r>
          </a:p>
        </p:txBody>
      </p:sp>
      <p:sp>
        <p:nvSpPr>
          <p:cNvPr id="5" name="TextBox 4"/>
          <p:cNvSpPr txBox="1"/>
          <p:nvPr/>
        </p:nvSpPr>
        <p:spPr>
          <a:xfrm>
            <a:off x="822960" y="1828800"/>
            <a:ext cx="10515600" cy="2011680"/>
          </a:xfrm>
          <a:prstGeom prst="rect">
            <a:avLst/>
          </a:prstGeom>
          <a:noFill/>
        </p:spPr>
        <p:txBody>
          <a:bodyPr wrap="square">
            <a:spAutoFit/>
          </a:bodyPr>
          <a:lstStyle/>
          <a:p>
            <a:r>
              <a:rPr sz="1100" b="1">
                <a:solidFill>
                  <a:srgbClr val="1A1A1A"/>
                </a:solidFill>
                <a:latin typeface="Consolas"/>
              </a:rPr>
              <a:t># ONCE per image pair (~16-17 ms, V100, 384x1248)</a:t>
            </a:r>
          </a:p>
          <a:p>
            <a:r>
              <a:rPr sz="1100">
                <a:solidFill>
                  <a:srgbClr val="1A1A1A"/>
                </a:solidFill>
                <a:latin typeface="Consolas"/>
              </a:rPr>
              <a:t>coarse_flow, features = v2_pipeline(img0, img1)      # frozen, unchanged</a:t>
            </a:r>
          </a:p>
          <a:p>
            <a:r>
              <a:rPr sz="1100">
                <a:solidFill>
                  <a:srgbClr val="1A1A1A"/>
                </a:solidFill>
                <a:latin typeface="Consolas"/>
              </a:rPr>
              <a:t/>
            </a:r>
          </a:p>
          <a:p>
            <a:r>
              <a:rPr sz="1100" b="1">
                <a:solidFill>
                  <a:srgbClr val="1A1A1A"/>
                </a:solidFill>
                <a:latin typeface="Consolas"/>
              </a:rPr>
              <a:t># PER QUERY BATCH (~2.6 ms for up to ~2,000 points)</a:t>
            </a:r>
          </a:p>
          <a:p>
            <a:r>
              <a:rPr sz="1100">
                <a:solidFill>
                  <a:srgbClr val="1A1A1A"/>
                </a:solidFill>
                <a:latin typeface="Consolas"/>
              </a:rPr>
              <a:t>for each query (x, y):                                # continuous coords</a:t>
            </a:r>
          </a:p>
          <a:p>
            <a:r>
              <a:rPr sz="1100">
                <a:solidFill>
                  <a:srgbClr val="1A1A1A"/>
                </a:solidFill>
                <a:latin typeface="Consolas"/>
              </a:rPr>
              <a:t>    feat = sample(features, x, y)                     # bilinear, 260-d</a:t>
            </a:r>
          </a:p>
          <a:p>
            <a:r>
              <a:rPr sz="1100">
                <a:solidFill>
                  <a:srgbClr val="1A1A1A"/>
                </a:solidFill>
                <a:latin typeface="Consolas"/>
              </a:rPr>
              <a:t>    weights, [b] = decoder_head(feat)                 # softmax + optional log-scale</a:t>
            </a:r>
          </a:p>
          <a:p>
            <a:r>
              <a:rPr sz="1100">
                <a:solidFill>
                  <a:srgbClr val="1A1A1A"/>
                </a:solidFill>
                <a:latin typeface="Consolas"/>
              </a:rPr>
              <a:t>    candidates = 3x3 coarse-flow window + bilinear value</a:t>
            </a:r>
          </a:p>
          <a:p>
            <a:r>
              <a:rPr sz="1100">
                <a:solidFill>
                  <a:srgbClr val="1A1A1A"/>
                </a:solidFill>
                <a:latin typeface="Consolas"/>
              </a:rPr>
              <a:t>    flow = sum(weights * candidates)                  # bounded convex blend</a:t>
            </a:r>
          </a:p>
          <a:p>
            <a:r>
              <a:rPr sz="1100">
                <a:solidFill>
                  <a:srgbClr val="1A1A1A"/>
                </a:solidFill>
                <a:latin typeface="Consolas"/>
              </a:rPr>
              <a:t>return flow, [b]                                       # b = predicted error (option G)</a:t>
            </a:r>
          </a:p>
        </p:txBody>
      </p:sp>
      <p:sp>
        <p:nvSpPr>
          <p:cNvPr id="6" name="TextBox 5"/>
          <p:cNvSpPr txBox="1"/>
          <p:nvPr/>
        </p:nvSpPr>
        <p:spPr>
          <a:xfrm>
            <a:off x="685800" y="3977639"/>
            <a:ext cx="10789920" cy="2286000"/>
          </a:xfrm>
          <a:prstGeom prst="rect">
            <a:avLst/>
          </a:prstGeom>
          <a:noFill/>
        </p:spPr>
        <p:txBody>
          <a:bodyPr wrap="square">
            <a:spAutoFit/>
          </a:bodyPr>
          <a:lstStyle/>
          <a:p>
            <a:pPr algn="l">
              <a:lnSpc>
                <a:spcPct val="115000"/>
              </a:lnSpc>
            </a:pPr>
            <a:r>
              <a:rPr sz="1250" b="0">
                <a:solidFill>
                  <a:srgbClr val="1A1A1A"/>
                </a:solidFill>
                <a:latin typeface="Georgia"/>
              </a:rPr>
              <a:t>The head outputs weights over a 3x3 neighborhood of the coarse flow plus a bilinear</a:t>
            </a:r>
          </a:p>
          <a:p>
            <a:pPr algn="l">
              <a:lnSpc>
                <a:spcPct val="115000"/>
              </a:lnSpc>
            </a:pPr>
            <a:r>
              <a:rPr sz="1250" b="0">
                <a:solidFill>
                  <a:srgbClr val="1A1A1A"/>
                </a:solidFill>
                <a:latin typeface="Georgia"/>
              </a:rPr>
              <a:t>candidate, softmax-blended -- bounded by construction, so it cannot hallucinate large</a:t>
            </a:r>
          </a:p>
          <a:p>
            <a:pPr algn="l">
              <a:lnSpc>
                <a:spcPct val="115000"/>
              </a:lnSpc>
            </a:pPr>
            <a:r>
              <a:rPr sz="1250" b="0">
                <a:solidFill>
                  <a:srgbClr val="1A1A1A"/>
                </a:solidFill>
                <a:latin typeface="Georgia"/>
              </a:rPr>
              <a:t>flow. Zero-initialized so an untrained decoder reproduces plain bilinear upsampling</a:t>
            </a:r>
          </a:p>
          <a:p>
            <a:pPr algn="l">
              <a:lnSpc>
                <a:spcPct val="115000"/>
              </a:lnSpc>
            </a:pPr>
            <a:r>
              <a:rPr sz="1250" b="0">
                <a:solidFill>
                  <a:srgbClr val="1A1A1A"/>
                </a:solidFill>
                <a:latin typeface="Georgia"/>
              </a:rPr>
              <a:t>exactly (verified: 2.476 px EPE at step 0, full validation set).</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Two-pass API: infer_coarse_state() once per frame, decode_queries() per query batch.</a:t>
            </a:r>
          </a:p>
          <a:p>
            <a:pPr algn="l">
              <a:lnSpc>
                <a:spcPct val="115000"/>
              </a:lnSpc>
            </a:pPr>
            <a:r>
              <a:rPr sz="1250" b="0">
                <a:solidFill>
                  <a:srgbClr val="1A1A1A"/>
                </a:solidFill>
                <a:latin typeface="Georgia"/>
              </a:rPr>
              <a:t>Sparse output matches dense output at the same points exactly -- verified to 0.00 px.</a:t>
            </a:r>
          </a:p>
          <a:p>
            <a:pPr algn="l">
              <a:lnSpc>
                <a:spcPct val="115000"/>
              </a:lnSpc>
            </a:pPr>
            <a:r>
              <a:rPr sz="1250" b="0">
                <a:solidFill>
                  <a:srgbClr val="1A1A1A"/>
                </a:solidFill>
                <a:latin typeface="Georgia"/>
              </a:rPr>
              <a:t>v3 has fewer parameters than v2 (7.83M vs 9.03M) despite adding this capability.</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full training curriculum, in order</a:t>
            </a:r>
          </a:p>
        </p:txBody>
      </p:sp>
      <p:pic>
        <p:nvPicPr>
          <p:cNvPr id="4" name="Picture 3" descr="curriculum_epe.png"/>
          <p:cNvPicPr>
            <a:picLocks noChangeAspect="1"/>
          </p:cNvPicPr>
          <p:nvPr/>
        </p:nvPicPr>
        <p:blipFill>
          <a:blip r:embed="rId2"/>
          <a:stretch>
            <a:fillRect/>
          </a:stretch>
        </p:blipFill>
        <p:spPr>
          <a:xfrm>
            <a:off x="548640" y="1417320"/>
            <a:ext cx="11064240" cy="4537582"/>
          </a:xfrm>
          <a:prstGeom prst="rect">
            <a:avLst/>
          </a:prstGeom>
        </p:spPr>
      </p:pic>
      <p:sp>
        <p:nvSpPr>
          <p:cNvPr id="5" name="TextBox 4"/>
          <p:cNvSpPr txBox="1"/>
          <p:nvPr/>
        </p:nvSpPr>
        <p:spPr>
          <a:xfrm>
            <a:off x="685800" y="6126480"/>
            <a:ext cx="10789920" cy="640080"/>
          </a:xfrm>
          <a:prstGeom prst="rect">
            <a:avLst/>
          </a:prstGeom>
          <a:noFill/>
        </p:spPr>
        <p:txBody>
          <a:bodyPr wrap="square">
            <a:spAutoFit/>
          </a:bodyPr>
          <a:lstStyle/>
          <a:p>
            <a:pPr algn="l">
              <a:lnSpc>
                <a:spcPct val="100000"/>
              </a:lnSpc>
            </a:pPr>
            <a:r>
              <a:rPr sz="1150" b="0">
                <a:solidFill>
                  <a:srgbClr val="1A1A1A"/>
                </a:solidFill>
                <a:latin typeface="Georgia"/>
              </a:rPr>
              <a:t>Every configuration tried, worst to best. Local runs (RTX 4060, batch 4) established the</a:t>
            </a:r>
          </a:p>
          <a:p>
            <a:pPr algn="l">
              <a:lnSpc>
                <a:spcPct val="100000"/>
              </a:lnSpc>
            </a:pPr>
            <a:r>
              <a:rPr sz="1150" b="0">
                <a:solidFill>
                  <a:srgbClr val="1A1A1A"/>
                </a:solidFill>
                <a:latin typeface="Georgia"/>
              </a:rPr>
              <a:t>recipe; HPC runs (Explorer cluster, batch 16, 100K steps) scaled it. big18 is the best full run.</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Precision: closing the sub-pixel gap</a:t>
            </a:r>
          </a:p>
        </p:txBody>
      </p:sp>
      <p:pic>
        <p:nvPicPr>
          <p:cNvPr id="4" name="Picture 3" descr="precision_bars.png"/>
          <p:cNvPicPr>
            <a:picLocks noChangeAspect="1"/>
          </p:cNvPicPr>
          <p:nvPr/>
        </p:nvPicPr>
        <p:blipFill>
          <a:blip r:embed="rId2"/>
          <a:stretch>
            <a:fillRect/>
          </a:stretch>
        </p:blipFill>
        <p:spPr>
          <a:xfrm>
            <a:off x="2359152" y="1417320"/>
            <a:ext cx="7479792" cy="4116698"/>
          </a:xfrm>
          <a:prstGeom prst="rect">
            <a:avLst/>
          </a:prstGeom>
        </p:spPr>
      </p:pic>
      <p:sp>
        <p:nvSpPr>
          <p:cNvPr id="5" name="TextBox 4"/>
          <p:cNvSpPr txBox="1"/>
          <p:nvPr/>
        </p:nvSpPr>
        <p:spPr>
          <a:xfrm>
            <a:off x="685800" y="6035040"/>
            <a:ext cx="10789920" cy="640080"/>
          </a:xfrm>
          <a:prstGeom prst="rect">
            <a:avLst/>
          </a:prstGeom>
          <a:noFill/>
        </p:spPr>
        <p:txBody>
          <a:bodyPr wrap="square">
            <a:spAutoFit/>
          </a:bodyPr>
          <a:lstStyle/>
          <a:p>
            <a:pPr algn="l">
              <a:lnSpc>
                <a:spcPct val="100000"/>
              </a:lnSpc>
            </a:pPr>
            <a:r>
              <a:rPr sz="1150" b="0">
                <a:solidFill>
                  <a:srgbClr val="1A1A1A"/>
                </a:solidFill>
                <a:latin typeface="Georgia"/>
              </a:rPr>
              <a:t>uncG (uncertainty head) is the first v3 checkpoint to beat v2 on 3px accuracy (90.02 vs</a:t>
            </a:r>
          </a:p>
          <a:p>
            <a:pPr algn="l">
              <a:lnSpc>
                <a:spcPct val="100000"/>
              </a:lnSpc>
            </a:pPr>
            <a:r>
              <a:rPr sz="1150" b="0">
                <a:solidFill>
                  <a:srgbClr val="1A1A1A"/>
                </a:solidFill>
                <a:latin typeface="Georgia"/>
              </a:rPr>
              <a:t>89.8) and nearly closes the 1px gap (77.51 vs 77.6 -- 0.09 points, within measurement noise).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Same scene, four checkpoints, all beating v2 on EPE</a:t>
            </a:r>
          </a:p>
        </p:txBody>
      </p:sp>
      <p:sp>
        <p:nvSpPr>
          <p:cNvPr id="4" name="TextBox 3"/>
          <p:cNvSpPr txBox="1"/>
          <p:nvPr/>
        </p:nvSpPr>
        <p:spPr>
          <a:xfrm>
            <a:off x="685800" y="1490472"/>
            <a:ext cx="5257800" cy="274320"/>
          </a:xfrm>
          <a:prstGeom prst="rect">
            <a:avLst/>
          </a:prstGeom>
          <a:noFill/>
        </p:spPr>
        <p:txBody>
          <a:bodyPr wrap="square">
            <a:spAutoFit/>
          </a:bodyPr>
          <a:lstStyle/>
          <a:p>
            <a:pPr algn="l">
              <a:lnSpc>
                <a:spcPct val="100000"/>
              </a:lnSpc>
            </a:pPr>
            <a:r>
              <a:rPr sz="1100" b="1">
                <a:solidFill>
                  <a:srgbClr val="1A1A1A"/>
                </a:solidFill>
                <a:latin typeface="Georgia"/>
              </a:rPr>
              <a:t>NeuFlow v2, EPE 2.324 (full set) / 2.111 (this scene)</a:t>
            </a:r>
          </a:p>
        </p:txBody>
      </p:sp>
      <p:pic>
        <p:nvPicPr>
          <p:cNvPr id="5" name="Picture 4" descr="scene_v2.png"/>
          <p:cNvPicPr>
            <a:picLocks noChangeAspect="1"/>
          </p:cNvPicPr>
          <p:nvPr/>
        </p:nvPicPr>
        <p:blipFill>
          <a:blip r:embed="rId2"/>
          <a:stretch>
            <a:fillRect/>
          </a:stretch>
        </p:blipFill>
        <p:spPr>
          <a:xfrm>
            <a:off x="685800" y="1783080"/>
            <a:ext cx="5257800" cy="1591056"/>
          </a:xfrm>
          <a:prstGeom prst="rect">
            <a:avLst/>
          </a:prstGeom>
        </p:spPr>
      </p:pic>
      <p:sp>
        <p:nvSpPr>
          <p:cNvPr id="6" name="Rectangle 5"/>
          <p:cNvSpPr/>
          <p:nvPr/>
        </p:nvSpPr>
        <p:spPr>
          <a:xfrm>
            <a:off x="685800" y="1783080"/>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63640" y="1490472"/>
            <a:ext cx="5257800" cy="274320"/>
          </a:xfrm>
          <a:prstGeom prst="rect">
            <a:avLst/>
          </a:prstGeom>
          <a:noFill/>
        </p:spPr>
        <p:txBody>
          <a:bodyPr wrap="square">
            <a:spAutoFit/>
          </a:bodyPr>
          <a:lstStyle/>
          <a:p>
            <a:pPr algn="l">
              <a:lnSpc>
                <a:spcPct val="100000"/>
              </a:lnSpc>
            </a:pPr>
            <a:r>
              <a:rPr sz="1100" b="1">
                <a:solidFill>
                  <a:srgbClr val="1A1A1A"/>
                </a:solidFill>
                <a:latin typeface="Georgia"/>
              </a:rPr>
              <a:t>v3 grandmix, EPE 2.166 (full set) / 2.077 (this scene)</a:t>
            </a:r>
          </a:p>
        </p:txBody>
      </p:sp>
      <p:pic>
        <p:nvPicPr>
          <p:cNvPr id="8" name="Picture 7" descr="scene_v3_grandmix.png"/>
          <p:cNvPicPr>
            <a:picLocks noChangeAspect="1"/>
          </p:cNvPicPr>
          <p:nvPr/>
        </p:nvPicPr>
        <p:blipFill>
          <a:blip r:embed="rId3"/>
          <a:stretch>
            <a:fillRect/>
          </a:stretch>
        </p:blipFill>
        <p:spPr>
          <a:xfrm>
            <a:off x="6263640" y="1783080"/>
            <a:ext cx="5257800" cy="1591056"/>
          </a:xfrm>
          <a:prstGeom prst="rect">
            <a:avLst/>
          </a:prstGeom>
        </p:spPr>
      </p:pic>
      <p:sp>
        <p:nvSpPr>
          <p:cNvPr id="9" name="Rectangle 8"/>
          <p:cNvSpPr/>
          <p:nvPr/>
        </p:nvSpPr>
        <p:spPr>
          <a:xfrm>
            <a:off x="6263640" y="1783080"/>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21024"/>
            <a:ext cx="5257800" cy="274320"/>
          </a:xfrm>
          <a:prstGeom prst="rect">
            <a:avLst/>
          </a:prstGeom>
          <a:noFill/>
        </p:spPr>
        <p:txBody>
          <a:bodyPr wrap="square">
            <a:spAutoFit/>
          </a:bodyPr>
          <a:lstStyle/>
          <a:p>
            <a:pPr algn="l">
              <a:lnSpc>
                <a:spcPct val="100000"/>
              </a:lnSpc>
            </a:pPr>
            <a:r>
              <a:rPr sz="1100" b="1">
                <a:solidFill>
                  <a:srgbClr val="1A1A1A"/>
                </a:solidFill>
                <a:latin typeface="Georgia"/>
              </a:rPr>
              <a:t>v3 big18, EPE 2.072 (full set, best) / 2.089 (this scene)</a:t>
            </a:r>
          </a:p>
        </p:txBody>
      </p:sp>
      <p:pic>
        <p:nvPicPr>
          <p:cNvPr id="11" name="Picture 10" descr="scene_v3_big18.png"/>
          <p:cNvPicPr>
            <a:picLocks noChangeAspect="1"/>
          </p:cNvPicPr>
          <p:nvPr/>
        </p:nvPicPr>
        <p:blipFill>
          <a:blip r:embed="rId4"/>
          <a:stretch>
            <a:fillRect/>
          </a:stretch>
        </p:blipFill>
        <p:spPr>
          <a:xfrm>
            <a:off x="685800" y="3913632"/>
            <a:ext cx="5257800" cy="1591056"/>
          </a:xfrm>
          <a:prstGeom prst="rect">
            <a:avLst/>
          </a:prstGeom>
        </p:spPr>
      </p:pic>
      <p:sp>
        <p:nvSpPr>
          <p:cNvPr id="12" name="Rectangle 11"/>
          <p:cNvSpPr/>
          <p:nvPr/>
        </p:nvSpPr>
        <p:spPr>
          <a:xfrm>
            <a:off x="685800" y="3913632"/>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3621024"/>
            <a:ext cx="5257800" cy="274320"/>
          </a:xfrm>
          <a:prstGeom prst="rect">
            <a:avLst/>
          </a:prstGeom>
          <a:noFill/>
        </p:spPr>
        <p:txBody>
          <a:bodyPr wrap="square">
            <a:spAutoFit/>
          </a:bodyPr>
          <a:lstStyle/>
          <a:p>
            <a:pPr algn="l">
              <a:lnSpc>
                <a:spcPct val="100000"/>
              </a:lnSpc>
            </a:pPr>
            <a:r>
              <a:rPr sz="1100" b="1">
                <a:solidFill>
                  <a:srgbClr val="1A1A1A"/>
                </a:solidFill>
                <a:latin typeface="Georgia"/>
              </a:rPr>
              <a:t>v3 uncG, EPE 2.082 (full set) / 2.053 (this scene, best here)</a:t>
            </a:r>
          </a:p>
        </p:txBody>
      </p:sp>
      <p:pic>
        <p:nvPicPr>
          <p:cNvPr id="14" name="Picture 13" descr="scene_v3_uncG.png"/>
          <p:cNvPicPr>
            <a:picLocks noChangeAspect="1"/>
          </p:cNvPicPr>
          <p:nvPr/>
        </p:nvPicPr>
        <p:blipFill>
          <a:blip r:embed="rId5"/>
          <a:stretch>
            <a:fillRect/>
          </a:stretch>
        </p:blipFill>
        <p:spPr>
          <a:xfrm>
            <a:off x="6263640" y="3913632"/>
            <a:ext cx="5257800" cy="1591056"/>
          </a:xfrm>
          <a:prstGeom prst="rect">
            <a:avLst/>
          </a:prstGeom>
        </p:spPr>
      </p:pic>
      <p:sp>
        <p:nvSpPr>
          <p:cNvPr id="15" name="Rectangle 14"/>
          <p:cNvSpPr/>
          <p:nvPr/>
        </p:nvSpPr>
        <p:spPr>
          <a:xfrm>
            <a:off x="6263640" y="3913632"/>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806440"/>
            <a:ext cx="10881360" cy="685800"/>
          </a:xfrm>
          <a:prstGeom prst="rect">
            <a:avLst/>
          </a:prstGeom>
          <a:noFill/>
        </p:spPr>
        <p:txBody>
          <a:bodyPr wrap="square">
            <a:spAutoFit/>
          </a:bodyPr>
          <a:lstStyle/>
          <a:p>
            <a:pPr algn="l">
              <a:lnSpc>
                <a:spcPct val="100000"/>
              </a:lnSpc>
            </a:pPr>
            <a:r>
              <a:rPr sz="1150" b="0">
                <a:solidFill>
                  <a:srgbClr val="1A1A1A"/>
                </a:solidFill>
                <a:latin typeface="Georgia"/>
              </a:rPr>
              <a:t>Batch 16, 100K steps, H200/V100 (Explorer cluster). All three HPC checkpoints beat v2</a:t>
            </a:r>
          </a:p>
          <a:p>
            <a:pPr algn="l">
              <a:lnSpc>
                <a:spcPct val="100000"/>
              </a:lnSpc>
            </a:pPr>
            <a:r>
              <a:rPr sz="1150" b="0">
                <a:solidFill>
                  <a:srgbClr val="1A1A1A"/>
                </a:solidFill>
                <a:latin typeface="Georgia"/>
              </a:rPr>
              <a:t>on mean EPE, on the full 1,174-pair validation set, not just this one scene.</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the real deployment argument</a:t>
            </a:r>
          </a:p>
        </p:txBody>
      </p:sp>
      <p:pic>
        <p:nvPicPr>
          <p:cNvPr id="4" name="Picture 3" descr="speed_bars.png"/>
          <p:cNvPicPr>
            <a:picLocks noChangeAspect="1"/>
          </p:cNvPicPr>
          <p:nvPr/>
        </p:nvPicPr>
        <p:blipFill>
          <a:blip r:embed="rId2"/>
          <a:stretch>
            <a:fillRect/>
          </a:stretch>
        </p:blipFill>
        <p:spPr>
          <a:xfrm>
            <a:off x="2743200" y="1371600"/>
            <a:ext cx="6675120" cy="4129523"/>
          </a:xfrm>
          <a:prstGeom prst="rect">
            <a:avLst/>
          </a:prstGeom>
        </p:spPr>
      </p:pic>
      <p:sp>
        <p:nvSpPr>
          <p:cNvPr id="5" name="TextBox 4"/>
          <p:cNvSpPr txBox="1"/>
          <p:nvPr/>
        </p:nvSpPr>
        <p:spPr>
          <a:xfrm>
            <a:off x="685800" y="5623560"/>
            <a:ext cx="10789920" cy="822960"/>
          </a:xfrm>
          <a:prstGeom prst="rect">
            <a:avLst/>
          </a:prstGeom>
          <a:noFill/>
        </p:spPr>
        <p:txBody>
          <a:bodyPr wrap="square">
            <a:spAutoFit/>
          </a:bodyPr>
          <a:lstStyle/>
          <a:p>
            <a:pPr algn="l">
              <a:lnSpc>
                <a:spcPct val="100000"/>
              </a:lnSpc>
            </a:pPr>
            <a:r>
              <a:rPr sz="1150" b="0">
                <a:solidFill>
                  <a:srgbClr val="1A1A1A"/>
                </a:solidFill>
                <a:latin typeface="Georgia"/>
              </a:rPr>
              <a:t>Measured on identical V100 hardware. The pitch is not "6% better EPE" -- it is that v2</a:t>
            </a:r>
          </a:p>
          <a:p>
            <a:pPr algn="l">
              <a:lnSpc>
                <a:spcPct val="100000"/>
              </a:lnSpc>
            </a:pPr>
            <a:r>
              <a:rPr sz="1150" b="0">
                <a:solidFill>
                  <a:srgbClr val="1A1A1A"/>
                </a:solidFill>
                <a:latin typeface="Georgia"/>
              </a:rPr>
              <a:t>pays the full 19.6 ms on every single call, while v3 pays a similar cost once per frame</a:t>
            </a:r>
          </a:p>
          <a:p>
            <a:pPr algn="l">
              <a:lnSpc>
                <a:spcPct val="100000"/>
              </a:lnSpc>
            </a:pPr>
            <a:r>
              <a:rPr sz="1150" b="0">
                <a:solidFill>
                  <a:srgbClr val="1A1A1A"/>
                </a:solidFill>
                <a:latin typeface="Georgia"/>
              </a:rPr>
              <a:t>and then answers follow-up queries on that same frame for ~2.6 ms each.</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Option G: a calibrated confidence signal v2 cannot express</a:t>
            </a:r>
          </a:p>
        </p:txBody>
      </p:sp>
      <p:pic>
        <p:nvPicPr>
          <p:cNvPr id="4" name="Picture 3" descr="calibration_bars.png"/>
          <p:cNvPicPr>
            <a:picLocks noChangeAspect="1"/>
          </p:cNvPicPr>
          <p:nvPr/>
        </p:nvPicPr>
        <p:blipFill>
          <a:blip r:embed="rId2"/>
          <a:stretch>
            <a:fillRect/>
          </a:stretch>
        </p:blipFill>
        <p:spPr>
          <a:xfrm>
            <a:off x="2560320" y="1371600"/>
            <a:ext cx="7040880" cy="4095492"/>
          </a:xfrm>
          <a:prstGeom prst="rect">
            <a:avLst/>
          </a:prstGeom>
        </p:spPr>
      </p:pic>
      <p:sp>
        <p:nvSpPr>
          <p:cNvPr id="5" name="TextBox 4"/>
          <p:cNvSpPr txBox="1"/>
          <p:nvPr/>
        </p:nvSpPr>
        <p:spPr>
          <a:xfrm>
            <a:off x="685800" y="5623560"/>
            <a:ext cx="10789920" cy="822960"/>
          </a:xfrm>
          <a:prstGeom prst="rect">
            <a:avLst/>
          </a:prstGeom>
          <a:noFill/>
        </p:spPr>
        <p:txBody>
          <a:bodyPr wrap="square">
            <a:spAutoFit/>
          </a:bodyPr>
          <a:lstStyle/>
          <a:p>
            <a:pPr algn="l">
              <a:lnSpc>
                <a:spcPct val="100000"/>
              </a:lnSpc>
            </a:pPr>
            <a:r>
              <a:rPr sz="1150" b="0">
                <a:solidFill>
                  <a:srgbClr val="1A1A1A"/>
                </a:solidFill>
                <a:latin typeface="Georgia"/>
              </a:rPr>
              <a:t>One extra decoder output, trained with a self-calibrating loss (|error|/b + 2 log b).</a:t>
            </a:r>
          </a:p>
          <a:p>
            <a:pPr algn="l">
              <a:lnSpc>
                <a:spcPct val="100000"/>
              </a:lnSpc>
            </a:pPr>
            <a:r>
              <a:rPr sz="1150" b="0">
                <a:solidFill>
                  <a:srgbClr val="1A1A1A"/>
                </a:solidFill>
                <a:latin typeface="Georgia"/>
              </a:rPr>
              <a:t>Bins by predicted b show mean REAL error rising monotonically from 0.22 to 7.38 px --</a:t>
            </a:r>
          </a:p>
          <a:p>
            <a:pPr algn="l">
              <a:lnSpc>
                <a:spcPct val="100000"/>
              </a:lnSpc>
            </a:pPr>
            <a:r>
              <a:rPr sz="1150" b="0">
                <a:solidFill>
                  <a:srgbClr val="1A1A1A"/>
                </a:solidFill>
                <a:latin typeface="Georgia"/>
              </a:rPr>
              <a:t>the confidence output is not noise. Also the first checkpoint to beat v2 on 3px accuracy.</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Option A: refinement self-distillation</a:t>
            </a:r>
          </a:p>
        </p:txBody>
      </p:sp>
      <p:pic>
        <p:nvPicPr>
          <p:cNvPr id="4" name="Picture 3" descr="distillation_bars.png"/>
          <p:cNvPicPr>
            <a:picLocks noChangeAspect="1"/>
          </p:cNvPicPr>
          <p:nvPr/>
        </p:nvPicPr>
        <p:blipFill>
          <a:blip r:embed="rId2"/>
          <a:stretch>
            <a:fillRect/>
          </a:stretch>
        </p:blipFill>
        <p:spPr>
          <a:xfrm>
            <a:off x="2743200" y="1371600"/>
            <a:ext cx="6675120" cy="4129523"/>
          </a:xfrm>
          <a:prstGeom prst="rect">
            <a:avLst/>
          </a:prstGeom>
        </p:spPr>
      </p:pic>
      <p:sp>
        <p:nvSpPr>
          <p:cNvPr id="5" name="TextBox 4"/>
          <p:cNvSpPr txBox="1"/>
          <p:nvPr/>
        </p:nvSpPr>
        <p:spPr>
          <a:xfrm>
            <a:off x="685800" y="5623560"/>
            <a:ext cx="10789920" cy="822960"/>
          </a:xfrm>
          <a:prstGeom prst="rect">
            <a:avLst/>
          </a:prstGeom>
          <a:noFill/>
        </p:spPr>
        <p:txBody>
          <a:bodyPr wrap="square">
            <a:spAutoFit/>
          </a:bodyPr>
          <a:lstStyle/>
          <a:p>
            <a:pPr algn="l">
              <a:lnSpc>
                <a:spcPct val="100000"/>
              </a:lnSpc>
            </a:pPr>
            <a:r>
              <a:rPr sz="1150" b="0">
                <a:solidFill>
                  <a:srgbClr val="1A1A1A"/>
                </a:solidFill>
                <a:latin typeface="Georgia"/>
              </a:rPr>
              <a:t>The 8-iteration refinement loop is 59% of pipeline runtime; iterations 5-8 barely change</a:t>
            </a:r>
          </a:p>
          <a:p>
            <a:pPr algn="l">
              <a:lnSpc>
                <a:spcPct val="100000"/>
              </a:lnSpc>
            </a:pPr>
            <a:r>
              <a:rPr sz="1150" b="0">
                <a:solidFill>
                  <a:srgbClr val="1A1A1A"/>
                </a:solidFill>
                <a:latin typeface="Georgia"/>
              </a:rPr>
              <a:t>the answer. Retrained ONLY the refinement module (teacher = the model itself, no ground</a:t>
            </a:r>
          </a:p>
          <a:p>
            <a:pPr algn="l">
              <a:lnSpc>
                <a:spcPct val="100000"/>
              </a:lnSpc>
            </a:pPr>
            <a:r>
              <a:rPr sz="1150" b="0">
                <a:solidFill>
                  <a:srgbClr val="1A1A1A"/>
                </a:solidFill>
                <a:latin typeface="Georgia"/>
              </a:rPr>
              <a:t>truth) so 3 iterations approach 8-iteration quality at 3-iteration cost. Decoder untouched.</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Querying in practice: sizes and API</a:t>
            </a:r>
          </a:p>
        </p:txBody>
      </p:sp>
      <p:sp>
        <p:nvSpPr>
          <p:cNvPr id="4" name="TextBox 3"/>
          <p:cNvSpPr txBox="1"/>
          <p:nvPr/>
        </p:nvSpPr>
        <p:spPr>
          <a:xfrm>
            <a:off x="685800" y="1554480"/>
            <a:ext cx="10789920" cy="1463040"/>
          </a:xfrm>
          <a:prstGeom prst="rect">
            <a:avLst/>
          </a:prstGeom>
          <a:noFill/>
        </p:spPr>
        <p:txBody>
          <a:bodyPr wrap="square">
            <a:spAutoFit/>
          </a:bodyPr>
          <a:lstStyle/>
          <a:p>
            <a:pPr algn="l">
              <a:lnSpc>
                <a:spcPct val="115000"/>
              </a:lnSpc>
            </a:pPr>
            <a:r>
              <a:rPr sz="1250" b="0">
                <a:solidFill>
                  <a:srgbClr val="1A1A1A"/>
                </a:solidFill>
                <a:latin typeface="Georgia"/>
              </a:rPr>
              <a:t>A query is one continuous (x, y) coordinate; sub-pixel positions are valid inputs. N</a:t>
            </a:r>
          </a:p>
          <a:p>
            <a:pPr algn="l">
              <a:lnSpc>
                <a:spcPct val="115000"/>
              </a:lnSpc>
            </a:pPr>
            <a:r>
              <a:rPr sz="1250" b="0">
                <a:solidFill>
                  <a:srgbClr val="1A1A1A"/>
                </a:solidFill>
                <a:latin typeface="Georgia"/>
              </a:rPr>
              <a:t>ranges from 1 (a single click) to the full frame (479,232 at 384x1248). Decode cost is</a:t>
            </a:r>
          </a:p>
          <a:p>
            <a:pPr algn="l">
              <a:lnSpc>
                <a:spcPct val="115000"/>
              </a:lnSpc>
            </a:pPr>
            <a:r>
              <a:rPr sz="1250" b="0">
                <a:solidFill>
                  <a:srgbClr val="1A1A1A"/>
                </a:solidFill>
                <a:latin typeface="Georgia"/>
              </a:rPr>
              <a:t>flat at ~2.6 ms per call for up to ~2,000 queries per call.</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Training: batch size 4-16 depending on hardware; 4,096 supervision queries per image,</a:t>
            </a:r>
          </a:p>
          <a:p>
            <a:pPr algn="l">
              <a:lnSpc>
                <a:spcPct val="115000"/>
              </a:lnSpc>
            </a:pPr>
            <a:r>
              <a:rPr sz="1250" b="0">
                <a:solidFill>
                  <a:srgbClr val="1A1A1A"/>
                </a:solidFill>
                <a:latin typeface="Georgia"/>
              </a:rPr>
              <a:t>half placed at motion boundaries; AdamW with a one-cycle schedule peaking at 2e-4;</a:t>
            </a:r>
          </a:p>
          <a:p>
            <a:pPr algn="l">
              <a:lnSpc>
                <a:spcPct val="115000"/>
              </a:lnSpc>
            </a:pPr>
            <a:r>
              <a:rPr sz="1250" b="0">
                <a:solidFill>
                  <a:srgbClr val="1A1A1A"/>
                </a:solidFill>
                <a:latin typeface="Georgia"/>
              </a:rPr>
              <a:t>backbone frozen throughout every result on this deck except the distillation experiment.</a:t>
            </a:r>
          </a:p>
        </p:txBody>
      </p:sp>
      <p:sp>
        <p:nvSpPr>
          <p:cNvPr id="5" name="TextBox 4"/>
          <p:cNvSpPr txBox="1"/>
          <p:nvPr/>
        </p:nvSpPr>
        <p:spPr>
          <a:xfrm>
            <a:off x="822960" y="4297680"/>
            <a:ext cx="10515600" cy="822960"/>
          </a:xfrm>
          <a:prstGeom prst="rect">
            <a:avLst/>
          </a:prstGeom>
          <a:noFill/>
        </p:spPr>
        <p:txBody>
          <a:bodyPr wrap="square">
            <a:spAutoFit/>
          </a:bodyPr>
          <a:lstStyle/>
          <a:p>
            <a:r>
              <a:rPr sz="1200">
                <a:solidFill>
                  <a:srgbClr val="1A1A1A"/>
                </a:solidFill>
                <a:latin typeface="Consolas"/>
              </a:rPr>
              <a:t>state = model.infer_coarse_state(img0, img1)     # once, ~17 ms</a:t>
            </a:r>
          </a:p>
          <a:p>
            <a:r>
              <a:rPr sz="1200">
                <a:solidFill>
                  <a:srgbClr val="1A1A1A"/>
                </a:solidFill>
                <a:latin typeface="Consolas"/>
              </a:rPr>
              <a:t>flow  = model.decode_queries(state, query_coords=q)   # q: [B, N, 2] -&gt; [B, N, 2]</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GUI</a:t>
            </a:r>
          </a:p>
        </p:txBody>
      </p:sp>
      <p:pic>
        <p:nvPicPr>
          <p:cNvPr id="4" name="Picture 3" descr="query_gui_selftest.png"/>
          <p:cNvPicPr>
            <a:picLocks noChangeAspect="1"/>
          </p:cNvPicPr>
          <p:nvPr/>
        </p:nvPicPr>
        <p:blipFill>
          <a:blip r:embed="rId2"/>
          <a:stretch>
            <a:fillRect/>
          </a:stretch>
        </p:blipFill>
        <p:spPr>
          <a:xfrm>
            <a:off x="685800" y="1554480"/>
            <a:ext cx="5212080" cy="3657600"/>
          </a:xfrm>
          <a:prstGeom prst="rect">
            <a:avLst/>
          </a:prstGeom>
        </p:spPr>
      </p:pic>
      <p:sp>
        <p:nvSpPr>
          <p:cNvPr id="5" name="Rectangle 4"/>
          <p:cNvSpPr/>
          <p:nvPr/>
        </p:nvSpPr>
        <p:spPr>
          <a:xfrm>
            <a:off x="685800" y="1554480"/>
            <a:ext cx="5212080" cy="365760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uery_gui_motion.png"/>
          <p:cNvPicPr>
            <a:picLocks noChangeAspect="1"/>
          </p:cNvPicPr>
          <p:nvPr/>
        </p:nvPicPr>
        <p:blipFill>
          <a:blip r:embed="rId3"/>
          <a:stretch>
            <a:fillRect/>
          </a:stretch>
        </p:blipFill>
        <p:spPr>
          <a:xfrm>
            <a:off x="6263640" y="1554480"/>
            <a:ext cx="5212080" cy="3657600"/>
          </a:xfrm>
          <a:prstGeom prst="rect">
            <a:avLst/>
          </a:prstGeom>
        </p:spPr>
      </p:pic>
      <p:sp>
        <p:nvSpPr>
          <p:cNvPr id="7" name="Rectangle 6"/>
          <p:cNvSpPr/>
          <p:nvPr/>
        </p:nvSpPr>
        <p:spPr>
          <a:xfrm>
            <a:off x="6263640" y="1554480"/>
            <a:ext cx="5212080" cy="365760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349240"/>
            <a:ext cx="5212080" cy="548640"/>
          </a:xfrm>
          <a:prstGeom prst="rect">
            <a:avLst/>
          </a:prstGeom>
          <a:noFill/>
        </p:spPr>
        <p:txBody>
          <a:bodyPr wrap="square">
            <a:spAutoFit/>
          </a:bodyPr>
          <a:lstStyle/>
          <a:p>
            <a:pPr algn="l">
              <a:lnSpc>
                <a:spcPct val="100000"/>
              </a:lnSpc>
            </a:pPr>
            <a:r>
              <a:rPr sz="1050" b="0">
                <a:solidFill>
                  <a:srgbClr val="8A8A8A"/>
                </a:solidFill>
                <a:latin typeface="Georgia"/>
              </a:rPr>
              <a:t>Adaptive queries over a dense overlay, with the magnitude legend.</a:t>
            </a:r>
          </a:p>
        </p:txBody>
      </p:sp>
      <p:sp>
        <p:nvSpPr>
          <p:cNvPr id="9" name="TextBox 8"/>
          <p:cNvSpPr txBox="1"/>
          <p:nvPr/>
        </p:nvSpPr>
        <p:spPr>
          <a:xfrm>
            <a:off x="6263640" y="5349240"/>
            <a:ext cx="5212080" cy="548640"/>
          </a:xfrm>
          <a:prstGeom prst="rect">
            <a:avLst/>
          </a:prstGeom>
          <a:noFill/>
        </p:spPr>
        <p:txBody>
          <a:bodyPr wrap="square">
            <a:spAutoFit/>
          </a:bodyPr>
          <a:lstStyle/>
          <a:p>
            <a:pPr algn="l">
              <a:lnSpc>
                <a:spcPct val="100000"/>
              </a:lnSpc>
            </a:pPr>
            <a:r>
              <a:rPr sz="1050" b="0">
                <a:solidFill>
                  <a:srgbClr val="8A8A8A"/>
                </a:solidFill>
                <a:latin typeface="Georgia"/>
              </a:rPr>
              <a:t>Playback with live motion detection, boxed from the coarse flow at zero extra decode cost.</a:t>
            </a:r>
          </a:p>
        </p:txBody>
      </p:sp>
      <p:sp>
        <p:nvSpPr>
          <p:cNvPr id="10" name="TextBox 9"/>
          <p:cNvSpPr txBox="1"/>
          <p:nvPr/>
        </p:nvSpPr>
        <p:spPr>
          <a:xfrm>
            <a:off x="685800" y="5943600"/>
            <a:ext cx="10789920" cy="548640"/>
          </a:xfrm>
          <a:prstGeom prst="rect">
            <a:avLst/>
          </a:prstGeom>
          <a:noFill/>
        </p:spPr>
        <p:txBody>
          <a:bodyPr wrap="square">
            <a:spAutoFit/>
          </a:bodyPr>
          <a:lstStyle/>
          <a:p>
            <a:pPr algn="l">
              <a:lnSpc>
                <a:spcPct val="100000"/>
              </a:lnSpc>
            </a:pPr>
            <a:r>
              <a:rPr sz="1100" b="0">
                <a:solidFill>
                  <a:srgbClr val="1A1A1A"/>
                </a:solidFill>
                <a:latin typeface="Georgia"/>
              </a:rPr>
              <a:t>A model selector switches between v3 and the v2 baseline in place: with v2 every interaction</a:t>
            </a:r>
          </a:p>
          <a:p>
            <a:pPr algn="l">
              <a:lnSpc>
                <a:spcPct val="100000"/>
              </a:lnSpc>
            </a:pPr>
            <a:r>
              <a:rPr sz="1100" b="0">
                <a:solidFill>
                  <a:srgbClr val="1A1A1A"/>
                </a:solidFill>
                <a:latin typeface="Georgia"/>
              </a:rPr>
              <a:t>recomputes the full dense map; with v3 the same interactions reuse the cached coarse state.</a:t>
            </a:r>
          </a:p>
        </p:txBody>
      </p:sp>
      <p:sp>
        <p:nvSpPr>
          <p:cNvPr id="11" name="TextBox 10"/>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2" name="TextBox 11"/>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Live run on public video, with measurements</a:t>
            </a:r>
          </a:p>
        </p:txBody>
      </p:sp>
      <p:pic>
        <p:nvPicPr>
          <p:cNvPr id="4" name="Picture 3" descr="yt_run_viewer.png"/>
          <p:cNvPicPr>
            <a:picLocks noChangeAspect="1"/>
          </p:cNvPicPr>
          <p:nvPr/>
        </p:nvPicPr>
        <p:blipFill>
          <a:blip r:embed="rId2"/>
          <a:stretch>
            <a:fillRect/>
          </a:stretch>
        </p:blipFill>
        <p:spPr>
          <a:xfrm>
            <a:off x="685800" y="1554480"/>
            <a:ext cx="5760720" cy="3246120"/>
          </a:xfrm>
          <a:prstGeom prst="rect">
            <a:avLst/>
          </a:prstGeom>
        </p:spPr>
      </p:pic>
      <p:sp>
        <p:nvSpPr>
          <p:cNvPr id="5" name="Rectangle 4"/>
          <p:cNvSpPr/>
          <p:nvPr/>
        </p:nvSpPr>
        <p:spPr>
          <a:xfrm>
            <a:off x="685800" y="1554480"/>
            <a:ext cx="5760720" cy="324612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yt_run_resources.png"/>
          <p:cNvPicPr>
            <a:picLocks noChangeAspect="1"/>
          </p:cNvPicPr>
          <p:nvPr/>
        </p:nvPicPr>
        <p:blipFill>
          <a:blip r:embed="rId3"/>
          <a:stretch>
            <a:fillRect/>
          </a:stretch>
        </p:blipFill>
        <p:spPr>
          <a:xfrm>
            <a:off x="6720840" y="1554480"/>
            <a:ext cx="4846320" cy="3246120"/>
          </a:xfrm>
          <a:prstGeom prst="rect">
            <a:avLst/>
          </a:prstGeom>
        </p:spPr>
      </p:pic>
      <p:sp>
        <p:nvSpPr>
          <p:cNvPr id="7" name="Rectangle 6"/>
          <p:cNvSpPr/>
          <p:nvPr/>
        </p:nvSpPr>
        <p:spPr>
          <a:xfrm>
            <a:off x="6720840" y="1554480"/>
            <a:ext cx="4846320" cy="324612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983480"/>
            <a:ext cx="10789920" cy="1188720"/>
          </a:xfrm>
          <a:prstGeom prst="rect">
            <a:avLst/>
          </a:prstGeom>
          <a:noFill/>
        </p:spPr>
        <p:txBody>
          <a:bodyPr wrap="square">
            <a:spAutoFit/>
          </a:bodyPr>
          <a:lstStyle/>
          <a:p>
            <a:pPr algn="l">
              <a:lnSpc>
                <a:spcPct val="100000"/>
              </a:lnSpc>
            </a:pPr>
            <a:r>
              <a:rPr sz="1150" b="0">
                <a:solidFill>
                  <a:srgbClr val="1A1A1A"/>
                </a:solidFill>
                <a:latin typeface="Georgia"/>
              </a:rPr>
              <a:t>Forty consecutive frame pairs of a public YouTube highway video (640x360), processed live</a:t>
            </a:r>
          </a:p>
          <a:p>
            <a:pPr algn="l">
              <a:lnSpc>
                <a:spcPct val="100000"/>
              </a:lnSpc>
            </a:pPr>
            <a:r>
              <a:rPr sz="1150" b="0">
                <a:solidFill>
                  <a:srgbClr val="1A1A1A"/>
                </a:solidFill>
                <a:latin typeface="Georgia"/>
              </a:rPr>
              <a:t>in the GUI: mean 29.8 FPS end to end with motion boxes on moving vehicles. The resource</a:t>
            </a:r>
          </a:p>
          <a:p>
            <a:pPr algn="l">
              <a:lnSpc>
                <a:spcPct val="100000"/>
              </a:lnSpc>
            </a:pPr>
            <a:r>
              <a:rPr sz="1150" b="0">
                <a:solidFill>
                  <a:srgbClr val="1A1A1A"/>
                </a:solidFill>
                <a:latin typeface="Georgia"/>
              </a:rPr>
              <a:t>graphs were sampled during the same run; GPU memory stays flat because one cached backbone</a:t>
            </a:r>
          </a:p>
          <a:p>
            <a:pPr algn="l">
              <a:lnSpc>
                <a:spcPct val="100000"/>
              </a:lnSpc>
            </a:pPr>
            <a:r>
              <a:rPr sz="1150" b="0">
                <a:solidFill>
                  <a:srgbClr val="1A1A1A"/>
                </a:solidFill>
                <a:latin typeface="Georgia"/>
              </a:rPr>
              <a:t>state serves every interaction.</a:t>
            </a:r>
          </a:p>
        </p:txBody>
      </p:sp>
      <p:sp>
        <p:nvSpPr>
          <p:cNvPr id="9" name="TextBox 8"/>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0" name="TextBox 9"/>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OBJECTIVES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Where the three goals stand</a:t>
            </a:r>
          </a:p>
        </p:txBody>
      </p:sp>
      <p:sp>
        <p:nvSpPr>
          <p:cNvPr id="4" name="TextBox 3"/>
          <p:cNvSpPr txBox="1"/>
          <p:nvPr/>
        </p:nvSpPr>
        <p:spPr>
          <a:xfrm>
            <a:off x="685800" y="1600200"/>
            <a:ext cx="10789920" cy="4480560"/>
          </a:xfrm>
          <a:prstGeom prst="rect">
            <a:avLst/>
          </a:prstGeom>
          <a:noFill/>
        </p:spPr>
        <p:txBody>
          <a:bodyPr wrap="square">
            <a:spAutoFit/>
          </a:bodyPr>
          <a:lstStyle/>
          <a:p>
            <a:pPr algn="l">
              <a:lnSpc>
                <a:spcPct val="115000"/>
              </a:lnSpc>
            </a:pPr>
            <a:r>
              <a:rPr sz="1300" b="0">
                <a:solidFill>
                  <a:srgbClr val="1A1A1A"/>
                </a:solidFill>
                <a:latin typeface="Georgia"/>
              </a:rPr>
              <a:t>Goal 1, beat v2 accuracy.  Done, verified on the full validation set, batch-16/100K-step</a:t>
            </a:r>
          </a:p>
          <a:p>
            <a:pPr algn="l">
              <a:lnSpc>
                <a:spcPct val="115000"/>
              </a:lnSpc>
            </a:pPr>
            <a:r>
              <a:rPr sz="1300" b="0">
                <a:solidFill>
                  <a:srgbClr val="1A1A1A"/>
                </a:solidFill>
                <a:latin typeface="Georgia"/>
              </a:rPr>
              <a:t>HPC training: best EPE 2.07 vs v2 2.32 (11% better, big18). 3px accuracy now BEATS v2</a:t>
            </a:r>
          </a:p>
          <a:p>
            <a:pPr algn="l">
              <a:lnSpc>
                <a:spcPct val="115000"/>
              </a:lnSpc>
            </a:pPr>
            <a:r>
              <a:rPr sz="1300" b="0">
                <a:solidFill>
                  <a:srgbClr val="1A1A1A"/>
                </a:solidFill>
                <a:latin typeface="Georgia"/>
              </a:rPr>
              <a:t>(90.02 vs 89.8, uncG). 1px accuracy gap nearly closed (77.51 vs 77.6, uncG -- 0.09 points,</a:t>
            </a:r>
          </a:p>
          <a:p>
            <a:pPr algn="l">
              <a:lnSpc>
                <a:spcPct val="115000"/>
              </a:lnSpc>
            </a:pPr>
            <a:r>
              <a:rPr sz="1300" b="0">
                <a:solidFill>
                  <a:srgbClr val="1A1A1A"/>
                </a:solidFill>
                <a:latin typeface="Georgia"/>
              </a:rPr>
              <a:t>within noise).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Goal 2, less compute, edge-viable.  Done for the sparse workload, verified on identical</a:t>
            </a:r>
          </a:p>
          <a:p>
            <a:pPr algn="l">
              <a:lnSpc>
                <a:spcPct val="115000"/>
              </a:lnSpc>
            </a:pPr>
            <a:r>
              <a:rPr sz="1300" b="0">
                <a:solidFill>
                  <a:srgbClr val="1A1A1A"/>
                </a:solidFill>
                <a:latin typeface="Georgia"/>
              </a:rPr>
              <a:t>V100 hardware: first query on a new frame already at parity with v2 (19.1 vs 19.6 ms);</a:t>
            </a:r>
          </a:p>
          <a:p>
            <a:pPr algn="l">
              <a:lnSpc>
                <a:spcPct val="115000"/>
              </a:lnSpc>
            </a:pPr>
            <a:r>
              <a:rPr sz="1300" b="0">
                <a:solidFill>
                  <a:srgbClr val="1A1A1A"/>
                </a:solidFill>
                <a:latin typeface="Georgia"/>
              </a:rPr>
              <a:t>every additional query on the same frame costs ~7x less (2.6 ms vs 19.6 ms) since v2 has</a:t>
            </a:r>
          </a:p>
          <a:p>
            <a:pPr algn="l">
              <a:lnSpc>
                <a:spcPct val="115000"/>
              </a:lnSpc>
            </a:pPr>
            <a:r>
              <a:rPr sz="1300" b="0">
                <a:solidFill>
                  <a:srgbClr val="1A1A1A"/>
                </a:solidFill>
                <a:latin typeface="Georgia"/>
              </a:rPr>
              <a:t>no cached state to reuse.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Goal 3, do what v2 cannot.  Done: continuous-coordinate queries, output at any resolution,</a:t>
            </a:r>
          </a:p>
          <a:p>
            <a:pPr algn="l">
              <a:lnSpc>
                <a:spcPct val="115000"/>
              </a:lnSpc>
            </a:pPr>
            <a:r>
              <a:rPr sz="1300" b="0">
                <a:solidFill>
                  <a:srgbClr val="1A1A1A"/>
                </a:solidFill>
                <a:latin typeface="Georgia"/>
              </a:rPr>
              <a:t>sparse matches dense exactly, a working interactive tool, and a calibrated per-query</a:t>
            </a:r>
          </a:p>
          <a:p>
            <a:pPr algn="l">
              <a:lnSpc>
                <a:spcPct val="115000"/>
              </a:lnSpc>
            </a:pPr>
            <a:r>
              <a:rPr sz="1300" b="0">
                <a:solidFill>
                  <a:srgbClr val="1A1A1A"/>
                </a:solidFill>
                <a:latin typeface="Georgia"/>
              </a:rPr>
              <a:t>confidence signal (Pearson r=0.38 vs real error) that v2 cannot express at all.</a:t>
            </a:r>
          </a:p>
        </p:txBody>
      </p:sp>
      <p:sp>
        <p:nvSpPr>
          <p:cNvPr id="5" name="TextBox 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6" name="TextBox 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a:t>
            </a:r>
          </a:p>
        </p:txBody>
      </p:sp>
      <p:sp>
        <p:nvSpPr>
          <p:cNvPr id="4" name="TextBox 3"/>
          <p:cNvSpPr txBox="1"/>
          <p:nvPr/>
        </p:nvSpPr>
        <p:spPr>
          <a:xfrm>
            <a:off x="685800" y="1600200"/>
            <a:ext cx="10789920" cy="4480560"/>
          </a:xfrm>
          <a:prstGeom prst="rect">
            <a:avLst/>
          </a:prstGeom>
          <a:noFill/>
        </p:spPr>
        <p:txBody>
          <a:bodyPr wrap="square">
            <a:spAutoFit/>
          </a:bodyPr>
          <a:lstStyle/>
          <a:p>
            <a:pPr algn="l">
              <a:lnSpc>
                <a:spcPct val="115000"/>
              </a:lnSpc>
            </a:pPr>
            <a:r>
              <a:rPr sz="1300" b="0">
                <a:solidFill>
                  <a:srgbClr val="1A1A1A"/>
                </a:solidFill>
                <a:latin typeface="Georgia"/>
              </a:rPr>
              <a:t>1px accuracy is close but not fully closed on every checkpoint (grandmix still trails v2</a:t>
            </a:r>
          </a:p>
          <a:p>
            <a:pPr algn="l">
              <a:lnSpc>
                <a:spcPct val="115000"/>
              </a:lnSpc>
            </a:pPr>
            <a:r>
              <a:rPr sz="1300" b="0">
                <a:solidFill>
                  <a:srgbClr val="1A1A1A"/>
                </a:solidFill>
                <a:latin typeface="Georgia"/>
              </a:rPr>
              <a:t>by 1.35 points; only uncG gets within noise).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The training-data confound is only partly resolved. grandmix (chairs+vkitti2+sintel) was</a:t>
            </a:r>
          </a:p>
          <a:p>
            <a:pPr algn="l">
              <a:lnSpc>
                <a:spcPct val="115000"/>
              </a:lnSpc>
            </a:pPr>
            <a:r>
              <a:rPr sz="1300" b="0">
                <a:solidFill>
                  <a:srgbClr val="1A1A1A"/>
                </a:solidFill>
                <a:latin typeface="Georgia"/>
              </a:rPr>
              <a:t>the fair-comparison attempt but scored slightly below big18 -- more data did not clearly</a:t>
            </a:r>
          </a:p>
          <a:p>
            <a:pPr algn="l">
              <a:lnSpc>
                <a:spcPct val="115000"/>
              </a:lnSpc>
            </a:pPr>
            <a:r>
              <a:rPr sz="1300" b="0">
                <a:solidFill>
                  <a:srgbClr val="1A1A1A"/>
                </a:solidFill>
                <a:latin typeface="Georgia"/>
              </a:rPr>
              <a:t>help at 100K steps, and the confound is not fully closed until v2 is retrained on the</a:t>
            </a:r>
          </a:p>
          <a:p>
            <a:pPr algn="l">
              <a:lnSpc>
                <a:spcPct val="115000"/>
              </a:lnSpc>
            </a:pPr>
            <a:r>
              <a:rPr sz="1300" b="0">
                <a:solidFill>
                  <a:srgbClr val="1A1A1A"/>
                </a:solidFill>
                <a:latin typeface="Georgia"/>
              </a:rPr>
              <a:t>exact same mixture, which has not been done.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The "auxiliary loss improves main accuracy" pattern seen in uncG is a single run, not a</a:t>
            </a:r>
          </a:p>
          <a:p>
            <a:pPr algn="l">
              <a:lnSpc>
                <a:spcPct val="115000"/>
              </a:lnSpc>
            </a:pPr>
            <a:r>
              <a:rPr sz="1300" b="0">
                <a:solidFill>
                  <a:srgbClr val="1A1A1A"/>
                </a:solidFill>
                <a:latin typeface="Georgia"/>
              </a:rPr>
              <a:t>repeated result -- could be seed noise.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All speed numbers are RTX 4060 / V100. No Jetson or embedded-device measurement exists yet.</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Spring (1080p, the dataset motivating above-input-resolution querying) was truncated at</a:t>
            </a:r>
          </a:p>
          <a:p>
            <a:pPr algn="l">
              <a:lnSpc>
                <a:spcPct val="115000"/>
              </a:lnSpc>
            </a:pPr>
            <a:r>
              <a:rPr sz="1300" b="0">
                <a:solidFill>
                  <a:srgbClr val="1A1A1A"/>
                </a:solidFill>
                <a:latin typeface="Georgia"/>
              </a:rPr>
              <a:t>70,000 of 100,000 steps by the 8-hour job limit -- the score (2.080 EPE) is strong but the</a:t>
            </a:r>
          </a:p>
          <a:p>
            <a:pPr algn="l">
              <a:lnSpc>
                <a:spcPct val="115000"/>
              </a:lnSpc>
            </a:pPr>
            <a:r>
              <a:rPr sz="1300" b="0">
                <a:solidFill>
                  <a:srgbClr val="1A1A1A"/>
                </a:solidFill>
                <a:latin typeface="Georgia"/>
              </a:rPr>
              <a:t>run never reached its final LR anneal, and the actual 4K-resolution query test has not run.</a:t>
            </a:r>
          </a:p>
        </p:txBody>
      </p:sp>
      <p:sp>
        <p:nvSpPr>
          <p:cNvPr id="5" name="TextBox 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6" name="TextBox 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Planned work and two requests</a:t>
            </a:r>
          </a:p>
        </p:txBody>
      </p:sp>
      <p:sp>
        <p:nvSpPr>
          <p:cNvPr id="4" name="TextBox 3"/>
          <p:cNvSpPr txBox="1"/>
          <p:nvPr/>
        </p:nvSpPr>
        <p:spPr>
          <a:xfrm>
            <a:off x="685800" y="1554480"/>
            <a:ext cx="5577840" cy="4206240"/>
          </a:xfrm>
          <a:prstGeom prst="rect">
            <a:avLst/>
          </a:prstGeom>
          <a:noFill/>
        </p:spPr>
        <p:txBody>
          <a:bodyPr wrap="square">
            <a:spAutoFit/>
          </a:bodyPr>
          <a:lstStyle/>
          <a:p>
            <a:pPr algn="l">
              <a:lnSpc>
                <a:spcPct val="115000"/>
              </a:lnSpc>
            </a:pPr>
            <a:r>
              <a:rPr sz="1250" b="0">
                <a:solidFill>
                  <a:srgbClr val="1A1A1A"/>
                </a:solidFill>
                <a:latin typeface="Georgia"/>
              </a:rPr>
              <a:t>Immediate</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  Resubmit spring from step 70,000 with a fresh 8h clock</a:t>
            </a:r>
          </a:p>
          <a:p>
            <a:pPr algn="l">
              <a:lnSpc>
                <a:spcPct val="115000"/>
              </a:lnSpc>
            </a:pPr>
            <a:r>
              <a:rPr sz="1250" b="0">
                <a:solidFill>
                  <a:srgbClr val="1A1A1A"/>
                </a:solidFill>
                <a:latin typeface="Georgia"/>
              </a:rPr>
              <a:t>    to reach its full 100K steps.</a:t>
            </a:r>
          </a:p>
          <a:p>
            <a:pPr algn="l">
              <a:lnSpc>
                <a:spcPct val="115000"/>
              </a:lnSpc>
            </a:pPr>
            <a:r>
              <a:rPr sz="1250" b="0">
                <a:solidFill>
                  <a:srgbClr val="1A1A1A"/>
                </a:solidFill>
                <a:latin typeface="Georgia"/>
              </a:rPr>
              <a:t>-  Run the Spring 4K-ground-truth query test: only a</a:t>
            </a:r>
          </a:p>
          <a:p>
            <a:pPr algn="l">
              <a:lnSpc>
                <a:spcPct val="115000"/>
              </a:lnSpc>
            </a:pPr>
            <a:r>
              <a:rPr sz="1250" b="0">
                <a:solidFill>
                  <a:srgbClr val="1A1A1A"/>
                </a:solidFill>
                <a:latin typeface="Georgia"/>
              </a:rPr>
              <a:t>    queryable decoder can answer above input resolution;</a:t>
            </a:r>
          </a:p>
          <a:p>
            <a:pPr algn="l">
              <a:lnSpc>
                <a:spcPct val="115000"/>
              </a:lnSpc>
            </a:pPr>
            <a:r>
              <a:rPr sz="1250" b="0">
                <a:solidFill>
                  <a:srgbClr val="1A1A1A"/>
                </a:solidFill>
                <a:latin typeface="Georgia"/>
              </a:rPr>
              <a:t>    v2 structurally cannot.</a:t>
            </a:r>
          </a:p>
          <a:p>
            <a:pPr algn="l">
              <a:lnSpc>
                <a:spcPct val="115000"/>
              </a:lnSpc>
            </a:pPr>
            <a:r>
              <a:rPr sz="1250" b="0">
                <a:solidFill>
                  <a:srgbClr val="1A1A1A"/>
                </a:solidFill>
                <a:latin typeface="Georgia"/>
              </a:rPr>
              <a:t>-  Repeat the uncertainty-head run once to check whether</a:t>
            </a:r>
          </a:p>
          <a:p>
            <a:pPr algn="l">
              <a:lnSpc>
                <a:spcPct val="115000"/>
              </a:lnSpc>
            </a:pPr>
            <a:r>
              <a:rPr sz="1250" b="0">
                <a:solidFill>
                  <a:srgbClr val="1A1A1A"/>
                </a:solidFill>
                <a:latin typeface="Georgia"/>
              </a:rPr>
              <a:t>    its accuracy gain is real or seed noise.</a:t>
            </a:r>
          </a:p>
          <a:p>
            <a:pPr algn="l">
              <a:lnSpc>
                <a:spcPct val="115000"/>
              </a:lnSpc>
            </a:pPr>
            <a:r>
              <a:rPr sz="1250" b="0">
                <a:solidFill>
                  <a:srgbClr val="1A1A1A"/>
                </a:solidFill>
                <a:latin typeface="Georgia"/>
              </a:rPr>
              <a:t>-  Retrain v2 itself on the grand-mix data to fully close</a:t>
            </a:r>
          </a:p>
          <a:p>
            <a:pPr algn="l">
              <a:lnSpc>
                <a:spcPct val="115000"/>
              </a:lnSpc>
            </a:pPr>
            <a:r>
              <a:rPr sz="1250" b="0">
                <a:solidFill>
                  <a:srgbClr val="1A1A1A"/>
                </a:solidFill>
                <a:latin typeface="Georgia"/>
              </a:rPr>
              <a:t>    the training-data confound.</a:t>
            </a:r>
          </a:p>
        </p:txBody>
      </p:sp>
      <p:sp>
        <p:nvSpPr>
          <p:cNvPr id="5" name="TextBox 4"/>
          <p:cNvSpPr txBox="1"/>
          <p:nvPr/>
        </p:nvSpPr>
        <p:spPr>
          <a:xfrm>
            <a:off x="6492240" y="1554480"/>
            <a:ext cx="5303520" cy="4389120"/>
          </a:xfrm>
          <a:prstGeom prst="rect">
            <a:avLst/>
          </a:prstGeom>
          <a:noFill/>
        </p:spPr>
        <p:txBody>
          <a:bodyPr wrap="square">
            <a:spAutoFit/>
          </a:bodyPr>
          <a:lstStyle/>
          <a:p>
            <a:pPr algn="l">
              <a:lnSpc>
                <a:spcPct val="115000"/>
              </a:lnSpc>
            </a:pPr>
            <a:r>
              <a:rPr sz="1250" b="0">
                <a:solidFill>
                  <a:srgbClr val="1A1A1A"/>
                </a:solidFill>
                <a:latin typeface="Georgia"/>
              </a:rPr>
              <a:t>Requests</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Request 1 -- continued HPC access</a:t>
            </a:r>
          </a:p>
          <a:p>
            <a:pPr algn="l">
              <a:lnSpc>
                <a:spcPct val="115000"/>
              </a:lnSpc>
            </a:pPr>
            <a:r>
              <a:rPr sz="1250" b="0">
                <a:solidFill>
                  <a:srgbClr val="1A1A1A"/>
                </a:solidFill>
                <a:latin typeface="Georgia"/>
              </a:rPr>
              <a:t>The remaining runs above (spring resumption, v2 retraining, a repeat run) are all 6-8 hour jobs; done on the Explorer cluster so far.</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Request 2 -- Field Robotics Lab survey data</a:t>
            </a:r>
          </a:p>
          <a:p>
            <a:pPr algn="l">
              <a:lnSpc>
                <a:spcPct val="115000"/>
              </a:lnSpc>
            </a:pPr>
            <a:r>
              <a:rPr sz="1250" b="0">
                <a:solidFill>
                  <a:srgbClr val="1A1A1A"/>
                </a:solidFill>
                <a:latin typeface="Georgia"/>
              </a:rPr>
              <a:t>SeaBED AUV and UAV survey sequences (overlapping frames, slow motion, GPS/IMU tags) are exactly the data this method targets: sparse, on-demand correspondences at chosen points, not full dense flow over a whole seafloor mosaic.</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Q&amp;A PREP</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Questions I expect</a:t>
            </a:r>
          </a:p>
        </p:txBody>
      </p:sp>
      <p:sp>
        <p:nvSpPr>
          <p:cNvPr id="4" name="TextBox 3"/>
          <p:cNvSpPr txBox="1"/>
          <p:nvPr/>
        </p:nvSpPr>
        <p:spPr>
          <a:xfrm>
            <a:off x="685800" y="1554480"/>
            <a:ext cx="10789920" cy="4572000"/>
          </a:xfrm>
          <a:prstGeom prst="rect">
            <a:avLst/>
          </a:prstGeom>
          <a:noFill/>
        </p:spPr>
        <p:txBody>
          <a:bodyPr wrap="square">
            <a:spAutoFit/>
          </a:bodyPr>
          <a:lstStyle/>
          <a:p>
            <a:pPr algn="l">
              <a:lnSpc>
                <a:spcPct val="120000"/>
              </a:lnSpc>
            </a:pPr>
            <a:r>
              <a:rPr sz="1300" b="0">
                <a:solidFill>
                  <a:srgbClr val="1A1A1A"/>
                </a:solidFill>
                <a:latin typeface="Georgia"/>
              </a:rPr>
              <a:t>Why is flow defined at non-integer coordinates?</a:t>
            </a:r>
          </a:p>
          <a:p>
            <a:pPr algn="l">
              <a:lnSpc>
                <a:spcPct val="120000"/>
              </a:lnSpc>
            </a:pPr>
            <a:r>
              <a:rPr sz="1300" b="0">
                <a:solidFill>
                  <a:srgbClr val="1A1A1A"/>
                </a:solidFill>
                <a:latin typeface="Georgia"/>
              </a:rPr>
              <a:t>The decoder bilinearly samples feature maps, so any real-valued (x, y) is a valid query --</a:t>
            </a:r>
          </a:p>
          <a:p>
            <a:pPr algn="l">
              <a:lnSpc>
                <a:spcPct val="120000"/>
              </a:lnSpc>
            </a:pPr>
            <a:r>
              <a:rPr sz="1300" b="0">
                <a:solidFill>
                  <a:srgbClr val="1A1A1A"/>
                </a:solidFill>
                <a:latin typeface="Georgia"/>
              </a:rPr>
              <a:t>the same mechanism that lets it decode above input resolution.</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Is the 6-11% EPE improvement real, or a training-data confound?</a:t>
            </a:r>
          </a:p>
          <a:p>
            <a:pPr algn="l">
              <a:lnSpc>
                <a:spcPct val="120000"/>
              </a:lnSpc>
            </a:pPr>
            <a:r>
              <a:rPr sz="1300" b="0">
                <a:solidFill>
                  <a:srgbClr val="1A1A1A"/>
                </a:solidFill>
                <a:latin typeface="Georgia"/>
              </a:rPr>
              <a:t>Partly resolved: grandmix (chairs+vkitti2+sintel, closer to v2's own training mix) still</a:t>
            </a:r>
          </a:p>
          <a:p>
            <a:pPr algn="l">
              <a:lnSpc>
                <a:spcPct val="120000"/>
              </a:lnSpc>
            </a:pPr>
            <a:r>
              <a:rPr sz="1300" b="0">
                <a:solidFill>
                  <a:srgbClr val="1A1A1A"/>
                </a:solidFill>
                <a:latin typeface="Georgia"/>
              </a:rPr>
              <a:t>beats v2 by 7% on EPE. Not fully resolved: v2 has not been retrained on that exact mixture.</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Why does the uncertainty head also seem to improve the main flow output?</a:t>
            </a:r>
          </a:p>
          <a:p>
            <a:pPr algn="l">
              <a:lnSpc>
                <a:spcPct val="120000"/>
              </a:lnSpc>
            </a:pPr>
            <a:r>
              <a:rPr sz="1300" b="0">
                <a:solidFill>
                  <a:srgbClr val="1A1A1A"/>
                </a:solidFill>
                <a:latin typeface="Georgia"/>
              </a:rPr>
              <a:t>Unconfirmed hypothesis: the auxiliary loss may regularize training. Single run; needs a repeat.</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What happens with fast real-world motion at 60 FPS?</a:t>
            </a:r>
          </a:p>
          <a:p>
            <a:pPr algn="l">
              <a:lnSpc>
                <a:spcPct val="120000"/>
              </a:lnSpc>
            </a:pPr>
            <a:r>
              <a:rPr sz="1300" b="0">
                <a:solidFill>
                  <a:srgbClr val="1A1A1A"/>
                </a:solidFill>
                <a:latin typeface="Georgia"/>
              </a:rPr>
              <a:t>Track-maintain-replenish: propagate points via their own flow answers, drop points that fail</a:t>
            </a:r>
          </a:p>
          <a:p>
            <a:pPr algn="l">
              <a:lnSpc>
                <a:spcPct val="120000"/>
              </a:lnSpc>
            </a:pPr>
            <a:r>
              <a:rPr sz="1300" b="0">
                <a:solidFill>
                  <a:srgbClr val="1A1A1A"/>
                </a:solidFill>
                <a:latin typeface="Georgia"/>
              </a:rPr>
              <a:t>a forward-backward consistency check, replenish only in image regions that lost coverage.</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Has this been tested on an actual edge device (Jetson)?</a:t>
            </a:r>
          </a:p>
          <a:p>
            <a:pPr algn="l">
              <a:lnSpc>
                <a:spcPct val="120000"/>
              </a:lnSpc>
            </a:pPr>
            <a:r>
              <a:rPr sz="1300" b="0">
                <a:solidFill>
                  <a:srgbClr val="1A1A1A"/>
                </a:solidFill>
                <a:latin typeface="Georgia"/>
              </a:rPr>
              <a:t>No. Every number in this deck is RTX 4060 or V100. That validation has not been done.</a:t>
            </a:r>
          </a:p>
        </p:txBody>
      </p:sp>
      <p:sp>
        <p:nvSpPr>
          <p:cNvPr id="5" name="TextBox 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6" name="TextBox 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