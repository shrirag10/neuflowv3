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Short version of where the project is. I replaced NeuFlow v2's fixed upsampler with a decoder you can query at any coordinate. The headline result is that this buys three capabilities v2 does not have, and costs 2.6 percent of mean accuracy, and I will show you both sides. The most interesting result is the third slide of results, on selective accuracy, so I would like to get there.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motivation is unchanged and I still believe it. Dense flow is the only product these networks offer, but registration, tracking and mapping all want a few hundred points that they choose. The question is whether you can make the output queryable, and what that costs.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NeuFlow v2 is the lab's real-time flow network. Backbone, matching, refinement, then a convex upsampler that turns 1/8 resolution flow into full resolution. I freeze everything up to the coarse flow and change only the last stage. On our laptop GPU it runs a full frame in 33.3 milliseconds at 2.324 pixels of error. Its limitation is structural: the output is always the same size and always costs the same, whether you need one pixel or all of them.</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change is only in the last stage. Phase one is v2 exactly as it is, run once and cached. Phase two takes a coordinate, samples feature windows around it, and predicts weights that blend the nine neighbouring coarse flow values plus a bilinear one. Because it is a convex blend it cannot hallucinate motion. And because phase one is cached, asking a second question about the same frame is cheap. That caching is the property that turns out to matter most.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accuracy picture. The teal bar is the only fair comparison, because that model trained on FlyingChairs alone and never saw a road, just as v2 never saw VKITTI2. It gets 2.286 against v2's 2.324. That is a tie. The grey bars are better, down to 2.104, but they trained on VKITTI2 scenes from the same simulator as the test set, so that is a domain advantage rather than a better method. I could have shown you only the 2.104 number and claimed a ten percent win. It would not have been honest.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honest cost. On one-pixel accuracy v3 is below v2 everywhere, by up to six points. Mean error hides it, because v3 makes fewer catastrophic errors, which drags the average down while it is actually less precise on most pixels. I know the cause: the decoder's finest input is at one-eighth resolution, so inside an eight by eight cell it is looking at almost the same evidence wherever you query. The v2 upsampler reads the full resolution image directly. I tested whether it was simply missing positional information by adding a Fourier encoding, and it changed nothing, which rules that explanation out.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speed I want to be precise about which claim I am making. Dense output is eleven percent slower, and that mode is not what the decoder is for. A first sparse query is level with v2, because eighty-seven percent of the cost is the coarse pass, which both share and which cannot be skipped since global matching needs the whole image. The win is the fourth bar. Asking a second question about a frame you have already processed costs 1.3 milliseconds against v2's 33.3, because v2 keeps no state and has to redo everything. Anything that revisits a frame gets that: iterative registration, RANSAC refinement, a user inspecting a scene. That is structural, not a margin.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capability I am most confident about. The head predicts an error scale for every query alongside the flow itself. When you bin queries by predicted uncertainty, the actual error rises monotonically from 0.22 pixels in the confident bin to 6.7 in the least confident, a twenty-one fold span. It is not perfectly correlated, r is 0.345, but it is clearly informative and it is directly usable: weight correspondences in RANSAC, drop unreliable ones, or send more queries where the model is unsure. v2 has no equivalent output, so there is nothing to compare it against.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I would most like your reaction to. The accuracy table earlier reports mean error over every pixel, which is the only operating point v2 has, because it cannot tell you which of its outputs to trust. v3 can, so instead of a point it has a curve. Discard the least confident fifth of queries and error on what remains falls to 1.06 pixels, against v2's 2.32 over the whole frame. So more than twice as accurate over eighty percent of the image. Keep only the most confident fifth and it is 0.48, close to five times better. Why this is not just a statistical trick: for registration and mapping you are choosing a few hundred points anyway, so declining to answer where the model is unsure costs you nothing. Same 2.35 million queries as the calibration bins on the previous slide.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three situations you described, on real frames. First, something worth flowing enters the field of view and you start tracking it. Second, the platform turns and that region now overlaps a second object. Third, a new object appears in a frame you are already part way through processing. On the right is what the model actually computes: flow inside the marked regions only, and nothing elsewhere. The grey area is not computed at all. That is the whole premise, and the next two slides put numbers on what it costs and what you get back.</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what flowing only a region actually buys. Keep full resolution, process fourteen percent of the frame, and it costs thirty four thousandths of a pixel. That is the enabling result for the whole scenario. The margin is the part worth dwelling on. Without one, error jumps sixty five percent and a quarter of the large-motion pixels fail completely, because this network finds large displacement using attention over the whole image and a tight crop takes that away. The margin has to be about one frame of expected motion, which is speed over frame rate. Mean motion in these sequences is twenty six point six pixels and the knee sits at thirty two, which is the rule falling out of the data. I should be clear that this applies to any flow network including v2 unchanged: it is a platform technique, not something my decoder provides. What the decoder adds is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wanted to know whether the margin rule was a curve fitted to one dataset or something more general, so I tested it on aerial sequences, which move very differently: nine point three pixels per frame against twenty six point six for driving. The prediction was that the margin needed should scale with the motion, so the knee should move from thirty two pixels down to about nine. It did. On the left you can see the two need different absolute margins. On the right, dividing by the mean motion, both start at the same penalty and both have lost most of it by the point where the margin equals one frame of motion. I will be precise about the limits: the agreement is good up to that point and the residuals differ beyond it, so this predicts the scale rather than the exact curve. That is still enough to size a margin from speed and frame rate before running anything, which is what a platform designer needs.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more result I did not expect. Everything else in this deck is measured on driving sequences, and v3 trained on driving data while v2 did not, which is a confound I have flagged throughout. Aerial data is neutral ground: v2 trained on FlyingThings, v3 on chairs, driving and Sintel, and neither has seen anything like this. On that neutral ground v3 comes out ahead at all seven margin settings, by between four thousandths and twenty nine thousandths of a pixel. The likely reason is that the decoder saw three datasets where v2 saw one, and the convex head is bounded so it cannot invent motion its inputs do not support, which should degrade more gracefully out of domain. I want to be careful about how much weight this carries: the margins are small, it is forty pairs and one seed, and v3 is still slightly worse on the large-motion pixels. What makes it worth showing is that it is consistent across seven independent settings, and that it is the only unconfounded head to head I have.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scenario you described where the repeat query matters, and it is the one result that is specific to this architecture rather than to cropping. A frame is already in flight, and a new object enters the field of view. Because the coarse pass is cached, answering costs one point seven milliseconds for eight hundred points. A cropped pipeline cannot reuse anything: the new object is outside its box, so it runs a whole new pass at seven point three milliseconds, four times more, and the answer is worse, three point six pixels against two point one, because a fresh crop has lost the surrounding context. NeuFlow v2 keeps no state at all between calls. The general point is that this buys you the ability to answer a question you did not know you would have when the frame arrived, which on a moving platform is most of them.</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interface is two calls. One coarse pass per frame pair, then as many decode calls as you like against it. The plot shows decode cost is flat between 800 and 2,048 queries, which tells you it is dominated by kernel launch overhead, not arithmetic, so you get two thousand points for the price of eight hundred. Above about ten thousand points it becomes compute bound and you should just use dense mode.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working tool, not a mock-up. You load a video, step to a frame, drag a box, and it computes flow in that box. Two modes. Query mode runs the full coarse pass and decodes only inside the box, which is exact. Crop mode feeds just the box through the whole pipeline, so the cost scales with the area you asked for, but it loses the surrounding context that global matching uses. The panel shows the actual breakdown live, including the parts where v3 is not the faster option.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scorecard against what I set out to do, and two of three are not met. Better accuracy: not met, the fair comparison is a tie. Less compute: partly, dense is slower, a first query is level, but repeat queries are nearly eight times cheaper. Edge capable: unproven, everything I have measured is on a laptop 4060 and I have not touched a Jetson. What the project does deliver is the three things at the bottom: output you can query at any coordinate, cheap repeat access to a cached frame, and a calibrated confidence value. Those are real and they are measured.</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Limitations, stated plainly rather than buried. Precision is worse than v2 and I have diagnosed without yet addressing it. There is no edge device measurement at all, so the word edge in my title is a design target and not a result. Everything is evaluated on one synthetic driving dataset, which says little about field imagery. The Spring run was cut off by the cluster wall clock. And I have one seed per configuration, so please do not read too much into differences below about five hundredths of a pixel.</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next steps in priority order. First, give the decoder a full resolution feature map. That is the direct attack on the precision gap, and it also matters because right now querying between pixels returns something close to interpolation, so the arbitrary coordinate claim is thinner than it sounds. Second, the Spring dataset gives ground truth at twice the input resolution, which v3 can be queried at natively and v2 structurally cannot. That is the one test that shows a capability rather than a margin. Third, actually measure a Jetson. Fourth, try it on real survey imagery.</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few questions I expect. Why flow between pixels: because motion is continuous and the grid is an artefact of sampling. Why freeze the backbone: to keep the decoder as the only variable, and because unfreezing diverged when I tried it. Why is dense slower: because v2's convolution shares work between neighbouring pixels and my decoder deliberately gives that up in exchange for answering only what is asked. And the hardest one, is a tie worth the complexity. On its own, no. If you want plain dense flow, use v2, and I will say that plainly. It is worth it if you need queryability, cheap repeat access, or a confidence signal.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1965960"/>
            <a:ext cx="10515600" cy="914400"/>
          </a:xfrm>
          <a:prstGeom prst="rect">
            <a:avLst/>
          </a:prstGeom>
          <a:noFill/>
        </p:spPr>
        <p:txBody>
          <a:bodyPr wrap="square">
            <a:spAutoFit/>
          </a:bodyPr>
          <a:lstStyle/>
          <a:p>
            <a:pPr algn="l">
              <a:lnSpc>
                <a:spcPct val="100000"/>
              </a:lnSpc>
            </a:pPr>
            <a:r>
              <a:rPr sz="4400" b="1">
                <a:solidFill>
                  <a:srgbClr val="1A1A1A"/>
                </a:solidFill>
                <a:latin typeface="Georgia"/>
              </a:rPr>
              <a:t>NeuFlow v3</a:t>
            </a:r>
          </a:p>
        </p:txBody>
      </p:sp>
      <p:sp>
        <p:nvSpPr>
          <p:cNvPr id="3" name="TextBox 2"/>
          <p:cNvSpPr txBox="1"/>
          <p:nvPr/>
        </p:nvSpPr>
        <p:spPr>
          <a:xfrm>
            <a:off x="868680" y="2880360"/>
            <a:ext cx="10515600" cy="457200"/>
          </a:xfrm>
          <a:prstGeom prst="rect">
            <a:avLst/>
          </a:prstGeom>
          <a:noFill/>
        </p:spPr>
        <p:txBody>
          <a:bodyPr wrap="square">
            <a:spAutoFit/>
          </a:bodyPr>
          <a:lstStyle/>
          <a:p>
            <a:pPr algn="l">
              <a:lnSpc>
                <a:spcPct val="100000"/>
              </a:lnSpc>
            </a:pPr>
            <a:r>
              <a:rPr sz="1700" b="0">
                <a:solidFill>
                  <a:srgbClr val="333333"/>
                </a:solidFill>
                <a:latin typeface="Georgia"/>
              </a:rPr>
              <a:t>A queryable, uncertainty-aware flow decoder for edge robotics</a:t>
            </a:r>
          </a:p>
        </p:txBody>
      </p:sp>
      <p:sp>
        <p:nvSpPr>
          <p:cNvPr id="4" name="Rectangle 3"/>
          <p:cNvSpPr/>
          <p:nvPr/>
        </p:nvSpPr>
        <p:spPr>
          <a:xfrm>
            <a:off x="868680" y="3520440"/>
            <a:ext cx="5897880" cy="9525"/>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3703320"/>
            <a:ext cx="10058400" cy="914400"/>
          </a:xfrm>
          <a:prstGeom prst="rect">
            <a:avLst/>
          </a:prstGeom>
          <a:noFill/>
        </p:spPr>
        <p:txBody>
          <a:bodyPr wrap="square">
            <a:spAutoFit/>
          </a:bodyPr>
          <a:lstStyle/>
          <a:p>
            <a:pPr algn="l">
              <a:lnSpc>
                <a:spcPct val="100000"/>
              </a:lnSpc>
            </a:pPr>
            <a:r>
              <a:rPr sz="1250" b="0">
                <a:solidFill>
                  <a:srgbClr val="1A1A1A"/>
                </a:solidFill>
                <a:latin typeface="Georgia"/>
              </a:rPr>
              <a:t>One frozen NeuFlow v2 backbone, its fixed upsampler replaced by a decoder that</a:t>
            </a:r>
          </a:p>
          <a:p>
            <a:pPr algn="l">
              <a:lnSpc>
                <a:spcPct val="100000"/>
              </a:lnSpc>
            </a:pPr>
            <a:r>
              <a:rPr sz="1250" b="0">
                <a:solidFill>
                  <a:srgbClr val="1A1A1A"/>
                </a:solidFill>
                <a:latin typeface="Georgia"/>
              </a:rPr>
              <a:t>answers flow queries at arbitrary continuous coordinates in O(N).</a:t>
            </a:r>
          </a:p>
        </p:txBody>
      </p:sp>
      <p:sp>
        <p:nvSpPr>
          <p:cNvPr id="6" name="TextBox 5"/>
          <p:cNvSpPr txBox="1"/>
          <p:nvPr/>
        </p:nvSpPr>
        <p:spPr>
          <a:xfrm>
            <a:off x="868680" y="5715000"/>
            <a:ext cx="10058400" cy="365760"/>
          </a:xfrm>
          <a:prstGeom prst="rect">
            <a:avLst/>
          </a:prstGeom>
          <a:noFill/>
        </p:spPr>
        <p:txBody>
          <a:bodyPr wrap="square">
            <a:spAutoFit/>
          </a:bodyPr>
          <a:lstStyle/>
          <a:p>
            <a:pPr algn="l">
              <a:lnSpc>
                <a:spcPct val="100000"/>
              </a:lnSpc>
            </a:pPr>
            <a:r>
              <a:rPr sz="1100" b="0">
                <a:solidFill>
                  <a:srgbClr val="8A8A8A"/>
                </a:solidFill>
                <a:latin typeface="Georgia"/>
              </a:rPr>
              <a:t>Shriman Raghav Srinivasan   ·   MS Robotics, Northeastern University   ·   Field Robotics Lab   ·   August 2026</a:t>
            </a:r>
          </a:p>
        </p:txBody>
      </p:sp>
      <p:sp>
        <p:nvSpPr>
          <p:cNvPr id="7" name="TextBox 6"/>
          <p:cNvSpPr txBox="1"/>
          <p:nvPr/>
        </p:nvSpPr>
        <p:spPr>
          <a:xfrm>
            <a:off x="685800" y="6419088"/>
            <a:ext cx="7315200" cy="274320"/>
          </a:xfrm>
          <a:prstGeom prst="rect">
            <a:avLst/>
          </a:prstGeom>
          <a:noFill/>
        </p:spPr>
        <p:txBody>
          <a:bodyPr wrap="square">
            <a:spAutoFit/>
          </a:bodyPr>
          <a:lstStyle/>
          <a:p>
            <a:pPr algn="l">
              <a:lnSpc>
                <a:spcPct val="100000"/>
              </a:lnSpc>
            </a:pPr>
            <a:r>
              <a:rPr sz="900" b="0">
                <a:solidFill>
                  <a:srgbClr val="8A8A8A"/>
                </a:solidFill>
                <a:latin typeface="Georgia"/>
              </a:rPr>
              <a:t>NeuFlow v3, S. Raghav Srinivasan</a:t>
            </a:r>
          </a:p>
        </p:txBody>
      </p:sp>
      <p:sp>
        <p:nvSpPr>
          <p:cNvPr id="8" name="TextBox 7"/>
          <p:cNvSpPr txBox="1"/>
          <p:nvPr/>
        </p:nvSpPr>
        <p:spPr>
          <a:xfrm>
            <a:off x="10607040" y="6419088"/>
            <a:ext cx="1097280" cy="274320"/>
          </a:xfrm>
          <a:prstGeom prst="rect">
            <a:avLst/>
          </a:prstGeom>
          <a:noFill/>
        </p:spPr>
        <p:txBody>
          <a:bodyPr wrap="square">
            <a:spAutoFit/>
          </a:bodyPr>
          <a:lstStyle/>
          <a:p>
            <a:pPr algn="l">
              <a:lnSpc>
                <a:spcPct val="100000"/>
              </a:lnSpc>
            </a:pPr>
            <a:r>
              <a:rPr sz="900" b="0">
                <a:solidFill>
                  <a:srgbClr val="8A8A8A"/>
                </a:solidFill>
                <a:latin typeface="Georgia"/>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384048"/>
            <a:ext cx="10515600" cy="274320"/>
          </a:xfrm>
          <a:prstGeom prst="rect">
            <a:avLst/>
          </a:prstGeom>
          <a:noFill/>
        </p:spPr>
        <p:txBody>
          <a:bodyPr wrap="square">
            <a:spAutoFit/>
          </a:bodyPr>
          <a:lstStyle/>
          <a:p>
            <a:pPr algn="l">
              <a:lnSpc>
                <a:spcPct val="100000"/>
              </a:lnSpc>
            </a:pPr>
            <a:r>
              <a:rPr sz="1050" b="1">
                <a:solidFill>
                  <a:srgbClr val="333333"/>
                </a:solidFill>
                <a:latin typeface="Georgia"/>
              </a:rPr>
              <a:t>MOTIVATION</a:t>
            </a:r>
          </a:p>
        </p:txBody>
      </p:sp>
      <p:sp>
        <p:nvSpPr>
          <p:cNvPr id="3" name="TextBox 2"/>
          <p:cNvSpPr txBox="1"/>
          <p:nvPr/>
        </p:nvSpPr>
        <p:spPr>
          <a:xfrm>
            <a:off x="667512" y="658368"/>
            <a:ext cx="10881360" cy="731520"/>
          </a:xfrm>
          <a:prstGeom prst="rect">
            <a:avLst/>
          </a:prstGeom>
          <a:noFill/>
        </p:spPr>
        <p:txBody>
          <a:bodyPr wrap="square">
            <a:spAutoFit/>
          </a:bodyPr>
          <a:lstStyle/>
          <a:p>
            <a:pPr algn="l">
              <a:lnSpc>
                <a:spcPct val="100000"/>
              </a:lnSpc>
            </a:pPr>
            <a:r>
              <a:rPr sz="2400" b="1">
                <a:solidFill>
                  <a:srgbClr val="1A1A1A"/>
                </a:solidFill>
                <a:latin typeface="Georgia"/>
              </a:rPr>
              <a:t>Most tasks never use most of a dense flow map</a:t>
            </a:r>
          </a:p>
        </p:txBody>
      </p:sp>
      <p:sp>
        <p:nvSpPr>
          <p:cNvPr id="4" name="TextBox 3"/>
          <p:cNvSpPr txBox="1"/>
          <p:nvPr/>
        </p:nvSpPr>
        <p:spPr>
          <a:xfrm>
            <a:off x="685800" y="1600200"/>
            <a:ext cx="5120640" cy="3108960"/>
          </a:xfrm>
          <a:prstGeom prst="rect">
            <a:avLst/>
          </a:prstGeom>
          <a:noFill/>
        </p:spPr>
        <p:txBody>
          <a:bodyPr wrap="square">
            <a:spAutoFit/>
          </a:bodyPr>
          <a:lstStyle/>
          <a:p>
            <a:pPr algn="l">
              <a:lnSpc>
                <a:spcPct val="115000"/>
              </a:lnSpc>
            </a:pPr>
            <a:r>
              <a:rPr sz="1200" b="0">
                <a:solidFill>
                  <a:srgbClr val="1A1A1A"/>
                </a:solidFill>
                <a:latin typeface="Georgia"/>
              </a:rPr>
              <a:t>Optical flow tells you where each pixel moves between two frames.</a:t>
            </a:r>
          </a:p>
          <a:p>
            <a:pPr algn="l">
              <a:lnSpc>
                <a:spcPct val="115000"/>
              </a:lnSpc>
            </a:pPr>
            <a:r>
              <a:rPr sz="1200" b="0">
                <a:solidFill>
                  <a:srgbClr val="1A1A1A"/>
                </a:solidFill>
                <a:latin typeface="Georgia"/>
              </a:rPr>
              <a:t/>
            </a:r>
          </a:p>
          <a:p>
            <a:pPr algn="l">
              <a:lnSpc>
                <a:spcPct val="115000"/>
              </a:lnSpc>
            </a:pPr>
            <a:r>
              <a:rPr sz="1200" b="0">
                <a:solidFill>
                  <a:srgbClr val="1A1A1A"/>
                </a:solidFill>
                <a:latin typeface="Georgia"/>
              </a:rPr>
              <a:t>Every modern network computes all of them, at one fixed resolution.</a:t>
            </a:r>
          </a:p>
          <a:p>
            <a:pPr algn="l">
              <a:lnSpc>
                <a:spcPct val="115000"/>
              </a:lnSpc>
            </a:pPr>
            <a:r>
              <a:rPr sz="1200" b="0">
                <a:solidFill>
                  <a:srgbClr val="1A1A1A"/>
                </a:solidFill>
                <a:latin typeface="Georgia"/>
              </a:rPr>
              <a:t>A lot of downstream work does not need that:</a:t>
            </a:r>
          </a:p>
          <a:p>
            <a:pPr algn="l">
              <a:lnSpc>
                <a:spcPct val="115000"/>
              </a:lnSpc>
            </a:pPr>
            <a:r>
              <a:rPr sz="1200" b="0">
                <a:solidFill>
                  <a:srgbClr val="1A1A1A"/>
                </a:solidFill>
                <a:latin typeface="Georgia"/>
              </a:rPr>
              <a:t/>
            </a:r>
          </a:p>
          <a:p>
            <a:pPr algn="l">
              <a:lnSpc>
                <a:spcPct val="115000"/>
              </a:lnSpc>
            </a:pPr>
            <a:r>
              <a:rPr sz="1200" b="0">
                <a:solidFill>
                  <a:srgbClr val="1A1A1A"/>
                </a:solidFill>
                <a:latin typeface="Georgia"/>
              </a:rPr>
              <a:t>   image registration wants a few hundred correspondences at</a:t>
            </a:r>
          </a:p>
          <a:p>
            <a:pPr algn="l">
              <a:lnSpc>
                <a:spcPct val="115000"/>
              </a:lnSpc>
            </a:pPr>
            <a:r>
              <a:rPr sz="1200" b="0">
                <a:solidFill>
                  <a:srgbClr val="1A1A1A"/>
                </a:solidFill>
                <a:latin typeface="Georgia"/>
              </a:rPr>
              <a:t>   points it chooses itself</a:t>
            </a:r>
          </a:p>
          <a:p>
            <a:pPr algn="l">
              <a:lnSpc>
                <a:spcPct val="115000"/>
              </a:lnSpc>
            </a:pPr>
            <a:r>
              <a:rPr sz="1200" b="0">
                <a:solidFill>
                  <a:srgbClr val="1A1A1A"/>
                </a:solidFill>
                <a:latin typeface="Georgia"/>
              </a:rPr>
              <a:t/>
            </a:r>
          </a:p>
          <a:p>
            <a:pPr algn="l">
              <a:lnSpc>
                <a:spcPct val="115000"/>
              </a:lnSpc>
            </a:pPr>
            <a:r>
              <a:rPr sz="1200" b="0">
                <a:solidFill>
                  <a:srgbClr val="1A1A1A"/>
                </a:solidFill>
                <a:latin typeface="Georgia"/>
              </a:rPr>
              <a:t>   sparse tracking needs flow at feature points only</a:t>
            </a:r>
          </a:p>
          <a:p>
            <a:pPr algn="l">
              <a:lnSpc>
                <a:spcPct val="115000"/>
              </a:lnSpc>
            </a:pPr>
            <a:r>
              <a:rPr sz="1200" b="0">
                <a:solidFill>
                  <a:srgbClr val="1A1A1A"/>
                </a:solidFill>
                <a:latin typeface="Georgia"/>
              </a:rPr>
              <a:t/>
            </a:r>
          </a:p>
          <a:p>
            <a:pPr algn="l">
              <a:lnSpc>
                <a:spcPct val="115000"/>
              </a:lnSpc>
            </a:pPr>
            <a:r>
              <a:rPr sz="1200" b="0">
                <a:solidFill>
                  <a:srgbClr val="1A1A1A"/>
                </a:solidFill>
                <a:latin typeface="Georgia"/>
              </a:rPr>
              <a:t>   survey mosaicking needs matches in overlap regions, often at</a:t>
            </a:r>
          </a:p>
          <a:p>
            <a:pPr algn="l">
              <a:lnSpc>
                <a:spcPct val="115000"/>
              </a:lnSpc>
            </a:pPr>
            <a:r>
              <a:rPr sz="1200" b="0">
                <a:solidFill>
                  <a:srgbClr val="1A1A1A"/>
                </a:solidFill>
                <a:latin typeface="Georgia"/>
              </a:rPr>
              <a:t>   sub-pixel positions</a:t>
            </a:r>
          </a:p>
          <a:p>
            <a:pPr algn="l">
              <a:lnSpc>
                <a:spcPct val="115000"/>
              </a:lnSpc>
            </a:pPr>
            <a:r>
              <a:rPr sz="1200" b="0">
                <a:solidFill>
                  <a:srgbClr val="1A1A1A"/>
                </a:solidFill>
                <a:latin typeface="Georgia"/>
              </a:rPr>
              <a:t/>
            </a:r>
          </a:p>
          <a:p>
            <a:pPr algn="l">
              <a:lnSpc>
                <a:spcPct val="115000"/>
              </a:lnSpc>
            </a:pPr>
            <a:r>
              <a:rPr sz="1200" b="0">
                <a:solidFill>
                  <a:srgbClr val="1A1A1A"/>
                </a:solidFill>
                <a:latin typeface="Georgia"/>
              </a:rPr>
              <a:t>On a small GPU, computing 479,232 values to use 800 of them is</a:t>
            </a:r>
          </a:p>
          <a:p>
            <a:pPr algn="l">
              <a:lnSpc>
                <a:spcPct val="115000"/>
              </a:lnSpc>
            </a:pPr>
            <a:r>
              <a:rPr sz="1200" b="0">
                <a:solidFill>
                  <a:srgbClr val="1A1A1A"/>
                </a:solidFill>
                <a:latin typeface="Georgia"/>
              </a:rPr>
              <a:t>the difference between real time and not.</a:t>
            </a:r>
          </a:p>
        </p:txBody>
      </p:sp>
      <p:sp>
        <p:nvSpPr>
          <p:cNvPr id="5" name="Rounded Rectangle 4"/>
          <p:cNvSpPr/>
          <p:nvPr/>
        </p:nvSpPr>
        <p:spPr>
          <a:xfrm>
            <a:off x="6400800" y="1691640"/>
            <a:ext cx="5120640" cy="1234440"/>
          </a:xfrm>
          <a:prstGeom prst="roundRect">
            <a:avLst/>
          </a:prstGeom>
          <a:solidFill>
            <a:srgbClr val="EFEFEF"/>
          </a:solidFill>
          <a:ln w="952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200" b="0">
                <a:solidFill>
                  <a:srgbClr val="1A1A1A"/>
                </a:solidFill>
                <a:latin typeface="Georgia"/>
              </a:rPr>
              <a:t>The question</a:t>
            </a:r>
          </a:p>
          <a:p>
            <a:pPr algn="ctr"/>
            <a:r>
              <a:rPr sz="1200" b="0">
                <a:solidFill>
                  <a:srgbClr val="1A1A1A"/>
                </a:solidFill>
                <a:latin typeface="Georgia"/>
              </a:rPr>
              <a:t/>
            </a:r>
          </a:p>
          <a:p>
            <a:pPr algn="ctr"/>
            <a:r>
              <a:rPr sz="1200" b="0">
                <a:solidFill>
                  <a:srgbClr val="1A1A1A"/>
                </a:solidFill>
                <a:latin typeface="Georgia"/>
              </a:rPr>
              <a:t>Can the final stage be replaced by something you query,</a:t>
            </a:r>
          </a:p>
          <a:p>
            <a:pPr algn="ctr"/>
            <a:r>
              <a:rPr sz="1200" b="0">
                <a:solidFill>
                  <a:srgbClr val="1A1A1A"/>
                </a:solidFill>
                <a:latin typeface="Georgia"/>
              </a:rPr>
              <a:t>without giving up accuracy or speed?</a:t>
            </a:r>
          </a:p>
        </p:txBody>
      </p:sp>
      <p:sp>
        <p:nvSpPr>
          <p:cNvPr id="6" name="TextBox 5"/>
          <p:cNvSpPr txBox="1"/>
          <p:nvPr/>
        </p:nvSpPr>
        <p:spPr>
          <a:xfrm>
            <a:off x="6400800" y="3200400"/>
            <a:ext cx="5120640" cy="2377440"/>
          </a:xfrm>
          <a:prstGeom prst="rect">
            <a:avLst/>
          </a:prstGeom>
          <a:noFill/>
        </p:spPr>
        <p:txBody>
          <a:bodyPr wrap="square">
            <a:spAutoFit/>
          </a:bodyPr>
          <a:lstStyle/>
          <a:p>
            <a:pPr algn="l">
              <a:lnSpc>
                <a:spcPct val="115000"/>
              </a:lnSpc>
            </a:pPr>
            <a:r>
              <a:rPr sz="1200" b="0">
                <a:solidFill>
                  <a:srgbClr val="1A1A1A"/>
                </a:solidFill>
                <a:latin typeface="Georgia"/>
              </a:rPr>
              <a:t>Keep everything in v2 that understands motion, frozen.</a:t>
            </a:r>
          </a:p>
          <a:p>
            <a:pPr algn="l">
              <a:lnSpc>
                <a:spcPct val="115000"/>
              </a:lnSpc>
            </a:pPr>
            <a:r>
              <a:rPr sz="1200" b="0">
                <a:solidFill>
                  <a:srgbClr val="1A1A1A"/>
                </a:solidFill>
                <a:latin typeface="Georgia"/>
              </a:rPr>
              <a:t>Replace only the upsampler with a decoder evaluated at requested</a:t>
            </a:r>
          </a:p>
          <a:p>
            <a:pPr algn="l">
              <a:lnSpc>
                <a:spcPct val="115000"/>
              </a:lnSpc>
            </a:pPr>
            <a:r>
              <a:rPr sz="1200" b="0">
                <a:solidFill>
                  <a:srgbClr val="1A1A1A"/>
                </a:solidFill>
                <a:latin typeface="Georgia"/>
              </a:rPr>
              <a:t>coordinates, so cost scales with the number of questions asked</a:t>
            </a:r>
          </a:p>
          <a:p>
            <a:pPr algn="l">
              <a:lnSpc>
                <a:spcPct val="115000"/>
              </a:lnSpc>
            </a:pPr>
            <a:r>
              <a:rPr sz="1200" b="0">
                <a:solidFill>
                  <a:srgbClr val="1A1A1A"/>
                </a:solidFill>
                <a:latin typeface="Georgia"/>
              </a:rPr>
              <a:t>rather than with image area.</a:t>
            </a:r>
          </a:p>
          <a:p>
            <a:pPr algn="l">
              <a:lnSpc>
                <a:spcPct val="115000"/>
              </a:lnSpc>
            </a:pPr>
            <a:r>
              <a:rPr sz="1200" b="0">
                <a:solidFill>
                  <a:srgbClr val="1A1A1A"/>
                </a:solidFill>
                <a:latin typeface="Georgia"/>
              </a:rPr>
              <a:t/>
            </a:r>
          </a:p>
          <a:p>
            <a:pPr algn="l">
              <a:lnSpc>
                <a:spcPct val="115000"/>
              </a:lnSpc>
            </a:pPr>
            <a:r>
              <a:rPr sz="1200" b="0">
                <a:solidFill>
                  <a:srgbClr val="1A1A1A"/>
                </a:solidFill>
                <a:latin typeface="Georgia"/>
              </a:rPr>
              <a:t>Everything that follows is measured on held-out VKITTI2 scenes,</a:t>
            </a:r>
          </a:p>
          <a:p>
            <a:pPr algn="l">
              <a:lnSpc>
                <a:spcPct val="115000"/>
              </a:lnSpc>
            </a:pPr>
            <a:r>
              <a:rPr sz="1200" b="0">
                <a:solidFill>
                  <a:srgbClr val="1A1A1A"/>
                </a:solidFill>
                <a:latin typeface="Georgia"/>
              </a:rPr>
              <a:t>1,174 pairs, 460 million pixels.</a:t>
            </a:r>
          </a:p>
        </p:txBody>
      </p:sp>
      <p:sp>
        <p:nvSpPr>
          <p:cNvPr id="7" name="TextBox 6"/>
          <p:cNvSpPr txBox="1"/>
          <p:nvPr/>
        </p:nvSpPr>
        <p:spPr>
          <a:xfrm>
            <a:off x="685800" y="6419088"/>
            <a:ext cx="7315200" cy="274320"/>
          </a:xfrm>
          <a:prstGeom prst="rect">
            <a:avLst/>
          </a:prstGeom>
          <a:noFill/>
        </p:spPr>
        <p:txBody>
          <a:bodyPr wrap="square">
            <a:spAutoFit/>
          </a:bodyPr>
          <a:lstStyle/>
          <a:p>
            <a:pPr algn="l">
              <a:lnSpc>
                <a:spcPct val="100000"/>
              </a:lnSpc>
            </a:pPr>
            <a:r>
              <a:rPr sz="900" b="0">
                <a:solidFill>
                  <a:srgbClr val="8A8A8A"/>
                </a:solidFill>
                <a:latin typeface="Georgia"/>
              </a:rPr>
              <a:t>NeuFlow v3, S. Raghav Srinivasan</a:t>
            </a:r>
          </a:p>
        </p:txBody>
      </p:sp>
      <p:sp>
        <p:nvSpPr>
          <p:cNvPr id="8" name="TextBox 7"/>
          <p:cNvSpPr txBox="1"/>
          <p:nvPr/>
        </p:nvSpPr>
        <p:spPr>
          <a:xfrm>
            <a:off x="10607040" y="6419088"/>
            <a:ext cx="1097280" cy="274320"/>
          </a:xfrm>
          <a:prstGeom prst="rect">
            <a:avLst/>
          </a:prstGeom>
          <a:noFill/>
        </p:spPr>
        <p:txBody>
          <a:bodyPr wrap="square">
            <a:spAutoFit/>
          </a:bodyPr>
          <a:lstStyle/>
          <a:p>
            <a:pPr algn="l">
              <a:lnSpc>
                <a:spcPct val="100000"/>
              </a:lnSpc>
            </a:pPr>
            <a:r>
              <a:rPr sz="900" b="0">
                <a:solidFill>
                  <a:srgbClr val="8A8A8A"/>
                </a:solidFill>
                <a:latin typeface="Georgia"/>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384048"/>
            <a:ext cx="10515600" cy="274320"/>
          </a:xfrm>
          <a:prstGeom prst="rect">
            <a:avLst/>
          </a:prstGeom>
          <a:noFill/>
        </p:spPr>
        <p:txBody>
          <a:bodyPr wrap="square">
            <a:spAutoFit/>
          </a:bodyPr>
          <a:lstStyle/>
          <a:p>
            <a:pPr algn="l">
              <a:lnSpc>
                <a:spcPct val="100000"/>
              </a:lnSpc>
            </a:pPr>
            <a:r>
              <a:rPr sz="1050" b="1">
                <a:solidFill>
                  <a:srgbClr val="333333"/>
                </a:solidFill>
                <a:latin typeface="Georgia"/>
              </a:rPr>
              <a:t>METHOD</a:t>
            </a:r>
          </a:p>
        </p:txBody>
      </p:sp>
      <p:sp>
        <p:nvSpPr>
          <p:cNvPr id="3" name="TextBox 2"/>
          <p:cNvSpPr txBox="1"/>
          <p:nvPr/>
        </p:nvSpPr>
        <p:spPr>
          <a:xfrm>
            <a:off x="667512" y="658368"/>
            <a:ext cx="10881360" cy="731520"/>
          </a:xfrm>
          <a:prstGeom prst="rect">
            <a:avLst/>
          </a:prstGeom>
          <a:noFill/>
        </p:spPr>
        <p:txBody>
          <a:bodyPr wrap="square">
            <a:spAutoFit/>
          </a:bodyPr>
          <a:lstStyle/>
          <a:p>
            <a:pPr algn="l">
              <a:lnSpc>
                <a:spcPct val="100000"/>
              </a:lnSpc>
            </a:pPr>
            <a:r>
              <a:rPr sz="2400" b="1">
                <a:solidFill>
                  <a:srgbClr val="1A1A1A"/>
                </a:solidFill>
                <a:latin typeface="Georgia"/>
              </a:rPr>
              <a:t>NeuFlow v2: the foundation, kept frozen</a:t>
            </a:r>
          </a:p>
        </p:txBody>
      </p:sp>
      <p:sp>
        <p:nvSpPr>
          <p:cNvPr id="4" name="Rounded Rectangle 3"/>
          <p:cNvSpPr/>
          <p:nvPr/>
        </p:nvSpPr>
        <p:spPr>
          <a:xfrm>
            <a:off x="685800" y="1783080"/>
            <a:ext cx="2011680" cy="1234440"/>
          </a:xfrm>
          <a:prstGeom prst="roundRect">
            <a:avLst/>
          </a:prstGeom>
          <a:solidFill>
            <a:srgbClr val="EFEFEF"/>
          </a:solidFill>
          <a:ln w="952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050" b="0">
                <a:solidFill>
                  <a:srgbClr val="1A1A1A"/>
                </a:solidFill>
                <a:latin typeface="Georgia"/>
              </a:rPr>
              <a:t>Image pair</a:t>
            </a:r>
          </a:p>
          <a:p>
            <a:pPr algn="ctr"/>
            <a:r>
              <a:rPr sz="1050" b="0">
                <a:solidFill>
                  <a:srgbClr val="1A1A1A"/>
                </a:solidFill>
                <a:latin typeface="Georgia"/>
              </a:rPr>
              <a:t/>
            </a:r>
          </a:p>
          <a:p>
            <a:pPr algn="ctr"/>
            <a:r>
              <a:rPr sz="1050" b="0">
                <a:solidFill>
                  <a:srgbClr val="1A1A1A"/>
                </a:solidFill>
                <a:latin typeface="Georgia"/>
              </a:rPr>
              <a:t>two frames</a:t>
            </a:r>
          </a:p>
        </p:txBody>
      </p:sp>
      <p:sp>
        <p:nvSpPr>
          <p:cNvPr id="5" name="Rounded Rectangle 4"/>
          <p:cNvSpPr/>
          <p:nvPr/>
        </p:nvSpPr>
        <p:spPr>
          <a:xfrm>
            <a:off x="3017520" y="1783080"/>
            <a:ext cx="2011680" cy="1234440"/>
          </a:xfrm>
          <a:prstGeom prst="roundRect">
            <a:avLst/>
          </a:prstGeom>
          <a:solidFill>
            <a:srgbClr val="EFEFEF"/>
          </a:solidFill>
          <a:ln w="952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050" b="0">
                <a:solidFill>
                  <a:srgbClr val="1A1A1A"/>
                </a:solidFill>
                <a:latin typeface="Georgia"/>
              </a:rPr>
              <a:t>CNN backbone</a:t>
            </a:r>
          </a:p>
          <a:p>
            <a:pPr algn="ctr"/>
            <a:r>
              <a:rPr sz="1050" b="0">
                <a:solidFill>
                  <a:srgbClr val="1A1A1A"/>
                </a:solidFill>
                <a:latin typeface="Georgia"/>
              </a:rPr>
              <a:t/>
            </a:r>
          </a:p>
          <a:p>
            <a:pPr algn="ctr"/>
            <a:r>
              <a:rPr sz="1050" b="0">
                <a:solidFill>
                  <a:srgbClr val="1A1A1A"/>
                </a:solidFill>
                <a:latin typeface="Georgia"/>
              </a:rPr>
              <a:t>features at</a:t>
            </a:r>
          </a:p>
          <a:p>
            <a:pPr algn="ctr"/>
            <a:r>
              <a:rPr sz="1050" b="0">
                <a:solidFill>
                  <a:srgbClr val="1A1A1A"/>
                </a:solidFill>
                <a:latin typeface="Georgia"/>
              </a:rPr>
              <a:t>1/8 and 1/16</a:t>
            </a:r>
          </a:p>
        </p:txBody>
      </p:sp>
      <p:sp>
        <p:nvSpPr>
          <p:cNvPr id="6" name="Rounded Rectangle 5"/>
          <p:cNvSpPr/>
          <p:nvPr/>
        </p:nvSpPr>
        <p:spPr>
          <a:xfrm>
            <a:off x="5349240" y="1783080"/>
            <a:ext cx="2011680" cy="1234440"/>
          </a:xfrm>
          <a:prstGeom prst="roundRect">
            <a:avLst/>
          </a:prstGeom>
          <a:solidFill>
            <a:srgbClr val="EFEFEF"/>
          </a:solidFill>
          <a:ln w="952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050" b="0">
                <a:solidFill>
                  <a:srgbClr val="1A1A1A"/>
                </a:solidFill>
                <a:latin typeface="Georgia"/>
              </a:rPr>
              <a:t>Cross-attention</a:t>
            </a:r>
          </a:p>
          <a:p>
            <a:pPr algn="ctr"/>
            <a:r>
              <a:rPr sz="1050" b="0">
                <a:solidFill>
                  <a:srgbClr val="1A1A1A"/>
                </a:solidFill>
                <a:latin typeface="Georgia"/>
              </a:rPr>
              <a:t>+ global match</a:t>
            </a:r>
          </a:p>
          <a:p>
            <a:pPr algn="ctr"/>
            <a:r>
              <a:rPr sz="1050" b="0">
                <a:solidFill>
                  <a:srgbClr val="1A1A1A"/>
                </a:solidFill>
                <a:latin typeface="Georgia"/>
              </a:rPr>
              <a:t/>
            </a:r>
          </a:p>
          <a:p>
            <a:pPr algn="ctr"/>
            <a:r>
              <a:rPr sz="1050" b="0">
                <a:solidFill>
                  <a:srgbClr val="1A1A1A"/>
                </a:solidFill>
                <a:latin typeface="Georgia"/>
              </a:rPr>
              <a:t>initial flow</a:t>
            </a:r>
          </a:p>
        </p:txBody>
      </p:sp>
      <p:sp>
        <p:nvSpPr>
          <p:cNvPr id="7" name="Rounded Rectangle 6"/>
          <p:cNvSpPr/>
          <p:nvPr/>
        </p:nvSpPr>
        <p:spPr>
          <a:xfrm>
            <a:off x="7680960" y="1783080"/>
            <a:ext cx="2011680" cy="1234440"/>
          </a:xfrm>
          <a:prstGeom prst="roundRect">
            <a:avLst/>
          </a:prstGeom>
          <a:solidFill>
            <a:srgbClr val="EFEFEF"/>
          </a:solidFill>
          <a:ln w="952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050" b="0">
                <a:solidFill>
                  <a:srgbClr val="1A1A1A"/>
                </a:solidFill>
                <a:latin typeface="Georgia"/>
              </a:rPr>
              <a:t>Refinement</a:t>
            </a:r>
          </a:p>
          <a:p>
            <a:pPr algn="ctr"/>
            <a:r>
              <a:rPr sz="1050" b="0">
                <a:solidFill>
                  <a:srgbClr val="1A1A1A"/>
                </a:solidFill>
                <a:latin typeface="Georgia"/>
              </a:rPr>
              <a:t/>
            </a:r>
          </a:p>
          <a:p>
            <a:pPr algn="ctr"/>
            <a:r>
              <a:rPr sz="1050" b="0">
                <a:solidFill>
                  <a:srgbClr val="1A1A1A"/>
                </a:solidFill>
                <a:latin typeface="Georgia"/>
              </a:rPr>
              <a:t>1x at 1/16</a:t>
            </a:r>
          </a:p>
          <a:p>
            <a:pPr algn="ctr"/>
            <a:r>
              <a:rPr sz="1050" b="0">
                <a:solidFill>
                  <a:srgbClr val="1A1A1A"/>
                </a:solidFill>
                <a:latin typeface="Georgia"/>
              </a:rPr>
              <a:t>8x at 1/8</a:t>
            </a:r>
          </a:p>
        </p:txBody>
      </p:sp>
      <p:sp>
        <p:nvSpPr>
          <p:cNvPr id="8" name="Rounded Rectangle 7"/>
          <p:cNvSpPr/>
          <p:nvPr/>
        </p:nvSpPr>
        <p:spPr>
          <a:xfrm>
            <a:off x="10012680" y="1783080"/>
            <a:ext cx="2011680" cy="1234440"/>
          </a:xfrm>
          <a:prstGeom prst="roundRect">
            <a:avLst/>
          </a:prstGeom>
          <a:solidFill>
            <a:srgbClr val="333333"/>
          </a:solidFill>
          <a:ln w="952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050" b="1">
                <a:solidFill>
                  <a:srgbClr val="FFFFFF"/>
                </a:solidFill>
                <a:latin typeface="Georgia"/>
              </a:rPr>
              <a:t>Coarse flow</a:t>
            </a:r>
          </a:p>
          <a:p>
            <a:pPr algn="ctr"/>
            <a:r>
              <a:rPr sz="1050" b="1">
                <a:solidFill>
                  <a:srgbClr val="FFFFFF"/>
                </a:solidFill>
                <a:latin typeface="Georgia"/>
              </a:rPr>
              <a:t/>
            </a:r>
          </a:p>
          <a:p>
            <a:pPr algn="ctr"/>
            <a:r>
              <a:rPr sz="1050" b="1">
                <a:solidFill>
                  <a:srgbClr val="FFFFFF"/>
                </a:solidFill>
                <a:latin typeface="Georgia"/>
              </a:rPr>
              <a:t>at 1/8</a:t>
            </a:r>
          </a:p>
          <a:p>
            <a:pPr algn="ctr"/>
            <a:r>
              <a:rPr sz="1050" b="1">
                <a:solidFill>
                  <a:srgbClr val="FFFFFF"/>
                </a:solidFill>
                <a:latin typeface="Georgia"/>
              </a:rPr>
              <a:t>resolution</a:t>
            </a:r>
          </a:p>
        </p:txBody>
      </p:sp>
      <p:sp>
        <p:nvSpPr>
          <p:cNvPr id="9" name="TextBox 8"/>
          <p:cNvSpPr txBox="1"/>
          <p:nvPr/>
        </p:nvSpPr>
        <p:spPr>
          <a:xfrm>
            <a:off x="2715768" y="2212848"/>
            <a:ext cx="274320" cy="274320"/>
          </a:xfrm>
          <a:prstGeom prst="rect">
            <a:avLst/>
          </a:prstGeom>
          <a:noFill/>
        </p:spPr>
        <p:txBody>
          <a:bodyPr wrap="square">
            <a:spAutoFit/>
          </a:bodyPr>
          <a:lstStyle/>
          <a:p>
            <a:pPr algn="l">
              <a:lnSpc>
                <a:spcPct val="100000"/>
              </a:lnSpc>
            </a:pPr>
            <a:r>
              <a:rPr sz="1500" b="1">
                <a:solidFill>
                  <a:srgbClr val="8A8A8A"/>
                </a:solidFill>
                <a:latin typeface="Georgia"/>
              </a:rPr>
              <a:t>&gt;</a:t>
            </a:r>
          </a:p>
        </p:txBody>
      </p:sp>
      <p:sp>
        <p:nvSpPr>
          <p:cNvPr id="10" name="TextBox 9"/>
          <p:cNvSpPr txBox="1"/>
          <p:nvPr/>
        </p:nvSpPr>
        <p:spPr>
          <a:xfrm>
            <a:off x="5047488" y="2212848"/>
            <a:ext cx="274320" cy="274320"/>
          </a:xfrm>
          <a:prstGeom prst="rect">
            <a:avLst/>
          </a:prstGeom>
          <a:noFill/>
        </p:spPr>
        <p:txBody>
          <a:bodyPr wrap="square">
            <a:spAutoFit/>
          </a:bodyPr>
          <a:lstStyle/>
          <a:p>
            <a:pPr algn="l">
              <a:lnSpc>
                <a:spcPct val="100000"/>
              </a:lnSpc>
            </a:pPr>
            <a:r>
              <a:rPr sz="1500" b="1">
                <a:solidFill>
                  <a:srgbClr val="8A8A8A"/>
                </a:solidFill>
                <a:latin typeface="Georgia"/>
              </a:rPr>
              <a:t>&gt;</a:t>
            </a:r>
          </a:p>
        </p:txBody>
      </p:sp>
      <p:sp>
        <p:nvSpPr>
          <p:cNvPr id="11" name="TextBox 10"/>
          <p:cNvSpPr txBox="1"/>
          <p:nvPr/>
        </p:nvSpPr>
        <p:spPr>
          <a:xfrm>
            <a:off x="7379208" y="2212848"/>
            <a:ext cx="274320" cy="274320"/>
          </a:xfrm>
          <a:prstGeom prst="rect">
            <a:avLst/>
          </a:prstGeom>
          <a:noFill/>
        </p:spPr>
        <p:txBody>
          <a:bodyPr wrap="square">
            <a:spAutoFit/>
          </a:bodyPr>
          <a:lstStyle/>
          <a:p>
            <a:pPr algn="l">
              <a:lnSpc>
                <a:spcPct val="100000"/>
              </a:lnSpc>
            </a:pPr>
            <a:r>
              <a:rPr sz="1500" b="1">
                <a:solidFill>
                  <a:srgbClr val="8A8A8A"/>
                </a:solidFill>
                <a:latin typeface="Georgia"/>
              </a:rPr>
              <a:t>&gt;</a:t>
            </a:r>
          </a:p>
        </p:txBody>
      </p:sp>
      <p:sp>
        <p:nvSpPr>
          <p:cNvPr id="12" name="TextBox 11"/>
          <p:cNvSpPr txBox="1"/>
          <p:nvPr/>
        </p:nvSpPr>
        <p:spPr>
          <a:xfrm>
            <a:off x="9710928" y="2212848"/>
            <a:ext cx="274320" cy="274320"/>
          </a:xfrm>
          <a:prstGeom prst="rect">
            <a:avLst/>
          </a:prstGeom>
          <a:noFill/>
        </p:spPr>
        <p:txBody>
          <a:bodyPr wrap="square">
            <a:spAutoFit/>
          </a:bodyPr>
          <a:lstStyle/>
          <a:p>
            <a:pPr algn="l">
              <a:lnSpc>
                <a:spcPct val="100000"/>
              </a:lnSpc>
            </a:pPr>
            <a:r>
              <a:rPr sz="1500" b="1">
                <a:solidFill>
                  <a:srgbClr val="8A8A8A"/>
                </a:solidFill>
                <a:latin typeface="Georgia"/>
              </a:rPr>
              <a:t>&gt;</a:t>
            </a:r>
          </a:p>
        </p:txBody>
      </p:sp>
      <p:sp>
        <p:nvSpPr>
          <p:cNvPr id="13" name="TextBox 12"/>
          <p:cNvSpPr txBox="1"/>
          <p:nvPr/>
        </p:nvSpPr>
        <p:spPr>
          <a:xfrm>
            <a:off x="685800" y="3337560"/>
            <a:ext cx="10881360" cy="411480"/>
          </a:xfrm>
          <a:prstGeom prst="rect">
            <a:avLst/>
          </a:prstGeom>
          <a:noFill/>
        </p:spPr>
        <p:txBody>
          <a:bodyPr wrap="square">
            <a:spAutoFit/>
          </a:bodyPr>
          <a:lstStyle/>
          <a:p>
            <a:pPr algn="l">
              <a:lnSpc>
                <a:spcPct val="100000"/>
              </a:lnSpc>
            </a:pPr>
            <a:r>
              <a:rPr sz="1200" b="0">
                <a:solidFill>
                  <a:srgbClr val="1A1A1A"/>
                </a:solidFill>
                <a:latin typeface="Georgia"/>
              </a:rPr>
              <a:t>All of the above is v2, unmodified, with its weights frozen. v3 replaces only what comes next.</a:t>
            </a:r>
          </a:p>
        </p:txBody>
      </p:sp>
      <p:sp>
        <p:nvSpPr>
          <p:cNvPr id="14" name="TextBox 13"/>
          <p:cNvSpPr txBox="1"/>
          <p:nvPr/>
        </p:nvSpPr>
        <p:spPr>
          <a:xfrm>
            <a:off x="685800" y="3931920"/>
            <a:ext cx="4206240" cy="237744"/>
          </a:xfrm>
          <a:prstGeom prst="rect">
            <a:avLst/>
          </a:prstGeom>
          <a:noFill/>
        </p:spPr>
        <p:txBody>
          <a:bodyPr wrap="square">
            <a:spAutoFit/>
          </a:bodyPr>
          <a:lstStyle/>
          <a:p>
            <a:pPr algn="l">
              <a:lnSpc>
                <a:spcPct val="100000"/>
              </a:lnSpc>
            </a:pPr>
            <a:r>
              <a:rPr sz="1150" b="1">
                <a:solidFill>
                  <a:srgbClr val="1A1A1A"/>
                </a:solidFill>
                <a:latin typeface="Georgia"/>
              </a:rPr>
              <a:t>Measured on our hardware (RTX 4060 laptop, fp16, 384x1248)</a:t>
            </a:r>
          </a:p>
        </p:txBody>
      </p:sp>
      <p:sp>
        <p:nvSpPr>
          <p:cNvPr id="15" name="TextBox 14"/>
          <p:cNvSpPr txBox="1"/>
          <p:nvPr/>
        </p:nvSpPr>
        <p:spPr>
          <a:xfrm>
            <a:off x="4892040" y="3931920"/>
            <a:ext cx="1371600" cy="237744"/>
          </a:xfrm>
          <a:prstGeom prst="rect">
            <a:avLst/>
          </a:prstGeom>
          <a:noFill/>
        </p:spPr>
        <p:txBody>
          <a:bodyPr wrap="square">
            <a:spAutoFit/>
          </a:bodyPr>
          <a:lstStyle/>
          <a:p>
            <a:pPr algn="r">
              <a:lnSpc>
                <a:spcPct val="100000"/>
              </a:lnSpc>
            </a:pPr>
            <a:r>
              <a:rPr sz="1150" b="1">
                <a:solidFill>
                  <a:srgbClr val="1A1A1A"/>
                </a:solidFill>
                <a:latin typeface="Georgia"/>
              </a:rPr>
              <a:t/>
            </a:r>
          </a:p>
        </p:txBody>
      </p:sp>
      <p:sp>
        <p:nvSpPr>
          <p:cNvPr id="16" name="Rectangle 15"/>
          <p:cNvSpPr/>
          <p:nvPr/>
        </p:nvSpPr>
        <p:spPr>
          <a:xfrm>
            <a:off x="685800" y="4169663"/>
            <a:ext cx="5577840" cy="9525"/>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 y="4206240"/>
            <a:ext cx="4206240" cy="237744"/>
          </a:xfrm>
          <a:prstGeom prst="rect">
            <a:avLst/>
          </a:prstGeom>
          <a:noFill/>
        </p:spPr>
        <p:txBody>
          <a:bodyPr wrap="square">
            <a:spAutoFit/>
          </a:bodyPr>
          <a:lstStyle/>
          <a:p>
            <a:pPr algn="l">
              <a:lnSpc>
                <a:spcPct val="100000"/>
              </a:lnSpc>
            </a:pPr>
            <a:r>
              <a:rPr sz="1150" b="0">
                <a:solidFill>
                  <a:srgbClr val="1A1A1A"/>
                </a:solidFill>
                <a:latin typeface="Georgia"/>
              </a:rPr>
              <a:t>Latency, full frame</a:t>
            </a:r>
          </a:p>
        </p:txBody>
      </p:sp>
      <p:sp>
        <p:nvSpPr>
          <p:cNvPr id="18" name="TextBox 17"/>
          <p:cNvSpPr txBox="1"/>
          <p:nvPr/>
        </p:nvSpPr>
        <p:spPr>
          <a:xfrm>
            <a:off x="4892040" y="4206240"/>
            <a:ext cx="1371600" cy="237744"/>
          </a:xfrm>
          <a:prstGeom prst="rect">
            <a:avLst/>
          </a:prstGeom>
          <a:noFill/>
        </p:spPr>
        <p:txBody>
          <a:bodyPr wrap="square">
            <a:spAutoFit/>
          </a:bodyPr>
          <a:lstStyle/>
          <a:p>
            <a:pPr algn="r">
              <a:lnSpc>
                <a:spcPct val="100000"/>
              </a:lnSpc>
            </a:pPr>
            <a:r>
              <a:rPr sz="1150" b="0">
                <a:solidFill>
                  <a:srgbClr val="1A1A1A"/>
                </a:solidFill>
                <a:latin typeface="Georgia"/>
              </a:rPr>
              <a:t>33.3 ms</a:t>
            </a:r>
          </a:p>
        </p:txBody>
      </p:sp>
      <p:sp>
        <p:nvSpPr>
          <p:cNvPr id="19" name="TextBox 18"/>
          <p:cNvSpPr txBox="1"/>
          <p:nvPr/>
        </p:nvSpPr>
        <p:spPr>
          <a:xfrm>
            <a:off x="685800" y="4480559"/>
            <a:ext cx="4206240" cy="237744"/>
          </a:xfrm>
          <a:prstGeom prst="rect">
            <a:avLst/>
          </a:prstGeom>
          <a:noFill/>
        </p:spPr>
        <p:txBody>
          <a:bodyPr wrap="square">
            <a:spAutoFit/>
          </a:bodyPr>
          <a:lstStyle/>
          <a:p>
            <a:pPr algn="l">
              <a:lnSpc>
                <a:spcPct val="100000"/>
              </a:lnSpc>
            </a:pPr>
            <a:r>
              <a:rPr sz="1150" b="0">
                <a:solidFill>
                  <a:srgbClr val="1A1A1A"/>
                </a:solidFill>
                <a:latin typeface="Georgia"/>
              </a:rPr>
              <a:t>Parameters</a:t>
            </a:r>
          </a:p>
        </p:txBody>
      </p:sp>
      <p:sp>
        <p:nvSpPr>
          <p:cNvPr id="20" name="TextBox 19"/>
          <p:cNvSpPr txBox="1"/>
          <p:nvPr/>
        </p:nvSpPr>
        <p:spPr>
          <a:xfrm>
            <a:off x="4892040" y="4480559"/>
            <a:ext cx="1371600" cy="237744"/>
          </a:xfrm>
          <a:prstGeom prst="rect">
            <a:avLst/>
          </a:prstGeom>
          <a:noFill/>
        </p:spPr>
        <p:txBody>
          <a:bodyPr wrap="square">
            <a:spAutoFit/>
          </a:bodyPr>
          <a:lstStyle/>
          <a:p>
            <a:pPr algn="r">
              <a:lnSpc>
                <a:spcPct val="100000"/>
              </a:lnSpc>
            </a:pPr>
            <a:r>
              <a:rPr sz="1150" b="0">
                <a:solidFill>
                  <a:srgbClr val="1A1A1A"/>
                </a:solidFill>
                <a:latin typeface="Georgia"/>
              </a:rPr>
              <a:t>9.03 M</a:t>
            </a:r>
          </a:p>
        </p:txBody>
      </p:sp>
      <p:sp>
        <p:nvSpPr>
          <p:cNvPr id="21" name="TextBox 20"/>
          <p:cNvSpPr txBox="1"/>
          <p:nvPr/>
        </p:nvSpPr>
        <p:spPr>
          <a:xfrm>
            <a:off x="685800" y="4754879"/>
            <a:ext cx="4206240" cy="237744"/>
          </a:xfrm>
          <a:prstGeom prst="rect">
            <a:avLst/>
          </a:prstGeom>
          <a:noFill/>
        </p:spPr>
        <p:txBody>
          <a:bodyPr wrap="square">
            <a:spAutoFit/>
          </a:bodyPr>
          <a:lstStyle/>
          <a:p>
            <a:pPr algn="l">
              <a:lnSpc>
                <a:spcPct val="100000"/>
              </a:lnSpc>
            </a:pPr>
            <a:r>
              <a:rPr sz="1150" b="0">
                <a:solidFill>
                  <a:srgbClr val="1A1A1A"/>
                </a:solidFill>
                <a:latin typeface="Georgia"/>
              </a:rPr>
              <a:t>Mean EPE, VKITTI2 Scene18+20</a:t>
            </a:r>
          </a:p>
        </p:txBody>
      </p:sp>
      <p:sp>
        <p:nvSpPr>
          <p:cNvPr id="22" name="TextBox 21"/>
          <p:cNvSpPr txBox="1"/>
          <p:nvPr/>
        </p:nvSpPr>
        <p:spPr>
          <a:xfrm>
            <a:off x="4892040" y="4754879"/>
            <a:ext cx="1371600" cy="237744"/>
          </a:xfrm>
          <a:prstGeom prst="rect">
            <a:avLst/>
          </a:prstGeom>
          <a:noFill/>
        </p:spPr>
        <p:txBody>
          <a:bodyPr wrap="square">
            <a:spAutoFit/>
          </a:bodyPr>
          <a:lstStyle/>
          <a:p>
            <a:pPr algn="r">
              <a:lnSpc>
                <a:spcPct val="100000"/>
              </a:lnSpc>
            </a:pPr>
            <a:r>
              <a:rPr sz="1150" b="0">
                <a:solidFill>
                  <a:srgbClr val="1A1A1A"/>
                </a:solidFill>
                <a:latin typeface="Georgia"/>
              </a:rPr>
              <a:t>2.324 px</a:t>
            </a:r>
          </a:p>
        </p:txBody>
      </p:sp>
      <p:sp>
        <p:nvSpPr>
          <p:cNvPr id="23" name="TextBox 22"/>
          <p:cNvSpPr txBox="1"/>
          <p:nvPr/>
        </p:nvSpPr>
        <p:spPr>
          <a:xfrm>
            <a:off x="685800" y="5029199"/>
            <a:ext cx="4206240" cy="237744"/>
          </a:xfrm>
          <a:prstGeom prst="rect">
            <a:avLst/>
          </a:prstGeom>
          <a:noFill/>
        </p:spPr>
        <p:txBody>
          <a:bodyPr wrap="square">
            <a:spAutoFit/>
          </a:bodyPr>
          <a:lstStyle/>
          <a:p>
            <a:pPr algn="l">
              <a:lnSpc>
                <a:spcPct val="100000"/>
              </a:lnSpc>
            </a:pPr>
            <a:r>
              <a:rPr sz="1150" b="0">
                <a:solidFill>
                  <a:srgbClr val="1A1A1A"/>
                </a:solidFill>
                <a:latin typeface="Georgia"/>
              </a:rPr>
              <a:t>Pixels within 1 px</a:t>
            </a:r>
          </a:p>
        </p:txBody>
      </p:sp>
      <p:sp>
        <p:nvSpPr>
          <p:cNvPr id="24" name="TextBox 23"/>
          <p:cNvSpPr txBox="1"/>
          <p:nvPr/>
        </p:nvSpPr>
        <p:spPr>
          <a:xfrm>
            <a:off x="4892040" y="5029199"/>
            <a:ext cx="1371600" cy="237744"/>
          </a:xfrm>
          <a:prstGeom prst="rect">
            <a:avLst/>
          </a:prstGeom>
          <a:noFill/>
        </p:spPr>
        <p:txBody>
          <a:bodyPr wrap="square">
            <a:spAutoFit/>
          </a:bodyPr>
          <a:lstStyle/>
          <a:p>
            <a:pPr algn="r">
              <a:lnSpc>
                <a:spcPct val="100000"/>
              </a:lnSpc>
            </a:pPr>
            <a:r>
              <a:rPr sz="1150" b="0">
                <a:solidFill>
                  <a:srgbClr val="1A1A1A"/>
                </a:solidFill>
                <a:latin typeface="Georgia"/>
              </a:rPr>
              <a:t>77.63%</a:t>
            </a:r>
          </a:p>
        </p:txBody>
      </p:sp>
      <p:sp>
        <p:nvSpPr>
          <p:cNvPr id="25" name="Rounded Rectangle 24"/>
          <p:cNvSpPr/>
          <p:nvPr/>
        </p:nvSpPr>
        <p:spPr>
          <a:xfrm>
            <a:off x="6400800" y="3977639"/>
            <a:ext cx="5120640" cy="1371600"/>
          </a:xfrm>
          <a:prstGeom prst="roundRect">
            <a:avLst/>
          </a:prstGeom>
          <a:solidFill>
            <a:srgbClr val="EFEFEF"/>
          </a:solidFill>
          <a:ln w="952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150" b="0">
                <a:solidFill>
                  <a:srgbClr val="1A1A1A"/>
                </a:solidFill>
                <a:latin typeface="Georgia"/>
              </a:rPr>
              <a:t>The structural limit</a:t>
            </a:r>
          </a:p>
          <a:p>
            <a:pPr algn="ctr"/>
            <a:r>
              <a:rPr sz="1150" b="0">
                <a:solidFill>
                  <a:srgbClr val="1A1A1A"/>
                </a:solidFill>
                <a:latin typeface="Georgia"/>
              </a:rPr>
              <a:t/>
            </a:r>
          </a:p>
          <a:p>
            <a:pPr algn="ctr"/>
            <a:r>
              <a:rPr sz="1150" b="0">
                <a:solidFill>
                  <a:srgbClr val="1A1A1A"/>
                </a:solidFill>
                <a:latin typeface="Georgia"/>
              </a:rPr>
              <a:t>Output resolution and cost are fixed at design time.</a:t>
            </a:r>
          </a:p>
          <a:p>
            <a:pPr algn="ctr"/>
            <a:r>
              <a:rPr sz="1150" b="0">
                <a:solidFill>
                  <a:srgbClr val="1A1A1A"/>
                </a:solidFill>
                <a:latin typeface="Georgia"/>
              </a:rPr>
              <a:t>There is no cheap way to ask a smaller question, and no</a:t>
            </a:r>
          </a:p>
          <a:p>
            <a:pPr algn="ctr"/>
            <a:r>
              <a:rPr sz="1150" b="0">
                <a:solidFill>
                  <a:srgbClr val="1A1A1A"/>
                </a:solidFill>
                <a:latin typeface="Georgia"/>
              </a:rPr>
              <a:t>way at all to ask a finer-resolution one.</a:t>
            </a:r>
          </a:p>
        </p:txBody>
      </p:sp>
      <p:sp>
        <p:nvSpPr>
          <p:cNvPr id="26" name="TextBox 25"/>
          <p:cNvSpPr txBox="1"/>
          <p:nvPr/>
        </p:nvSpPr>
        <p:spPr>
          <a:xfrm>
            <a:off x="685800" y="6419088"/>
            <a:ext cx="7315200" cy="274320"/>
          </a:xfrm>
          <a:prstGeom prst="rect">
            <a:avLst/>
          </a:prstGeom>
          <a:noFill/>
        </p:spPr>
        <p:txBody>
          <a:bodyPr wrap="square">
            <a:spAutoFit/>
          </a:bodyPr>
          <a:lstStyle/>
          <a:p>
            <a:pPr algn="l">
              <a:lnSpc>
                <a:spcPct val="100000"/>
              </a:lnSpc>
            </a:pPr>
            <a:r>
              <a:rPr sz="900" b="0">
                <a:solidFill>
                  <a:srgbClr val="8A8A8A"/>
                </a:solidFill>
                <a:latin typeface="Georgia"/>
              </a:rPr>
              <a:t>NeuFlow v3, S. Raghav Srinivasan</a:t>
            </a:r>
          </a:p>
        </p:txBody>
      </p:sp>
      <p:sp>
        <p:nvSpPr>
          <p:cNvPr id="27" name="TextBox 26"/>
          <p:cNvSpPr txBox="1"/>
          <p:nvPr/>
        </p:nvSpPr>
        <p:spPr>
          <a:xfrm>
            <a:off x="10607040" y="6419088"/>
            <a:ext cx="1097280" cy="274320"/>
          </a:xfrm>
          <a:prstGeom prst="rect">
            <a:avLst/>
          </a:prstGeom>
          <a:noFill/>
        </p:spPr>
        <p:txBody>
          <a:bodyPr wrap="square">
            <a:spAutoFit/>
          </a:bodyPr>
          <a:lstStyle/>
          <a:p>
            <a:pPr algn="l">
              <a:lnSpc>
                <a:spcPct val="100000"/>
              </a:lnSpc>
            </a:pPr>
            <a:r>
              <a:rPr sz="900" b="0">
                <a:solidFill>
                  <a:srgbClr val="8A8A8A"/>
                </a:solidFill>
                <a:latin typeface="Georgia"/>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384048"/>
            <a:ext cx="10515600" cy="274320"/>
          </a:xfrm>
          <a:prstGeom prst="rect">
            <a:avLst/>
          </a:prstGeom>
          <a:noFill/>
        </p:spPr>
        <p:txBody>
          <a:bodyPr wrap="square">
            <a:spAutoFit/>
          </a:bodyPr>
          <a:lstStyle/>
          <a:p>
            <a:pPr algn="l">
              <a:lnSpc>
                <a:spcPct val="100000"/>
              </a:lnSpc>
            </a:pPr>
            <a:r>
              <a:rPr sz="1050" b="1">
                <a:solidFill>
                  <a:srgbClr val="333333"/>
                </a:solidFill>
                <a:latin typeface="Georgia"/>
              </a:rPr>
              <a:t>METHOD</a:t>
            </a:r>
          </a:p>
        </p:txBody>
      </p:sp>
      <p:sp>
        <p:nvSpPr>
          <p:cNvPr id="3" name="TextBox 2"/>
          <p:cNvSpPr txBox="1"/>
          <p:nvPr/>
        </p:nvSpPr>
        <p:spPr>
          <a:xfrm>
            <a:off x="667512" y="658368"/>
            <a:ext cx="10881360" cy="731520"/>
          </a:xfrm>
          <a:prstGeom prst="rect">
            <a:avLst/>
          </a:prstGeom>
          <a:noFill/>
        </p:spPr>
        <p:txBody>
          <a:bodyPr wrap="square">
            <a:spAutoFit/>
          </a:bodyPr>
          <a:lstStyle/>
          <a:p>
            <a:pPr algn="l">
              <a:lnSpc>
                <a:spcPct val="100000"/>
              </a:lnSpc>
            </a:pPr>
            <a:r>
              <a:rPr sz="2400" b="1">
                <a:solidFill>
                  <a:srgbClr val="1A1A1A"/>
                </a:solidFill>
                <a:latin typeface="Georgia"/>
              </a:rPr>
              <a:t>What v3 changes: a decoder you query</a:t>
            </a:r>
          </a:p>
        </p:txBody>
      </p:sp>
      <p:sp>
        <p:nvSpPr>
          <p:cNvPr id="4" name="TextBox 3"/>
          <p:cNvSpPr txBox="1"/>
          <p:nvPr/>
        </p:nvSpPr>
        <p:spPr>
          <a:xfrm>
            <a:off x="685800" y="1554480"/>
            <a:ext cx="10881360" cy="365760"/>
          </a:xfrm>
          <a:prstGeom prst="rect">
            <a:avLst/>
          </a:prstGeom>
          <a:noFill/>
        </p:spPr>
        <p:txBody>
          <a:bodyPr wrap="square">
            <a:spAutoFit/>
          </a:bodyPr>
          <a:lstStyle/>
          <a:p>
            <a:pPr algn="l">
              <a:lnSpc>
                <a:spcPct val="100000"/>
              </a:lnSpc>
            </a:pPr>
            <a:r>
              <a:rPr sz="1150" b="1">
                <a:solidFill>
                  <a:srgbClr val="333333"/>
                </a:solidFill>
                <a:latin typeface="Georgia"/>
              </a:rPr>
              <a:t>Phase 1, once per frame pair (33 ms, all of v2, cached)</a:t>
            </a:r>
          </a:p>
        </p:txBody>
      </p:sp>
      <p:sp>
        <p:nvSpPr>
          <p:cNvPr id="5" name="Rounded Rectangle 4"/>
          <p:cNvSpPr/>
          <p:nvPr/>
        </p:nvSpPr>
        <p:spPr>
          <a:xfrm>
            <a:off x="685800" y="1920240"/>
            <a:ext cx="10835640" cy="548640"/>
          </a:xfrm>
          <a:prstGeom prst="roundRect">
            <a:avLst/>
          </a:prstGeom>
          <a:solidFill>
            <a:srgbClr val="EFEFEF"/>
          </a:solidFill>
          <a:ln w="952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150" b="0">
                <a:solidFill>
                  <a:srgbClr val="1A1A1A"/>
                </a:solidFill>
                <a:latin typeface="Georgia"/>
              </a:rPr>
              <a:t>frozen v2 backbone  -&gt;  coarse flow + feature maps, held in memory</a:t>
            </a:r>
          </a:p>
        </p:txBody>
      </p:sp>
      <p:sp>
        <p:nvSpPr>
          <p:cNvPr id="6" name="TextBox 5"/>
          <p:cNvSpPr txBox="1"/>
          <p:nvPr/>
        </p:nvSpPr>
        <p:spPr>
          <a:xfrm>
            <a:off x="685800" y="2697480"/>
            <a:ext cx="10881360" cy="365760"/>
          </a:xfrm>
          <a:prstGeom prst="rect">
            <a:avLst/>
          </a:prstGeom>
          <a:noFill/>
        </p:spPr>
        <p:txBody>
          <a:bodyPr wrap="square">
            <a:spAutoFit/>
          </a:bodyPr>
          <a:lstStyle/>
          <a:p>
            <a:pPr algn="l">
              <a:lnSpc>
                <a:spcPct val="100000"/>
              </a:lnSpc>
            </a:pPr>
            <a:r>
              <a:rPr sz="1150" b="1">
                <a:solidFill>
                  <a:srgbClr val="333333"/>
                </a:solidFill>
                <a:latin typeface="Georgia"/>
              </a:rPr>
              <a:t>Phase 2, once per query batch (1.3 ms for up to 2,048 points, O(N))</a:t>
            </a:r>
          </a:p>
        </p:txBody>
      </p:sp>
      <p:sp>
        <p:nvSpPr>
          <p:cNvPr id="7" name="Rounded Rectangle 6"/>
          <p:cNvSpPr/>
          <p:nvPr/>
        </p:nvSpPr>
        <p:spPr>
          <a:xfrm>
            <a:off x="685800" y="3063240"/>
            <a:ext cx="1965960" cy="1188720"/>
          </a:xfrm>
          <a:prstGeom prst="roundRect">
            <a:avLst/>
          </a:prstGeom>
          <a:solidFill>
            <a:srgbClr val="EFEFEF"/>
          </a:solidFill>
          <a:ln w="952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050" b="0">
                <a:solidFill>
                  <a:srgbClr val="1A1A1A"/>
                </a:solidFill>
                <a:latin typeface="Georgia"/>
              </a:rPr>
              <a:t>Query (x, y)</a:t>
            </a:r>
          </a:p>
          <a:p>
            <a:pPr algn="ctr"/>
            <a:r>
              <a:rPr sz="1050" b="0">
                <a:solidFill>
                  <a:srgbClr val="1A1A1A"/>
                </a:solidFill>
                <a:latin typeface="Georgia"/>
              </a:rPr>
              <a:t/>
            </a:r>
          </a:p>
          <a:p>
            <a:pPr algn="ctr"/>
            <a:r>
              <a:rPr sz="1050" b="0">
                <a:solidFill>
                  <a:srgbClr val="1A1A1A"/>
                </a:solidFill>
                <a:latin typeface="Georgia"/>
              </a:rPr>
              <a:t>any continuous</a:t>
            </a:r>
          </a:p>
          <a:p>
            <a:pPr algn="ctr"/>
            <a:r>
              <a:rPr sz="1050" b="0">
                <a:solidFill>
                  <a:srgbClr val="1A1A1A"/>
                </a:solidFill>
                <a:latin typeface="Georgia"/>
              </a:rPr>
              <a:t>coordinate</a:t>
            </a:r>
          </a:p>
        </p:txBody>
      </p:sp>
      <p:sp>
        <p:nvSpPr>
          <p:cNvPr id="8" name="Rounded Rectangle 7"/>
          <p:cNvSpPr/>
          <p:nvPr/>
        </p:nvSpPr>
        <p:spPr>
          <a:xfrm>
            <a:off x="2880360" y="3063240"/>
            <a:ext cx="1965960" cy="1188720"/>
          </a:xfrm>
          <a:prstGeom prst="roundRect">
            <a:avLst/>
          </a:prstGeom>
          <a:solidFill>
            <a:srgbClr val="EFEFEF"/>
          </a:solidFill>
          <a:ln w="952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050" b="0">
                <a:solidFill>
                  <a:srgbClr val="1A1A1A"/>
                </a:solidFill>
                <a:latin typeface="Georgia"/>
              </a:rPr>
              <a:t>Sample features</a:t>
            </a:r>
          </a:p>
          <a:p>
            <a:pPr algn="ctr"/>
            <a:r>
              <a:rPr sz="1050" b="0">
                <a:solidFill>
                  <a:srgbClr val="1A1A1A"/>
                </a:solidFill>
                <a:latin typeface="Georgia"/>
              </a:rPr>
              <a:t/>
            </a:r>
          </a:p>
          <a:p>
            <a:pPr algn="ctr"/>
            <a:r>
              <a:rPr sz="1050" b="0">
                <a:solidFill>
                  <a:srgbClr val="1A1A1A"/>
                </a:solidFill>
                <a:latin typeface="Georgia"/>
              </a:rPr>
              <a:t>3x3 windows,</a:t>
            </a:r>
          </a:p>
          <a:p>
            <a:pPr algn="ctr"/>
            <a:r>
              <a:rPr sz="1050" b="0">
                <a:solidFill>
                  <a:srgbClr val="1A1A1A"/>
                </a:solidFill>
                <a:latin typeface="Georgia"/>
              </a:rPr>
              <a:t>4 sources</a:t>
            </a:r>
          </a:p>
        </p:txBody>
      </p:sp>
      <p:sp>
        <p:nvSpPr>
          <p:cNvPr id="9" name="Rounded Rectangle 8"/>
          <p:cNvSpPr/>
          <p:nvPr/>
        </p:nvSpPr>
        <p:spPr>
          <a:xfrm>
            <a:off x="5074920" y="3063240"/>
            <a:ext cx="1965960" cy="1188720"/>
          </a:xfrm>
          <a:prstGeom prst="roundRect">
            <a:avLst/>
          </a:prstGeom>
          <a:solidFill>
            <a:srgbClr val="EFEFEF"/>
          </a:solidFill>
          <a:ln w="952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050" b="0">
                <a:solidFill>
                  <a:srgbClr val="1A1A1A"/>
                </a:solidFill>
                <a:latin typeface="Georgia"/>
              </a:rPr>
              <a:t>Fuse + head</a:t>
            </a:r>
          </a:p>
          <a:p>
            <a:pPr algn="ctr"/>
            <a:r>
              <a:rPr sz="1050" b="0">
                <a:solidFill>
                  <a:srgbClr val="1A1A1A"/>
                </a:solidFill>
                <a:latin typeface="Georgia"/>
              </a:rPr>
              <a:t/>
            </a:r>
          </a:p>
          <a:p>
            <a:pPr algn="ctr"/>
            <a:r>
              <a:rPr sz="1050" b="0">
                <a:solidFill>
                  <a:srgbClr val="1A1A1A"/>
                </a:solidFill>
                <a:latin typeface="Georgia"/>
              </a:rPr>
              <a:t>gated MLP</a:t>
            </a:r>
          </a:p>
        </p:txBody>
      </p:sp>
      <p:sp>
        <p:nvSpPr>
          <p:cNvPr id="10" name="Rounded Rectangle 9"/>
          <p:cNvSpPr/>
          <p:nvPr/>
        </p:nvSpPr>
        <p:spPr>
          <a:xfrm>
            <a:off x="7269480" y="3063240"/>
            <a:ext cx="1965960" cy="1188720"/>
          </a:xfrm>
          <a:prstGeom prst="roundRect">
            <a:avLst/>
          </a:prstGeom>
          <a:solidFill>
            <a:srgbClr val="EFEFEF"/>
          </a:solidFill>
          <a:ln w="952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050" b="0">
                <a:solidFill>
                  <a:srgbClr val="1A1A1A"/>
                </a:solidFill>
                <a:latin typeface="Georgia"/>
              </a:rPr>
              <a:t>Convex blend</a:t>
            </a:r>
          </a:p>
          <a:p>
            <a:pPr algn="ctr"/>
            <a:r>
              <a:rPr sz="1050" b="0">
                <a:solidFill>
                  <a:srgbClr val="1A1A1A"/>
                </a:solidFill>
                <a:latin typeface="Georgia"/>
              </a:rPr>
              <a:t/>
            </a:r>
          </a:p>
          <a:p>
            <a:pPr algn="ctr"/>
            <a:r>
              <a:rPr sz="1050" b="0">
                <a:solidFill>
                  <a:srgbClr val="1A1A1A"/>
                </a:solidFill>
                <a:latin typeface="Georgia"/>
              </a:rPr>
              <a:t>weights over 9</a:t>
            </a:r>
          </a:p>
          <a:p>
            <a:pPr algn="ctr"/>
            <a:r>
              <a:rPr sz="1050" b="0">
                <a:solidFill>
                  <a:srgbClr val="1A1A1A"/>
                </a:solidFill>
                <a:latin typeface="Georgia"/>
              </a:rPr>
              <a:t>candidates + 1</a:t>
            </a:r>
          </a:p>
        </p:txBody>
      </p:sp>
      <p:sp>
        <p:nvSpPr>
          <p:cNvPr id="11" name="Rounded Rectangle 10"/>
          <p:cNvSpPr/>
          <p:nvPr/>
        </p:nvSpPr>
        <p:spPr>
          <a:xfrm>
            <a:off x="9464040" y="3063240"/>
            <a:ext cx="1965960" cy="1188720"/>
          </a:xfrm>
          <a:prstGeom prst="roundRect">
            <a:avLst/>
          </a:prstGeom>
          <a:solidFill>
            <a:srgbClr val="333333"/>
          </a:solidFill>
          <a:ln w="952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050" b="1">
                <a:solidFill>
                  <a:srgbClr val="FFFFFF"/>
                </a:solidFill>
                <a:latin typeface="Georgia"/>
              </a:rPr>
              <a:t>Flow + b</a:t>
            </a:r>
          </a:p>
          <a:p>
            <a:pPr algn="ctr"/>
            <a:r>
              <a:rPr sz="1050" b="1">
                <a:solidFill>
                  <a:srgbClr val="FFFFFF"/>
                </a:solidFill>
                <a:latin typeface="Georgia"/>
              </a:rPr>
              <a:t/>
            </a:r>
          </a:p>
          <a:p>
            <a:pPr algn="ctr"/>
            <a:r>
              <a:rPr sz="1050" b="1">
                <a:solidFill>
                  <a:srgbClr val="FFFFFF"/>
                </a:solidFill>
                <a:latin typeface="Georgia"/>
              </a:rPr>
              <a:t>per-point flow</a:t>
            </a:r>
          </a:p>
          <a:p>
            <a:pPr algn="ctr"/>
            <a:r>
              <a:rPr sz="1050" b="1">
                <a:solidFill>
                  <a:srgbClr val="FFFFFF"/>
                </a:solidFill>
                <a:latin typeface="Georgia"/>
              </a:rPr>
              <a:t>and confidence</a:t>
            </a:r>
          </a:p>
        </p:txBody>
      </p:sp>
      <p:sp>
        <p:nvSpPr>
          <p:cNvPr id="12" name="TextBox 11"/>
          <p:cNvSpPr txBox="1"/>
          <p:nvPr/>
        </p:nvSpPr>
        <p:spPr>
          <a:xfrm>
            <a:off x="2670048" y="3456432"/>
            <a:ext cx="274320" cy="274320"/>
          </a:xfrm>
          <a:prstGeom prst="rect">
            <a:avLst/>
          </a:prstGeom>
          <a:noFill/>
        </p:spPr>
        <p:txBody>
          <a:bodyPr wrap="square">
            <a:spAutoFit/>
          </a:bodyPr>
          <a:lstStyle/>
          <a:p>
            <a:pPr algn="l">
              <a:lnSpc>
                <a:spcPct val="100000"/>
              </a:lnSpc>
            </a:pPr>
            <a:r>
              <a:rPr sz="1500" b="1">
                <a:solidFill>
                  <a:srgbClr val="8A8A8A"/>
                </a:solidFill>
                <a:latin typeface="Georgia"/>
              </a:rPr>
              <a:t>&gt;</a:t>
            </a:r>
          </a:p>
        </p:txBody>
      </p:sp>
      <p:sp>
        <p:nvSpPr>
          <p:cNvPr id="13" name="TextBox 12"/>
          <p:cNvSpPr txBox="1"/>
          <p:nvPr/>
        </p:nvSpPr>
        <p:spPr>
          <a:xfrm>
            <a:off x="4864608" y="3456432"/>
            <a:ext cx="274320" cy="274320"/>
          </a:xfrm>
          <a:prstGeom prst="rect">
            <a:avLst/>
          </a:prstGeom>
          <a:noFill/>
        </p:spPr>
        <p:txBody>
          <a:bodyPr wrap="square">
            <a:spAutoFit/>
          </a:bodyPr>
          <a:lstStyle/>
          <a:p>
            <a:pPr algn="l">
              <a:lnSpc>
                <a:spcPct val="100000"/>
              </a:lnSpc>
            </a:pPr>
            <a:r>
              <a:rPr sz="1500" b="1">
                <a:solidFill>
                  <a:srgbClr val="8A8A8A"/>
                </a:solidFill>
                <a:latin typeface="Georgia"/>
              </a:rPr>
              <a:t>&gt;</a:t>
            </a:r>
          </a:p>
        </p:txBody>
      </p:sp>
      <p:sp>
        <p:nvSpPr>
          <p:cNvPr id="14" name="TextBox 13"/>
          <p:cNvSpPr txBox="1"/>
          <p:nvPr/>
        </p:nvSpPr>
        <p:spPr>
          <a:xfrm>
            <a:off x="7059168" y="3456432"/>
            <a:ext cx="274320" cy="274320"/>
          </a:xfrm>
          <a:prstGeom prst="rect">
            <a:avLst/>
          </a:prstGeom>
          <a:noFill/>
        </p:spPr>
        <p:txBody>
          <a:bodyPr wrap="square">
            <a:spAutoFit/>
          </a:bodyPr>
          <a:lstStyle/>
          <a:p>
            <a:pPr algn="l">
              <a:lnSpc>
                <a:spcPct val="100000"/>
              </a:lnSpc>
            </a:pPr>
            <a:r>
              <a:rPr sz="1500" b="1">
                <a:solidFill>
                  <a:srgbClr val="8A8A8A"/>
                </a:solidFill>
                <a:latin typeface="Georgia"/>
              </a:rPr>
              <a:t>&gt;</a:t>
            </a:r>
          </a:p>
        </p:txBody>
      </p:sp>
      <p:sp>
        <p:nvSpPr>
          <p:cNvPr id="15" name="TextBox 14"/>
          <p:cNvSpPr txBox="1"/>
          <p:nvPr/>
        </p:nvSpPr>
        <p:spPr>
          <a:xfrm>
            <a:off x="9253728" y="3456432"/>
            <a:ext cx="274320" cy="274320"/>
          </a:xfrm>
          <a:prstGeom prst="rect">
            <a:avLst/>
          </a:prstGeom>
          <a:noFill/>
        </p:spPr>
        <p:txBody>
          <a:bodyPr wrap="square">
            <a:spAutoFit/>
          </a:bodyPr>
          <a:lstStyle/>
          <a:p>
            <a:pPr algn="l">
              <a:lnSpc>
                <a:spcPct val="100000"/>
              </a:lnSpc>
            </a:pPr>
            <a:r>
              <a:rPr sz="1500" b="1">
                <a:solidFill>
                  <a:srgbClr val="8A8A8A"/>
                </a:solidFill>
                <a:latin typeface="Georgia"/>
              </a:rPr>
              <a:t>&gt;</a:t>
            </a:r>
          </a:p>
        </p:txBody>
      </p:sp>
      <p:sp>
        <p:nvSpPr>
          <p:cNvPr id="16" name="TextBox 15"/>
          <p:cNvSpPr txBox="1"/>
          <p:nvPr/>
        </p:nvSpPr>
        <p:spPr>
          <a:xfrm>
            <a:off x="685800" y="4572000"/>
            <a:ext cx="10881360" cy="1371600"/>
          </a:xfrm>
          <a:prstGeom prst="rect">
            <a:avLst/>
          </a:prstGeom>
          <a:noFill/>
        </p:spPr>
        <p:txBody>
          <a:bodyPr wrap="square">
            <a:spAutoFit/>
          </a:bodyPr>
          <a:lstStyle/>
          <a:p>
            <a:pPr algn="l">
              <a:lnSpc>
                <a:spcPct val="120000"/>
              </a:lnSpc>
            </a:pPr>
            <a:r>
              <a:rPr sz="1200" b="0">
                <a:solidFill>
                  <a:srgbClr val="1A1A1A"/>
                </a:solidFill>
                <a:latin typeface="Georgia"/>
              </a:rPr>
              <a:t>Three properties follow. Queries are continuous, so (312.7, 188.2) is as valid as (312, 188).</a:t>
            </a:r>
          </a:p>
          <a:p>
            <a:pPr algn="l">
              <a:lnSpc>
                <a:spcPct val="120000"/>
              </a:lnSpc>
            </a:pPr>
            <a:r>
              <a:rPr sz="1200" b="0">
                <a:solidFill>
                  <a:srgbClr val="1A1A1A"/>
                </a:solidFill>
                <a:latin typeface="Georgia"/>
              </a:rPr>
              <a:t>The output is a convex blend of neighbouring coarse-flow values, so it cannot invent motion</a:t>
            </a:r>
          </a:p>
          <a:p>
            <a:pPr algn="l">
              <a:lnSpc>
                <a:spcPct val="120000"/>
              </a:lnSpc>
            </a:pPr>
            <a:r>
              <a:rPr sz="1200" b="0">
                <a:solidFill>
                  <a:srgbClr val="1A1A1A"/>
                </a:solidFill>
                <a:latin typeface="Georgia"/>
              </a:rPr>
              <a:t>that is not locally supported. And the cached state means a second query batch on the same</a:t>
            </a:r>
          </a:p>
          <a:p>
            <a:pPr algn="l">
              <a:lnSpc>
                <a:spcPct val="120000"/>
              </a:lnSpc>
            </a:pPr>
            <a:r>
              <a:rPr sz="1200" b="0">
                <a:solidFill>
                  <a:srgbClr val="1A1A1A"/>
                </a:solidFill>
                <a:latin typeface="Georgia"/>
              </a:rPr>
              <a:t>frame costs 1.3 ms rather than a full recomputation.</a:t>
            </a:r>
          </a:p>
        </p:txBody>
      </p:sp>
      <p:sp>
        <p:nvSpPr>
          <p:cNvPr id="17" name="TextBox 16"/>
          <p:cNvSpPr txBox="1"/>
          <p:nvPr/>
        </p:nvSpPr>
        <p:spPr>
          <a:xfrm>
            <a:off x="685800" y="6419088"/>
            <a:ext cx="7315200" cy="274320"/>
          </a:xfrm>
          <a:prstGeom prst="rect">
            <a:avLst/>
          </a:prstGeom>
          <a:noFill/>
        </p:spPr>
        <p:txBody>
          <a:bodyPr wrap="square">
            <a:spAutoFit/>
          </a:bodyPr>
          <a:lstStyle/>
          <a:p>
            <a:pPr algn="l">
              <a:lnSpc>
                <a:spcPct val="100000"/>
              </a:lnSpc>
            </a:pPr>
            <a:r>
              <a:rPr sz="900" b="0">
                <a:solidFill>
                  <a:srgbClr val="8A8A8A"/>
                </a:solidFill>
                <a:latin typeface="Georgia"/>
              </a:rPr>
              <a:t>NeuFlow v3, S. Raghav Srinivasan</a:t>
            </a:r>
          </a:p>
        </p:txBody>
      </p:sp>
      <p:sp>
        <p:nvSpPr>
          <p:cNvPr id="18" name="TextBox 17"/>
          <p:cNvSpPr txBox="1"/>
          <p:nvPr/>
        </p:nvSpPr>
        <p:spPr>
          <a:xfrm>
            <a:off x="10607040" y="6419088"/>
            <a:ext cx="1097280" cy="274320"/>
          </a:xfrm>
          <a:prstGeom prst="rect">
            <a:avLst/>
          </a:prstGeom>
          <a:noFill/>
        </p:spPr>
        <p:txBody>
          <a:bodyPr wrap="square">
            <a:spAutoFit/>
          </a:bodyPr>
          <a:lstStyle/>
          <a:p>
            <a:pPr algn="l">
              <a:lnSpc>
                <a:spcPct val="100000"/>
              </a:lnSpc>
            </a:pPr>
            <a:r>
              <a:rPr sz="900" b="0">
                <a:solidFill>
                  <a:srgbClr val="8A8A8A"/>
                </a:solidFill>
                <a:latin typeface="Georgia"/>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384048"/>
            <a:ext cx="10515600" cy="274320"/>
          </a:xfrm>
          <a:prstGeom prst="rect">
            <a:avLst/>
          </a:prstGeom>
          <a:noFill/>
        </p:spPr>
        <p:txBody>
          <a:bodyPr wrap="square">
            <a:spAutoFit/>
          </a:bodyPr>
          <a:lstStyle/>
          <a:p>
            <a:pPr algn="l">
              <a:lnSpc>
                <a:spcPct val="100000"/>
              </a:lnSpc>
            </a:pPr>
            <a:r>
              <a:rPr sz="1050" b="1">
                <a:solidFill>
                  <a:srgbClr val="333333"/>
                </a:solidFill>
                <a:latin typeface="Georgia"/>
              </a:rPr>
              <a:t>RESULTS</a:t>
            </a:r>
          </a:p>
        </p:txBody>
      </p:sp>
      <p:sp>
        <p:nvSpPr>
          <p:cNvPr id="3" name="TextBox 2"/>
          <p:cNvSpPr txBox="1"/>
          <p:nvPr/>
        </p:nvSpPr>
        <p:spPr>
          <a:xfrm>
            <a:off x="667512" y="658368"/>
            <a:ext cx="10881360" cy="731520"/>
          </a:xfrm>
          <a:prstGeom prst="rect">
            <a:avLst/>
          </a:prstGeom>
          <a:noFill/>
        </p:spPr>
        <p:txBody>
          <a:bodyPr wrap="square">
            <a:spAutoFit/>
          </a:bodyPr>
          <a:lstStyle/>
          <a:p>
            <a:pPr algn="l">
              <a:lnSpc>
                <a:spcPct val="100000"/>
              </a:lnSpc>
            </a:pPr>
            <a:r>
              <a:rPr sz="2400" b="1">
                <a:solidFill>
                  <a:srgbClr val="1A1A1A"/>
                </a:solidFill>
                <a:latin typeface="Georgia"/>
              </a:rPr>
              <a:t>Accuracy: the decoder costs 2.6 percent on the mean</a:t>
            </a:r>
          </a:p>
        </p:txBody>
      </p:sp>
      <p:pic>
        <p:nvPicPr>
          <p:cNvPr id="4" name="Picture 3" descr="accuracy_bars.png"/>
          <p:cNvPicPr>
            <a:picLocks noChangeAspect="1"/>
          </p:cNvPicPr>
          <p:nvPr/>
        </p:nvPicPr>
        <p:blipFill>
          <a:blip r:embed="rId2"/>
          <a:stretch>
            <a:fillRect/>
          </a:stretch>
        </p:blipFill>
        <p:spPr>
          <a:xfrm>
            <a:off x="731520" y="1463040"/>
            <a:ext cx="6675120" cy="3675066"/>
          </a:xfrm>
          <a:prstGeom prst="rect">
            <a:avLst/>
          </a:prstGeom>
        </p:spPr>
      </p:pic>
      <p:sp>
        <p:nvSpPr>
          <p:cNvPr id="5" name="TextBox 4"/>
          <p:cNvSpPr txBox="1"/>
          <p:nvPr/>
        </p:nvSpPr>
        <p:spPr>
          <a:xfrm>
            <a:off x="7680960" y="1600200"/>
            <a:ext cx="3931920" cy="3291840"/>
          </a:xfrm>
          <a:prstGeom prst="rect">
            <a:avLst/>
          </a:prstGeom>
          <a:noFill/>
        </p:spPr>
        <p:txBody>
          <a:bodyPr wrap="square">
            <a:spAutoFit/>
          </a:bodyPr>
          <a:lstStyle/>
          <a:p>
            <a:pPr algn="l">
              <a:lnSpc>
                <a:spcPct val="118000"/>
              </a:lnSpc>
            </a:pPr>
            <a:r>
              <a:rPr sz="1150" b="0">
                <a:solidFill>
                  <a:srgbClr val="1A1A1A"/>
                </a:solidFill>
                <a:latin typeface="Georgia"/>
              </a:rPr>
              <a:t>Every v3 configuration sits above v2.</a:t>
            </a:r>
          </a:p>
          <a:p>
            <a:pPr algn="l">
              <a:lnSpc>
                <a:spcPct val="118000"/>
              </a:lnSpc>
            </a:pPr>
            <a:r>
              <a:rPr sz="1150" b="0">
                <a:solidFill>
                  <a:srgbClr val="1A1A1A"/>
                </a:solidFill>
                <a:latin typeface="Georgia"/>
              </a:rPr>
              <a:t/>
            </a:r>
          </a:p>
          <a:p>
            <a:pPr algn="l">
              <a:lnSpc>
                <a:spcPct val="118000"/>
              </a:lnSpc>
            </a:pPr>
            <a:r>
              <a:rPr sz="1150" b="0">
                <a:solidFill>
                  <a:srgbClr val="1A1A1A"/>
                </a:solidFill>
                <a:latin typeface="Georgia"/>
              </a:rPr>
              <a:t>Best: 2.384 against v2 at 2.324, so 2.6%</a:t>
            </a:r>
          </a:p>
          <a:p>
            <a:pPr algn="l">
              <a:lnSpc>
                <a:spcPct val="118000"/>
              </a:lnSpc>
            </a:pPr>
            <a:r>
              <a:rPr sz="1150" b="0">
                <a:solidFill>
                  <a:srgbClr val="1A1A1A"/>
                </a:solidFill>
                <a:latin typeface="Georgia"/>
              </a:rPr>
              <a:t>worse on mean error and 1.5 points worse</a:t>
            </a:r>
          </a:p>
          <a:p>
            <a:pPr algn="l">
              <a:lnSpc>
                <a:spcPct val="118000"/>
              </a:lnSpc>
            </a:pPr>
            <a:r>
              <a:rPr sz="1150" b="0">
                <a:solidFill>
                  <a:srgbClr val="1A1A1A"/>
                </a:solidFill>
                <a:latin typeface="Georgia"/>
              </a:rPr>
              <a:t>on 1-pixel accuracy.</a:t>
            </a:r>
          </a:p>
          <a:p>
            <a:pPr algn="l">
              <a:lnSpc>
                <a:spcPct val="118000"/>
              </a:lnSpc>
            </a:pPr>
            <a:r>
              <a:rPr sz="1150" b="0">
                <a:solidFill>
                  <a:srgbClr val="1A1A1A"/>
                </a:solidFill>
                <a:latin typeface="Georgia"/>
              </a:rPr>
              <a:t/>
            </a:r>
          </a:p>
          <a:p>
            <a:pPr algn="l">
              <a:lnSpc>
                <a:spcPct val="118000"/>
              </a:lnSpc>
            </a:pPr>
            <a:r>
              <a:rPr sz="1150" b="0">
                <a:solidFill>
                  <a:srgbClr val="1A1A1A"/>
                </a:solidFill>
                <a:latin typeface="Georgia"/>
              </a:rPr>
              <a:t>Like-for-like, trained on FlyingChairs only</a:t>
            </a:r>
          </a:p>
          <a:p>
            <a:pPr algn="l">
              <a:lnSpc>
                <a:spcPct val="118000"/>
              </a:lnSpc>
            </a:pPr>
            <a:r>
              <a:rPr sz="1150" b="0">
                <a:solidFill>
                  <a:srgbClr val="1A1A1A"/>
                </a:solidFill>
                <a:latin typeface="Georgia"/>
              </a:rPr>
              <a:t>as v2 was, it is 2.500, or 7.6% behind.</a:t>
            </a:r>
          </a:p>
          <a:p>
            <a:pPr algn="l">
              <a:lnSpc>
                <a:spcPct val="118000"/>
              </a:lnSpc>
            </a:pPr>
            <a:r>
              <a:rPr sz="1150" b="0">
                <a:solidFill>
                  <a:srgbClr val="1A1A1A"/>
                </a:solidFill>
                <a:latin typeface="Georgia"/>
              </a:rPr>
              <a:t/>
            </a:r>
          </a:p>
          <a:p>
            <a:pPr algn="l">
              <a:lnSpc>
                <a:spcPct val="118000"/>
              </a:lnSpc>
            </a:pPr>
            <a:r>
              <a:rPr sz="1150" b="0">
                <a:solidFill>
                  <a:srgbClr val="1A1A1A"/>
                </a:solidFill>
                <a:latin typeface="Georgia"/>
              </a:rPr>
              <a:t>The implicit decoder is less accurate than</a:t>
            </a:r>
          </a:p>
          <a:p>
            <a:pPr algn="l">
              <a:lnSpc>
                <a:spcPct val="118000"/>
              </a:lnSpc>
            </a:pPr>
            <a:r>
              <a:rPr sz="1150" b="0">
                <a:solidFill>
                  <a:srgbClr val="1A1A1A"/>
                </a:solidFill>
                <a:latin typeface="Georgia"/>
              </a:rPr>
              <a:t>the convex upsampler it replaces. The cause</a:t>
            </a:r>
          </a:p>
          <a:p>
            <a:pPr algn="l">
              <a:lnSpc>
                <a:spcPct val="118000"/>
              </a:lnSpc>
            </a:pPr>
            <a:r>
              <a:rPr sz="1150" b="0">
                <a:solidFill>
                  <a:srgbClr val="1A1A1A"/>
                </a:solidFill>
                <a:latin typeface="Georgia"/>
              </a:rPr>
              <a:t>is diagnosed and has a proposed remedy.</a:t>
            </a:r>
          </a:p>
          <a:p>
            <a:pPr algn="l">
              <a:lnSpc>
                <a:spcPct val="118000"/>
              </a:lnSpc>
            </a:pPr>
            <a:r>
              <a:rPr sz="1150" b="0">
                <a:solidFill>
                  <a:srgbClr val="1A1A1A"/>
                </a:solidFill>
                <a:latin typeface="Georgia"/>
              </a:rPr>
              <a:t/>
            </a:r>
          </a:p>
          <a:p>
            <a:pPr algn="l">
              <a:lnSpc>
                <a:spcPct val="118000"/>
              </a:lnSpc>
            </a:pPr>
            <a:r>
              <a:rPr sz="1150" b="0">
                <a:solidFill>
                  <a:srgbClr val="1A1A1A"/>
                </a:solidFill>
                <a:latin typeface="Georgia"/>
              </a:rPr>
              <a:t>Mean error over every pixel is also the</a:t>
            </a:r>
          </a:p>
          <a:p>
            <a:pPr algn="l">
              <a:lnSpc>
                <a:spcPct val="118000"/>
              </a:lnSpc>
            </a:pPr>
            <a:r>
              <a:rPr sz="1150" b="0">
                <a:solidFill>
                  <a:srgbClr val="1A1A1A"/>
                </a:solidFill>
                <a:latin typeface="Georgia"/>
              </a:rPr>
              <a:t>case the decoder is least suited to. Two</a:t>
            </a:r>
          </a:p>
          <a:p>
            <a:pPr algn="l">
              <a:lnSpc>
                <a:spcPct val="118000"/>
              </a:lnSpc>
            </a:pPr>
            <a:r>
              <a:rPr sz="1150" b="0">
                <a:solidFill>
                  <a:srgbClr val="1A1A1A"/>
                </a:solidFill>
                <a:latin typeface="Georgia"/>
              </a:rPr>
              <a:t>slides on, the same model is twice as</a:t>
            </a:r>
          </a:p>
          <a:p>
            <a:pPr algn="l">
              <a:lnSpc>
                <a:spcPct val="118000"/>
              </a:lnSpc>
            </a:pPr>
            <a:r>
              <a:rPr sz="1150" b="0">
                <a:solidFill>
                  <a:srgbClr val="1A1A1A"/>
                </a:solidFill>
                <a:latin typeface="Georgia"/>
              </a:rPr>
              <a:t>accurate as v2 over 80 percent of the</a:t>
            </a:r>
          </a:p>
          <a:p>
            <a:pPr algn="l">
              <a:lnSpc>
                <a:spcPct val="118000"/>
              </a:lnSpc>
            </a:pPr>
            <a:r>
              <a:rPr sz="1150" b="0">
                <a:solidFill>
                  <a:srgbClr val="1A1A1A"/>
                </a:solidFill>
                <a:latin typeface="Georgia"/>
              </a:rPr>
              <a:t>frame, once it is allowed to abstain.</a:t>
            </a:r>
          </a:p>
        </p:txBody>
      </p:sp>
      <p:sp>
        <p:nvSpPr>
          <p:cNvPr id="6" name="Rounded Rectangle 5"/>
          <p:cNvSpPr/>
          <p:nvPr/>
        </p:nvSpPr>
        <p:spPr>
          <a:xfrm>
            <a:off x="7680960" y="4983480"/>
            <a:ext cx="3931920" cy="868680"/>
          </a:xfrm>
          <a:prstGeom prst="roundRect">
            <a:avLst/>
          </a:prstGeom>
          <a:solidFill>
            <a:srgbClr val="EFEFEF"/>
          </a:solidFill>
          <a:ln w="952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050" b="0">
                <a:solidFill>
                  <a:srgbClr val="1A1A1A"/>
                </a:solidFill>
                <a:latin typeface="Georgia"/>
              </a:rPr>
              <a:t>Front end verified bit-identical to v2 on all</a:t>
            </a:r>
          </a:p>
          <a:p>
            <a:pPr algn="ctr"/>
            <a:r>
              <a:rPr sz="1050" b="0">
                <a:solidFill>
                  <a:srgbClr val="1A1A1A"/>
                </a:solidFill>
                <a:latin typeface="Georgia"/>
              </a:rPr>
              <a:t>137 shared tensors, so this isolates the</a:t>
            </a:r>
          </a:p>
          <a:p>
            <a:pPr algn="ctr"/>
            <a:r>
              <a:rPr sz="1050" b="0">
                <a:solidFill>
                  <a:srgbClr val="1A1A1A"/>
                </a:solidFill>
                <a:latin typeface="Georgia"/>
              </a:rPr>
              <a:t>decoder and nothing else.</a:t>
            </a:r>
          </a:p>
        </p:txBody>
      </p:sp>
      <p:sp>
        <p:nvSpPr>
          <p:cNvPr id="7" name="TextBox 6"/>
          <p:cNvSpPr txBox="1"/>
          <p:nvPr/>
        </p:nvSpPr>
        <p:spPr>
          <a:xfrm>
            <a:off x="685800" y="6419088"/>
            <a:ext cx="7315200" cy="274320"/>
          </a:xfrm>
          <a:prstGeom prst="rect">
            <a:avLst/>
          </a:prstGeom>
          <a:noFill/>
        </p:spPr>
        <p:txBody>
          <a:bodyPr wrap="square">
            <a:spAutoFit/>
          </a:bodyPr>
          <a:lstStyle/>
          <a:p>
            <a:pPr algn="l">
              <a:lnSpc>
                <a:spcPct val="100000"/>
              </a:lnSpc>
            </a:pPr>
            <a:r>
              <a:rPr sz="900" b="0">
                <a:solidFill>
                  <a:srgbClr val="8A8A8A"/>
                </a:solidFill>
                <a:latin typeface="Georgia"/>
              </a:rPr>
              <a:t>NeuFlow v3, S. Raghav Srinivasan</a:t>
            </a:r>
          </a:p>
        </p:txBody>
      </p:sp>
      <p:sp>
        <p:nvSpPr>
          <p:cNvPr id="8" name="TextBox 7"/>
          <p:cNvSpPr txBox="1"/>
          <p:nvPr/>
        </p:nvSpPr>
        <p:spPr>
          <a:xfrm>
            <a:off x="10607040" y="6419088"/>
            <a:ext cx="1097280" cy="274320"/>
          </a:xfrm>
          <a:prstGeom prst="rect">
            <a:avLst/>
          </a:prstGeom>
          <a:noFill/>
        </p:spPr>
        <p:txBody>
          <a:bodyPr wrap="square">
            <a:spAutoFit/>
          </a:bodyPr>
          <a:lstStyle/>
          <a:p>
            <a:pPr algn="l">
              <a:lnSpc>
                <a:spcPct val="100000"/>
              </a:lnSpc>
            </a:pPr>
            <a:r>
              <a:rPr sz="900" b="0">
                <a:solidFill>
                  <a:srgbClr val="8A8A8A"/>
                </a:solidFill>
                <a:latin typeface="Georgia"/>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384048"/>
            <a:ext cx="10515600" cy="274320"/>
          </a:xfrm>
          <a:prstGeom prst="rect">
            <a:avLst/>
          </a:prstGeom>
          <a:noFill/>
        </p:spPr>
        <p:txBody>
          <a:bodyPr wrap="square">
            <a:spAutoFit/>
          </a:bodyPr>
          <a:lstStyle/>
          <a:p>
            <a:pPr algn="l">
              <a:lnSpc>
                <a:spcPct val="100000"/>
              </a:lnSpc>
            </a:pPr>
            <a:r>
              <a:rPr sz="1050" b="1">
                <a:solidFill>
                  <a:srgbClr val="333333"/>
                </a:solidFill>
                <a:latin typeface="Georgia"/>
              </a:rPr>
              <a:t>RESULTS</a:t>
            </a:r>
          </a:p>
        </p:txBody>
      </p:sp>
      <p:sp>
        <p:nvSpPr>
          <p:cNvPr id="3" name="TextBox 2"/>
          <p:cNvSpPr txBox="1"/>
          <p:nvPr/>
        </p:nvSpPr>
        <p:spPr>
          <a:xfrm>
            <a:off x="667512" y="658368"/>
            <a:ext cx="10881360" cy="731520"/>
          </a:xfrm>
          <a:prstGeom prst="rect">
            <a:avLst/>
          </a:prstGeom>
          <a:noFill/>
        </p:spPr>
        <p:txBody>
          <a:bodyPr wrap="square">
            <a:spAutoFit/>
          </a:bodyPr>
          <a:lstStyle/>
          <a:p>
            <a:pPr algn="l">
              <a:lnSpc>
                <a:spcPct val="100000"/>
              </a:lnSpc>
            </a:pPr>
            <a:r>
              <a:rPr sz="2400" b="1">
                <a:solidFill>
                  <a:srgbClr val="1A1A1A"/>
                </a:solidFill>
                <a:latin typeface="Georgia"/>
              </a:rPr>
              <a:t>The cost: sub-pixel precision, unresolved</a:t>
            </a:r>
          </a:p>
        </p:txBody>
      </p:sp>
      <p:pic>
        <p:nvPicPr>
          <p:cNvPr id="4" name="Picture 3" descr="precision_bars.png"/>
          <p:cNvPicPr>
            <a:picLocks noChangeAspect="1"/>
          </p:cNvPicPr>
          <p:nvPr/>
        </p:nvPicPr>
        <p:blipFill>
          <a:blip r:embed="rId2"/>
          <a:stretch>
            <a:fillRect/>
          </a:stretch>
        </p:blipFill>
        <p:spPr>
          <a:xfrm>
            <a:off x="731520" y="1463040"/>
            <a:ext cx="6675120" cy="3677821"/>
          </a:xfrm>
          <a:prstGeom prst="rect">
            <a:avLst/>
          </a:prstGeom>
        </p:spPr>
      </p:pic>
      <p:sp>
        <p:nvSpPr>
          <p:cNvPr id="5" name="TextBox 4"/>
          <p:cNvSpPr txBox="1"/>
          <p:nvPr/>
        </p:nvSpPr>
        <p:spPr>
          <a:xfrm>
            <a:off x="7680960" y="1600200"/>
            <a:ext cx="3931920" cy="3840480"/>
          </a:xfrm>
          <a:prstGeom prst="rect">
            <a:avLst/>
          </a:prstGeom>
          <a:noFill/>
        </p:spPr>
        <p:txBody>
          <a:bodyPr wrap="square">
            <a:spAutoFit/>
          </a:bodyPr>
          <a:lstStyle/>
          <a:p>
            <a:pPr algn="l">
              <a:lnSpc>
                <a:spcPct val="118000"/>
              </a:lnSpc>
            </a:pPr>
            <a:r>
              <a:rPr sz="1150" b="0">
                <a:solidFill>
                  <a:srgbClr val="1A1A1A"/>
                </a:solidFill>
                <a:latin typeface="Georgia"/>
              </a:rPr>
              <a:t>v3 sits below v2 on 1-pixel accuracy in</a:t>
            </a:r>
          </a:p>
          <a:p>
            <a:pPr algn="l">
              <a:lnSpc>
                <a:spcPct val="118000"/>
              </a:lnSpc>
            </a:pPr>
            <a:r>
              <a:rPr sz="1150" b="0">
                <a:solidFill>
                  <a:srgbClr val="1A1A1A"/>
                </a:solidFill>
                <a:latin typeface="Georgia"/>
              </a:rPr>
              <a:t>every configuration, by 0.8 to 6.3 points.</a:t>
            </a:r>
          </a:p>
          <a:p>
            <a:pPr algn="l">
              <a:lnSpc>
                <a:spcPct val="118000"/>
              </a:lnSpc>
            </a:pPr>
            <a:r>
              <a:rPr sz="1150" b="0">
                <a:solidFill>
                  <a:srgbClr val="1A1A1A"/>
                </a:solidFill>
                <a:latin typeface="Georgia"/>
              </a:rPr>
              <a:t/>
            </a:r>
          </a:p>
          <a:p>
            <a:pPr algn="l">
              <a:lnSpc>
                <a:spcPct val="118000"/>
              </a:lnSpc>
            </a:pPr>
            <a:r>
              <a:rPr sz="1150" b="0">
                <a:solidFill>
                  <a:srgbClr val="1A1A1A"/>
                </a:solidFill>
                <a:latin typeface="Georgia"/>
              </a:rPr>
              <a:t>Mean EPE hides this: v3 has fewer large</a:t>
            </a:r>
          </a:p>
          <a:p>
            <a:pPr algn="l">
              <a:lnSpc>
                <a:spcPct val="118000"/>
              </a:lnSpc>
            </a:pPr>
            <a:r>
              <a:rPr sz="1150" b="0">
                <a:solidFill>
                  <a:srgbClr val="1A1A1A"/>
                </a:solidFill>
                <a:latin typeface="Georgia"/>
              </a:rPr>
              <a:t>errors, which pulls the mean down, while</a:t>
            </a:r>
          </a:p>
          <a:p>
            <a:pPr algn="l">
              <a:lnSpc>
                <a:spcPct val="118000"/>
              </a:lnSpc>
            </a:pPr>
            <a:r>
              <a:rPr sz="1150" b="0">
                <a:solidFill>
                  <a:srgbClr val="1A1A1A"/>
                </a:solidFill>
                <a:latin typeface="Georgia"/>
              </a:rPr>
              <a:t>being less exact on the majority of pixels.</a:t>
            </a:r>
          </a:p>
          <a:p>
            <a:pPr algn="l">
              <a:lnSpc>
                <a:spcPct val="118000"/>
              </a:lnSpc>
            </a:pPr>
            <a:r>
              <a:rPr sz="1150" b="0">
                <a:solidFill>
                  <a:srgbClr val="1A1A1A"/>
                </a:solidFill>
                <a:latin typeface="Georgia"/>
              </a:rPr>
              <a:t/>
            </a:r>
          </a:p>
          <a:p>
            <a:pPr algn="l">
              <a:lnSpc>
                <a:spcPct val="118000"/>
              </a:lnSpc>
            </a:pPr>
            <a:r>
              <a:rPr sz="1150" b="0">
                <a:solidFill>
                  <a:srgbClr val="1A1A1A"/>
                </a:solidFill>
                <a:latin typeface="Georgia"/>
              </a:rPr>
              <a:t>Diagnosed cause: the decoder never sees</a:t>
            </a:r>
          </a:p>
          <a:p>
            <a:pPr algn="l">
              <a:lnSpc>
                <a:spcPct val="118000"/>
              </a:lnSpc>
            </a:pPr>
            <a:r>
              <a:rPr sz="1150" b="0">
                <a:solidFill>
                  <a:srgbClr val="1A1A1A"/>
                </a:solidFill>
                <a:latin typeface="Georgia"/>
              </a:rPr>
              <a:t>the full-resolution image. Its finest input</a:t>
            </a:r>
          </a:p>
          <a:p>
            <a:pPr algn="l">
              <a:lnSpc>
                <a:spcPct val="118000"/>
              </a:lnSpc>
            </a:pPr>
            <a:r>
              <a:rPr sz="1150" b="0">
                <a:solidFill>
                  <a:srgbClr val="1A1A1A"/>
                </a:solidFill>
                <a:latin typeface="Georgia"/>
              </a:rPr>
              <a:t>is at 1/8 scale, so within an 8x8 cell the</a:t>
            </a:r>
          </a:p>
          <a:p>
            <a:pPr algn="l">
              <a:lnSpc>
                <a:spcPct val="118000"/>
              </a:lnSpc>
            </a:pPr>
            <a:r>
              <a:rPr sz="1150" b="0">
                <a:solidFill>
                  <a:srgbClr val="1A1A1A"/>
                </a:solidFill>
                <a:latin typeface="Georgia"/>
              </a:rPr>
              <a:t>evidence barely changes. v2 upsampler</a:t>
            </a:r>
          </a:p>
          <a:p>
            <a:pPr algn="l">
              <a:lnSpc>
                <a:spcPct val="118000"/>
              </a:lnSpc>
            </a:pPr>
            <a:r>
              <a:rPr sz="1150" b="0">
                <a:solidFill>
                  <a:srgbClr val="1A1A1A"/>
                </a:solidFill>
                <a:latin typeface="Georgia"/>
              </a:rPr>
              <a:t>reads the full-resolution frame directly.</a:t>
            </a:r>
          </a:p>
          <a:p>
            <a:pPr algn="l">
              <a:lnSpc>
                <a:spcPct val="118000"/>
              </a:lnSpc>
            </a:pPr>
            <a:r>
              <a:rPr sz="1150" b="0">
                <a:solidFill>
                  <a:srgbClr val="1A1A1A"/>
                </a:solidFill>
                <a:latin typeface="Georgia"/>
              </a:rPr>
              <a:t/>
            </a:r>
          </a:p>
          <a:p>
            <a:pPr algn="l">
              <a:lnSpc>
                <a:spcPct val="118000"/>
              </a:lnSpc>
            </a:pPr>
            <a:r>
              <a:rPr sz="1150" b="0">
                <a:solidFill>
                  <a:srgbClr val="1A1A1A"/>
                </a:solidFill>
                <a:latin typeface="Georgia"/>
              </a:rPr>
              <a:t>A Fourier positional encoding was tried</a:t>
            </a:r>
          </a:p>
          <a:p>
            <a:pPr algn="l">
              <a:lnSpc>
                <a:spcPct val="118000"/>
              </a:lnSpc>
            </a:pPr>
            <a:r>
              <a:rPr sz="1150" b="0">
                <a:solidFill>
                  <a:srgbClr val="1A1A1A"/>
                </a:solidFill>
                <a:latin typeface="Georgia"/>
              </a:rPr>
              <a:t>and made no difference, which rules out</a:t>
            </a:r>
          </a:p>
          <a:p>
            <a:pPr algn="l">
              <a:lnSpc>
                <a:spcPct val="118000"/>
              </a:lnSpc>
            </a:pPr>
            <a:r>
              <a:rPr sz="1150" b="0">
                <a:solidFill>
                  <a:srgbClr val="1A1A1A"/>
                </a:solidFill>
                <a:latin typeface="Georgia"/>
              </a:rPr>
              <a:t>missing positional signal as the cause.</a:t>
            </a:r>
          </a:p>
        </p:txBody>
      </p:sp>
      <p:sp>
        <p:nvSpPr>
          <p:cNvPr id="6" name="TextBox 5"/>
          <p:cNvSpPr txBox="1"/>
          <p:nvPr/>
        </p:nvSpPr>
        <p:spPr>
          <a:xfrm>
            <a:off x="685800" y="6419088"/>
            <a:ext cx="7315200" cy="274320"/>
          </a:xfrm>
          <a:prstGeom prst="rect">
            <a:avLst/>
          </a:prstGeom>
          <a:noFill/>
        </p:spPr>
        <p:txBody>
          <a:bodyPr wrap="square">
            <a:spAutoFit/>
          </a:bodyPr>
          <a:lstStyle/>
          <a:p>
            <a:pPr algn="l">
              <a:lnSpc>
                <a:spcPct val="100000"/>
              </a:lnSpc>
            </a:pPr>
            <a:r>
              <a:rPr sz="900" b="0">
                <a:solidFill>
                  <a:srgbClr val="8A8A8A"/>
                </a:solidFill>
                <a:latin typeface="Georgia"/>
              </a:rPr>
              <a:t>NeuFlow v3, S. Raghav Srinivasan</a:t>
            </a:r>
          </a:p>
        </p:txBody>
      </p:sp>
      <p:sp>
        <p:nvSpPr>
          <p:cNvPr id="7" name="TextBox 6"/>
          <p:cNvSpPr txBox="1"/>
          <p:nvPr/>
        </p:nvSpPr>
        <p:spPr>
          <a:xfrm>
            <a:off x="10607040" y="6419088"/>
            <a:ext cx="1097280" cy="274320"/>
          </a:xfrm>
          <a:prstGeom prst="rect">
            <a:avLst/>
          </a:prstGeom>
          <a:noFill/>
        </p:spPr>
        <p:txBody>
          <a:bodyPr wrap="square">
            <a:spAutoFit/>
          </a:bodyPr>
          <a:lstStyle/>
          <a:p>
            <a:pPr algn="l">
              <a:lnSpc>
                <a:spcPct val="100000"/>
              </a:lnSpc>
            </a:pPr>
            <a:r>
              <a:rPr sz="900" b="0">
                <a:solidFill>
                  <a:srgbClr val="8A8A8A"/>
                </a:solidFill>
                <a:latin typeface="Georgia"/>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384048"/>
            <a:ext cx="10515600" cy="274320"/>
          </a:xfrm>
          <a:prstGeom prst="rect">
            <a:avLst/>
          </a:prstGeom>
          <a:noFill/>
        </p:spPr>
        <p:txBody>
          <a:bodyPr wrap="square">
            <a:spAutoFit/>
          </a:bodyPr>
          <a:lstStyle/>
          <a:p>
            <a:pPr algn="l">
              <a:lnSpc>
                <a:spcPct val="100000"/>
              </a:lnSpc>
            </a:pPr>
            <a:r>
              <a:rPr sz="1050" b="1">
                <a:solidFill>
                  <a:srgbClr val="333333"/>
                </a:solidFill>
                <a:latin typeface="Georgia"/>
              </a:rPr>
              <a:t>RESULTS</a:t>
            </a:r>
          </a:p>
        </p:txBody>
      </p:sp>
      <p:sp>
        <p:nvSpPr>
          <p:cNvPr id="3" name="TextBox 2"/>
          <p:cNvSpPr txBox="1"/>
          <p:nvPr/>
        </p:nvSpPr>
        <p:spPr>
          <a:xfrm>
            <a:off x="667512" y="658368"/>
            <a:ext cx="10881360" cy="731520"/>
          </a:xfrm>
          <a:prstGeom prst="rect">
            <a:avLst/>
          </a:prstGeom>
          <a:noFill/>
        </p:spPr>
        <p:txBody>
          <a:bodyPr wrap="square">
            <a:spAutoFit/>
          </a:bodyPr>
          <a:lstStyle/>
          <a:p>
            <a:pPr algn="l">
              <a:lnSpc>
                <a:spcPct val="100000"/>
              </a:lnSpc>
            </a:pPr>
            <a:r>
              <a:rPr sz="2400" b="1">
                <a:solidFill>
                  <a:srgbClr val="1A1A1A"/>
                </a:solidFill>
                <a:latin typeface="Georgia"/>
              </a:rPr>
              <a:t>Speed: repeat queries are 27x cheaper</a:t>
            </a:r>
          </a:p>
        </p:txBody>
      </p:sp>
      <p:pic>
        <p:nvPicPr>
          <p:cNvPr id="4" name="Picture 3" descr="speed_bars.png"/>
          <p:cNvPicPr>
            <a:picLocks noChangeAspect="1"/>
          </p:cNvPicPr>
          <p:nvPr/>
        </p:nvPicPr>
        <p:blipFill>
          <a:blip r:embed="rId2"/>
          <a:stretch>
            <a:fillRect/>
          </a:stretch>
        </p:blipFill>
        <p:spPr>
          <a:xfrm>
            <a:off x="1188720" y="1463040"/>
            <a:ext cx="7406640" cy="3665913"/>
          </a:xfrm>
          <a:prstGeom prst="rect">
            <a:avLst/>
          </a:prstGeom>
        </p:spPr>
      </p:pic>
      <p:sp>
        <p:nvSpPr>
          <p:cNvPr id="5" name="TextBox 4"/>
          <p:cNvSpPr txBox="1"/>
          <p:nvPr/>
        </p:nvSpPr>
        <p:spPr>
          <a:xfrm>
            <a:off x="8869680" y="1645920"/>
            <a:ext cx="2834640" cy="2743200"/>
          </a:xfrm>
          <a:prstGeom prst="rect">
            <a:avLst/>
          </a:prstGeom>
          <a:noFill/>
        </p:spPr>
        <p:txBody>
          <a:bodyPr wrap="square">
            <a:spAutoFit/>
          </a:bodyPr>
          <a:lstStyle/>
          <a:p>
            <a:pPr algn="l">
              <a:lnSpc>
                <a:spcPct val="118000"/>
              </a:lnSpc>
            </a:pPr>
            <a:r>
              <a:rPr sz="1150" b="0">
                <a:solidFill>
                  <a:srgbClr val="1A1A1A"/>
                </a:solidFill>
                <a:latin typeface="Georgia"/>
              </a:rPr>
              <a:t>Dense output: v3 is 11%</a:t>
            </a:r>
          </a:p>
          <a:p>
            <a:pPr algn="l">
              <a:lnSpc>
                <a:spcPct val="118000"/>
              </a:lnSpc>
            </a:pPr>
            <a:r>
              <a:rPr sz="1150" b="0">
                <a:solidFill>
                  <a:srgbClr val="1A1A1A"/>
                </a:solidFill>
                <a:latin typeface="Georgia"/>
              </a:rPr>
              <a:t>slower. That mode is not</a:t>
            </a:r>
          </a:p>
          <a:p>
            <a:pPr algn="l">
              <a:lnSpc>
                <a:spcPct val="118000"/>
              </a:lnSpc>
            </a:pPr>
            <a:r>
              <a:rPr sz="1150" b="0">
                <a:solidFill>
                  <a:srgbClr val="1A1A1A"/>
                </a:solidFill>
                <a:latin typeface="Georgia"/>
              </a:rPr>
              <a:t>what the decoder is for.</a:t>
            </a:r>
          </a:p>
          <a:p>
            <a:pPr algn="l">
              <a:lnSpc>
                <a:spcPct val="118000"/>
              </a:lnSpc>
            </a:pPr>
            <a:r>
              <a:rPr sz="1150" b="0">
                <a:solidFill>
                  <a:srgbClr val="1A1A1A"/>
                </a:solidFill>
                <a:latin typeface="Georgia"/>
              </a:rPr>
              <a:t/>
            </a:r>
          </a:p>
          <a:p>
            <a:pPr algn="l">
              <a:lnSpc>
                <a:spcPct val="118000"/>
              </a:lnSpc>
            </a:pPr>
            <a:r>
              <a:rPr sz="1150" b="0">
                <a:solidFill>
                  <a:srgbClr val="1A1A1A"/>
                </a:solidFill>
                <a:latin typeface="Georgia"/>
              </a:rPr>
              <a:t>A first sparse query is</a:t>
            </a:r>
          </a:p>
          <a:p>
            <a:pPr algn="l">
              <a:lnSpc>
                <a:spcPct val="118000"/>
              </a:lnSpc>
            </a:pPr>
            <a:r>
              <a:rPr sz="1150" b="0">
                <a:solidFill>
                  <a:srgbClr val="1A1A1A"/>
                </a:solidFill>
                <a:latin typeface="Georgia"/>
              </a:rPr>
              <a:t>level with v2: the coarse</a:t>
            </a:r>
          </a:p>
          <a:p>
            <a:pPr algn="l">
              <a:lnSpc>
                <a:spcPct val="118000"/>
              </a:lnSpc>
            </a:pPr>
            <a:r>
              <a:rPr sz="1150" b="0">
                <a:solidFill>
                  <a:srgbClr val="1A1A1A"/>
                </a:solidFill>
                <a:latin typeface="Georgia"/>
              </a:rPr>
              <a:t>pass dominates and is</a:t>
            </a:r>
          </a:p>
          <a:p>
            <a:pPr algn="l">
              <a:lnSpc>
                <a:spcPct val="118000"/>
              </a:lnSpc>
            </a:pPr>
            <a:r>
              <a:rPr sz="1150" b="0">
                <a:solidFill>
                  <a:srgbClr val="1A1A1A"/>
                </a:solidFill>
                <a:latin typeface="Georgia"/>
              </a:rPr>
              <a:t>shared by both.</a:t>
            </a:r>
          </a:p>
          <a:p>
            <a:pPr algn="l">
              <a:lnSpc>
                <a:spcPct val="118000"/>
              </a:lnSpc>
            </a:pPr>
            <a:r>
              <a:rPr sz="1150" b="0">
                <a:solidFill>
                  <a:srgbClr val="1A1A1A"/>
                </a:solidFill>
                <a:latin typeface="Georgia"/>
              </a:rPr>
              <a:t/>
            </a:r>
          </a:p>
          <a:p>
            <a:pPr algn="l">
              <a:lnSpc>
                <a:spcPct val="118000"/>
              </a:lnSpc>
            </a:pPr>
            <a:r>
              <a:rPr sz="1150" b="0">
                <a:solidFill>
                  <a:srgbClr val="1A1A1A"/>
                </a:solidFill>
                <a:latin typeface="Georgia"/>
              </a:rPr>
              <a:t>Everything after the first</a:t>
            </a:r>
          </a:p>
          <a:p>
            <a:pPr algn="l">
              <a:lnSpc>
                <a:spcPct val="118000"/>
              </a:lnSpc>
            </a:pPr>
            <a:r>
              <a:rPr sz="1150" b="0">
                <a:solidFill>
                  <a:srgbClr val="1A1A1A"/>
                </a:solidFill>
                <a:latin typeface="Georgia"/>
              </a:rPr>
              <a:t>query is where v3 wins.</a:t>
            </a:r>
          </a:p>
        </p:txBody>
      </p:sp>
      <p:sp>
        <p:nvSpPr>
          <p:cNvPr id="6" name="Rounded Rectangle 5"/>
          <p:cNvSpPr/>
          <p:nvPr/>
        </p:nvSpPr>
        <p:spPr>
          <a:xfrm>
            <a:off x="8869680" y="4572000"/>
            <a:ext cx="2834640" cy="1280160"/>
          </a:xfrm>
          <a:prstGeom prst="roundRect">
            <a:avLst/>
          </a:prstGeom>
          <a:solidFill>
            <a:srgbClr val="EFEFEF"/>
          </a:solidFill>
          <a:ln w="952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050" b="0">
                <a:solidFill>
                  <a:srgbClr val="0B6A63"/>
                </a:solidFill>
                <a:latin typeface="Georgia"/>
              </a:rPr>
              <a:t>The genuine win</a:t>
            </a:r>
          </a:p>
          <a:p>
            <a:pPr algn="ctr"/>
            <a:r>
              <a:rPr sz="1050" b="0">
                <a:solidFill>
                  <a:srgbClr val="0B6A63"/>
                </a:solidFill>
                <a:latin typeface="Georgia"/>
              </a:rPr>
              <a:t/>
            </a:r>
          </a:p>
          <a:p>
            <a:pPr algn="ctr"/>
            <a:r>
              <a:rPr sz="1050" b="0">
                <a:solidFill>
                  <a:srgbClr val="0B6A63"/>
                </a:solidFill>
                <a:latin typeface="Georgia"/>
              </a:rPr>
              <a:t>A second query on an</a:t>
            </a:r>
          </a:p>
          <a:p>
            <a:pPr algn="ctr"/>
            <a:r>
              <a:rPr sz="1050" b="0">
                <a:solidFill>
                  <a:srgbClr val="0B6A63"/>
                </a:solidFill>
                <a:latin typeface="Georgia"/>
              </a:rPr>
              <a:t>already-processed frame:</a:t>
            </a:r>
          </a:p>
          <a:p>
            <a:pPr algn="ctr"/>
            <a:r>
              <a:rPr sz="1050" b="0">
                <a:solidFill>
                  <a:srgbClr val="0B6A63"/>
                </a:solidFill>
                <a:latin typeface="Georgia"/>
              </a:rPr>
              <a:t>1.3 ms against 33.3 ms.</a:t>
            </a:r>
          </a:p>
          <a:p>
            <a:pPr algn="ctr"/>
            <a:r>
              <a:rPr sz="1050" b="0">
                <a:solidFill>
                  <a:srgbClr val="0B6A63"/>
                </a:solidFill>
                <a:latin typeface="Georgia"/>
              </a:rPr>
              <a:t>v2 has no cached state.</a:t>
            </a:r>
          </a:p>
        </p:txBody>
      </p:sp>
      <p:sp>
        <p:nvSpPr>
          <p:cNvPr id="7" name="TextBox 6"/>
          <p:cNvSpPr txBox="1"/>
          <p:nvPr/>
        </p:nvSpPr>
        <p:spPr>
          <a:xfrm>
            <a:off x="685800" y="6419088"/>
            <a:ext cx="7315200" cy="274320"/>
          </a:xfrm>
          <a:prstGeom prst="rect">
            <a:avLst/>
          </a:prstGeom>
          <a:noFill/>
        </p:spPr>
        <p:txBody>
          <a:bodyPr wrap="square">
            <a:spAutoFit/>
          </a:bodyPr>
          <a:lstStyle/>
          <a:p>
            <a:pPr algn="l">
              <a:lnSpc>
                <a:spcPct val="100000"/>
              </a:lnSpc>
            </a:pPr>
            <a:r>
              <a:rPr sz="900" b="0">
                <a:solidFill>
                  <a:srgbClr val="8A8A8A"/>
                </a:solidFill>
                <a:latin typeface="Georgia"/>
              </a:rPr>
              <a:t>NeuFlow v3, S. Raghav Srinivasan</a:t>
            </a:r>
          </a:p>
        </p:txBody>
      </p:sp>
      <p:sp>
        <p:nvSpPr>
          <p:cNvPr id="8" name="TextBox 7"/>
          <p:cNvSpPr txBox="1"/>
          <p:nvPr/>
        </p:nvSpPr>
        <p:spPr>
          <a:xfrm>
            <a:off x="10607040" y="6419088"/>
            <a:ext cx="1097280" cy="274320"/>
          </a:xfrm>
          <a:prstGeom prst="rect">
            <a:avLst/>
          </a:prstGeom>
          <a:noFill/>
        </p:spPr>
        <p:txBody>
          <a:bodyPr wrap="square">
            <a:spAutoFit/>
          </a:bodyPr>
          <a:lstStyle/>
          <a:p>
            <a:pPr algn="l">
              <a:lnSpc>
                <a:spcPct val="100000"/>
              </a:lnSpc>
            </a:pPr>
            <a:r>
              <a:rPr sz="900" b="0">
                <a:solidFill>
                  <a:srgbClr val="8A8A8A"/>
                </a:solidFill>
                <a:latin typeface="Georgia"/>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384048"/>
            <a:ext cx="10515600" cy="274320"/>
          </a:xfrm>
          <a:prstGeom prst="rect">
            <a:avLst/>
          </a:prstGeom>
          <a:noFill/>
        </p:spPr>
        <p:txBody>
          <a:bodyPr wrap="square">
            <a:spAutoFit/>
          </a:bodyPr>
          <a:lstStyle/>
          <a:p>
            <a:pPr algn="l">
              <a:lnSpc>
                <a:spcPct val="100000"/>
              </a:lnSpc>
            </a:pPr>
            <a:r>
              <a:rPr sz="1050" b="1">
                <a:solidFill>
                  <a:srgbClr val="333333"/>
                </a:solidFill>
                <a:latin typeface="Georgia"/>
              </a:rPr>
              <a:t>RESULTS</a:t>
            </a:r>
          </a:p>
        </p:txBody>
      </p:sp>
      <p:sp>
        <p:nvSpPr>
          <p:cNvPr id="3" name="TextBox 2"/>
          <p:cNvSpPr txBox="1"/>
          <p:nvPr/>
        </p:nvSpPr>
        <p:spPr>
          <a:xfrm>
            <a:off x="667512" y="658368"/>
            <a:ext cx="10881360" cy="731520"/>
          </a:xfrm>
          <a:prstGeom prst="rect">
            <a:avLst/>
          </a:prstGeom>
          <a:noFill/>
        </p:spPr>
        <p:txBody>
          <a:bodyPr wrap="square">
            <a:spAutoFit/>
          </a:bodyPr>
          <a:lstStyle/>
          <a:p>
            <a:pPr algn="l">
              <a:lnSpc>
                <a:spcPct val="100000"/>
              </a:lnSpc>
            </a:pPr>
            <a:r>
              <a:rPr sz="2400" b="1">
                <a:solidFill>
                  <a:srgbClr val="1A1A1A"/>
                </a:solidFill>
                <a:latin typeface="Georgia"/>
              </a:rPr>
              <a:t>A calibrated confidence signal v2 cannot express</a:t>
            </a:r>
          </a:p>
        </p:txBody>
      </p:sp>
      <p:pic>
        <p:nvPicPr>
          <p:cNvPr id="4" name="Picture 3" descr="calibration_bars.png"/>
          <p:cNvPicPr>
            <a:picLocks noChangeAspect="1"/>
          </p:cNvPicPr>
          <p:nvPr/>
        </p:nvPicPr>
        <p:blipFill>
          <a:blip r:embed="rId2"/>
          <a:stretch>
            <a:fillRect/>
          </a:stretch>
        </p:blipFill>
        <p:spPr>
          <a:xfrm>
            <a:off x="731520" y="1554480"/>
            <a:ext cx="6766560" cy="3568283"/>
          </a:xfrm>
          <a:prstGeom prst="rect">
            <a:avLst/>
          </a:prstGeom>
        </p:spPr>
      </p:pic>
      <p:sp>
        <p:nvSpPr>
          <p:cNvPr id="5" name="TextBox 4"/>
          <p:cNvSpPr txBox="1"/>
          <p:nvPr/>
        </p:nvSpPr>
        <p:spPr>
          <a:xfrm>
            <a:off x="7772400" y="1691640"/>
            <a:ext cx="3840480" cy="3291840"/>
          </a:xfrm>
          <a:prstGeom prst="rect">
            <a:avLst/>
          </a:prstGeom>
          <a:noFill/>
        </p:spPr>
        <p:txBody>
          <a:bodyPr wrap="square">
            <a:spAutoFit/>
          </a:bodyPr>
          <a:lstStyle/>
          <a:p>
            <a:pPr algn="l">
              <a:lnSpc>
                <a:spcPct val="118000"/>
              </a:lnSpc>
            </a:pPr>
            <a:r>
              <a:rPr sz="1150" b="0">
                <a:solidFill>
                  <a:srgbClr val="1A1A1A"/>
                </a:solidFill>
                <a:latin typeface="Georgia"/>
              </a:rPr>
              <a:t>The head predicts a per-query error</a:t>
            </a:r>
          </a:p>
          <a:p>
            <a:pPr algn="l">
              <a:lnSpc>
                <a:spcPct val="118000"/>
              </a:lnSpc>
            </a:pPr>
            <a:r>
              <a:rPr sz="1150" b="0">
                <a:solidFill>
                  <a:srgbClr val="1A1A1A"/>
                </a:solidFill>
                <a:latin typeface="Georgia"/>
              </a:rPr>
              <a:t>scale b alongside each flow value,</a:t>
            </a:r>
          </a:p>
          <a:p>
            <a:pPr algn="l">
              <a:lnSpc>
                <a:spcPct val="118000"/>
              </a:lnSpc>
            </a:pPr>
            <a:r>
              <a:rPr sz="1150" b="0">
                <a:solidFill>
                  <a:srgbClr val="1A1A1A"/>
                </a:solidFill>
                <a:latin typeface="Georgia"/>
              </a:rPr>
              <a:t>trained with a Laplace likelihood.</a:t>
            </a:r>
          </a:p>
          <a:p>
            <a:pPr algn="l">
              <a:lnSpc>
                <a:spcPct val="118000"/>
              </a:lnSpc>
            </a:pPr>
            <a:r>
              <a:rPr sz="1150" b="0">
                <a:solidFill>
                  <a:srgbClr val="1A1A1A"/>
                </a:solidFill>
                <a:latin typeface="Georgia"/>
              </a:rPr>
              <a:t/>
            </a:r>
          </a:p>
          <a:p>
            <a:pPr algn="l">
              <a:lnSpc>
                <a:spcPct val="118000"/>
              </a:lnSpc>
            </a:pPr>
            <a:r>
              <a:rPr sz="1150" b="0">
                <a:solidFill>
                  <a:srgbClr val="1A1A1A"/>
                </a:solidFill>
                <a:latin typeface="Georgia"/>
              </a:rPr>
              <a:t>Binned by predicted b, real error rises</a:t>
            </a:r>
          </a:p>
          <a:p>
            <a:pPr algn="l">
              <a:lnSpc>
                <a:spcPct val="118000"/>
              </a:lnSpc>
            </a:pPr>
            <a:r>
              <a:rPr sz="1150" b="0">
                <a:solidFill>
                  <a:srgbClr val="1A1A1A"/>
                </a:solidFill>
                <a:latin typeface="Georgia"/>
              </a:rPr>
              <a:t>monotonically from 0.48 px to 7.10 px,</a:t>
            </a:r>
          </a:p>
          <a:p>
            <a:pPr algn="l">
              <a:lnSpc>
                <a:spcPct val="118000"/>
              </a:lnSpc>
            </a:pPr>
            <a:r>
              <a:rPr sz="1150" b="0">
                <a:solidFill>
                  <a:srgbClr val="1A1A1A"/>
                </a:solidFill>
                <a:latin typeface="Georgia"/>
              </a:rPr>
              <a:t>a 15x span. Pearson r = 0.318 over</a:t>
            </a:r>
          </a:p>
          <a:p>
            <a:pPr algn="l">
              <a:lnSpc>
                <a:spcPct val="118000"/>
              </a:lnSpc>
            </a:pPr>
            <a:r>
              <a:rPr sz="1150" b="0">
                <a:solidFill>
                  <a:srgbClr val="1A1A1A"/>
                </a:solidFill>
                <a:latin typeface="Georgia"/>
              </a:rPr>
              <a:t>2,348,000 samples.</a:t>
            </a:r>
          </a:p>
          <a:p>
            <a:pPr algn="l">
              <a:lnSpc>
                <a:spcPct val="118000"/>
              </a:lnSpc>
            </a:pPr>
            <a:r>
              <a:rPr sz="1150" b="0">
                <a:solidFill>
                  <a:srgbClr val="1A1A1A"/>
                </a:solidFill>
                <a:latin typeface="Georgia"/>
              </a:rPr>
              <a:t/>
            </a:r>
          </a:p>
          <a:p>
            <a:pPr algn="l">
              <a:lnSpc>
                <a:spcPct val="118000"/>
              </a:lnSpc>
            </a:pPr>
            <a:r>
              <a:rPr sz="1150" b="0">
                <a:solidFill>
                  <a:srgbClr val="1A1A1A"/>
                </a:solidFill>
                <a:latin typeface="Georgia"/>
              </a:rPr>
              <a:t>This is usable: weight correspondences</a:t>
            </a:r>
          </a:p>
          <a:p>
            <a:pPr algn="l">
              <a:lnSpc>
                <a:spcPct val="118000"/>
              </a:lnSpc>
            </a:pPr>
            <a:r>
              <a:rPr sz="1150" b="0">
                <a:solidFill>
                  <a:srgbClr val="1A1A1A"/>
                </a:solidFill>
                <a:latin typeface="Georgia"/>
              </a:rPr>
              <a:t>in RANSAC, reject unreliable matches,</a:t>
            </a:r>
          </a:p>
          <a:p>
            <a:pPr algn="l">
              <a:lnSpc>
                <a:spcPct val="118000"/>
              </a:lnSpc>
            </a:pPr>
            <a:r>
              <a:rPr sz="1150" b="0">
                <a:solidFill>
                  <a:srgbClr val="1A1A1A"/>
                </a:solidFill>
                <a:latin typeface="Georgia"/>
              </a:rPr>
              <a:t>or steer queries toward uncertain areas.</a:t>
            </a:r>
          </a:p>
          <a:p>
            <a:pPr algn="l">
              <a:lnSpc>
                <a:spcPct val="118000"/>
              </a:lnSpc>
            </a:pPr>
            <a:r>
              <a:rPr sz="1150" b="0">
                <a:solidFill>
                  <a:srgbClr val="1A1A1A"/>
                </a:solidFill>
                <a:latin typeface="Georgia"/>
              </a:rPr>
              <a:t/>
            </a:r>
          </a:p>
          <a:p>
            <a:pPr algn="l">
              <a:lnSpc>
                <a:spcPct val="118000"/>
              </a:lnSpc>
            </a:pPr>
            <a:r>
              <a:rPr sz="1150" b="0">
                <a:solidFill>
                  <a:srgbClr val="1A1A1A"/>
                </a:solidFill>
                <a:latin typeface="Georgia"/>
              </a:rPr>
              <a:t>v2 emits flow only. There is no</a:t>
            </a:r>
          </a:p>
          <a:p>
            <a:pPr algn="l">
              <a:lnSpc>
                <a:spcPct val="118000"/>
              </a:lnSpc>
            </a:pPr>
            <a:r>
              <a:rPr sz="1150" b="0">
                <a:solidFill>
                  <a:srgbClr val="1A1A1A"/>
                </a:solidFill>
                <a:latin typeface="Georgia"/>
              </a:rPr>
              <a:t>equivalent quantity to compare against.</a:t>
            </a:r>
          </a:p>
        </p:txBody>
      </p:sp>
      <p:sp>
        <p:nvSpPr>
          <p:cNvPr id="6" name="TextBox 5"/>
          <p:cNvSpPr txBox="1"/>
          <p:nvPr/>
        </p:nvSpPr>
        <p:spPr>
          <a:xfrm>
            <a:off x="685800" y="6419088"/>
            <a:ext cx="7315200" cy="274320"/>
          </a:xfrm>
          <a:prstGeom prst="rect">
            <a:avLst/>
          </a:prstGeom>
          <a:noFill/>
        </p:spPr>
        <p:txBody>
          <a:bodyPr wrap="square">
            <a:spAutoFit/>
          </a:bodyPr>
          <a:lstStyle/>
          <a:p>
            <a:pPr algn="l">
              <a:lnSpc>
                <a:spcPct val="100000"/>
              </a:lnSpc>
            </a:pPr>
            <a:r>
              <a:rPr sz="900" b="0">
                <a:solidFill>
                  <a:srgbClr val="8A8A8A"/>
                </a:solidFill>
                <a:latin typeface="Georgia"/>
              </a:rPr>
              <a:t>NeuFlow v3, S. Raghav Srinivasan</a:t>
            </a:r>
          </a:p>
        </p:txBody>
      </p:sp>
      <p:sp>
        <p:nvSpPr>
          <p:cNvPr id="7" name="TextBox 6"/>
          <p:cNvSpPr txBox="1"/>
          <p:nvPr/>
        </p:nvSpPr>
        <p:spPr>
          <a:xfrm>
            <a:off x="10607040" y="6419088"/>
            <a:ext cx="1097280" cy="274320"/>
          </a:xfrm>
          <a:prstGeom prst="rect">
            <a:avLst/>
          </a:prstGeom>
          <a:noFill/>
        </p:spPr>
        <p:txBody>
          <a:bodyPr wrap="square">
            <a:spAutoFit/>
          </a:bodyPr>
          <a:lstStyle/>
          <a:p>
            <a:pPr algn="l">
              <a:lnSpc>
                <a:spcPct val="100000"/>
              </a:lnSpc>
            </a:pPr>
            <a:r>
              <a:rPr sz="900" b="0">
                <a:solidFill>
                  <a:srgbClr val="8A8A8A"/>
                </a:solidFill>
                <a:latin typeface="Georgia"/>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384048"/>
            <a:ext cx="10515600" cy="274320"/>
          </a:xfrm>
          <a:prstGeom prst="rect">
            <a:avLst/>
          </a:prstGeom>
          <a:noFill/>
        </p:spPr>
        <p:txBody>
          <a:bodyPr wrap="square">
            <a:spAutoFit/>
          </a:bodyPr>
          <a:lstStyle/>
          <a:p>
            <a:pPr algn="l">
              <a:lnSpc>
                <a:spcPct val="100000"/>
              </a:lnSpc>
            </a:pPr>
            <a:r>
              <a:rPr sz="1050" b="1">
                <a:solidFill>
                  <a:srgbClr val="333333"/>
                </a:solidFill>
                <a:latin typeface="Georgia"/>
              </a:rPr>
              <a:t>RESULTS</a:t>
            </a:r>
          </a:p>
        </p:txBody>
      </p:sp>
      <p:sp>
        <p:nvSpPr>
          <p:cNvPr id="3" name="TextBox 2"/>
          <p:cNvSpPr txBox="1"/>
          <p:nvPr/>
        </p:nvSpPr>
        <p:spPr>
          <a:xfrm>
            <a:off x="667512" y="658368"/>
            <a:ext cx="10881360" cy="731520"/>
          </a:xfrm>
          <a:prstGeom prst="rect">
            <a:avLst/>
          </a:prstGeom>
          <a:noFill/>
        </p:spPr>
        <p:txBody>
          <a:bodyPr wrap="square">
            <a:spAutoFit/>
          </a:bodyPr>
          <a:lstStyle/>
          <a:p>
            <a:pPr algn="l">
              <a:lnSpc>
                <a:spcPct val="100000"/>
              </a:lnSpc>
            </a:pPr>
            <a:r>
              <a:rPr sz="2400" b="1">
                <a:solidFill>
                  <a:srgbClr val="1A1A1A"/>
                </a:solidFill>
                <a:latin typeface="Georgia"/>
              </a:rPr>
              <a:t>Confidence buys the accuracy back: 2.2x better over 80% of the frame</a:t>
            </a:r>
          </a:p>
        </p:txBody>
      </p:sp>
      <p:pic>
        <p:nvPicPr>
          <p:cNvPr id="4" name="Picture 3" descr="selective_accuracy.png"/>
          <p:cNvPicPr>
            <a:picLocks noChangeAspect="1"/>
          </p:cNvPicPr>
          <p:nvPr/>
        </p:nvPicPr>
        <p:blipFill>
          <a:blip r:embed="rId2"/>
          <a:stretch>
            <a:fillRect/>
          </a:stretch>
        </p:blipFill>
        <p:spPr>
          <a:xfrm>
            <a:off x="731520" y="1463040"/>
            <a:ext cx="7498079" cy="4068107"/>
          </a:xfrm>
          <a:prstGeom prst="rect">
            <a:avLst/>
          </a:prstGeom>
        </p:spPr>
      </p:pic>
      <p:sp>
        <p:nvSpPr>
          <p:cNvPr id="5" name="TextBox 4"/>
          <p:cNvSpPr txBox="1"/>
          <p:nvPr/>
        </p:nvSpPr>
        <p:spPr>
          <a:xfrm>
            <a:off x="8549640" y="1645920"/>
            <a:ext cx="3200400" cy="3291840"/>
          </a:xfrm>
          <a:prstGeom prst="rect">
            <a:avLst/>
          </a:prstGeom>
          <a:noFill/>
        </p:spPr>
        <p:txBody>
          <a:bodyPr wrap="square">
            <a:spAutoFit/>
          </a:bodyPr>
          <a:lstStyle/>
          <a:p>
            <a:pPr algn="l">
              <a:lnSpc>
                <a:spcPct val="118000"/>
              </a:lnSpc>
            </a:pPr>
            <a:r>
              <a:rPr sz="1150" b="0">
                <a:solidFill>
                  <a:srgbClr val="1A1A1A"/>
                </a:solidFill>
                <a:latin typeface="Georgia"/>
              </a:rPr>
              <a:t>Mean error over every pixel is</a:t>
            </a:r>
          </a:p>
          <a:p>
            <a:pPr algn="l">
              <a:lnSpc>
                <a:spcPct val="118000"/>
              </a:lnSpc>
            </a:pPr>
            <a:r>
              <a:rPr sz="1150" b="0">
                <a:solidFill>
                  <a:srgbClr val="1A1A1A"/>
                </a:solidFill>
                <a:latin typeface="Georgia"/>
              </a:rPr>
              <a:t>one operating point, and it is</a:t>
            </a:r>
          </a:p>
          <a:p>
            <a:pPr algn="l">
              <a:lnSpc>
                <a:spcPct val="118000"/>
              </a:lnSpc>
            </a:pPr>
            <a:r>
              <a:rPr sz="1150" b="0">
                <a:solidFill>
                  <a:srgbClr val="1A1A1A"/>
                </a:solidFill>
                <a:latin typeface="Georgia"/>
              </a:rPr>
              <a:t>the only one v2 has.</a:t>
            </a:r>
          </a:p>
          <a:p>
            <a:pPr algn="l">
              <a:lnSpc>
                <a:spcPct val="118000"/>
              </a:lnSpc>
            </a:pPr>
            <a:r>
              <a:rPr sz="1150" b="0">
                <a:solidFill>
                  <a:srgbClr val="1A1A1A"/>
                </a:solidFill>
                <a:latin typeface="Georgia"/>
              </a:rPr>
              <a:t/>
            </a:r>
          </a:p>
          <a:p>
            <a:pPr algn="l">
              <a:lnSpc>
                <a:spcPct val="118000"/>
              </a:lnSpc>
            </a:pPr>
            <a:r>
              <a:rPr sz="1150" b="0">
                <a:solidFill>
                  <a:srgbClr val="1A1A1A"/>
                </a:solidFill>
                <a:latin typeface="Georgia"/>
              </a:rPr>
              <a:t>With a confidence value per</a:t>
            </a:r>
          </a:p>
          <a:p>
            <a:pPr algn="l">
              <a:lnSpc>
                <a:spcPct val="118000"/>
              </a:lnSpc>
            </a:pPr>
            <a:r>
              <a:rPr sz="1150" b="0">
                <a:solidFill>
                  <a:srgbClr val="1A1A1A"/>
                </a:solidFill>
                <a:latin typeface="Georgia"/>
              </a:rPr>
              <a:t>query, v3 has a curve.</a:t>
            </a:r>
          </a:p>
          <a:p>
            <a:pPr algn="l">
              <a:lnSpc>
                <a:spcPct val="118000"/>
              </a:lnSpc>
            </a:pPr>
            <a:r>
              <a:rPr sz="1150" b="0">
                <a:solidFill>
                  <a:srgbClr val="1A1A1A"/>
                </a:solidFill>
                <a:latin typeface="Georgia"/>
              </a:rPr>
              <a:t/>
            </a:r>
          </a:p>
          <a:p>
            <a:pPr algn="l">
              <a:lnSpc>
                <a:spcPct val="118000"/>
              </a:lnSpc>
            </a:pPr>
            <a:r>
              <a:rPr sz="1150" b="0">
                <a:solidFill>
                  <a:srgbClr val="1A1A1A"/>
                </a:solidFill>
                <a:latin typeface="Georgia"/>
              </a:rPr>
              <a:t>Drop the least confident 20%</a:t>
            </a:r>
          </a:p>
          <a:p>
            <a:pPr algn="l">
              <a:lnSpc>
                <a:spcPct val="118000"/>
              </a:lnSpc>
            </a:pPr>
            <a:r>
              <a:rPr sz="1150" b="0">
                <a:solidFill>
                  <a:srgbClr val="1A1A1A"/>
                </a:solidFill>
                <a:latin typeface="Georgia"/>
              </a:rPr>
              <a:t>and error falls to 1.06 px,</a:t>
            </a:r>
          </a:p>
          <a:p>
            <a:pPr algn="l">
              <a:lnSpc>
                <a:spcPct val="118000"/>
              </a:lnSpc>
            </a:pPr>
            <a:r>
              <a:rPr sz="1150" b="0">
                <a:solidFill>
                  <a:srgbClr val="1A1A1A"/>
                </a:solidFill>
                <a:latin typeface="Georgia"/>
              </a:rPr>
              <a:t>against v2 at 2.32.</a:t>
            </a:r>
          </a:p>
          <a:p>
            <a:pPr algn="l">
              <a:lnSpc>
                <a:spcPct val="118000"/>
              </a:lnSpc>
            </a:pPr>
            <a:r>
              <a:rPr sz="1150" b="0">
                <a:solidFill>
                  <a:srgbClr val="1A1A1A"/>
                </a:solidFill>
                <a:latin typeface="Georgia"/>
              </a:rPr>
              <a:t/>
            </a:r>
          </a:p>
          <a:p>
            <a:pPr algn="l">
              <a:lnSpc>
                <a:spcPct val="118000"/>
              </a:lnSpc>
            </a:pPr>
            <a:r>
              <a:rPr sz="1150" b="0">
                <a:solidFill>
                  <a:srgbClr val="1A1A1A"/>
                </a:solidFill>
                <a:latin typeface="Georgia"/>
              </a:rPr>
              <a:t>Keep the best fifth and it is</a:t>
            </a:r>
          </a:p>
          <a:p>
            <a:pPr algn="l">
              <a:lnSpc>
                <a:spcPct val="118000"/>
              </a:lnSpc>
            </a:pPr>
            <a:r>
              <a:rPr sz="1150" b="0">
                <a:solidFill>
                  <a:srgbClr val="1A1A1A"/>
                </a:solidFill>
                <a:latin typeface="Georgia"/>
              </a:rPr>
              <a:t>0.48 px, nearly 5x better.</a:t>
            </a:r>
          </a:p>
        </p:txBody>
      </p:sp>
      <p:sp>
        <p:nvSpPr>
          <p:cNvPr id="6" name="Rounded Rectangle 5"/>
          <p:cNvSpPr/>
          <p:nvPr/>
        </p:nvSpPr>
        <p:spPr>
          <a:xfrm>
            <a:off x="8549640" y="5120640"/>
            <a:ext cx="3200400" cy="914400"/>
          </a:xfrm>
          <a:prstGeom prst="roundRect">
            <a:avLst/>
          </a:prstGeom>
          <a:solidFill>
            <a:srgbClr val="EFEFEF"/>
          </a:solidFill>
          <a:ln w="952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050" b="0">
                <a:solidFill>
                  <a:srgbClr val="0B6A63"/>
                </a:solidFill>
                <a:latin typeface="Georgia"/>
              </a:rPr>
              <a:t>For registration and mapping,</a:t>
            </a:r>
          </a:p>
          <a:p>
            <a:pPr algn="ctr"/>
            <a:r>
              <a:rPr sz="1050" b="0">
                <a:solidFill>
                  <a:srgbClr val="0B6A63"/>
                </a:solidFill>
                <a:latin typeface="Georgia"/>
              </a:rPr>
              <a:t>where you pick your points</a:t>
            </a:r>
          </a:p>
          <a:p>
            <a:pPr algn="ctr"/>
            <a:r>
              <a:rPr sz="1050" b="0">
                <a:solidFill>
                  <a:srgbClr val="0B6A63"/>
                </a:solidFill>
                <a:latin typeface="Georgia"/>
              </a:rPr>
              <a:t>anyway, abstaining is free.</a:t>
            </a:r>
          </a:p>
        </p:txBody>
      </p:sp>
      <p:sp>
        <p:nvSpPr>
          <p:cNvPr id="7" name="TextBox 6"/>
          <p:cNvSpPr txBox="1"/>
          <p:nvPr/>
        </p:nvSpPr>
        <p:spPr>
          <a:xfrm>
            <a:off x="685800" y="6419088"/>
            <a:ext cx="7315200" cy="274320"/>
          </a:xfrm>
          <a:prstGeom prst="rect">
            <a:avLst/>
          </a:prstGeom>
          <a:noFill/>
        </p:spPr>
        <p:txBody>
          <a:bodyPr wrap="square">
            <a:spAutoFit/>
          </a:bodyPr>
          <a:lstStyle/>
          <a:p>
            <a:pPr algn="l">
              <a:lnSpc>
                <a:spcPct val="100000"/>
              </a:lnSpc>
            </a:pPr>
            <a:r>
              <a:rPr sz="900" b="0">
                <a:solidFill>
                  <a:srgbClr val="8A8A8A"/>
                </a:solidFill>
                <a:latin typeface="Georgia"/>
              </a:rPr>
              <a:t>NeuFlow v3, S. Raghav Srinivasan</a:t>
            </a:r>
          </a:p>
        </p:txBody>
      </p:sp>
      <p:sp>
        <p:nvSpPr>
          <p:cNvPr id="8" name="TextBox 7"/>
          <p:cNvSpPr txBox="1"/>
          <p:nvPr/>
        </p:nvSpPr>
        <p:spPr>
          <a:xfrm>
            <a:off x="10607040" y="6419088"/>
            <a:ext cx="1097280" cy="274320"/>
          </a:xfrm>
          <a:prstGeom prst="rect">
            <a:avLst/>
          </a:prstGeom>
          <a:noFill/>
        </p:spPr>
        <p:txBody>
          <a:bodyPr wrap="square">
            <a:spAutoFit/>
          </a:bodyPr>
          <a:lstStyle/>
          <a:p>
            <a:pPr algn="l">
              <a:lnSpc>
                <a:spcPct val="100000"/>
              </a:lnSpc>
            </a:pPr>
            <a:r>
              <a:rPr sz="900" b="0">
                <a:solidFill>
                  <a:srgbClr val="8A8A8A"/>
                </a:solidFill>
                <a:latin typeface="Georgia"/>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384048"/>
            <a:ext cx="10515600" cy="274320"/>
          </a:xfrm>
          <a:prstGeom prst="rect">
            <a:avLst/>
          </a:prstGeom>
          <a:noFill/>
        </p:spPr>
        <p:txBody>
          <a:bodyPr wrap="square">
            <a:spAutoFit/>
          </a:bodyPr>
          <a:lstStyle/>
          <a:p>
            <a:pPr algn="l">
              <a:lnSpc>
                <a:spcPct val="100000"/>
              </a:lnSpc>
            </a:pPr>
            <a:r>
              <a:rPr sz="1050" b="1">
                <a:solidFill>
                  <a:srgbClr val="333333"/>
                </a:solidFill>
                <a:latin typeface="Georgia"/>
              </a:rPr>
              <a:t>SCENARIOS</a:t>
            </a:r>
          </a:p>
        </p:txBody>
      </p:sp>
      <p:sp>
        <p:nvSpPr>
          <p:cNvPr id="3" name="TextBox 2"/>
          <p:cNvSpPr txBox="1"/>
          <p:nvPr/>
        </p:nvSpPr>
        <p:spPr>
          <a:xfrm>
            <a:off x="667512" y="658368"/>
            <a:ext cx="10881360" cy="731520"/>
          </a:xfrm>
          <a:prstGeom prst="rect">
            <a:avLst/>
          </a:prstGeom>
          <a:noFill/>
        </p:spPr>
        <p:txBody>
          <a:bodyPr wrap="square">
            <a:spAutoFit/>
          </a:bodyPr>
          <a:lstStyle/>
          <a:p>
            <a:pPr algn="l">
              <a:lnSpc>
                <a:spcPct val="100000"/>
              </a:lnSpc>
            </a:pPr>
            <a:r>
              <a:rPr sz="2400" b="1">
                <a:solidFill>
                  <a:srgbClr val="1A1A1A"/>
                </a:solidFill>
                <a:latin typeface="Georgia"/>
              </a:rPr>
              <a:t>Three situations a fast platform meets</a:t>
            </a:r>
          </a:p>
        </p:txBody>
      </p:sp>
      <p:pic>
        <p:nvPicPr>
          <p:cNvPr id="4" name="Picture 3" descr="scenarios_illustrated.png"/>
          <p:cNvPicPr>
            <a:picLocks noChangeAspect="1"/>
          </p:cNvPicPr>
          <p:nvPr/>
        </p:nvPicPr>
        <p:blipFill>
          <a:blip r:embed="rId2"/>
          <a:stretch>
            <a:fillRect/>
          </a:stretch>
        </p:blipFill>
        <p:spPr>
          <a:xfrm>
            <a:off x="685800" y="1325880"/>
            <a:ext cx="10515600" cy="4775014"/>
          </a:xfrm>
          <a:prstGeom prst="rect">
            <a:avLst/>
          </a:prstGeom>
        </p:spPr>
      </p:pic>
      <p:sp>
        <p:nvSpPr>
          <p:cNvPr id="5" name="TextBox 4"/>
          <p:cNvSpPr txBox="1"/>
          <p:nvPr/>
        </p:nvSpPr>
        <p:spPr>
          <a:xfrm>
            <a:off x="685800" y="5989320"/>
            <a:ext cx="10881360" cy="731520"/>
          </a:xfrm>
          <a:prstGeom prst="rect">
            <a:avLst/>
          </a:prstGeom>
          <a:noFill/>
        </p:spPr>
        <p:txBody>
          <a:bodyPr wrap="square">
            <a:spAutoFit/>
          </a:bodyPr>
          <a:lstStyle/>
          <a:p>
            <a:pPr algn="l">
              <a:lnSpc>
                <a:spcPct val="115000"/>
              </a:lnSpc>
            </a:pPr>
            <a:r>
              <a:rPr sz="1150" b="0">
                <a:solidFill>
                  <a:srgbClr val="1A1A1A"/>
                </a:solidFill>
                <a:latin typeface="Georgia"/>
              </a:rPr>
              <a:t>Left: the frame, with the regions being tracked. Right: the flow actually returned, computed only inside those</a:t>
            </a:r>
          </a:p>
          <a:p>
            <a:pPr algn="l">
              <a:lnSpc>
                <a:spcPct val="115000"/>
              </a:lnSpc>
            </a:pPr>
            <a:r>
              <a:rPr sz="1150" b="0">
                <a:solidFill>
                  <a:srgbClr val="1A1A1A"/>
                </a:solidFill>
                <a:latin typeface="Georgia"/>
              </a:rPr>
              <a:t>regions. Same geometry as the measurements that follow, on held-out VKITTI2 driving sequences.</a:t>
            </a:r>
          </a:p>
        </p:txBody>
      </p:sp>
      <p:sp>
        <p:nvSpPr>
          <p:cNvPr id="6" name="TextBox 5"/>
          <p:cNvSpPr txBox="1"/>
          <p:nvPr/>
        </p:nvSpPr>
        <p:spPr>
          <a:xfrm>
            <a:off x="685800" y="6419088"/>
            <a:ext cx="7315200" cy="274320"/>
          </a:xfrm>
          <a:prstGeom prst="rect">
            <a:avLst/>
          </a:prstGeom>
          <a:noFill/>
        </p:spPr>
        <p:txBody>
          <a:bodyPr wrap="square">
            <a:spAutoFit/>
          </a:bodyPr>
          <a:lstStyle/>
          <a:p>
            <a:pPr algn="l">
              <a:lnSpc>
                <a:spcPct val="100000"/>
              </a:lnSpc>
            </a:pPr>
            <a:r>
              <a:rPr sz="900" b="0">
                <a:solidFill>
                  <a:srgbClr val="8A8A8A"/>
                </a:solidFill>
                <a:latin typeface="Georgia"/>
              </a:rPr>
              <a:t>NeuFlow v3, S. Raghav Srinivasan</a:t>
            </a:r>
          </a:p>
        </p:txBody>
      </p:sp>
      <p:sp>
        <p:nvSpPr>
          <p:cNvPr id="7" name="TextBox 6"/>
          <p:cNvSpPr txBox="1"/>
          <p:nvPr/>
        </p:nvSpPr>
        <p:spPr>
          <a:xfrm>
            <a:off x="10607040" y="6419088"/>
            <a:ext cx="1097280" cy="274320"/>
          </a:xfrm>
          <a:prstGeom prst="rect">
            <a:avLst/>
          </a:prstGeom>
          <a:noFill/>
        </p:spPr>
        <p:txBody>
          <a:bodyPr wrap="square">
            <a:spAutoFit/>
          </a:bodyPr>
          <a:lstStyle/>
          <a:p>
            <a:pPr algn="l">
              <a:lnSpc>
                <a:spcPct val="100000"/>
              </a:lnSpc>
            </a:pPr>
            <a:r>
              <a:rPr sz="900" b="0">
                <a:solidFill>
                  <a:srgbClr val="8A8A8A"/>
                </a:solidFill>
                <a:latin typeface="Georgia"/>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384048"/>
            <a:ext cx="10515600" cy="274320"/>
          </a:xfrm>
          <a:prstGeom prst="rect">
            <a:avLst/>
          </a:prstGeom>
          <a:noFill/>
        </p:spPr>
        <p:txBody>
          <a:bodyPr wrap="square">
            <a:spAutoFit/>
          </a:bodyPr>
          <a:lstStyle/>
          <a:p>
            <a:pPr algn="l">
              <a:lnSpc>
                <a:spcPct val="100000"/>
              </a:lnSpc>
            </a:pPr>
            <a:r>
              <a:rPr sz="1050" b="1">
                <a:solidFill>
                  <a:srgbClr val="333333"/>
                </a:solidFill>
                <a:latin typeface="Georgia"/>
              </a:rPr>
              <a:t>RESULTS</a:t>
            </a:r>
          </a:p>
        </p:txBody>
      </p:sp>
      <p:sp>
        <p:nvSpPr>
          <p:cNvPr id="3" name="TextBox 2"/>
          <p:cNvSpPr txBox="1"/>
          <p:nvPr/>
        </p:nvSpPr>
        <p:spPr>
          <a:xfrm>
            <a:off x="667512" y="658368"/>
            <a:ext cx="10881360" cy="731520"/>
          </a:xfrm>
          <a:prstGeom prst="rect">
            <a:avLst/>
          </a:prstGeom>
          <a:noFill/>
        </p:spPr>
        <p:txBody>
          <a:bodyPr wrap="square">
            <a:spAutoFit/>
          </a:bodyPr>
          <a:lstStyle/>
          <a:p>
            <a:pPr algn="l">
              <a:lnSpc>
                <a:spcPct val="100000"/>
              </a:lnSpc>
            </a:pPr>
            <a:r>
              <a:rPr sz="2400" b="1">
                <a:solidFill>
                  <a:srgbClr val="1A1A1A"/>
                </a:solidFill>
                <a:latin typeface="Georgia"/>
              </a:rPr>
              <a:t>Flowing a region instead of the frame: 4.4x for 0.034 px</a:t>
            </a:r>
          </a:p>
        </p:txBody>
      </p:sp>
      <p:sp>
        <p:nvSpPr>
          <p:cNvPr id="4" name="TextBox 3"/>
          <p:cNvSpPr txBox="1"/>
          <p:nvPr/>
        </p:nvSpPr>
        <p:spPr>
          <a:xfrm>
            <a:off x="685800" y="1600200"/>
            <a:ext cx="3200400" cy="237744"/>
          </a:xfrm>
          <a:prstGeom prst="rect">
            <a:avLst/>
          </a:prstGeom>
          <a:noFill/>
        </p:spPr>
        <p:txBody>
          <a:bodyPr wrap="square">
            <a:spAutoFit/>
          </a:bodyPr>
          <a:lstStyle/>
          <a:p>
            <a:pPr algn="l">
              <a:lnSpc>
                <a:spcPct val="100000"/>
              </a:lnSpc>
            </a:pPr>
            <a:r>
              <a:rPr sz="1250" b="1">
                <a:solidFill>
                  <a:srgbClr val="1A1A1A"/>
                </a:solidFill>
                <a:latin typeface="Georgia"/>
              </a:rPr>
              <a:t>Region processed</a:t>
            </a:r>
          </a:p>
        </p:txBody>
      </p:sp>
      <p:sp>
        <p:nvSpPr>
          <p:cNvPr id="5" name="TextBox 4"/>
          <p:cNvSpPr txBox="1"/>
          <p:nvPr/>
        </p:nvSpPr>
        <p:spPr>
          <a:xfrm>
            <a:off x="3886200" y="1600200"/>
            <a:ext cx="1280160" cy="237744"/>
          </a:xfrm>
          <a:prstGeom prst="rect">
            <a:avLst/>
          </a:prstGeom>
          <a:noFill/>
        </p:spPr>
        <p:txBody>
          <a:bodyPr wrap="square">
            <a:spAutoFit/>
          </a:bodyPr>
          <a:lstStyle/>
          <a:p>
            <a:pPr algn="r">
              <a:lnSpc>
                <a:spcPct val="100000"/>
              </a:lnSpc>
            </a:pPr>
            <a:r>
              <a:rPr sz="1250" b="1">
                <a:solidFill>
                  <a:srgbClr val="1A1A1A"/>
                </a:solidFill>
                <a:latin typeface="Georgia"/>
              </a:rPr>
              <a:t>Area</a:t>
            </a:r>
          </a:p>
        </p:txBody>
      </p:sp>
      <p:sp>
        <p:nvSpPr>
          <p:cNvPr id="6" name="TextBox 5"/>
          <p:cNvSpPr txBox="1"/>
          <p:nvPr/>
        </p:nvSpPr>
        <p:spPr>
          <a:xfrm>
            <a:off x="5166360" y="1600200"/>
            <a:ext cx="1371600" cy="237744"/>
          </a:xfrm>
          <a:prstGeom prst="rect">
            <a:avLst/>
          </a:prstGeom>
          <a:noFill/>
        </p:spPr>
        <p:txBody>
          <a:bodyPr wrap="square">
            <a:spAutoFit/>
          </a:bodyPr>
          <a:lstStyle/>
          <a:p>
            <a:pPr algn="r">
              <a:lnSpc>
                <a:spcPct val="100000"/>
              </a:lnSpc>
            </a:pPr>
            <a:r>
              <a:rPr sz="1250" b="1">
                <a:solidFill>
                  <a:srgbClr val="1A1A1A"/>
                </a:solidFill>
                <a:latin typeface="Georgia"/>
              </a:rPr>
              <a:t>Latency</a:t>
            </a:r>
          </a:p>
        </p:txBody>
      </p:sp>
      <p:sp>
        <p:nvSpPr>
          <p:cNvPr id="7" name="TextBox 6"/>
          <p:cNvSpPr txBox="1"/>
          <p:nvPr/>
        </p:nvSpPr>
        <p:spPr>
          <a:xfrm>
            <a:off x="6537960" y="1600200"/>
            <a:ext cx="1280160" cy="237744"/>
          </a:xfrm>
          <a:prstGeom prst="rect">
            <a:avLst/>
          </a:prstGeom>
          <a:noFill/>
        </p:spPr>
        <p:txBody>
          <a:bodyPr wrap="square">
            <a:spAutoFit/>
          </a:bodyPr>
          <a:lstStyle/>
          <a:p>
            <a:pPr algn="r">
              <a:lnSpc>
                <a:spcPct val="100000"/>
              </a:lnSpc>
            </a:pPr>
            <a:r>
              <a:rPr sz="1250" b="1">
                <a:solidFill>
                  <a:srgbClr val="1A1A1A"/>
                </a:solidFill>
                <a:latin typeface="Georgia"/>
              </a:rPr>
              <a:t>Speedup</a:t>
            </a:r>
          </a:p>
        </p:txBody>
      </p:sp>
      <p:sp>
        <p:nvSpPr>
          <p:cNvPr id="8" name="TextBox 7"/>
          <p:cNvSpPr txBox="1"/>
          <p:nvPr/>
        </p:nvSpPr>
        <p:spPr>
          <a:xfrm>
            <a:off x="7818120" y="1600200"/>
            <a:ext cx="1554480" cy="237744"/>
          </a:xfrm>
          <a:prstGeom prst="rect">
            <a:avLst/>
          </a:prstGeom>
          <a:noFill/>
        </p:spPr>
        <p:txBody>
          <a:bodyPr wrap="square">
            <a:spAutoFit/>
          </a:bodyPr>
          <a:lstStyle/>
          <a:p>
            <a:pPr algn="r">
              <a:lnSpc>
                <a:spcPct val="100000"/>
              </a:lnSpc>
            </a:pPr>
            <a:r>
              <a:rPr sz="1250" b="1">
                <a:solidFill>
                  <a:srgbClr val="1A1A1A"/>
                </a:solidFill>
                <a:latin typeface="Georgia"/>
              </a:rPr>
              <a:t>EPE in region</a:t>
            </a:r>
          </a:p>
        </p:txBody>
      </p:sp>
      <p:sp>
        <p:nvSpPr>
          <p:cNvPr id="9" name="Rectangle 8"/>
          <p:cNvSpPr/>
          <p:nvPr/>
        </p:nvSpPr>
        <p:spPr>
          <a:xfrm>
            <a:off x="685800" y="1837943"/>
            <a:ext cx="8686800" cy="9525"/>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1874519"/>
            <a:ext cx="3200400" cy="237744"/>
          </a:xfrm>
          <a:prstGeom prst="rect">
            <a:avLst/>
          </a:prstGeom>
          <a:noFill/>
        </p:spPr>
        <p:txBody>
          <a:bodyPr wrap="square">
            <a:spAutoFit/>
          </a:bodyPr>
          <a:lstStyle/>
          <a:p>
            <a:pPr algn="l">
              <a:lnSpc>
                <a:spcPct val="100000"/>
              </a:lnSpc>
            </a:pPr>
            <a:r>
              <a:rPr sz="1250" b="0">
                <a:solidFill>
                  <a:srgbClr val="1A1A1A"/>
                </a:solidFill>
                <a:latin typeface="Georgia"/>
              </a:rPr>
              <a:t>Full frame</a:t>
            </a:r>
          </a:p>
        </p:txBody>
      </p:sp>
      <p:sp>
        <p:nvSpPr>
          <p:cNvPr id="11" name="TextBox 10"/>
          <p:cNvSpPr txBox="1"/>
          <p:nvPr/>
        </p:nvSpPr>
        <p:spPr>
          <a:xfrm>
            <a:off x="3886200" y="1874519"/>
            <a:ext cx="1280160" cy="237744"/>
          </a:xfrm>
          <a:prstGeom prst="rect">
            <a:avLst/>
          </a:prstGeom>
          <a:noFill/>
        </p:spPr>
        <p:txBody>
          <a:bodyPr wrap="square">
            <a:spAutoFit/>
          </a:bodyPr>
          <a:lstStyle/>
          <a:p>
            <a:pPr algn="r">
              <a:lnSpc>
                <a:spcPct val="100000"/>
              </a:lnSpc>
            </a:pPr>
            <a:r>
              <a:rPr sz="1250" b="0">
                <a:solidFill>
                  <a:srgbClr val="1A1A1A"/>
                </a:solidFill>
                <a:latin typeface="Georgia"/>
              </a:rPr>
              <a:t>100%</a:t>
            </a:r>
          </a:p>
        </p:txBody>
      </p:sp>
      <p:sp>
        <p:nvSpPr>
          <p:cNvPr id="12" name="TextBox 11"/>
          <p:cNvSpPr txBox="1"/>
          <p:nvPr/>
        </p:nvSpPr>
        <p:spPr>
          <a:xfrm>
            <a:off x="5166360" y="1874519"/>
            <a:ext cx="1371600" cy="237744"/>
          </a:xfrm>
          <a:prstGeom prst="rect">
            <a:avLst/>
          </a:prstGeom>
          <a:noFill/>
        </p:spPr>
        <p:txBody>
          <a:bodyPr wrap="square">
            <a:spAutoFit/>
          </a:bodyPr>
          <a:lstStyle/>
          <a:p>
            <a:pPr algn="r">
              <a:lnSpc>
                <a:spcPct val="100000"/>
              </a:lnSpc>
            </a:pPr>
            <a:r>
              <a:rPr sz="1250" b="0">
                <a:solidFill>
                  <a:srgbClr val="1A1A1A"/>
                </a:solidFill>
                <a:latin typeface="Georgia"/>
              </a:rPr>
              <a:t>33.3 ms</a:t>
            </a:r>
          </a:p>
        </p:txBody>
      </p:sp>
      <p:sp>
        <p:nvSpPr>
          <p:cNvPr id="13" name="TextBox 12"/>
          <p:cNvSpPr txBox="1"/>
          <p:nvPr/>
        </p:nvSpPr>
        <p:spPr>
          <a:xfrm>
            <a:off x="6537960" y="1874519"/>
            <a:ext cx="1280160" cy="237744"/>
          </a:xfrm>
          <a:prstGeom prst="rect">
            <a:avLst/>
          </a:prstGeom>
          <a:noFill/>
        </p:spPr>
        <p:txBody>
          <a:bodyPr wrap="square">
            <a:spAutoFit/>
          </a:bodyPr>
          <a:lstStyle/>
          <a:p>
            <a:pPr algn="r">
              <a:lnSpc>
                <a:spcPct val="100000"/>
              </a:lnSpc>
            </a:pPr>
            <a:r>
              <a:rPr sz="1250" b="0">
                <a:solidFill>
                  <a:srgbClr val="1A1A1A"/>
                </a:solidFill>
                <a:latin typeface="Georgia"/>
              </a:rPr>
              <a:t>1.0x</a:t>
            </a:r>
          </a:p>
        </p:txBody>
      </p:sp>
      <p:sp>
        <p:nvSpPr>
          <p:cNvPr id="14" name="TextBox 13"/>
          <p:cNvSpPr txBox="1"/>
          <p:nvPr/>
        </p:nvSpPr>
        <p:spPr>
          <a:xfrm>
            <a:off x="7818120" y="1874519"/>
            <a:ext cx="1554480" cy="237744"/>
          </a:xfrm>
          <a:prstGeom prst="rect">
            <a:avLst/>
          </a:prstGeom>
          <a:noFill/>
        </p:spPr>
        <p:txBody>
          <a:bodyPr wrap="square">
            <a:spAutoFit/>
          </a:bodyPr>
          <a:lstStyle/>
          <a:p>
            <a:pPr algn="r">
              <a:lnSpc>
                <a:spcPct val="100000"/>
              </a:lnSpc>
            </a:pPr>
            <a:r>
              <a:rPr sz="1250" b="0">
                <a:solidFill>
                  <a:srgbClr val="1A1A1A"/>
                </a:solidFill>
                <a:latin typeface="Georgia"/>
              </a:rPr>
              <a:t>0.657</a:t>
            </a:r>
          </a:p>
        </p:txBody>
      </p:sp>
      <p:sp>
        <p:nvSpPr>
          <p:cNvPr id="15" name="TextBox 14"/>
          <p:cNvSpPr txBox="1"/>
          <p:nvPr/>
        </p:nvSpPr>
        <p:spPr>
          <a:xfrm>
            <a:off x="685800" y="2148839"/>
            <a:ext cx="3200400" cy="237744"/>
          </a:xfrm>
          <a:prstGeom prst="rect">
            <a:avLst/>
          </a:prstGeom>
          <a:noFill/>
        </p:spPr>
        <p:txBody>
          <a:bodyPr wrap="square">
            <a:spAutoFit/>
          </a:bodyPr>
          <a:lstStyle/>
          <a:p>
            <a:pPr algn="l">
              <a:lnSpc>
                <a:spcPct val="100000"/>
              </a:lnSpc>
            </a:pPr>
            <a:r>
              <a:rPr sz="1250" b="0">
                <a:solidFill>
                  <a:srgbClr val="1A1A1A"/>
                </a:solidFill>
                <a:latin typeface="Georgia"/>
              </a:rPr>
              <a:t>Region, no margin</a:t>
            </a:r>
          </a:p>
        </p:txBody>
      </p:sp>
      <p:sp>
        <p:nvSpPr>
          <p:cNvPr id="16" name="TextBox 15"/>
          <p:cNvSpPr txBox="1"/>
          <p:nvPr/>
        </p:nvSpPr>
        <p:spPr>
          <a:xfrm>
            <a:off x="3886200" y="2148839"/>
            <a:ext cx="1280160" cy="237744"/>
          </a:xfrm>
          <a:prstGeom prst="rect">
            <a:avLst/>
          </a:prstGeom>
          <a:noFill/>
        </p:spPr>
        <p:txBody>
          <a:bodyPr wrap="square">
            <a:spAutoFit/>
          </a:bodyPr>
          <a:lstStyle/>
          <a:p>
            <a:pPr algn="r">
              <a:lnSpc>
                <a:spcPct val="100000"/>
              </a:lnSpc>
            </a:pPr>
            <a:r>
              <a:rPr sz="1250" b="0">
                <a:solidFill>
                  <a:srgbClr val="1A1A1A"/>
                </a:solidFill>
                <a:latin typeface="Georgia"/>
              </a:rPr>
              <a:t>7.9%</a:t>
            </a:r>
          </a:p>
        </p:txBody>
      </p:sp>
      <p:sp>
        <p:nvSpPr>
          <p:cNvPr id="17" name="TextBox 16"/>
          <p:cNvSpPr txBox="1"/>
          <p:nvPr/>
        </p:nvSpPr>
        <p:spPr>
          <a:xfrm>
            <a:off x="5166360" y="2148839"/>
            <a:ext cx="1371600" cy="237744"/>
          </a:xfrm>
          <a:prstGeom prst="rect">
            <a:avLst/>
          </a:prstGeom>
          <a:noFill/>
        </p:spPr>
        <p:txBody>
          <a:bodyPr wrap="square">
            <a:spAutoFit/>
          </a:bodyPr>
          <a:lstStyle/>
          <a:p>
            <a:pPr algn="r">
              <a:lnSpc>
                <a:spcPct val="100000"/>
              </a:lnSpc>
            </a:pPr>
            <a:r>
              <a:rPr sz="1250" b="0">
                <a:solidFill>
                  <a:srgbClr val="1A1A1A"/>
                </a:solidFill>
                <a:latin typeface="Georgia"/>
              </a:rPr>
              <a:t>7.8 ms</a:t>
            </a:r>
          </a:p>
        </p:txBody>
      </p:sp>
      <p:sp>
        <p:nvSpPr>
          <p:cNvPr id="18" name="TextBox 17"/>
          <p:cNvSpPr txBox="1"/>
          <p:nvPr/>
        </p:nvSpPr>
        <p:spPr>
          <a:xfrm>
            <a:off x="6537960" y="2148839"/>
            <a:ext cx="1280160" cy="237744"/>
          </a:xfrm>
          <a:prstGeom prst="rect">
            <a:avLst/>
          </a:prstGeom>
          <a:noFill/>
        </p:spPr>
        <p:txBody>
          <a:bodyPr wrap="square">
            <a:spAutoFit/>
          </a:bodyPr>
          <a:lstStyle/>
          <a:p>
            <a:pPr algn="r">
              <a:lnSpc>
                <a:spcPct val="100000"/>
              </a:lnSpc>
            </a:pPr>
            <a:r>
              <a:rPr sz="1250" b="0">
                <a:solidFill>
                  <a:srgbClr val="1A1A1A"/>
                </a:solidFill>
                <a:latin typeface="Georgia"/>
              </a:rPr>
              <a:t>4.3x</a:t>
            </a:r>
          </a:p>
        </p:txBody>
      </p:sp>
      <p:sp>
        <p:nvSpPr>
          <p:cNvPr id="19" name="TextBox 18"/>
          <p:cNvSpPr txBox="1"/>
          <p:nvPr/>
        </p:nvSpPr>
        <p:spPr>
          <a:xfrm>
            <a:off x="7818120" y="2148839"/>
            <a:ext cx="1554480" cy="237744"/>
          </a:xfrm>
          <a:prstGeom prst="rect">
            <a:avLst/>
          </a:prstGeom>
          <a:noFill/>
        </p:spPr>
        <p:txBody>
          <a:bodyPr wrap="square">
            <a:spAutoFit/>
          </a:bodyPr>
          <a:lstStyle/>
          <a:p>
            <a:pPr algn="r">
              <a:lnSpc>
                <a:spcPct val="100000"/>
              </a:lnSpc>
            </a:pPr>
            <a:r>
              <a:rPr sz="1250" b="0">
                <a:solidFill>
                  <a:srgbClr val="1A1A1A"/>
                </a:solidFill>
                <a:latin typeface="Georgia"/>
              </a:rPr>
              <a:t>1.089</a:t>
            </a:r>
          </a:p>
        </p:txBody>
      </p:sp>
      <p:sp>
        <p:nvSpPr>
          <p:cNvPr id="20" name="TextBox 19"/>
          <p:cNvSpPr txBox="1"/>
          <p:nvPr/>
        </p:nvSpPr>
        <p:spPr>
          <a:xfrm>
            <a:off x="685800" y="2423159"/>
            <a:ext cx="3200400" cy="237744"/>
          </a:xfrm>
          <a:prstGeom prst="rect">
            <a:avLst/>
          </a:prstGeom>
          <a:noFill/>
        </p:spPr>
        <p:txBody>
          <a:bodyPr wrap="square">
            <a:spAutoFit/>
          </a:bodyPr>
          <a:lstStyle/>
          <a:p>
            <a:pPr algn="l">
              <a:lnSpc>
                <a:spcPct val="100000"/>
              </a:lnSpc>
            </a:pPr>
            <a:r>
              <a:rPr sz="1250" b="1">
                <a:solidFill>
                  <a:srgbClr val="0B6A63"/>
                </a:solidFill>
                <a:latin typeface="Georgia"/>
              </a:rPr>
              <a:t>Region + 32 px margin</a:t>
            </a:r>
          </a:p>
        </p:txBody>
      </p:sp>
      <p:sp>
        <p:nvSpPr>
          <p:cNvPr id="21" name="TextBox 20"/>
          <p:cNvSpPr txBox="1"/>
          <p:nvPr/>
        </p:nvSpPr>
        <p:spPr>
          <a:xfrm>
            <a:off x="3886200" y="2423159"/>
            <a:ext cx="1280160" cy="237744"/>
          </a:xfrm>
          <a:prstGeom prst="rect">
            <a:avLst/>
          </a:prstGeom>
          <a:noFill/>
        </p:spPr>
        <p:txBody>
          <a:bodyPr wrap="square">
            <a:spAutoFit/>
          </a:bodyPr>
          <a:lstStyle/>
          <a:p>
            <a:pPr algn="r">
              <a:lnSpc>
                <a:spcPct val="100000"/>
              </a:lnSpc>
            </a:pPr>
            <a:r>
              <a:rPr sz="1250" b="1">
                <a:solidFill>
                  <a:srgbClr val="0B6A63"/>
                </a:solidFill>
                <a:latin typeface="Georgia"/>
              </a:rPr>
              <a:t>13.8%</a:t>
            </a:r>
          </a:p>
        </p:txBody>
      </p:sp>
      <p:sp>
        <p:nvSpPr>
          <p:cNvPr id="22" name="TextBox 21"/>
          <p:cNvSpPr txBox="1"/>
          <p:nvPr/>
        </p:nvSpPr>
        <p:spPr>
          <a:xfrm>
            <a:off x="5166360" y="2423159"/>
            <a:ext cx="1371600" cy="237744"/>
          </a:xfrm>
          <a:prstGeom prst="rect">
            <a:avLst/>
          </a:prstGeom>
          <a:noFill/>
        </p:spPr>
        <p:txBody>
          <a:bodyPr wrap="square">
            <a:spAutoFit/>
          </a:bodyPr>
          <a:lstStyle/>
          <a:p>
            <a:pPr algn="r">
              <a:lnSpc>
                <a:spcPct val="100000"/>
              </a:lnSpc>
            </a:pPr>
            <a:r>
              <a:rPr sz="1250" b="1">
                <a:solidFill>
                  <a:srgbClr val="0B6A63"/>
                </a:solidFill>
                <a:latin typeface="Georgia"/>
              </a:rPr>
              <a:t>7.6 ms</a:t>
            </a:r>
          </a:p>
        </p:txBody>
      </p:sp>
      <p:sp>
        <p:nvSpPr>
          <p:cNvPr id="23" name="TextBox 22"/>
          <p:cNvSpPr txBox="1"/>
          <p:nvPr/>
        </p:nvSpPr>
        <p:spPr>
          <a:xfrm>
            <a:off x="6537960" y="2423159"/>
            <a:ext cx="1280160" cy="237744"/>
          </a:xfrm>
          <a:prstGeom prst="rect">
            <a:avLst/>
          </a:prstGeom>
          <a:noFill/>
        </p:spPr>
        <p:txBody>
          <a:bodyPr wrap="square">
            <a:spAutoFit/>
          </a:bodyPr>
          <a:lstStyle/>
          <a:p>
            <a:pPr algn="r">
              <a:lnSpc>
                <a:spcPct val="100000"/>
              </a:lnSpc>
            </a:pPr>
            <a:r>
              <a:rPr sz="1250" b="1">
                <a:solidFill>
                  <a:srgbClr val="0B6A63"/>
                </a:solidFill>
                <a:latin typeface="Georgia"/>
              </a:rPr>
              <a:t>4.4x</a:t>
            </a:r>
          </a:p>
        </p:txBody>
      </p:sp>
      <p:sp>
        <p:nvSpPr>
          <p:cNvPr id="24" name="TextBox 23"/>
          <p:cNvSpPr txBox="1"/>
          <p:nvPr/>
        </p:nvSpPr>
        <p:spPr>
          <a:xfrm>
            <a:off x="7818120" y="2423159"/>
            <a:ext cx="1554480" cy="237744"/>
          </a:xfrm>
          <a:prstGeom prst="rect">
            <a:avLst/>
          </a:prstGeom>
          <a:noFill/>
        </p:spPr>
        <p:txBody>
          <a:bodyPr wrap="square">
            <a:spAutoFit/>
          </a:bodyPr>
          <a:lstStyle/>
          <a:p>
            <a:pPr algn="r">
              <a:lnSpc>
                <a:spcPct val="100000"/>
              </a:lnSpc>
            </a:pPr>
            <a:r>
              <a:rPr sz="1250" b="1">
                <a:solidFill>
                  <a:srgbClr val="0B6A63"/>
                </a:solidFill>
                <a:latin typeface="Georgia"/>
              </a:rPr>
              <a:t>0.691</a:t>
            </a:r>
          </a:p>
        </p:txBody>
      </p:sp>
      <p:sp>
        <p:nvSpPr>
          <p:cNvPr id="25" name="TextBox 24"/>
          <p:cNvSpPr txBox="1"/>
          <p:nvPr/>
        </p:nvSpPr>
        <p:spPr>
          <a:xfrm>
            <a:off x="685800" y="2697479"/>
            <a:ext cx="3200400" cy="237744"/>
          </a:xfrm>
          <a:prstGeom prst="rect">
            <a:avLst/>
          </a:prstGeom>
          <a:noFill/>
        </p:spPr>
        <p:txBody>
          <a:bodyPr wrap="square">
            <a:spAutoFit/>
          </a:bodyPr>
          <a:lstStyle/>
          <a:p>
            <a:pPr algn="l">
              <a:lnSpc>
                <a:spcPct val="100000"/>
              </a:lnSpc>
            </a:pPr>
            <a:r>
              <a:rPr sz="1250" b="0">
                <a:solidFill>
                  <a:srgbClr val="1A1A1A"/>
                </a:solidFill>
                <a:latin typeface="Georgia"/>
              </a:rPr>
              <a:t>Region + 64 px margin</a:t>
            </a:r>
          </a:p>
        </p:txBody>
      </p:sp>
      <p:sp>
        <p:nvSpPr>
          <p:cNvPr id="26" name="TextBox 25"/>
          <p:cNvSpPr txBox="1"/>
          <p:nvPr/>
        </p:nvSpPr>
        <p:spPr>
          <a:xfrm>
            <a:off x="3886200" y="2697479"/>
            <a:ext cx="1280160" cy="237744"/>
          </a:xfrm>
          <a:prstGeom prst="rect">
            <a:avLst/>
          </a:prstGeom>
          <a:noFill/>
        </p:spPr>
        <p:txBody>
          <a:bodyPr wrap="square">
            <a:spAutoFit/>
          </a:bodyPr>
          <a:lstStyle/>
          <a:p>
            <a:pPr algn="r">
              <a:lnSpc>
                <a:spcPct val="100000"/>
              </a:lnSpc>
            </a:pPr>
            <a:r>
              <a:rPr sz="1250" b="0">
                <a:solidFill>
                  <a:srgbClr val="1A1A1A"/>
                </a:solidFill>
                <a:latin typeface="Georgia"/>
              </a:rPr>
              <a:t>20.1%</a:t>
            </a:r>
          </a:p>
        </p:txBody>
      </p:sp>
      <p:sp>
        <p:nvSpPr>
          <p:cNvPr id="27" name="TextBox 26"/>
          <p:cNvSpPr txBox="1"/>
          <p:nvPr/>
        </p:nvSpPr>
        <p:spPr>
          <a:xfrm>
            <a:off x="5166360" y="2697479"/>
            <a:ext cx="1371600" cy="237744"/>
          </a:xfrm>
          <a:prstGeom prst="rect">
            <a:avLst/>
          </a:prstGeom>
          <a:noFill/>
        </p:spPr>
        <p:txBody>
          <a:bodyPr wrap="square">
            <a:spAutoFit/>
          </a:bodyPr>
          <a:lstStyle/>
          <a:p>
            <a:pPr algn="r">
              <a:lnSpc>
                <a:spcPct val="100000"/>
              </a:lnSpc>
            </a:pPr>
            <a:r>
              <a:rPr sz="1250" b="0">
                <a:solidFill>
                  <a:srgbClr val="1A1A1A"/>
                </a:solidFill>
                <a:latin typeface="Georgia"/>
              </a:rPr>
              <a:t>8.1 ms</a:t>
            </a:r>
          </a:p>
        </p:txBody>
      </p:sp>
      <p:sp>
        <p:nvSpPr>
          <p:cNvPr id="28" name="TextBox 27"/>
          <p:cNvSpPr txBox="1"/>
          <p:nvPr/>
        </p:nvSpPr>
        <p:spPr>
          <a:xfrm>
            <a:off x="6537960" y="2697479"/>
            <a:ext cx="1280160" cy="237744"/>
          </a:xfrm>
          <a:prstGeom prst="rect">
            <a:avLst/>
          </a:prstGeom>
          <a:noFill/>
        </p:spPr>
        <p:txBody>
          <a:bodyPr wrap="square">
            <a:spAutoFit/>
          </a:bodyPr>
          <a:lstStyle/>
          <a:p>
            <a:pPr algn="r">
              <a:lnSpc>
                <a:spcPct val="100000"/>
              </a:lnSpc>
            </a:pPr>
            <a:r>
              <a:rPr sz="1250" b="0">
                <a:solidFill>
                  <a:srgbClr val="1A1A1A"/>
                </a:solidFill>
                <a:latin typeface="Georgia"/>
              </a:rPr>
              <a:t>4.1x</a:t>
            </a:r>
          </a:p>
        </p:txBody>
      </p:sp>
      <p:sp>
        <p:nvSpPr>
          <p:cNvPr id="29" name="TextBox 28"/>
          <p:cNvSpPr txBox="1"/>
          <p:nvPr/>
        </p:nvSpPr>
        <p:spPr>
          <a:xfrm>
            <a:off x="7818120" y="2697479"/>
            <a:ext cx="1554480" cy="237744"/>
          </a:xfrm>
          <a:prstGeom prst="rect">
            <a:avLst/>
          </a:prstGeom>
          <a:noFill/>
        </p:spPr>
        <p:txBody>
          <a:bodyPr wrap="square">
            <a:spAutoFit/>
          </a:bodyPr>
          <a:lstStyle/>
          <a:p>
            <a:pPr algn="r">
              <a:lnSpc>
                <a:spcPct val="100000"/>
              </a:lnSpc>
            </a:pPr>
            <a:r>
              <a:rPr sz="1250" b="0">
                <a:solidFill>
                  <a:srgbClr val="1A1A1A"/>
                </a:solidFill>
                <a:latin typeface="Georgia"/>
              </a:rPr>
              <a:t>0.667</a:t>
            </a:r>
          </a:p>
        </p:txBody>
      </p:sp>
      <p:sp>
        <p:nvSpPr>
          <p:cNvPr id="30" name="TextBox 29"/>
          <p:cNvSpPr txBox="1"/>
          <p:nvPr/>
        </p:nvSpPr>
        <p:spPr>
          <a:xfrm>
            <a:off x="685800" y="2971799"/>
            <a:ext cx="3200400" cy="237744"/>
          </a:xfrm>
          <a:prstGeom prst="rect">
            <a:avLst/>
          </a:prstGeom>
          <a:noFill/>
        </p:spPr>
        <p:txBody>
          <a:bodyPr wrap="square">
            <a:spAutoFit/>
          </a:bodyPr>
          <a:lstStyle/>
          <a:p>
            <a:pPr algn="l">
              <a:lnSpc>
                <a:spcPct val="100000"/>
              </a:lnSpc>
            </a:pPr>
            <a:r>
              <a:rPr sz="1250" b="0">
                <a:solidFill>
                  <a:srgbClr val="1A1A1A"/>
                </a:solidFill>
                <a:latin typeface="Georgia"/>
              </a:rPr>
              <a:t>Region + 128 px margin</a:t>
            </a:r>
          </a:p>
        </p:txBody>
      </p:sp>
      <p:sp>
        <p:nvSpPr>
          <p:cNvPr id="31" name="TextBox 30"/>
          <p:cNvSpPr txBox="1"/>
          <p:nvPr/>
        </p:nvSpPr>
        <p:spPr>
          <a:xfrm>
            <a:off x="3886200" y="2971799"/>
            <a:ext cx="1280160" cy="237744"/>
          </a:xfrm>
          <a:prstGeom prst="rect">
            <a:avLst/>
          </a:prstGeom>
          <a:noFill/>
        </p:spPr>
        <p:txBody>
          <a:bodyPr wrap="square">
            <a:spAutoFit/>
          </a:bodyPr>
          <a:lstStyle/>
          <a:p>
            <a:pPr algn="r">
              <a:lnSpc>
                <a:spcPct val="100000"/>
              </a:lnSpc>
            </a:pPr>
            <a:r>
              <a:rPr sz="1250" b="0">
                <a:solidFill>
                  <a:srgbClr val="1A1A1A"/>
                </a:solidFill>
                <a:latin typeface="Georgia"/>
              </a:rPr>
              <a:t>34.2%</a:t>
            </a:r>
          </a:p>
        </p:txBody>
      </p:sp>
      <p:sp>
        <p:nvSpPr>
          <p:cNvPr id="32" name="TextBox 31"/>
          <p:cNvSpPr txBox="1"/>
          <p:nvPr/>
        </p:nvSpPr>
        <p:spPr>
          <a:xfrm>
            <a:off x="5166360" y="2971799"/>
            <a:ext cx="1371600" cy="237744"/>
          </a:xfrm>
          <a:prstGeom prst="rect">
            <a:avLst/>
          </a:prstGeom>
          <a:noFill/>
        </p:spPr>
        <p:txBody>
          <a:bodyPr wrap="square">
            <a:spAutoFit/>
          </a:bodyPr>
          <a:lstStyle/>
          <a:p>
            <a:pPr algn="r">
              <a:lnSpc>
                <a:spcPct val="100000"/>
              </a:lnSpc>
            </a:pPr>
            <a:r>
              <a:rPr sz="1250" b="0">
                <a:solidFill>
                  <a:srgbClr val="1A1A1A"/>
                </a:solidFill>
                <a:latin typeface="Georgia"/>
              </a:rPr>
              <a:t>9.9 ms</a:t>
            </a:r>
          </a:p>
        </p:txBody>
      </p:sp>
      <p:sp>
        <p:nvSpPr>
          <p:cNvPr id="33" name="TextBox 32"/>
          <p:cNvSpPr txBox="1"/>
          <p:nvPr/>
        </p:nvSpPr>
        <p:spPr>
          <a:xfrm>
            <a:off x="6537960" y="2971799"/>
            <a:ext cx="1280160" cy="237744"/>
          </a:xfrm>
          <a:prstGeom prst="rect">
            <a:avLst/>
          </a:prstGeom>
          <a:noFill/>
        </p:spPr>
        <p:txBody>
          <a:bodyPr wrap="square">
            <a:spAutoFit/>
          </a:bodyPr>
          <a:lstStyle/>
          <a:p>
            <a:pPr algn="r">
              <a:lnSpc>
                <a:spcPct val="100000"/>
              </a:lnSpc>
            </a:pPr>
            <a:r>
              <a:rPr sz="1250" b="0">
                <a:solidFill>
                  <a:srgbClr val="1A1A1A"/>
                </a:solidFill>
                <a:latin typeface="Georgia"/>
              </a:rPr>
              <a:t>3.4x</a:t>
            </a:r>
          </a:p>
        </p:txBody>
      </p:sp>
      <p:sp>
        <p:nvSpPr>
          <p:cNvPr id="34" name="TextBox 33"/>
          <p:cNvSpPr txBox="1"/>
          <p:nvPr/>
        </p:nvSpPr>
        <p:spPr>
          <a:xfrm>
            <a:off x="7818120" y="2971799"/>
            <a:ext cx="1554480" cy="237744"/>
          </a:xfrm>
          <a:prstGeom prst="rect">
            <a:avLst/>
          </a:prstGeom>
          <a:noFill/>
        </p:spPr>
        <p:txBody>
          <a:bodyPr wrap="square">
            <a:spAutoFit/>
          </a:bodyPr>
          <a:lstStyle/>
          <a:p>
            <a:pPr algn="r">
              <a:lnSpc>
                <a:spcPct val="100000"/>
              </a:lnSpc>
            </a:pPr>
            <a:r>
              <a:rPr sz="1250" b="0">
                <a:solidFill>
                  <a:srgbClr val="1A1A1A"/>
                </a:solidFill>
                <a:latin typeface="Georgia"/>
              </a:rPr>
              <a:t>0.655</a:t>
            </a:r>
          </a:p>
        </p:txBody>
      </p:sp>
      <p:sp>
        <p:nvSpPr>
          <p:cNvPr id="35" name="TextBox 34"/>
          <p:cNvSpPr txBox="1"/>
          <p:nvPr/>
        </p:nvSpPr>
        <p:spPr>
          <a:xfrm>
            <a:off x="685800" y="3977639"/>
            <a:ext cx="6766560" cy="2011680"/>
          </a:xfrm>
          <a:prstGeom prst="rect">
            <a:avLst/>
          </a:prstGeom>
          <a:noFill/>
        </p:spPr>
        <p:txBody>
          <a:bodyPr wrap="square">
            <a:spAutoFit/>
          </a:bodyPr>
          <a:lstStyle/>
          <a:p>
            <a:pPr algn="l">
              <a:lnSpc>
                <a:spcPct val="118000"/>
              </a:lnSpc>
            </a:pPr>
            <a:r>
              <a:rPr sz="1200" b="0">
                <a:solidFill>
                  <a:srgbClr val="1A1A1A"/>
                </a:solidFill>
                <a:latin typeface="Georgia"/>
              </a:rPr>
              <a:t>Keeping full resolution and processing 14% of the frame costs 0.034 px.</a:t>
            </a:r>
          </a:p>
          <a:p>
            <a:pPr algn="l">
              <a:lnSpc>
                <a:spcPct val="118000"/>
              </a:lnSpc>
            </a:pPr>
            <a:r>
              <a:rPr sz="1200" b="0">
                <a:solidFill>
                  <a:srgbClr val="1A1A1A"/>
                </a:solidFill>
                <a:latin typeface="Georgia"/>
              </a:rPr>
              <a:t/>
            </a:r>
          </a:p>
          <a:p>
            <a:pPr algn="l">
              <a:lnSpc>
                <a:spcPct val="118000"/>
              </a:lnSpc>
            </a:pPr>
            <a:r>
              <a:rPr sz="1200" b="0">
                <a:solidFill>
                  <a:srgbClr val="1A1A1A"/>
                </a:solidFill>
                <a:latin typeface="Georgia"/>
              </a:rPr>
              <a:t>The margin is not optional. With none, error rises 65% and a quarter of</a:t>
            </a:r>
          </a:p>
          <a:p>
            <a:pPr algn="l">
              <a:lnSpc>
                <a:spcPct val="118000"/>
              </a:lnSpc>
            </a:pPr>
            <a:r>
              <a:rPr sz="1200" b="0">
                <a:solidFill>
                  <a:srgbClr val="1A1A1A"/>
                </a:solidFill>
                <a:latin typeface="Georgia"/>
              </a:rPr>
              <a:t>large-motion pixels fail outright, because global matching loses the</a:t>
            </a:r>
          </a:p>
          <a:p>
            <a:pPr algn="l">
              <a:lnSpc>
                <a:spcPct val="118000"/>
              </a:lnSpc>
            </a:pPr>
            <a:r>
              <a:rPr sz="1200" b="0">
                <a:solidFill>
                  <a:srgbClr val="1A1A1A"/>
                </a:solidFill>
                <a:latin typeface="Georgia"/>
              </a:rPr>
              <a:t>context it needs to find them. Past 32 px nothing improves.</a:t>
            </a:r>
          </a:p>
          <a:p>
            <a:pPr algn="l">
              <a:lnSpc>
                <a:spcPct val="118000"/>
              </a:lnSpc>
            </a:pPr>
            <a:r>
              <a:rPr sz="1200" b="0">
                <a:solidFill>
                  <a:srgbClr val="1A1A1A"/>
                </a:solidFill>
                <a:latin typeface="Georgia"/>
              </a:rPr>
              <a:t/>
            </a:r>
          </a:p>
          <a:p>
            <a:pPr algn="l">
              <a:lnSpc>
                <a:spcPct val="118000"/>
              </a:lnSpc>
            </a:pPr>
            <a:r>
              <a:rPr sz="1200" b="0">
                <a:solidFill>
                  <a:srgbClr val="1A1A1A"/>
                </a:solidFill>
                <a:latin typeface="Georgia"/>
              </a:rPr>
              <a:t>The margin has to cover roughly one frame of motion, which for a</a:t>
            </a:r>
          </a:p>
          <a:p>
            <a:pPr algn="l">
              <a:lnSpc>
                <a:spcPct val="118000"/>
              </a:lnSpc>
            </a:pPr>
            <a:r>
              <a:rPr sz="1200" b="0">
                <a:solidFill>
                  <a:srgbClr val="1A1A1A"/>
                </a:solidFill>
                <a:latin typeface="Georgia"/>
              </a:rPr>
              <a:t>platform is speed divided by frame rate. Mean motion here is 26.6 px</a:t>
            </a:r>
          </a:p>
          <a:p>
            <a:pPr algn="l">
              <a:lnSpc>
                <a:spcPct val="118000"/>
              </a:lnSpc>
            </a:pPr>
            <a:r>
              <a:rPr sz="1200" b="0">
                <a:solidFill>
                  <a:srgbClr val="1A1A1A"/>
                </a:solidFill>
                <a:latin typeface="Georgia"/>
              </a:rPr>
              <a:t>and the knee is at 32.</a:t>
            </a:r>
          </a:p>
        </p:txBody>
      </p:sp>
      <p:sp>
        <p:nvSpPr>
          <p:cNvPr id="36" name="Rounded Rectangle 35"/>
          <p:cNvSpPr/>
          <p:nvPr/>
        </p:nvSpPr>
        <p:spPr>
          <a:xfrm>
            <a:off x="7863840" y="4069080"/>
            <a:ext cx="3749039" cy="1371600"/>
          </a:xfrm>
          <a:prstGeom prst="roundRect">
            <a:avLst/>
          </a:prstGeom>
          <a:solidFill>
            <a:srgbClr val="EFEFEF"/>
          </a:solidFill>
          <a:ln w="952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150" b="0">
                <a:solidFill>
                  <a:srgbClr val="1A1A1A"/>
                </a:solidFill>
                <a:latin typeface="Georgia"/>
              </a:rPr>
              <a:t>Design rule</a:t>
            </a:r>
          </a:p>
          <a:p>
            <a:pPr algn="ctr"/>
            <a:r>
              <a:rPr sz="1150" b="0">
                <a:solidFill>
                  <a:srgbClr val="1A1A1A"/>
                </a:solidFill>
                <a:latin typeface="Georgia"/>
              </a:rPr>
              <a:t/>
            </a:r>
          </a:p>
          <a:p>
            <a:pPr algn="ctr"/>
            <a:r>
              <a:rPr sz="1150" b="0">
                <a:solidFill>
                  <a:srgbClr val="1A1A1A"/>
                </a:solidFill>
                <a:latin typeface="Georgia"/>
              </a:rPr>
              <a:t>margin  ~  expected motion</a:t>
            </a:r>
          </a:p>
          <a:p>
            <a:pPr algn="ctr"/>
            <a:r>
              <a:rPr sz="1150" b="0">
                <a:solidFill>
                  <a:srgbClr val="1A1A1A"/>
                </a:solidFill>
                <a:latin typeface="Georgia"/>
              </a:rPr>
              <a:t>~  speed / frame rate</a:t>
            </a:r>
          </a:p>
          <a:p>
            <a:pPr algn="ctr"/>
            <a:r>
              <a:rPr sz="1150" b="0">
                <a:solidFill>
                  <a:srgbClr val="1A1A1A"/>
                </a:solidFill>
                <a:latin typeface="Georgia"/>
              </a:rPr>
              <a:t/>
            </a:r>
          </a:p>
          <a:p>
            <a:pPr algn="ctr"/>
            <a:r>
              <a:rPr sz="1150" b="0">
                <a:solidFill>
                  <a:srgbClr val="1A1A1A"/>
                </a:solidFill>
                <a:latin typeface="Georgia"/>
              </a:rPr>
              <a:t>A faster platform needs a</a:t>
            </a:r>
          </a:p>
          <a:p>
            <a:pPr algn="ctr"/>
            <a:r>
              <a:rPr sz="1150" b="0">
                <a:solidFill>
                  <a:srgbClr val="1A1A1A"/>
                </a:solidFill>
                <a:latin typeface="Georgia"/>
              </a:rPr>
              <a:t>wider margin, and saves less.</a:t>
            </a:r>
          </a:p>
        </p:txBody>
      </p:sp>
      <p:sp>
        <p:nvSpPr>
          <p:cNvPr id="37" name="TextBox 36"/>
          <p:cNvSpPr txBox="1"/>
          <p:nvPr/>
        </p:nvSpPr>
        <p:spPr>
          <a:xfrm>
            <a:off x="685800" y="6172200"/>
            <a:ext cx="10881360" cy="320040"/>
          </a:xfrm>
          <a:prstGeom prst="rect">
            <a:avLst/>
          </a:prstGeom>
          <a:noFill/>
        </p:spPr>
        <p:txBody>
          <a:bodyPr wrap="square">
            <a:spAutoFit/>
          </a:bodyPr>
          <a:lstStyle/>
          <a:p>
            <a:pPr algn="l">
              <a:lnSpc>
                <a:spcPct val="100000"/>
              </a:lnSpc>
            </a:pPr>
            <a:r>
              <a:rPr sz="1000" b="0">
                <a:solidFill>
                  <a:srgbClr val="8A8A8A"/>
                </a:solidFill>
                <a:latin typeface="Georgia"/>
              </a:rPr>
              <a:t>RTX 4060 laptop, fp16, 375x1242, 40 held-out VKITTI2 pairs. Applies to any flow network, v2 included.</a:t>
            </a:r>
          </a:p>
        </p:txBody>
      </p:sp>
      <p:sp>
        <p:nvSpPr>
          <p:cNvPr id="38" name="TextBox 37"/>
          <p:cNvSpPr txBox="1"/>
          <p:nvPr/>
        </p:nvSpPr>
        <p:spPr>
          <a:xfrm>
            <a:off x="685800" y="6419088"/>
            <a:ext cx="7315200" cy="274320"/>
          </a:xfrm>
          <a:prstGeom prst="rect">
            <a:avLst/>
          </a:prstGeom>
          <a:noFill/>
        </p:spPr>
        <p:txBody>
          <a:bodyPr wrap="square">
            <a:spAutoFit/>
          </a:bodyPr>
          <a:lstStyle/>
          <a:p>
            <a:pPr algn="l">
              <a:lnSpc>
                <a:spcPct val="100000"/>
              </a:lnSpc>
            </a:pPr>
            <a:r>
              <a:rPr sz="900" b="0">
                <a:solidFill>
                  <a:srgbClr val="8A8A8A"/>
                </a:solidFill>
                <a:latin typeface="Georgia"/>
              </a:rPr>
              <a:t>NeuFlow v3, S. Raghav Srinivasan</a:t>
            </a:r>
          </a:p>
        </p:txBody>
      </p:sp>
      <p:sp>
        <p:nvSpPr>
          <p:cNvPr id="39" name="TextBox 38"/>
          <p:cNvSpPr txBox="1"/>
          <p:nvPr/>
        </p:nvSpPr>
        <p:spPr>
          <a:xfrm>
            <a:off x="10607040" y="6419088"/>
            <a:ext cx="1097280" cy="274320"/>
          </a:xfrm>
          <a:prstGeom prst="rect">
            <a:avLst/>
          </a:prstGeom>
          <a:noFill/>
        </p:spPr>
        <p:txBody>
          <a:bodyPr wrap="square">
            <a:spAutoFit/>
          </a:bodyPr>
          <a:lstStyle/>
          <a:p>
            <a:pPr algn="l">
              <a:lnSpc>
                <a:spcPct val="100000"/>
              </a:lnSpc>
            </a:pPr>
            <a:r>
              <a:rPr sz="900" b="0">
                <a:solidFill>
                  <a:srgbClr val="8A8A8A"/>
                </a:solidFill>
                <a:latin typeface="Georgia"/>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384048"/>
            <a:ext cx="10515600" cy="274320"/>
          </a:xfrm>
          <a:prstGeom prst="rect">
            <a:avLst/>
          </a:prstGeom>
          <a:noFill/>
        </p:spPr>
        <p:txBody>
          <a:bodyPr wrap="square">
            <a:spAutoFit/>
          </a:bodyPr>
          <a:lstStyle/>
          <a:p>
            <a:pPr algn="l">
              <a:lnSpc>
                <a:spcPct val="100000"/>
              </a:lnSpc>
            </a:pPr>
            <a:r>
              <a:rPr sz="1050" b="1">
                <a:solidFill>
                  <a:srgbClr val="333333"/>
                </a:solidFill>
                <a:latin typeface="Georgia"/>
              </a:rPr>
              <a:t>RESULTS</a:t>
            </a:r>
          </a:p>
        </p:txBody>
      </p:sp>
      <p:sp>
        <p:nvSpPr>
          <p:cNvPr id="3" name="TextBox 2"/>
          <p:cNvSpPr txBox="1"/>
          <p:nvPr/>
        </p:nvSpPr>
        <p:spPr>
          <a:xfrm>
            <a:off x="667512" y="658368"/>
            <a:ext cx="10881360" cy="731520"/>
          </a:xfrm>
          <a:prstGeom prst="rect">
            <a:avLst/>
          </a:prstGeom>
          <a:noFill/>
        </p:spPr>
        <p:txBody>
          <a:bodyPr wrap="square">
            <a:spAutoFit/>
          </a:bodyPr>
          <a:lstStyle/>
          <a:p>
            <a:pPr algn="l">
              <a:lnSpc>
                <a:spcPct val="100000"/>
              </a:lnSpc>
            </a:pPr>
            <a:r>
              <a:rPr sz="2400" b="1">
                <a:solidFill>
                  <a:srgbClr val="1A1A1A"/>
                </a:solidFill>
                <a:latin typeface="Georgia"/>
              </a:rPr>
              <a:t>The margin rule holds across two motion scales</a:t>
            </a:r>
          </a:p>
        </p:txBody>
      </p:sp>
      <p:pic>
        <p:nvPicPr>
          <p:cNvPr id="4" name="Picture 3" descr="margin_rule.png"/>
          <p:cNvPicPr>
            <a:picLocks noChangeAspect="1"/>
          </p:cNvPicPr>
          <p:nvPr/>
        </p:nvPicPr>
        <p:blipFill>
          <a:blip r:embed="rId2"/>
          <a:stretch>
            <a:fillRect/>
          </a:stretch>
        </p:blipFill>
        <p:spPr>
          <a:xfrm>
            <a:off x="960120" y="1463040"/>
            <a:ext cx="10241280" cy="4086196"/>
          </a:xfrm>
          <a:prstGeom prst="rect">
            <a:avLst/>
          </a:prstGeom>
        </p:spPr>
      </p:pic>
      <p:sp>
        <p:nvSpPr>
          <p:cNvPr id="5" name="TextBox 4"/>
          <p:cNvSpPr txBox="1"/>
          <p:nvPr/>
        </p:nvSpPr>
        <p:spPr>
          <a:xfrm>
            <a:off x="685800" y="5394960"/>
            <a:ext cx="10881360" cy="1005840"/>
          </a:xfrm>
          <a:prstGeom prst="rect">
            <a:avLst/>
          </a:prstGeom>
          <a:noFill/>
        </p:spPr>
        <p:txBody>
          <a:bodyPr wrap="square">
            <a:spAutoFit/>
          </a:bodyPr>
          <a:lstStyle/>
          <a:p>
            <a:pPr algn="l">
              <a:lnSpc>
                <a:spcPct val="115000"/>
              </a:lnSpc>
            </a:pPr>
            <a:r>
              <a:rPr sz="1150" b="0">
                <a:solidFill>
                  <a:srgbClr val="1A1A1A"/>
                </a:solidFill>
                <a:latin typeface="Georgia"/>
              </a:rPr>
              <a:t>Driving sequences average 26.6 px of motion and need about 32 px of margin. Aerial sequences average 9.26 px and</a:t>
            </a:r>
          </a:p>
          <a:p>
            <a:pPr algn="l">
              <a:lnSpc>
                <a:spcPct val="115000"/>
              </a:lnSpc>
            </a:pPr>
            <a:r>
              <a:rPr sz="1150" b="0">
                <a:solidFill>
                  <a:srgbClr val="1A1A1A"/>
                </a:solidFill>
                <a:latin typeface="Georgia"/>
              </a:rPr>
              <a:t>need about 8. Both start from the same 0.43 px penalty with no margin, and both have shed most of it by the point</a:t>
            </a:r>
          </a:p>
          <a:p>
            <a:pPr algn="l">
              <a:lnSpc>
                <a:spcPct val="115000"/>
              </a:lnSpc>
            </a:pPr>
            <a:r>
              <a:rPr sz="1150" b="0">
                <a:solidFill>
                  <a:srgbClr val="1A1A1A"/>
                </a:solidFill>
                <a:latin typeface="Georgia"/>
              </a:rPr>
              <a:t>where the margin equals one frame of motion. The requirement is set by displacement, not by image size, which</a:t>
            </a:r>
          </a:p>
          <a:p>
            <a:pPr algn="l">
              <a:lnSpc>
                <a:spcPct val="115000"/>
              </a:lnSpc>
            </a:pPr>
            <a:r>
              <a:rPr sz="1150" b="0">
                <a:solidFill>
                  <a:srgbClr val="1A1A1A"/>
                </a:solidFill>
                <a:latin typeface="Georgia"/>
              </a:rPr>
              <a:t>makes it predictable from platform speed and frame rate before any flow is computed.</a:t>
            </a:r>
          </a:p>
        </p:txBody>
      </p:sp>
      <p:sp>
        <p:nvSpPr>
          <p:cNvPr id="6" name="TextBox 5"/>
          <p:cNvSpPr txBox="1"/>
          <p:nvPr/>
        </p:nvSpPr>
        <p:spPr>
          <a:xfrm>
            <a:off x="685800" y="6419088"/>
            <a:ext cx="7315200" cy="274320"/>
          </a:xfrm>
          <a:prstGeom prst="rect">
            <a:avLst/>
          </a:prstGeom>
          <a:noFill/>
        </p:spPr>
        <p:txBody>
          <a:bodyPr wrap="square">
            <a:spAutoFit/>
          </a:bodyPr>
          <a:lstStyle/>
          <a:p>
            <a:pPr algn="l">
              <a:lnSpc>
                <a:spcPct val="100000"/>
              </a:lnSpc>
            </a:pPr>
            <a:r>
              <a:rPr sz="900" b="0">
                <a:solidFill>
                  <a:srgbClr val="8A8A8A"/>
                </a:solidFill>
                <a:latin typeface="Georgia"/>
              </a:rPr>
              <a:t>NeuFlow v3, S. Raghav Srinivasan</a:t>
            </a:r>
          </a:p>
        </p:txBody>
      </p:sp>
      <p:sp>
        <p:nvSpPr>
          <p:cNvPr id="7" name="TextBox 6"/>
          <p:cNvSpPr txBox="1"/>
          <p:nvPr/>
        </p:nvSpPr>
        <p:spPr>
          <a:xfrm>
            <a:off x="10607040" y="6419088"/>
            <a:ext cx="1097280" cy="274320"/>
          </a:xfrm>
          <a:prstGeom prst="rect">
            <a:avLst/>
          </a:prstGeom>
          <a:noFill/>
        </p:spPr>
        <p:txBody>
          <a:bodyPr wrap="square">
            <a:spAutoFit/>
          </a:bodyPr>
          <a:lstStyle/>
          <a:p>
            <a:pPr algn="l">
              <a:lnSpc>
                <a:spcPct val="100000"/>
              </a:lnSpc>
            </a:pPr>
            <a:r>
              <a:rPr sz="900" b="0">
                <a:solidFill>
                  <a:srgbClr val="8A8A8A"/>
                </a:solidFill>
                <a:latin typeface="Georgia"/>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384048"/>
            <a:ext cx="10515600" cy="274320"/>
          </a:xfrm>
          <a:prstGeom prst="rect">
            <a:avLst/>
          </a:prstGeom>
          <a:noFill/>
        </p:spPr>
        <p:txBody>
          <a:bodyPr wrap="square">
            <a:spAutoFit/>
          </a:bodyPr>
          <a:lstStyle/>
          <a:p>
            <a:pPr algn="l">
              <a:lnSpc>
                <a:spcPct val="100000"/>
              </a:lnSpc>
            </a:pPr>
            <a:r>
              <a:rPr sz="1050" b="1">
                <a:solidFill>
                  <a:srgbClr val="333333"/>
                </a:solidFill>
                <a:latin typeface="Georgia"/>
              </a:rPr>
              <a:t>RESULTS</a:t>
            </a:r>
          </a:p>
        </p:txBody>
      </p:sp>
      <p:sp>
        <p:nvSpPr>
          <p:cNvPr id="3" name="TextBox 2"/>
          <p:cNvSpPr txBox="1"/>
          <p:nvPr/>
        </p:nvSpPr>
        <p:spPr>
          <a:xfrm>
            <a:off x="667512" y="658368"/>
            <a:ext cx="10881360" cy="731520"/>
          </a:xfrm>
          <a:prstGeom prst="rect">
            <a:avLst/>
          </a:prstGeom>
          <a:noFill/>
        </p:spPr>
        <p:txBody>
          <a:bodyPr wrap="square">
            <a:spAutoFit/>
          </a:bodyPr>
          <a:lstStyle/>
          <a:p>
            <a:pPr algn="l">
              <a:lnSpc>
                <a:spcPct val="100000"/>
              </a:lnSpc>
            </a:pPr>
            <a:r>
              <a:rPr sz="2400" b="1">
                <a:solidFill>
                  <a:srgbClr val="1A1A1A"/>
                </a:solidFill>
                <a:latin typeface="Georgia"/>
              </a:rPr>
              <a:t>On a domain neither model was trained for, v3 edges ahead</a:t>
            </a:r>
          </a:p>
        </p:txBody>
      </p:sp>
      <p:pic>
        <p:nvPicPr>
          <p:cNvPr id="4" name="Picture 3" descr="scenarios_tartanair.png"/>
          <p:cNvPicPr>
            <a:picLocks noChangeAspect="1"/>
          </p:cNvPicPr>
          <p:nvPr/>
        </p:nvPicPr>
        <p:blipFill>
          <a:blip r:embed="rId2"/>
          <a:stretch>
            <a:fillRect/>
          </a:stretch>
        </p:blipFill>
        <p:spPr>
          <a:xfrm>
            <a:off x="640080" y="1417320"/>
            <a:ext cx="4779133" cy="4114800"/>
          </a:xfrm>
          <a:prstGeom prst="rect">
            <a:avLst/>
          </a:prstGeom>
        </p:spPr>
      </p:pic>
      <p:sp>
        <p:nvSpPr>
          <p:cNvPr id="5" name="TextBox 4"/>
          <p:cNvSpPr txBox="1"/>
          <p:nvPr/>
        </p:nvSpPr>
        <p:spPr>
          <a:xfrm>
            <a:off x="6309360" y="1600200"/>
            <a:ext cx="1920240" cy="237744"/>
          </a:xfrm>
          <a:prstGeom prst="rect">
            <a:avLst/>
          </a:prstGeom>
          <a:noFill/>
        </p:spPr>
        <p:txBody>
          <a:bodyPr wrap="square">
            <a:spAutoFit/>
          </a:bodyPr>
          <a:lstStyle/>
          <a:p>
            <a:pPr algn="l">
              <a:lnSpc>
                <a:spcPct val="100000"/>
              </a:lnSpc>
            </a:pPr>
            <a:r>
              <a:rPr sz="1150" b="1">
                <a:solidFill>
                  <a:srgbClr val="1A1A1A"/>
                </a:solidFill>
                <a:latin typeface="Georgia"/>
              </a:rPr>
              <a:t>Crop margin</a:t>
            </a:r>
          </a:p>
        </p:txBody>
      </p:sp>
      <p:sp>
        <p:nvSpPr>
          <p:cNvPr id="6" name="TextBox 5"/>
          <p:cNvSpPr txBox="1"/>
          <p:nvPr/>
        </p:nvSpPr>
        <p:spPr>
          <a:xfrm>
            <a:off x="8229600" y="1600200"/>
            <a:ext cx="1554480" cy="237744"/>
          </a:xfrm>
          <a:prstGeom prst="rect">
            <a:avLst/>
          </a:prstGeom>
          <a:noFill/>
        </p:spPr>
        <p:txBody>
          <a:bodyPr wrap="square">
            <a:spAutoFit/>
          </a:bodyPr>
          <a:lstStyle/>
          <a:p>
            <a:pPr algn="r">
              <a:lnSpc>
                <a:spcPct val="100000"/>
              </a:lnSpc>
            </a:pPr>
            <a:r>
              <a:rPr sz="1150" b="1">
                <a:solidFill>
                  <a:srgbClr val="1A1A1A"/>
                </a:solidFill>
                <a:latin typeface="Georgia"/>
              </a:rPr>
              <a:t>NeuFlow v2</a:t>
            </a:r>
          </a:p>
        </p:txBody>
      </p:sp>
      <p:sp>
        <p:nvSpPr>
          <p:cNvPr id="7" name="TextBox 6"/>
          <p:cNvSpPr txBox="1"/>
          <p:nvPr/>
        </p:nvSpPr>
        <p:spPr>
          <a:xfrm>
            <a:off x="9784080" y="1600200"/>
            <a:ext cx="1554480" cy="237744"/>
          </a:xfrm>
          <a:prstGeom prst="rect">
            <a:avLst/>
          </a:prstGeom>
          <a:noFill/>
        </p:spPr>
        <p:txBody>
          <a:bodyPr wrap="square">
            <a:spAutoFit/>
          </a:bodyPr>
          <a:lstStyle/>
          <a:p>
            <a:pPr algn="r">
              <a:lnSpc>
                <a:spcPct val="100000"/>
              </a:lnSpc>
            </a:pPr>
            <a:r>
              <a:rPr sz="1150" b="1">
                <a:solidFill>
                  <a:srgbClr val="1A1A1A"/>
                </a:solidFill>
                <a:latin typeface="Georgia"/>
              </a:rPr>
              <a:t>NeuFlow v3</a:t>
            </a:r>
          </a:p>
        </p:txBody>
      </p:sp>
      <p:sp>
        <p:nvSpPr>
          <p:cNvPr id="8" name="Rectangle 7"/>
          <p:cNvSpPr/>
          <p:nvPr/>
        </p:nvSpPr>
        <p:spPr>
          <a:xfrm>
            <a:off x="6309360" y="1837943"/>
            <a:ext cx="5029200" cy="9525"/>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09360" y="1874519"/>
            <a:ext cx="1920240" cy="237744"/>
          </a:xfrm>
          <a:prstGeom prst="rect">
            <a:avLst/>
          </a:prstGeom>
          <a:noFill/>
        </p:spPr>
        <p:txBody>
          <a:bodyPr wrap="square">
            <a:spAutoFit/>
          </a:bodyPr>
          <a:lstStyle/>
          <a:p>
            <a:pPr algn="l">
              <a:lnSpc>
                <a:spcPct val="100000"/>
              </a:lnSpc>
            </a:pPr>
            <a:r>
              <a:rPr sz="1150" b="0">
                <a:solidFill>
                  <a:srgbClr val="1A1A1A"/>
                </a:solidFill>
                <a:latin typeface="Georgia"/>
              </a:rPr>
              <a:t>full frame</a:t>
            </a:r>
          </a:p>
        </p:txBody>
      </p:sp>
      <p:sp>
        <p:nvSpPr>
          <p:cNvPr id="10" name="TextBox 9"/>
          <p:cNvSpPr txBox="1"/>
          <p:nvPr/>
        </p:nvSpPr>
        <p:spPr>
          <a:xfrm>
            <a:off x="8229600" y="1874519"/>
            <a:ext cx="1554480" cy="237744"/>
          </a:xfrm>
          <a:prstGeom prst="rect">
            <a:avLst/>
          </a:prstGeom>
          <a:noFill/>
        </p:spPr>
        <p:txBody>
          <a:bodyPr wrap="square">
            <a:spAutoFit/>
          </a:bodyPr>
          <a:lstStyle/>
          <a:p>
            <a:pPr algn="r">
              <a:lnSpc>
                <a:spcPct val="100000"/>
              </a:lnSpc>
            </a:pPr>
            <a:r>
              <a:rPr sz="1150" b="0">
                <a:solidFill>
                  <a:srgbClr val="1A1A1A"/>
                </a:solidFill>
                <a:latin typeface="Georgia"/>
              </a:rPr>
              <a:t>0.781</a:t>
            </a:r>
          </a:p>
        </p:txBody>
      </p:sp>
      <p:sp>
        <p:nvSpPr>
          <p:cNvPr id="11" name="TextBox 10"/>
          <p:cNvSpPr txBox="1"/>
          <p:nvPr/>
        </p:nvSpPr>
        <p:spPr>
          <a:xfrm>
            <a:off x="9784080" y="1874519"/>
            <a:ext cx="1554480" cy="237744"/>
          </a:xfrm>
          <a:prstGeom prst="rect">
            <a:avLst/>
          </a:prstGeom>
          <a:noFill/>
        </p:spPr>
        <p:txBody>
          <a:bodyPr wrap="square">
            <a:spAutoFit/>
          </a:bodyPr>
          <a:lstStyle/>
          <a:p>
            <a:pPr algn="r">
              <a:lnSpc>
                <a:spcPct val="100000"/>
              </a:lnSpc>
            </a:pPr>
            <a:r>
              <a:rPr sz="1150" b="0">
                <a:solidFill>
                  <a:srgbClr val="1A1A1A"/>
                </a:solidFill>
                <a:latin typeface="Georgia"/>
              </a:rPr>
              <a:t>0.777</a:t>
            </a:r>
          </a:p>
        </p:txBody>
      </p:sp>
      <p:sp>
        <p:nvSpPr>
          <p:cNvPr id="12" name="TextBox 11"/>
          <p:cNvSpPr txBox="1"/>
          <p:nvPr/>
        </p:nvSpPr>
        <p:spPr>
          <a:xfrm>
            <a:off x="6309360" y="2148839"/>
            <a:ext cx="1920240" cy="237744"/>
          </a:xfrm>
          <a:prstGeom prst="rect">
            <a:avLst/>
          </a:prstGeom>
          <a:noFill/>
        </p:spPr>
        <p:txBody>
          <a:bodyPr wrap="square">
            <a:spAutoFit/>
          </a:bodyPr>
          <a:lstStyle/>
          <a:p>
            <a:pPr algn="l">
              <a:lnSpc>
                <a:spcPct val="100000"/>
              </a:lnSpc>
            </a:pPr>
            <a:r>
              <a:rPr sz="1150" b="0">
                <a:solidFill>
                  <a:srgbClr val="1A1A1A"/>
                </a:solidFill>
                <a:latin typeface="Georgia"/>
              </a:rPr>
              <a:t>0 px</a:t>
            </a:r>
          </a:p>
        </p:txBody>
      </p:sp>
      <p:sp>
        <p:nvSpPr>
          <p:cNvPr id="13" name="TextBox 12"/>
          <p:cNvSpPr txBox="1"/>
          <p:nvPr/>
        </p:nvSpPr>
        <p:spPr>
          <a:xfrm>
            <a:off x="8229600" y="2148839"/>
            <a:ext cx="1554480" cy="237744"/>
          </a:xfrm>
          <a:prstGeom prst="rect">
            <a:avLst/>
          </a:prstGeom>
          <a:noFill/>
        </p:spPr>
        <p:txBody>
          <a:bodyPr wrap="square">
            <a:spAutoFit/>
          </a:bodyPr>
          <a:lstStyle/>
          <a:p>
            <a:pPr algn="r">
              <a:lnSpc>
                <a:spcPct val="100000"/>
              </a:lnSpc>
            </a:pPr>
            <a:r>
              <a:rPr sz="1150" b="0">
                <a:solidFill>
                  <a:srgbClr val="1A1A1A"/>
                </a:solidFill>
                <a:latin typeface="Georgia"/>
              </a:rPr>
              <a:t>1.205</a:t>
            </a:r>
          </a:p>
        </p:txBody>
      </p:sp>
      <p:sp>
        <p:nvSpPr>
          <p:cNvPr id="14" name="TextBox 13"/>
          <p:cNvSpPr txBox="1"/>
          <p:nvPr/>
        </p:nvSpPr>
        <p:spPr>
          <a:xfrm>
            <a:off x="9784080" y="2148839"/>
            <a:ext cx="1554480" cy="237744"/>
          </a:xfrm>
          <a:prstGeom prst="rect">
            <a:avLst/>
          </a:prstGeom>
          <a:noFill/>
        </p:spPr>
        <p:txBody>
          <a:bodyPr wrap="square">
            <a:spAutoFit/>
          </a:bodyPr>
          <a:lstStyle/>
          <a:p>
            <a:pPr algn="r">
              <a:lnSpc>
                <a:spcPct val="100000"/>
              </a:lnSpc>
            </a:pPr>
            <a:r>
              <a:rPr sz="1150" b="0">
                <a:solidFill>
                  <a:srgbClr val="1A1A1A"/>
                </a:solidFill>
                <a:latin typeface="Georgia"/>
              </a:rPr>
              <a:t>1.176</a:t>
            </a:r>
          </a:p>
        </p:txBody>
      </p:sp>
      <p:sp>
        <p:nvSpPr>
          <p:cNvPr id="15" name="TextBox 14"/>
          <p:cNvSpPr txBox="1"/>
          <p:nvPr/>
        </p:nvSpPr>
        <p:spPr>
          <a:xfrm>
            <a:off x="6309360" y="2423159"/>
            <a:ext cx="1920240" cy="237744"/>
          </a:xfrm>
          <a:prstGeom prst="rect">
            <a:avLst/>
          </a:prstGeom>
          <a:noFill/>
        </p:spPr>
        <p:txBody>
          <a:bodyPr wrap="square">
            <a:spAutoFit/>
          </a:bodyPr>
          <a:lstStyle/>
          <a:p>
            <a:pPr algn="l">
              <a:lnSpc>
                <a:spcPct val="100000"/>
              </a:lnSpc>
            </a:pPr>
            <a:r>
              <a:rPr sz="1150" b="0">
                <a:solidFill>
                  <a:srgbClr val="1A1A1A"/>
                </a:solidFill>
                <a:latin typeface="Georgia"/>
              </a:rPr>
              <a:t>8 px</a:t>
            </a:r>
          </a:p>
        </p:txBody>
      </p:sp>
      <p:sp>
        <p:nvSpPr>
          <p:cNvPr id="16" name="TextBox 15"/>
          <p:cNvSpPr txBox="1"/>
          <p:nvPr/>
        </p:nvSpPr>
        <p:spPr>
          <a:xfrm>
            <a:off x="8229600" y="2423159"/>
            <a:ext cx="1554480" cy="237744"/>
          </a:xfrm>
          <a:prstGeom prst="rect">
            <a:avLst/>
          </a:prstGeom>
          <a:noFill/>
        </p:spPr>
        <p:txBody>
          <a:bodyPr wrap="square">
            <a:spAutoFit/>
          </a:bodyPr>
          <a:lstStyle/>
          <a:p>
            <a:pPr algn="r">
              <a:lnSpc>
                <a:spcPct val="100000"/>
              </a:lnSpc>
            </a:pPr>
            <a:r>
              <a:rPr sz="1150" b="0">
                <a:solidFill>
                  <a:srgbClr val="1A1A1A"/>
                </a:solidFill>
                <a:latin typeface="Georgia"/>
              </a:rPr>
              <a:t>0.901</a:t>
            </a:r>
          </a:p>
        </p:txBody>
      </p:sp>
      <p:sp>
        <p:nvSpPr>
          <p:cNvPr id="17" name="TextBox 16"/>
          <p:cNvSpPr txBox="1"/>
          <p:nvPr/>
        </p:nvSpPr>
        <p:spPr>
          <a:xfrm>
            <a:off x="9784080" y="2423159"/>
            <a:ext cx="1554480" cy="237744"/>
          </a:xfrm>
          <a:prstGeom prst="rect">
            <a:avLst/>
          </a:prstGeom>
          <a:noFill/>
        </p:spPr>
        <p:txBody>
          <a:bodyPr wrap="square">
            <a:spAutoFit/>
          </a:bodyPr>
          <a:lstStyle/>
          <a:p>
            <a:pPr algn="r">
              <a:lnSpc>
                <a:spcPct val="100000"/>
              </a:lnSpc>
            </a:pPr>
            <a:r>
              <a:rPr sz="1150" b="0">
                <a:solidFill>
                  <a:srgbClr val="1A1A1A"/>
                </a:solidFill>
                <a:latin typeface="Georgia"/>
              </a:rPr>
              <a:t>0.881</a:t>
            </a:r>
          </a:p>
        </p:txBody>
      </p:sp>
      <p:sp>
        <p:nvSpPr>
          <p:cNvPr id="18" name="TextBox 17"/>
          <p:cNvSpPr txBox="1"/>
          <p:nvPr/>
        </p:nvSpPr>
        <p:spPr>
          <a:xfrm>
            <a:off x="6309360" y="2697479"/>
            <a:ext cx="1920240" cy="237744"/>
          </a:xfrm>
          <a:prstGeom prst="rect">
            <a:avLst/>
          </a:prstGeom>
          <a:noFill/>
        </p:spPr>
        <p:txBody>
          <a:bodyPr wrap="square">
            <a:spAutoFit/>
          </a:bodyPr>
          <a:lstStyle/>
          <a:p>
            <a:pPr algn="l">
              <a:lnSpc>
                <a:spcPct val="100000"/>
              </a:lnSpc>
            </a:pPr>
            <a:r>
              <a:rPr sz="1150" b="0">
                <a:solidFill>
                  <a:srgbClr val="1A1A1A"/>
                </a:solidFill>
                <a:latin typeface="Georgia"/>
              </a:rPr>
              <a:t>16 px</a:t>
            </a:r>
          </a:p>
        </p:txBody>
      </p:sp>
      <p:sp>
        <p:nvSpPr>
          <p:cNvPr id="19" name="TextBox 18"/>
          <p:cNvSpPr txBox="1"/>
          <p:nvPr/>
        </p:nvSpPr>
        <p:spPr>
          <a:xfrm>
            <a:off x="8229600" y="2697479"/>
            <a:ext cx="1554480" cy="237744"/>
          </a:xfrm>
          <a:prstGeom prst="rect">
            <a:avLst/>
          </a:prstGeom>
          <a:noFill/>
        </p:spPr>
        <p:txBody>
          <a:bodyPr wrap="square">
            <a:spAutoFit/>
          </a:bodyPr>
          <a:lstStyle/>
          <a:p>
            <a:pPr algn="r">
              <a:lnSpc>
                <a:spcPct val="100000"/>
              </a:lnSpc>
            </a:pPr>
            <a:r>
              <a:rPr sz="1150" b="0">
                <a:solidFill>
                  <a:srgbClr val="1A1A1A"/>
                </a:solidFill>
                <a:latin typeface="Georgia"/>
              </a:rPr>
              <a:t>0.872</a:t>
            </a:r>
          </a:p>
        </p:txBody>
      </p:sp>
      <p:sp>
        <p:nvSpPr>
          <p:cNvPr id="20" name="TextBox 19"/>
          <p:cNvSpPr txBox="1"/>
          <p:nvPr/>
        </p:nvSpPr>
        <p:spPr>
          <a:xfrm>
            <a:off x="9784080" y="2697479"/>
            <a:ext cx="1554480" cy="237744"/>
          </a:xfrm>
          <a:prstGeom prst="rect">
            <a:avLst/>
          </a:prstGeom>
          <a:noFill/>
        </p:spPr>
        <p:txBody>
          <a:bodyPr wrap="square">
            <a:spAutoFit/>
          </a:bodyPr>
          <a:lstStyle/>
          <a:p>
            <a:pPr algn="r">
              <a:lnSpc>
                <a:spcPct val="100000"/>
              </a:lnSpc>
            </a:pPr>
            <a:r>
              <a:rPr sz="1150" b="0">
                <a:solidFill>
                  <a:srgbClr val="1A1A1A"/>
                </a:solidFill>
                <a:latin typeface="Georgia"/>
              </a:rPr>
              <a:t>0.865</a:t>
            </a:r>
          </a:p>
        </p:txBody>
      </p:sp>
      <p:sp>
        <p:nvSpPr>
          <p:cNvPr id="21" name="TextBox 20"/>
          <p:cNvSpPr txBox="1"/>
          <p:nvPr/>
        </p:nvSpPr>
        <p:spPr>
          <a:xfrm>
            <a:off x="6309360" y="2971799"/>
            <a:ext cx="1920240" cy="237744"/>
          </a:xfrm>
          <a:prstGeom prst="rect">
            <a:avLst/>
          </a:prstGeom>
          <a:noFill/>
        </p:spPr>
        <p:txBody>
          <a:bodyPr wrap="square">
            <a:spAutoFit/>
          </a:bodyPr>
          <a:lstStyle/>
          <a:p>
            <a:pPr algn="l">
              <a:lnSpc>
                <a:spcPct val="100000"/>
              </a:lnSpc>
            </a:pPr>
            <a:r>
              <a:rPr sz="1150" b="0">
                <a:solidFill>
                  <a:srgbClr val="1A1A1A"/>
                </a:solidFill>
                <a:latin typeface="Georgia"/>
              </a:rPr>
              <a:t>24 px</a:t>
            </a:r>
          </a:p>
        </p:txBody>
      </p:sp>
      <p:sp>
        <p:nvSpPr>
          <p:cNvPr id="22" name="TextBox 21"/>
          <p:cNvSpPr txBox="1"/>
          <p:nvPr/>
        </p:nvSpPr>
        <p:spPr>
          <a:xfrm>
            <a:off x="8229600" y="2971799"/>
            <a:ext cx="1554480" cy="237744"/>
          </a:xfrm>
          <a:prstGeom prst="rect">
            <a:avLst/>
          </a:prstGeom>
          <a:noFill/>
        </p:spPr>
        <p:txBody>
          <a:bodyPr wrap="square">
            <a:spAutoFit/>
          </a:bodyPr>
          <a:lstStyle/>
          <a:p>
            <a:pPr algn="r">
              <a:lnSpc>
                <a:spcPct val="100000"/>
              </a:lnSpc>
            </a:pPr>
            <a:r>
              <a:rPr sz="1150" b="0">
                <a:solidFill>
                  <a:srgbClr val="1A1A1A"/>
                </a:solidFill>
                <a:latin typeface="Georgia"/>
              </a:rPr>
              <a:t>0.879</a:t>
            </a:r>
          </a:p>
        </p:txBody>
      </p:sp>
      <p:sp>
        <p:nvSpPr>
          <p:cNvPr id="23" name="TextBox 22"/>
          <p:cNvSpPr txBox="1"/>
          <p:nvPr/>
        </p:nvSpPr>
        <p:spPr>
          <a:xfrm>
            <a:off x="9784080" y="2971799"/>
            <a:ext cx="1554480" cy="237744"/>
          </a:xfrm>
          <a:prstGeom prst="rect">
            <a:avLst/>
          </a:prstGeom>
          <a:noFill/>
        </p:spPr>
        <p:txBody>
          <a:bodyPr wrap="square">
            <a:spAutoFit/>
          </a:bodyPr>
          <a:lstStyle/>
          <a:p>
            <a:pPr algn="r">
              <a:lnSpc>
                <a:spcPct val="100000"/>
              </a:lnSpc>
            </a:pPr>
            <a:r>
              <a:rPr sz="1150" b="0">
                <a:solidFill>
                  <a:srgbClr val="1A1A1A"/>
                </a:solidFill>
                <a:latin typeface="Georgia"/>
              </a:rPr>
              <a:t>0.854</a:t>
            </a:r>
          </a:p>
        </p:txBody>
      </p:sp>
      <p:sp>
        <p:nvSpPr>
          <p:cNvPr id="24" name="TextBox 23"/>
          <p:cNvSpPr txBox="1"/>
          <p:nvPr/>
        </p:nvSpPr>
        <p:spPr>
          <a:xfrm>
            <a:off x="6309360" y="3246119"/>
            <a:ext cx="1920240" cy="237744"/>
          </a:xfrm>
          <a:prstGeom prst="rect">
            <a:avLst/>
          </a:prstGeom>
          <a:noFill/>
        </p:spPr>
        <p:txBody>
          <a:bodyPr wrap="square">
            <a:spAutoFit/>
          </a:bodyPr>
          <a:lstStyle/>
          <a:p>
            <a:pPr algn="l">
              <a:lnSpc>
                <a:spcPct val="100000"/>
              </a:lnSpc>
            </a:pPr>
            <a:r>
              <a:rPr sz="1150" b="0">
                <a:solidFill>
                  <a:srgbClr val="1A1A1A"/>
                </a:solidFill>
                <a:latin typeface="Georgia"/>
              </a:rPr>
              <a:t>32 px</a:t>
            </a:r>
          </a:p>
        </p:txBody>
      </p:sp>
      <p:sp>
        <p:nvSpPr>
          <p:cNvPr id="25" name="TextBox 24"/>
          <p:cNvSpPr txBox="1"/>
          <p:nvPr/>
        </p:nvSpPr>
        <p:spPr>
          <a:xfrm>
            <a:off x="8229600" y="3246119"/>
            <a:ext cx="1554480" cy="237744"/>
          </a:xfrm>
          <a:prstGeom prst="rect">
            <a:avLst/>
          </a:prstGeom>
          <a:noFill/>
        </p:spPr>
        <p:txBody>
          <a:bodyPr wrap="square">
            <a:spAutoFit/>
          </a:bodyPr>
          <a:lstStyle/>
          <a:p>
            <a:pPr algn="r">
              <a:lnSpc>
                <a:spcPct val="100000"/>
              </a:lnSpc>
            </a:pPr>
            <a:r>
              <a:rPr sz="1150" b="0">
                <a:solidFill>
                  <a:srgbClr val="1A1A1A"/>
                </a:solidFill>
                <a:latin typeface="Georgia"/>
              </a:rPr>
              <a:t>0.834</a:t>
            </a:r>
          </a:p>
        </p:txBody>
      </p:sp>
      <p:sp>
        <p:nvSpPr>
          <p:cNvPr id="26" name="TextBox 25"/>
          <p:cNvSpPr txBox="1"/>
          <p:nvPr/>
        </p:nvSpPr>
        <p:spPr>
          <a:xfrm>
            <a:off x="9784080" y="3246119"/>
            <a:ext cx="1554480" cy="237744"/>
          </a:xfrm>
          <a:prstGeom prst="rect">
            <a:avLst/>
          </a:prstGeom>
          <a:noFill/>
        </p:spPr>
        <p:txBody>
          <a:bodyPr wrap="square">
            <a:spAutoFit/>
          </a:bodyPr>
          <a:lstStyle/>
          <a:p>
            <a:pPr algn="r">
              <a:lnSpc>
                <a:spcPct val="100000"/>
              </a:lnSpc>
            </a:pPr>
            <a:r>
              <a:rPr sz="1150" b="0">
                <a:solidFill>
                  <a:srgbClr val="1A1A1A"/>
                </a:solidFill>
                <a:latin typeface="Georgia"/>
              </a:rPr>
              <a:t>0.814</a:t>
            </a:r>
          </a:p>
        </p:txBody>
      </p:sp>
      <p:sp>
        <p:nvSpPr>
          <p:cNvPr id="27" name="TextBox 26"/>
          <p:cNvSpPr txBox="1"/>
          <p:nvPr/>
        </p:nvSpPr>
        <p:spPr>
          <a:xfrm>
            <a:off x="6309360" y="3520439"/>
            <a:ext cx="1920240" cy="237744"/>
          </a:xfrm>
          <a:prstGeom prst="rect">
            <a:avLst/>
          </a:prstGeom>
          <a:noFill/>
        </p:spPr>
        <p:txBody>
          <a:bodyPr wrap="square">
            <a:spAutoFit/>
          </a:bodyPr>
          <a:lstStyle/>
          <a:p>
            <a:pPr algn="l">
              <a:lnSpc>
                <a:spcPct val="100000"/>
              </a:lnSpc>
            </a:pPr>
            <a:r>
              <a:rPr sz="1150" b="0">
                <a:solidFill>
                  <a:srgbClr val="1A1A1A"/>
                </a:solidFill>
                <a:latin typeface="Georgia"/>
              </a:rPr>
              <a:t>64 px</a:t>
            </a:r>
          </a:p>
        </p:txBody>
      </p:sp>
      <p:sp>
        <p:nvSpPr>
          <p:cNvPr id="28" name="TextBox 27"/>
          <p:cNvSpPr txBox="1"/>
          <p:nvPr/>
        </p:nvSpPr>
        <p:spPr>
          <a:xfrm>
            <a:off x="8229600" y="3520439"/>
            <a:ext cx="1554480" cy="237744"/>
          </a:xfrm>
          <a:prstGeom prst="rect">
            <a:avLst/>
          </a:prstGeom>
          <a:noFill/>
        </p:spPr>
        <p:txBody>
          <a:bodyPr wrap="square">
            <a:spAutoFit/>
          </a:bodyPr>
          <a:lstStyle/>
          <a:p>
            <a:pPr algn="r">
              <a:lnSpc>
                <a:spcPct val="100000"/>
              </a:lnSpc>
            </a:pPr>
            <a:r>
              <a:rPr sz="1150" b="0">
                <a:solidFill>
                  <a:srgbClr val="1A1A1A"/>
                </a:solidFill>
                <a:latin typeface="Georgia"/>
              </a:rPr>
              <a:t>0.793</a:t>
            </a:r>
          </a:p>
        </p:txBody>
      </p:sp>
      <p:sp>
        <p:nvSpPr>
          <p:cNvPr id="29" name="TextBox 28"/>
          <p:cNvSpPr txBox="1"/>
          <p:nvPr/>
        </p:nvSpPr>
        <p:spPr>
          <a:xfrm>
            <a:off x="9784080" y="3520439"/>
            <a:ext cx="1554480" cy="237744"/>
          </a:xfrm>
          <a:prstGeom prst="rect">
            <a:avLst/>
          </a:prstGeom>
          <a:noFill/>
        </p:spPr>
        <p:txBody>
          <a:bodyPr wrap="square">
            <a:spAutoFit/>
          </a:bodyPr>
          <a:lstStyle/>
          <a:p>
            <a:pPr algn="r">
              <a:lnSpc>
                <a:spcPct val="100000"/>
              </a:lnSpc>
            </a:pPr>
            <a:r>
              <a:rPr sz="1150" b="0">
                <a:solidFill>
                  <a:srgbClr val="1A1A1A"/>
                </a:solidFill>
                <a:latin typeface="Georgia"/>
              </a:rPr>
              <a:t>0.778</a:t>
            </a:r>
          </a:p>
        </p:txBody>
      </p:sp>
      <p:sp>
        <p:nvSpPr>
          <p:cNvPr id="30" name="TextBox 29"/>
          <p:cNvSpPr txBox="1"/>
          <p:nvPr/>
        </p:nvSpPr>
        <p:spPr>
          <a:xfrm>
            <a:off x="6309360" y="4251960"/>
            <a:ext cx="5303520" cy="1920240"/>
          </a:xfrm>
          <a:prstGeom prst="rect">
            <a:avLst/>
          </a:prstGeom>
          <a:noFill/>
        </p:spPr>
        <p:txBody>
          <a:bodyPr wrap="square">
            <a:spAutoFit/>
          </a:bodyPr>
          <a:lstStyle/>
          <a:p>
            <a:pPr algn="l">
              <a:lnSpc>
                <a:spcPct val="116000"/>
              </a:lnSpc>
            </a:pPr>
            <a:r>
              <a:rPr sz="1100" b="0">
                <a:solidFill>
                  <a:srgbClr val="1A1A1A"/>
                </a:solidFill>
                <a:latin typeface="Georgia"/>
              </a:rPr>
              <a:t>v3 is ahead at all seven settings, by 0.004 to 0.029 px.</a:t>
            </a:r>
          </a:p>
          <a:p>
            <a:pPr algn="l">
              <a:lnSpc>
                <a:spcPct val="116000"/>
              </a:lnSpc>
            </a:pPr>
            <a:r>
              <a:rPr sz="1100" b="0">
                <a:solidFill>
                  <a:srgbClr val="1A1A1A"/>
                </a:solidFill>
                <a:latin typeface="Georgia"/>
              </a:rPr>
              <a:t/>
            </a:r>
          </a:p>
          <a:p>
            <a:pPr algn="l">
              <a:lnSpc>
                <a:spcPct val="116000"/>
              </a:lnSpc>
            </a:pPr>
            <a:r>
              <a:rPr sz="1100" b="0">
                <a:solidFill>
                  <a:srgbClr val="1A1A1A"/>
                </a:solidFill>
                <a:latin typeface="Georgia"/>
              </a:rPr>
              <a:t>This is the cleanest comparison available: v2 trained on</a:t>
            </a:r>
          </a:p>
          <a:p>
            <a:pPr algn="l">
              <a:lnSpc>
                <a:spcPct val="116000"/>
              </a:lnSpc>
            </a:pPr>
            <a:r>
              <a:rPr sz="1100" b="0">
                <a:solidFill>
                  <a:srgbClr val="1A1A1A"/>
                </a:solidFill>
                <a:latin typeface="Georgia"/>
              </a:rPr>
              <a:t>FlyingThings, v3 on FlyingChairs, VKITTI2 and Sintel, and</a:t>
            </a:r>
          </a:p>
          <a:p>
            <a:pPr algn="l">
              <a:lnSpc>
                <a:spcPct val="116000"/>
              </a:lnSpc>
            </a:pPr>
            <a:r>
              <a:rPr sz="1100" b="0">
                <a:solidFill>
                  <a:srgbClr val="1A1A1A"/>
                </a:solidFill>
                <a:latin typeface="Georgia"/>
              </a:rPr>
              <a:t>neither has seen aerial imagery. Every other table in this</a:t>
            </a:r>
          </a:p>
          <a:p>
            <a:pPr algn="l">
              <a:lnSpc>
                <a:spcPct val="116000"/>
              </a:lnSpc>
            </a:pPr>
            <a:r>
              <a:rPr sz="1100" b="0">
                <a:solidFill>
                  <a:srgbClr val="1A1A1A"/>
                </a:solidFill>
                <a:latin typeface="Georgia"/>
              </a:rPr>
              <a:t>deck is measured on a domain v3 trained on.</a:t>
            </a:r>
          </a:p>
          <a:p>
            <a:pPr algn="l">
              <a:lnSpc>
                <a:spcPct val="116000"/>
              </a:lnSpc>
            </a:pPr>
            <a:r>
              <a:rPr sz="1100" b="0">
                <a:solidFill>
                  <a:srgbClr val="1A1A1A"/>
                </a:solidFill>
                <a:latin typeface="Georgia"/>
              </a:rPr>
              <a:t/>
            </a:r>
          </a:p>
          <a:p>
            <a:pPr algn="l">
              <a:lnSpc>
                <a:spcPct val="116000"/>
              </a:lnSpc>
            </a:pPr>
            <a:r>
              <a:rPr sz="1100" b="0">
                <a:solidFill>
                  <a:srgbClr val="1A1A1A"/>
                </a:solidFill>
                <a:latin typeface="Georgia"/>
              </a:rPr>
              <a:t>Read it as consistent rather than large. Forty pairs, one</a:t>
            </a:r>
          </a:p>
          <a:p>
            <a:pPr algn="l">
              <a:lnSpc>
                <a:spcPct val="116000"/>
              </a:lnSpc>
            </a:pPr>
            <a:r>
              <a:rPr sz="1100" b="0">
                <a:solidFill>
                  <a:srgbClr val="1A1A1A"/>
                </a:solidFill>
                <a:latin typeface="Georgia"/>
              </a:rPr>
              <a:t>seed, and v3 remains slightly worse on large-motion pixels</a:t>
            </a:r>
          </a:p>
          <a:p>
            <a:pPr algn="l">
              <a:lnSpc>
                <a:spcPct val="116000"/>
              </a:lnSpc>
            </a:pPr>
            <a:r>
              <a:rPr sz="1100" b="0">
                <a:solidFill>
                  <a:srgbClr val="1A1A1A"/>
                </a:solidFill>
                <a:latin typeface="Georgia"/>
              </a:rPr>
              <a:t>(7.2% failures against 6.5%). Better on typical pixels,</a:t>
            </a:r>
          </a:p>
          <a:p>
            <a:pPr algn="l">
              <a:lnSpc>
                <a:spcPct val="116000"/>
              </a:lnSpc>
            </a:pPr>
            <a:r>
              <a:rPr sz="1100" b="0">
                <a:solidFill>
                  <a:srgbClr val="1A1A1A"/>
                </a:solidFill>
                <a:latin typeface="Georgia"/>
              </a:rPr>
              <a:t>not on the hard ones.</a:t>
            </a:r>
          </a:p>
        </p:txBody>
      </p:sp>
      <p:sp>
        <p:nvSpPr>
          <p:cNvPr id="31" name="TextBox 30"/>
          <p:cNvSpPr txBox="1"/>
          <p:nvPr/>
        </p:nvSpPr>
        <p:spPr>
          <a:xfrm>
            <a:off x="685800" y="6419088"/>
            <a:ext cx="7315200" cy="274320"/>
          </a:xfrm>
          <a:prstGeom prst="rect">
            <a:avLst/>
          </a:prstGeom>
          <a:noFill/>
        </p:spPr>
        <p:txBody>
          <a:bodyPr wrap="square">
            <a:spAutoFit/>
          </a:bodyPr>
          <a:lstStyle/>
          <a:p>
            <a:pPr algn="l">
              <a:lnSpc>
                <a:spcPct val="100000"/>
              </a:lnSpc>
            </a:pPr>
            <a:r>
              <a:rPr sz="900" b="0">
                <a:solidFill>
                  <a:srgbClr val="8A8A8A"/>
                </a:solidFill>
                <a:latin typeface="Georgia"/>
              </a:rPr>
              <a:t>NeuFlow v3, S. Raghav Srinivasan</a:t>
            </a:r>
          </a:p>
        </p:txBody>
      </p:sp>
      <p:sp>
        <p:nvSpPr>
          <p:cNvPr id="32" name="TextBox 31"/>
          <p:cNvSpPr txBox="1"/>
          <p:nvPr/>
        </p:nvSpPr>
        <p:spPr>
          <a:xfrm>
            <a:off x="10607040" y="6419088"/>
            <a:ext cx="1097280" cy="274320"/>
          </a:xfrm>
          <a:prstGeom prst="rect">
            <a:avLst/>
          </a:prstGeom>
          <a:noFill/>
        </p:spPr>
        <p:txBody>
          <a:bodyPr wrap="square">
            <a:spAutoFit/>
          </a:bodyPr>
          <a:lstStyle/>
          <a:p>
            <a:pPr algn="l">
              <a:lnSpc>
                <a:spcPct val="100000"/>
              </a:lnSpc>
            </a:pPr>
            <a:r>
              <a:rPr sz="900" b="0">
                <a:solidFill>
                  <a:srgbClr val="8A8A8A"/>
                </a:solidFill>
                <a:latin typeface="Georgia"/>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384048"/>
            <a:ext cx="10515600" cy="274320"/>
          </a:xfrm>
          <a:prstGeom prst="rect">
            <a:avLst/>
          </a:prstGeom>
          <a:noFill/>
        </p:spPr>
        <p:txBody>
          <a:bodyPr wrap="square">
            <a:spAutoFit/>
          </a:bodyPr>
          <a:lstStyle/>
          <a:p>
            <a:pPr algn="l">
              <a:lnSpc>
                <a:spcPct val="100000"/>
              </a:lnSpc>
            </a:pPr>
            <a:r>
              <a:rPr sz="1050" b="1">
                <a:solidFill>
                  <a:srgbClr val="333333"/>
                </a:solidFill>
                <a:latin typeface="Georgia"/>
              </a:rPr>
              <a:t>RESULTS</a:t>
            </a:r>
          </a:p>
        </p:txBody>
      </p:sp>
      <p:sp>
        <p:nvSpPr>
          <p:cNvPr id="3" name="TextBox 2"/>
          <p:cNvSpPr txBox="1"/>
          <p:nvPr/>
        </p:nvSpPr>
        <p:spPr>
          <a:xfrm>
            <a:off x="667512" y="658368"/>
            <a:ext cx="10881360" cy="731520"/>
          </a:xfrm>
          <a:prstGeom prst="rect">
            <a:avLst/>
          </a:prstGeom>
          <a:noFill/>
        </p:spPr>
        <p:txBody>
          <a:bodyPr wrap="square">
            <a:spAutoFit/>
          </a:bodyPr>
          <a:lstStyle/>
          <a:p>
            <a:pPr algn="l">
              <a:lnSpc>
                <a:spcPct val="100000"/>
              </a:lnSpc>
            </a:pPr>
            <a:r>
              <a:rPr sz="2400" b="1">
                <a:solidFill>
                  <a:srgbClr val="1A1A1A"/>
                </a:solidFill>
                <a:latin typeface="Georgia"/>
              </a:rPr>
              <a:t>A new object appears: 1.7 ms, against 7.3 for a new crop</a:t>
            </a:r>
          </a:p>
        </p:txBody>
      </p:sp>
      <p:pic>
        <p:nvPicPr>
          <p:cNvPr id="4" name="Picture 3" descr="scenario3_marginal.png"/>
          <p:cNvPicPr>
            <a:picLocks noChangeAspect="1"/>
          </p:cNvPicPr>
          <p:nvPr/>
        </p:nvPicPr>
        <p:blipFill>
          <a:blip r:embed="rId2"/>
          <a:stretch>
            <a:fillRect/>
          </a:stretch>
        </p:blipFill>
        <p:spPr>
          <a:xfrm>
            <a:off x="1234440" y="1463040"/>
            <a:ext cx="9692640" cy="3862969"/>
          </a:xfrm>
          <a:prstGeom prst="rect">
            <a:avLst/>
          </a:prstGeom>
        </p:spPr>
      </p:pic>
      <p:sp>
        <p:nvSpPr>
          <p:cNvPr id="5" name="TextBox 4"/>
          <p:cNvSpPr txBox="1"/>
          <p:nvPr/>
        </p:nvSpPr>
        <p:spPr>
          <a:xfrm>
            <a:off x="685800" y="5440680"/>
            <a:ext cx="10881360" cy="1005840"/>
          </a:xfrm>
          <a:prstGeom prst="rect">
            <a:avLst/>
          </a:prstGeom>
          <a:noFill/>
        </p:spPr>
        <p:txBody>
          <a:bodyPr wrap="square">
            <a:spAutoFit/>
          </a:bodyPr>
          <a:lstStyle/>
          <a:p>
            <a:pPr algn="l">
              <a:lnSpc>
                <a:spcPct val="115000"/>
              </a:lnSpc>
            </a:pPr>
            <a:r>
              <a:rPr sz="1150" b="0">
                <a:solidFill>
                  <a:srgbClr val="1A1A1A"/>
                </a:solidFill>
                <a:latin typeface="Georgia"/>
              </a:rPr>
              <a:t>The third scenario: a frame is already being processed when something new enters the field of view. Because the</a:t>
            </a:r>
          </a:p>
          <a:p>
            <a:pPr algn="l">
              <a:lnSpc>
                <a:spcPct val="115000"/>
              </a:lnSpc>
            </a:pPr>
            <a:r>
              <a:rPr sz="1150" b="0">
                <a:solidFill>
                  <a:srgbClr val="1A1A1A"/>
                </a:solidFill>
                <a:latin typeface="Georgia"/>
              </a:rPr>
              <a:t>coarse pass is cached, the decoder answers for 1.7 ms. A cropped pipeline has to run an entire new pass, 7.3 ms,</a:t>
            </a:r>
          </a:p>
          <a:p>
            <a:pPr algn="l">
              <a:lnSpc>
                <a:spcPct val="115000"/>
              </a:lnSpc>
            </a:pPr>
            <a:r>
              <a:rPr sz="1150" b="0">
                <a:solidFill>
                  <a:srgbClr val="1A1A1A"/>
                </a:solidFill>
                <a:latin typeface="Georgia"/>
              </a:rPr>
              <a:t>and is markedly less accurate doing it because a fresh crop loses the global context that finds large motion.</a:t>
            </a:r>
          </a:p>
          <a:p>
            <a:pPr algn="l">
              <a:lnSpc>
                <a:spcPct val="115000"/>
              </a:lnSpc>
            </a:pPr>
            <a:r>
              <a:rPr sz="1150" b="0">
                <a:solidFill>
                  <a:srgbClr val="1A1A1A"/>
                </a:solidFill>
                <a:latin typeface="Georgia"/>
              </a:rPr>
              <a:t>v2 keeps no state between calls, so it has nothing to answer from.</a:t>
            </a:r>
          </a:p>
        </p:txBody>
      </p:sp>
      <p:sp>
        <p:nvSpPr>
          <p:cNvPr id="6" name="TextBox 5"/>
          <p:cNvSpPr txBox="1"/>
          <p:nvPr/>
        </p:nvSpPr>
        <p:spPr>
          <a:xfrm>
            <a:off x="685800" y="6419088"/>
            <a:ext cx="7315200" cy="274320"/>
          </a:xfrm>
          <a:prstGeom prst="rect">
            <a:avLst/>
          </a:prstGeom>
          <a:noFill/>
        </p:spPr>
        <p:txBody>
          <a:bodyPr wrap="square">
            <a:spAutoFit/>
          </a:bodyPr>
          <a:lstStyle/>
          <a:p>
            <a:pPr algn="l">
              <a:lnSpc>
                <a:spcPct val="100000"/>
              </a:lnSpc>
            </a:pPr>
            <a:r>
              <a:rPr sz="900" b="0">
                <a:solidFill>
                  <a:srgbClr val="8A8A8A"/>
                </a:solidFill>
                <a:latin typeface="Georgia"/>
              </a:rPr>
              <a:t>NeuFlow v3, S. Raghav Srinivasan</a:t>
            </a:r>
          </a:p>
        </p:txBody>
      </p:sp>
      <p:sp>
        <p:nvSpPr>
          <p:cNvPr id="7" name="TextBox 6"/>
          <p:cNvSpPr txBox="1"/>
          <p:nvPr/>
        </p:nvSpPr>
        <p:spPr>
          <a:xfrm>
            <a:off x="10607040" y="6419088"/>
            <a:ext cx="1097280" cy="274320"/>
          </a:xfrm>
          <a:prstGeom prst="rect">
            <a:avLst/>
          </a:prstGeom>
          <a:noFill/>
        </p:spPr>
        <p:txBody>
          <a:bodyPr wrap="square">
            <a:spAutoFit/>
          </a:bodyPr>
          <a:lstStyle/>
          <a:p>
            <a:pPr algn="l">
              <a:lnSpc>
                <a:spcPct val="100000"/>
              </a:lnSpc>
            </a:pPr>
            <a:r>
              <a:rPr sz="900" b="0">
                <a:solidFill>
                  <a:srgbClr val="8A8A8A"/>
                </a:solidFill>
                <a:latin typeface="Georgia"/>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384048"/>
            <a:ext cx="10515600" cy="274320"/>
          </a:xfrm>
          <a:prstGeom prst="rect">
            <a:avLst/>
          </a:prstGeom>
          <a:noFill/>
        </p:spPr>
        <p:txBody>
          <a:bodyPr wrap="square">
            <a:spAutoFit/>
          </a:bodyPr>
          <a:lstStyle/>
          <a:p>
            <a:pPr algn="l">
              <a:lnSpc>
                <a:spcPct val="100000"/>
              </a:lnSpc>
            </a:pPr>
            <a:r>
              <a:rPr sz="1050" b="1">
                <a:solidFill>
                  <a:srgbClr val="333333"/>
                </a:solidFill>
                <a:latin typeface="Georgia"/>
              </a:rPr>
              <a:t>INTERFACE</a:t>
            </a:r>
          </a:p>
        </p:txBody>
      </p:sp>
      <p:sp>
        <p:nvSpPr>
          <p:cNvPr id="3" name="TextBox 2"/>
          <p:cNvSpPr txBox="1"/>
          <p:nvPr/>
        </p:nvSpPr>
        <p:spPr>
          <a:xfrm>
            <a:off x="667512" y="658368"/>
            <a:ext cx="10881360" cy="731520"/>
          </a:xfrm>
          <a:prstGeom prst="rect">
            <a:avLst/>
          </a:prstGeom>
          <a:noFill/>
        </p:spPr>
        <p:txBody>
          <a:bodyPr wrap="square">
            <a:spAutoFit/>
          </a:bodyPr>
          <a:lstStyle/>
          <a:p>
            <a:pPr algn="l">
              <a:lnSpc>
                <a:spcPct val="100000"/>
              </a:lnSpc>
            </a:pPr>
            <a:r>
              <a:rPr sz="2400" b="1">
                <a:solidFill>
                  <a:srgbClr val="1A1A1A"/>
                </a:solidFill>
                <a:latin typeface="Georgia"/>
              </a:rPr>
              <a:t>What a query costs, and how you make one</a:t>
            </a:r>
          </a:p>
        </p:txBody>
      </p:sp>
      <p:pic>
        <p:nvPicPr>
          <p:cNvPr id="4" name="Picture 3" descr="decode_flat.png"/>
          <p:cNvPicPr>
            <a:picLocks noChangeAspect="1"/>
          </p:cNvPicPr>
          <p:nvPr/>
        </p:nvPicPr>
        <p:blipFill>
          <a:blip r:embed="rId2"/>
          <a:stretch>
            <a:fillRect/>
          </a:stretch>
        </p:blipFill>
        <p:spPr>
          <a:xfrm>
            <a:off x="731520" y="1508760"/>
            <a:ext cx="6400800" cy="3231565"/>
          </a:xfrm>
          <a:prstGeom prst="rect">
            <a:avLst/>
          </a:prstGeom>
        </p:spPr>
      </p:pic>
      <p:sp>
        <p:nvSpPr>
          <p:cNvPr id="5" name="TextBox 4"/>
          <p:cNvSpPr txBox="1"/>
          <p:nvPr/>
        </p:nvSpPr>
        <p:spPr>
          <a:xfrm>
            <a:off x="7406640" y="1645920"/>
            <a:ext cx="4206240" cy="365760"/>
          </a:xfrm>
          <a:prstGeom prst="rect">
            <a:avLst/>
          </a:prstGeom>
          <a:noFill/>
        </p:spPr>
        <p:txBody>
          <a:bodyPr wrap="square">
            <a:spAutoFit/>
          </a:bodyPr>
          <a:lstStyle/>
          <a:p>
            <a:pPr algn="l">
              <a:lnSpc>
                <a:spcPct val="100000"/>
              </a:lnSpc>
            </a:pPr>
            <a:r>
              <a:rPr sz="1200" b="1">
                <a:solidFill>
                  <a:srgbClr val="333333"/>
                </a:solidFill>
                <a:latin typeface="Georgia"/>
              </a:rPr>
              <a:t>The entire API</a:t>
            </a:r>
          </a:p>
        </p:txBody>
      </p:sp>
      <p:sp>
        <p:nvSpPr>
          <p:cNvPr id="6" name="Rounded Rectangle 5"/>
          <p:cNvSpPr/>
          <p:nvPr/>
        </p:nvSpPr>
        <p:spPr>
          <a:xfrm>
            <a:off x="7406640" y="2011680"/>
            <a:ext cx="4206240" cy="1737360"/>
          </a:xfrm>
          <a:prstGeom prst="roundRect">
            <a:avLst/>
          </a:prstGeom>
          <a:solidFill>
            <a:srgbClr val="EFEFEF"/>
          </a:solidFill>
          <a:ln w="952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000" b="0">
                <a:solidFill>
                  <a:srgbClr val="1A1A1A"/>
                </a:solidFill>
                <a:latin typeface="Georgia"/>
              </a:rPr>
              <a:t>state = model.infer_coarse_state(img0, img1)</a:t>
            </a:r>
          </a:p>
          <a:p>
            <a:pPr algn="ctr"/>
            <a:r>
              <a:rPr sz="1000" b="0">
                <a:solidFill>
                  <a:srgbClr val="1A1A1A"/>
                </a:solidFill>
                <a:latin typeface="Georgia"/>
              </a:rPr>
              <a:t>                                  once, 33 ms</a:t>
            </a:r>
          </a:p>
          <a:p>
            <a:pPr algn="ctr"/>
            <a:r>
              <a:rPr sz="1000" b="0">
                <a:solidFill>
                  <a:srgbClr val="1A1A1A"/>
                </a:solidFill>
                <a:latin typeface="Georgia"/>
              </a:rPr>
              <a:t/>
            </a:r>
          </a:p>
          <a:p>
            <a:pPr algn="ctr"/>
            <a:r>
              <a:rPr sz="1000" b="0">
                <a:solidFill>
                  <a:srgbClr val="1A1A1A"/>
                </a:solidFill>
                <a:latin typeface="Georgia"/>
              </a:rPr>
              <a:t>flow  = model.decode_queries(</a:t>
            </a:r>
          </a:p>
          <a:p>
            <a:pPr algn="ctr"/>
            <a:r>
              <a:rPr sz="1000" b="0">
                <a:solidFill>
                  <a:srgbClr val="1A1A1A"/>
                </a:solidFill>
                <a:latin typeface="Georgia"/>
              </a:rPr>
              <a:t>            state, query_coords=q)</a:t>
            </a:r>
          </a:p>
          <a:p>
            <a:pPr algn="ctr"/>
            <a:r>
              <a:rPr sz="1000" b="0">
                <a:solidFill>
                  <a:srgbClr val="1A1A1A"/>
                </a:solidFill>
                <a:latin typeface="Georgia"/>
              </a:rPr>
              <a:t>            q: [B, N, 2] -&gt; [B, N, 2], 1.3 ms</a:t>
            </a:r>
          </a:p>
          <a:p>
            <a:pPr algn="ctr"/>
            <a:r>
              <a:rPr sz="1000" b="0">
                <a:solidFill>
                  <a:srgbClr val="1A1A1A"/>
                </a:solidFill>
                <a:latin typeface="Georgia"/>
              </a:rPr>
              <a:t/>
            </a:r>
          </a:p>
          <a:p>
            <a:pPr algn="ctr"/>
            <a:r>
              <a:rPr sz="1000" b="0">
                <a:solidFill>
                  <a:srgbClr val="1A1A1A"/>
                </a:solidFill>
                <a:latin typeface="Georgia"/>
              </a:rPr>
              <a:t>flow, b = ... (return_uncertainty=True)</a:t>
            </a:r>
          </a:p>
        </p:txBody>
      </p:sp>
      <p:sp>
        <p:nvSpPr>
          <p:cNvPr id="7" name="TextBox 6"/>
          <p:cNvSpPr txBox="1"/>
          <p:nvPr/>
        </p:nvSpPr>
        <p:spPr>
          <a:xfrm>
            <a:off x="7406640" y="3931920"/>
            <a:ext cx="4206240" cy="1828800"/>
          </a:xfrm>
          <a:prstGeom prst="rect">
            <a:avLst/>
          </a:prstGeom>
          <a:noFill/>
        </p:spPr>
        <p:txBody>
          <a:bodyPr wrap="square">
            <a:spAutoFit/>
          </a:bodyPr>
          <a:lstStyle/>
          <a:p>
            <a:pPr algn="l">
              <a:lnSpc>
                <a:spcPct val="118000"/>
              </a:lnSpc>
            </a:pPr>
            <a:r>
              <a:rPr sz="1150" b="0">
                <a:solidFill>
                  <a:srgbClr val="1A1A1A"/>
                </a:solidFill>
                <a:latin typeface="Georgia"/>
              </a:rPr>
              <a:t>Decode cost is flat from 800 to 2,048</a:t>
            </a:r>
          </a:p>
          <a:p>
            <a:pPr algn="l">
              <a:lnSpc>
                <a:spcPct val="118000"/>
              </a:lnSpc>
            </a:pPr>
            <a:r>
              <a:rPr sz="1150" b="0">
                <a:solidFill>
                  <a:srgbClr val="1A1A1A"/>
                </a:solidFill>
                <a:latin typeface="Georgia"/>
              </a:rPr>
              <a:t>queries, so it is bound by kernel launch</a:t>
            </a:r>
          </a:p>
          <a:p>
            <a:pPr algn="l">
              <a:lnSpc>
                <a:spcPct val="118000"/>
              </a:lnSpc>
            </a:pPr>
            <a:r>
              <a:rPr sz="1150" b="0">
                <a:solidFill>
                  <a:srgbClr val="1A1A1A"/>
                </a:solidFill>
                <a:latin typeface="Georgia"/>
              </a:rPr>
              <a:t>overhead rather than compute. You get</a:t>
            </a:r>
          </a:p>
          <a:p>
            <a:pPr algn="l">
              <a:lnSpc>
                <a:spcPct val="118000"/>
              </a:lnSpc>
            </a:pPr>
            <a:r>
              <a:rPr sz="1150" b="0">
                <a:solidFill>
                  <a:srgbClr val="1A1A1A"/>
                </a:solidFill>
                <a:latin typeface="Georgia"/>
              </a:rPr>
              <a:t>2,048 points for the price of 800.</a:t>
            </a:r>
          </a:p>
          <a:p>
            <a:pPr algn="l">
              <a:lnSpc>
                <a:spcPct val="118000"/>
              </a:lnSpc>
            </a:pPr>
            <a:r>
              <a:rPr sz="1150" b="0">
                <a:solidFill>
                  <a:srgbClr val="1A1A1A"/>
                </a:solidFill>
                <a:latin typeface="Georgia"/>
              </a:rPr>
              <a:t/>
            </a:r>
          </a:p>
          <a:p>
            <a:pPr algn="l">
              <a:lnSpc>
                <a:spcPct val="118000"/>
              </a:lnSpc>
            </a:pPr>
            <a:r>
              <a:rPr sz="1150" b="0">
                <a:solidFill>
                  <a:srgbClr val="1A1A1A"/>
                </a:solidFill>
                <a:latin typeface="Georgia"/>
              </a:rPr>
              <a:t>Above roughly 10,000 points the decode</a:t>
            </a:r>
          </a:p>
          <a:p>
            <a:pPr algn="l">
              <a:lnSpc>
                <a:spcPct val="118000"/>
              </a:lnSpc>
            </a:pPr>
            <a:r>
              <a:rPr sz="1150" b="0">
                <a:solidFill>
                  <a:srgbClr val="1A1A1A"/>
                </a:solidFill>
                <a:latin typeface="Georgia"/>
              </a:rPr>
              <a:t>becomes compute-bound and dense mode</a:t>
            </a:r>
          </a:p>
          <a:p>
            <a:pPr algn="l">
              <a:lnSpc>
                <a:spcPct val="118000"/>
              </a:lnSpc>
            </a:pPr>
            <a:r>
              <a:rPr sz="1150" b="0">
                <a:solidFill>
                  <a:srgbClr val="1A1A1A"/>
                </a:solidFill>
                <a:latin typeface="Georgia"/>
              </a:rPr>
              <a:t>is the better choice.</a:t>
            </a:r>
          </a:p>
        </p:txBody>
      </p:sp>
      <p:sp>
        <p:nvSpPr>
          <p:cNvPr id="8" name="TextBox 7"/>
          <p:cNvSpPr txBox="1"/>
          <p:nvPr/>
        </p:nvSpPr>
        <p:spPr>
          <a:xfrm>
            <a:off x="685800" y="6419088"/>
            <a:ext cx="7315200" cy="274320"/>
          </a:xfrm>
          <a:prstGeom prst="rect">
            <a:avLst/>
          </a:prstGeom>
          <a:noFill/>
        </p:spPr>
        <p:txBody>
          <a:bodyPr wrap="square">
            <a:spAutoFit/>
          </a:bodyPr>
          <a:lstStyle/>
          <a:p>
            <a:pPr algn="l">
              <a:lnSpc>
                <a:spcPct val="100000"/>
              </a:lnSpc>
            </a:pPr>
            <a:r>
              <a:rPr sz="900" b="0">
                <a:solidFill>
                  <a:srgbClr val="8A8A8A"/>
                </a:solidFill>
                <a:latin typeface="Georgia"/>
              </a:rPr>
              <a:t>NeuFlow v3, S. Raghav Srinivasan</a:t>
            </a:r>
          </a:p>
        </p:txBody>
      </p:sp>
      <p:sp>
        <p:nvSpPr>
          <p:cNvPr id="9" name="TextBox 8"/>
          <p:cNvSpPr txBox="1"/>
          <p:nvPr/>
        </p:nvSpPr>
        <p:spPr>
          <a:xfrm>
            <a:off x="10607040" y="6419088"/>
            <a:ext cx="1097280" cy="274320"/>
          </a:xfrm>
          <a:prstGeom prst="rect">
            <a:avLst/>
          </a:prstGeom>
          <a:noFill/>
        </p:spPr>
        <p:txBody>
          <a:bodyPr wrap="square">
            <a:spAutoFit/>
          </a:bodyPr>
          <a:lstStyle/>
          <a:p>
            <a:pPr algn="l">
              <a:lnSpc>
                <a:spcPct val="100000"/>
              </a:lnSpc>
            </a:pPr>
            <a:r>
              <a:rPr sz="900" b="0">
                <a:solidFill>
                  <a:srgbClr val="8A8A8A"/>
                </a:solidFill>
                <a:latin typeface="Georgia"/>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384048"/>
            <a:ext cx="10515600" cy="274320"/>
          </a:xfrm>
          <a:prstGeom prst="rect">
            <a:avLst/>
          </a:prstGeom>
          <a:noFill/>
        </p:spPr>
        <p:txBody>
          <a:bodyPr wrap="square">
            <a:spAutoFit/>
          </a:bodyPr>
          <a:lstStyle/>
          <a:p>
            <a:pPr algn="l">
              <a:lnSpc>
                <a:spcPct val="100000"/>
              </a:lnSpc>
            </a:pPr>
            <a:r>
              <a:rPr sz="1050" b="1">
                <a:solidFill>
                  <a:srgbClr val="333333"/>
                </a:solidFill>
                <a:latin typeface="Georgia"/>
              </a:rPr>
              <a:t>INTERFACE</a:t>
            </a:r>
          </a:p>
        </p:txBody>
      </p:sp>
      <p:sp>
        <p:nvSpPr>
          <p:cNvPr id="3" name="TextBox 2"/>
          <p:cNvSpPr txBox="1"/>
          <p:nvPr/>
        </p:nvSpPr>
        <p:spPr>
          <a:xfrm>
            <a:off x="667512" y="658368"/>
            <a:ext cx="10881360" cy="731520"/>
          </a:xfrm>
          <a:prstGeom prst="rect">
            <a:avLst/>
          </a:prstGeom>
          <a:noFill/>
        </p:spPr>
        <p:txBody>
          <a:bodyPr wrap="square">
            <a:spAutoFit/>
          </a:bodyPr>
          <a:lstStyle/>
          <a:p>
            <a:pPr algn="l">
              <a:lnSpc>
                <a:spcPct val="100000"/>
              </a:lnSpc>
            </a:pPr>
            <a:r>
              <a:rPr sz="2400" b="1">
                <a:solidFill>
                  <a:srgbClr val="1A1A1A"/>
                </a:solidFill>
                <a:latin typeface="Georgia"/>
              </a:rPr>
              <a:t>Working tool: draw a region, get flow there</a:t>
            </a:r>
          </a:p>
        </p:txBody>
      </p:sp>
      <p:pic>
        <p:nvPicPr>
          <p:cNvPr id="4" name="Picture 3" descr="region_gui_window.png"/>
          <p:cNvPicPr>
            <a:picLocks noChangeAspect="1"/>
          </p:cNvPicPr>
          <p:nvPr/>
        </p:nvPicPr>
        <p:blipFill>
          <a:blip r:embed="rId2"/>
          <a:stretch>
            <a:fillRect/>
          </a:stretch>
        </p:blipFill>
        <p:spPr>
          <a:xfrm>
            <a:off x="731520" y="1508760"/>
            <a:ext cx="6949440" cy="3716489"/>
          </a:xfrm>
          <a:prstGeom prst="rect">
            <a:avLst/>
          </a:prstGeom>
        </p:spPr>
      </p:pic>
      <p:sp>
        <p:nvSpPr>
          <p:cNvPr id="5" name="TextBox 4"/>
          <p:cNvSpPr txBox="1"/>
          <p:nvPr/>
        </p:nvSpPr>
        <p:spPr>
          <a:xfrm>
            <a:off x="7955279" y="1645920"/>
            <a:ext cx="3657600" cy="4023360"/>
          </a:xfrm>
          <a:prstGeom prst="rect">
            <a:avLst/>
          </a:prstGeom>
          <a:noFill/>
        </p:spPr>
        <p:txBody>
          <a:bodyPr wrap="square">
            <a:spAutoFit/>
          </a:bodyPr>
          <a:lstStyle/>
          <a:p>
            <a:pPr algn="l">
              <a:lnSpc>
                <a:spcPct val="118000"/>
              </a:lnSpc>
            </a:pPr>
            <a:r>
              <a:rPr sz="1150" b="0">
                <a:solidFill>
                  <a:srgbClr val="1A1A1A"/>
                </a:solidFill>
                <a:latin typeface="Georgia"/>
              </a:rPr>
              <a:t>Load a video, step frame by frame,</a:t>
            </a:r>
          </a:p>
          <a:p>
            <a:pPr algn="l">
              <a:lnSpc>
                <a:spcPct val="118000"/>
              </a:lnSpc>
            </a:pPr>
            <a:r>
              <a:rPr sz="1150" b="0">
                <a:solidFill>
                  <a:srgbClr val="1A1A1A"/>
                </a:solidFill>
                <a:latin typeface="Georgia"/>
              </a:rPr>
              <a:t>drag a box, get flow for that region.</a:t>
            </a:r>
          </a:p>
          <a:p>
            <a:pPr algn="l">
              <a:lnSpc>
                <a:spcPct val="118000"/>
              </a:lnSpc>
            </a:pPr>
            <a:r>
              <a:rPr sz="1150" b="0">
                <a:solidFill>
                  <a:srgbClr val="1A1A1A"/>
                </a:solidFill>
                <a:latin typeface="Georgia"/>
              </a:rPr>
              <a:t/>
            </a:r>
          </a:p>
          <a:p>
            <a:pPr algn="l">
              <a:lnSpc>
                <a:spcPct val="118000"/>
              </a:lnSpc>
            </a:pPr>
            <a:r>
              <a:rPr sz="1150" b="0">
                <a:solidFill>
                  <a:srgbClr val="1A1A1A"/>
                </a:solidFill>
                <a:latin typeface="Georgia"/>
              </a:rPr>
              <a:t>Two modes, both timed live:</a:t>
            </a:r>
          </a:p>
          <a:p>
            <a:pPr algn="l">
              <a:lnSpc>
                <a:spcPct val="118000"/>
              </a:lnSpc>
            </a:pPr>
            <a:r>
              <a:rPr sz="1150" b="0">
                <a:solidFill>
                  <a:srgbClr val="1A1A1A"/>
                </a:solidFill>
                <a:latin typeface="Georgia"/>
              </a:rPr>
              <a:t/>
            </a:r>
          </a:p>
          <a:p>
            <a:pPr algn="l">
              <a:lnSpc>
                <a:spcPct val="118000"/>
              </a:lnSpc>
            </a:pPr>
            <a:r>
              <a:rPr sz="1150" b="0">
                <a:solidFill>
                  <a:srgbClr val="1A1A1A"/>
                </a:solidFill>
                <a:latin typeface="Georgia"/>
              </a:rPr>
              <a:t>QUERY decodes only inside the box</a:t>
            </a:r>
          </a:p>
          <a:p>
            <a:pPr algn="l">
              <a:lnSpc>
                <a:spcPct val="118000"/>
              </a:lnSpc>
            </a:pPr>
            <a:r>
              <a:rPr sz="1150" b="0">
                <a:solidFill>
                  <a:srgbClr val="1A1A1A"/>
                </a:solidFill>
                <a:latin typeface="Georgia"/>
              </a:rPr>
              <a:t>against a full-frame coarse pass. Exact.</a:t>
            </a:r>
          </a:p>
          <a:p>
            <a:pPr algn="l">
              <a:lnSpc>
                <a:spcPct val="118000"/>
              </a:lnSpc>
            </a:pPr>
            <a:r>
              <a:rPr sz="1150" b="0">
                <a:solidFill>
                  <a:srgbClr val="1A1A1A"/>
                </a:solidFill>
                <a:latin typeface="Georgia"/>
              </a:rPr>
              <a:t/>
            </a:r>
          </a:p>
          <a:p>
            <a:pPr algn="l">
              <a:lnSpc>
                <a:spcPct val="118000"/>
              </a:lnSpc>
            </a:pPr>
            <a:r>
              <a:rPr sz="1150" b="0">
                <a:solidFill>
                  <a:srgbClr val="1A1A1A"/>
                </a:solidFill>
                <a:latin typeface="Georgia"/>
              </a:rPr>
              <a:t>CROP feeds only the box through the</a:t>
            </a:r>
          </a:p>
          <a:p>
            <a:pPr algn="l">
              <a:lnSpc>
                <a:spcPct val="118000"/>
              </a:lnSpc>
            </a:pPr>
            <a:r>
              <a:rPr sz="1150" b="0">
                <a:solidFill>
                  <a:srgbClr val="1A1A1A"/>
                </a:solidFill>
                <a:latin typeface="Georgia"/>
              </a:rPr>
              <a:t>whole pipeline, so cost scales with the</a:t>
            </a:r>
          </a:p>
          <a:p>
            <a:pPr algn="l">
              <a:lnSpc>
                <a:spcPct val="118000"/>
              </a:lnSpc>
            </a:pPr>
            <a:r>
              <a:rPr sz="1150" b="0">
                <a:solidFill>
                  <a:srgbClr val="1A1A1A"/>
                </a:solidFill>
                <a:latin typeface="Georgia"/>
              </a:rPr>
              <a:t>area requested, at the price of losing</a:t>
            </a:r>
          </a:p>
          <a:p>
            <a:pPr algn="l">
              <a:lnSpc>
                <a:spcPct val="118000"/>
              </a:lnSpc>
            </a:pPr>
            <a:r>
              <a:rPr sz="1150" b="0">
                <a:solidFill>
                  <a:srgbClr val="1A1A1A"/>
                </a:solidFill>
                <a:latin typeface="Georgia"/>
              </a:rPr>
              <a:t>context outside the crop.</a:t>
            </a:r>
          </a:p>
          <a:p>
            <a:pPr algn="l">
              <a:lnSpc>
                <a:spcPct val="118000"/>
              </a:lnSpc>
            </a:pPr>
            <a:r>
              <a:rPr sz="1150" b="0">
                <a:solidFill>
                  <a:srgbClr val="1A1A1A"/>
                </a:solidFill>
                <a:latin typeface="Georgia"/>
              </a:rPr>
              <a:t/>
            </a:r>
          </a:p>
          <a:p>
            <a:pPr algn="l">
              <a:lnSpc>
                <a:spcPct val="118000"/>
              </a:lnSpc>
            </a:pPr>
            <a:r>
              <a:rPr sz="1150" b="0">
                <a:solidFill>
                  <a:srgbClr val="1A1A1A"/>
                </a:solidFill>
                <a:latin typeface="Georgia"/>
              </a:rPr>
              <a:t>The panel shows where the time goes</a:t>
            </a:r>
          </a:p>
          <a:p>
            <a:pPr algn="l">
              <a:lnSpc>
                <a:spcPct val="118000"/>
              </a:lnSpc>
            </a:pPr>
            <a:r>
              <a:rPr sz="1150" b="0">
                <a:solidFill>
                  <a:srgbClr val="1A1A1A"/>
                </a:solidFill>
                <a:latin typeface="Georgia"/>
              </a:rPr>
              <a:t>rather than asserting a speed-up.</a:t>
            </a:r>
          </a:p>
        </p:txBody>
      </p:sp>
      <p:sp>
        <p:nvSpPr>
          <p:cNvPr id="6" name="TextBox 5"/>
          <p:cNvSpPr txBox="1"/>
          <p:nvPr/>
        </p:nvSpPr>
        <p:spPr>
          <a:xfrm>
            <a:off x="685800" y="6419088"/>
            <a:ext cx="7315200" cy="274320"/>
          </a:xfrm>
          <a:prstGeom prst="rect">
            <a:avLst/>
          </a:prstGeom>
          <a:noFill/>
        </p:spPr>
        <p:txBody>
          <a:bodyPr wrap="square">
            <a:spAutoFit/>
          </a:bodyPr>
          <a:lstStyle/>
          <a:p>
            <a:pPr algn="l">
              <a:lnSpc>
                <a:spcPct val="100000"/>
              </a:lnSpc>
            </a:pPr>
            <a:r>
              <a:rPr sz="900" b="0">
                <a:solidFill>
                  <a:srgbClr val="8A8A8A"/>
                </a:solidFill>
                <a:latin typeface="Georgia"/>
              </a:rPr>
              <a:t>NeuFlow v3, S. Raghav Srinivasan</a:t>
            </a:r>
          </a:p>
        </p:txBody>
      </p:sp>
      <p:sp>
        <p:nvSpPr>
          <p:cNvPr id="7" name="TextBox 6"/>
          <p:cNvSpPr txBox="1"/>
          <p:nvPr/>
        </p:nvSpPr>
        <p:spPr>
          <a:xfrm>
            <a:off x="10607040" y="6419088"/>
            <a:ext cx="1097280" cy="274320"/>
          </a:xfrm>
          <a:prstGeom prst="rect">
            <a:avLst/>
          </a:prstGeom>
          <a:noFill/>
        </p:spPr>
        <p:txBody>
          <a:bodyPr wrap="square">
            <a:spAutoFit/>
          </a:bodyPr>
          <a:lstStyle/>
          <a:p>
            <a:pPr algn="l">
              <a:lnSpc>
                <a:spcPct val="100000"/>
              </a:lnSpc>
            </a:pPr>
            <a:r>
              <a:rPr sz="900" b="0">
                <a:solidFill>
                  <a:srgbClr val="8A8A8A"/>
                </a:solidFill>
                <a:latin typeface="Georgia"/>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384048"/>
            <a:ext cx="10515600" cy="274320"/>
          </a:xfrm>
          <a:prstGeom prst="rect">
            <a:avLst/>
          </a:prstGeom>
          <a:noFill/>
        </p:spPr>
        <p:txBody>
          <a:bodyPr wrap="square">
            <a:spAutoFit/>
          </a:bodyPr>
          <a:lstStyle/>
          <a:p>
            <a:pPr algn="l">
              <a:lnSpc>
                <a:spcPct val="100000"/>
              </a:lnSpc>
            </a:pPr>
            <a:r>
              <a:rPr sz="1050" b="1">
                <a:solidFill>
                  <a:srgbClr val="333333"/>
                </a:solidFill>
                <a:latin typeface="Georgia"/>
              </a:rPr>
              <a:t>ASSESSMENT</a:t>
            </a:r>
          </a:p>
        </p:txBody>
      </p:sp>
      <p:sp>
        <p:nvSpPr>
          <p:cNvPr id="3" name="TextBox 2"/>
          <p:cNvSpPr txBox="1"/>
          <p:nvPr/>
        </p:nvSpPr>
        <p:spPr>
          <a:xfrm>
            <a:off x="667512" y="658368"/>
            <a:ext cx="10881360" cy="731520"/>
          </a:xfrm>
          <a:prstGeom prst="rect">
            <a:avLst/>
          </a:prstGeom>
          <a:noFill/>
        </p:spPr>
        <p:txBody>
          <a:bodyPr wrap="square">
            <a:spAutoFit/>
          </a:bodyPr>
          <a:lstStyle/>
          <a:p>
            <a:pPr algn="l">
              <a:lnSpc>
                <a:spcPct val="100000"/>
              </a:lnSpc>
            </a:pPr>
            <a:r>
              <a:rPr sz="2400" b="1">
                <a:solidFill>
                  <a:srgbClr val="1A1A1A"/>
                </a:solidFill>
                <a:latin typeface="Georgia"/>
              </a:rPr>
              <a:t>Against the three objectives I set</a:t>
            </a:r>
          </a:p>
        </p:txBody>
      </p:sp>
      <p:sp>
        <p:nvSpPr>
          <p:cNvPr id="4" name="TextBox 3"/>
          <p:cNvSpPr txBox="1"/>
          <p:nvPr/>
        </p:nvSpPr>
        <p:spPr>
          <a:xfrm>
            <a:off x="685800" y="1691640"/>
            <a:ext cx="3291840" cy="237744"/>
          </a:xfrm>
          <a:prstGeom prst="rect">
            <a:avLst/>
          </a:prstGeom>
          <a:noFill/>
        </p:spPr>
        <p:txBody>
          <a:bodyPr wrap="square">
            <a:spAutoFit/>
          </a:bodyPr>
          <a:lstStyle/>
          <a:p>
            <a:pPr algn="l">
              <a:lnSpc>
                <a:spcPct val="100000"/>
              </a:lnSpc>
            </a:pPr>
            <a:r>
              <a:rPr sz="1150" b="1">
                <a:solidFill>
                  <a:srgbClr val="1A1A1A"/>
                </a:solidFill>
                <a:latin typeface="Georgia"/>
              </a:rPr>
              <a:t>Objective</a:t>
            </a:r>
          </a:p>
        </p:txBody>
      </p:sp>
      <p:sp>
        <p:nvSpPr>
          <p:cNvPr id="5" name="TextBox 4"/>
          <p:cNvSpPr txBox="1"/>
          <p:nvPr/>
        </p:nvSpPr>
        <p:spPr>
          <a:xfrm>
            <a:off x="3977639" y="1691640"/>
            <a:ext cx="1737360" cy="237744"/>
          </a:xfrm>
          <a:prstGeom prst="rect">
            <a:avLst/>
          </a:prstGeom>
          <a:noFill/>
        </p:spPr>
        <p:txBody>
          <a:bodyPr wrap="square">
            <a:spAutoFit/>
          </a:bodyPr>
          <a:lstStyle/>
          <a:p>
            <a:pPr algn="r">
              <a:lnSpc>
                <a:spcPct val="100000"/>
              </a:lnSpc>
            </a:pPr>
            <a:r>
              <a:rPr sz="1150" b="1">
                <a:solidFill>
                  <a:srgbClr val="1A1A1A"/>
                </a:solidFill>
                <a:latin typeface="Georgia"/>
              </a:rPr>
              <a:t>Verdict</a:t>
            </a:r>
          </a:p>
        </p:txBody>
      </p:sp>
      <p:sp>
        <p:nvSpPr>
          <p:cNvPr id="6" name="TextBox 5"/>
          <p:cNvSpPr txBox="1"/>
          <p:nvPr/>
        </p:nvSpPr>
        <p:spPr>
          <a:xfrm>
            <a:off x="5715000" y="1691640"/>
            <a:ext cx="5852160" cy="237744"/>
          </a:xfrm>
          <a:prstGeom prst="rect">
            <a:avLst/>
          </a:prstGeom>
          <a:noFill/>
        </p:spPr>
        <p:txBody>
          <a:bodyPr wrap="square">
            <a:spAutoFit/>
          </a:bodyPr>
          <a:lstStyle/>
          <a:p>
            <a:pPr algn="r">
              <a:lnSpc>
                <a:spcPct val="100000"/>
              </a:lnSpc>
            </a:pPr>
            <a:r>
              <a:rPr sz="1150" b="1">
                <a:solidFill>
                  <a:srgbClr val="1A1A1A"/>
                </a:solidFill>
                <a:latin typeface="Georgia"/>
              </a:rPr>
              <a:t>Evidence</a:t>
            </a:r>
          </a:p>
        </p:txBody>
      </p:sp>
      <p:sp>
        <p:nvSpPr>
          <p:cNvPr id="7" name="Rectangle 6"/>
          <p:cNvSpPr/>
          <p:nvPr/>
        </p:nvSpPr>
        <p:spPr>
          <a:xfrm>
            <a:off x="685800" y="1929384"/>
            <a:ext cx="10881360" cy="9525"/>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965960"/>
            <a:ext cx="3291840" cy="237744"/>
          </a:xfrm>
          <a:prstGeom prst="rect">
            <a:avLst/>
          </a:prstGeom>
          <a:noFill/>
        </p:spPr>
        <p:txBody>
          <a:bodyPr wrap="square">
            <a:spAutoFit/>
          </a:bodyPr>
          <a:lstStyle/>
          <a:p>
            <a:pPr algn="l">
              <a:lnSpc>
                <a:spcPct val="100000"/>
              </a:lnSpc>
            </a:pPr>
            <a:r>
              <a:rPr sz="1150" b="0">
                <a:solidFill>
                  <a:srgbClr val="1A1A1A"/>
                </a:solidFill>
                <a:latin typeface="Georgia"/>
              </a:rPr>
              <a:t>Better accuracy than v2</a:t>
            </a:r>
          </a:p>
        </p:txBody>
      </p:sp>
      <p:sp>
        <p:nvSpPr>
          <p:cNvPr id="9" name="TextBox 8"/>
          <p:cNvSpPr txBox="1"/>
          <p:nvPr/>
        </p:nvSpPr>
        <p:spPr>
          <a:xfrm>
            <a:off x="3977639" y="1965960"/>
            <a:ext cx="1737360" cy="237744"/>
          </a:xfrm>
          <a:prstGeom prst="rect">
            <a:avLst/>
          </a:prstGeom>
          <a:noFill/>
        </p:spPr>
        <p:txBody>
          <a:bodyPr wrap="square">
            <a:spAutoFit/>
          </a:bodyPr>
          <a:lstStyle/>
          <a:p>
            <a:pPr algn="r">
              <a:lnSpc>
                <a:spcPct val="100000"/>
              </a:lnSpc>
            </a:pPr>
            <a:r>
              <a:rPr sz="1150" b="0">
                <a:solidFill>
                  <a:srgbClr val="1A1A1A"/>
                </a:solidFill>
                <a:latin typeface="Georgia"/>
              </a:rPr>
              <a:t>NOT MET</a:t>
            </a:r>
          </a:p>
        </p:txBody>
      </p:sp>
      <p:sp>
        <p:nvSpPr>
          <p:cNvPr id="10" name="TextBox 9"/>
          <p:cNvSpPr txBox="1"/>
          <p:nvPr/>
        </p:nvSpPr>
        <p:spPr>
          <a:xfrm>
            <a:off x="5715000" y="1965960"/>
            <a:ext cx="5852160" cy="237744"/>
          </a:xfrm>
          <a:prstGeom prst="rect">
            <a:avLst/>
          </a:prstGeom>
          <a:noFill/>
        </p:spPr>
        <p:txBody>
          <a:bodyPr wrap="square">
            <a:spAutoFit/>
          </a:bodyPr>
          <a:lstStyle/>
          <a:p>
            <a:pPr algn="r">
              <a:lnSpc>
                <a:spcPct val="100000"/>
              </a:lnSpc>
            </a:pPr>
            <a:r>
              <a:rPr sz="1150" b="0">
                <a:solidFill>
                  <a:srgbClr val="1A1A1A"/>
                </a:solidFill>
                <a:latin typeface="Georgia"/>
              </a:rPr>
              <a:t>best v3 2.384 vs 2.324; every config above v2</a:t>
            </a:r>
          </a:p>
        </p:txBody>
      </p:sp>
      <p:sp>
        <p:nvSpPr>
          <p:cNvPr id="11" name="TextBox 10"/>
          <p:cNvSpPr txBox="1"/>
          <p:nvPr/>
        </p:nvSpPr>
        <p:spPr>
          <a:xfrm>
            <a:off x="685800" y="2240279"/>
            <a:ext cx="3291840" cy="237744"/>
          </a:xfrm>
          <a:prstGeom prst="rect">
            <a:avLst/>
          </a:prstGeom>
          <a:noFill/>
        </p:spPr>
        <p:txBody>
          <a:bodyPr wrap="square">
            <a:spAutoFit/>
          </a:bodyPr>
          <a:lstStyle/>
          <a:p>
            <a:pPr algn="l">
              <a:lnSpc>
                <a:spcPct val="100000"/>
              </a:lnSpc>
            </a:pPr>
            <a:r>
              <a:rPr sz="1150" b="0">
                <a:solidFill>
                  <a:srgbClr val="1A1A1A"/>
                </a:solidFill>
                <a:latin typeface="Georgia"/>
              </a:rPr>
              <a:t/>
            </a:r>
          </a:p>
        </p:txBody>
      </p:sp>
      <p:sp>
        <p:nvSpPr>
          <p:cNvPr id="12" name="TextBox 11"/>
          <p:cNvSpPr txBox="1"/>
          <p:nvPr/>
        </p:nvSpPr>
        <p:spPr>
          <a:xfrm>
            <a:off x="3977639" y="2240279"/>
            <a:ext cx="1737360" cy="237744"/>
          </a:xfrm>
          <a:prstGeom prst="rect">
            <a:avLst/>
          </a:prstGeom>
          <a:noFill/>
        </p:spPr>
        <p:txBody>
          <a:bodyPr wrap="square">
            <a:spAutoFit/>
          </a:bodyPr>
          <a:lstStyle/>
          <a:p>
            <a:pPr algn="r">
              <a:lnSpc>
                <a:spcPct val="100000"/>
              </a:lnSpc>
            </a:pPr>
            <a:r>
              <a:rPr sz="1150" b="0">
                <a:solidFill>
                  <a:srgbClr val="1A1A1A"/>
                </a:solidFill>
                <a:latin typeface="Georgia"/>
              </a:rPr>
              <a:t/>
            </a:r>
          </a:p>
        </p:txBody>
      </p:sp>
      <p:sp>
        <p:nvSpPr>
          <p:cNvPr id="13" name="TextBox 12"/>
          <p:cNvSpPr txBox="1"/>
          <p:nvPr/>
        </p:nvSpPr>
        <p:spPr>
          <a:xfrm>
            <a:off x="5715000" y="2240279"/>
            <a:ext cx="5852160" cy="237744"/>
          </a:xfrm>
          <a:prstGeom prst="rect">
            <a:avLst/>
          </a:prstGeom>
          <a:noFill/>
        </p:spPr>
        <p:txBody>
          <a:bodyPr wrap="square">
            <a:spAutoFit/>
          </a:bodyPr>
          <a:lstStyle/>
          <a:p>
            <a:pPr algn="r">
              <a:lnSpc>
                <a:spcPct val="100000"/>
              </a:lnSpc>
            </a:pPr>
            <a:r>
              <a:rPr sz="1150" b="0">
                <a:solidFill>
                  <a:srgbClr val="1A1A1A"/>
                </a:solidFill>
                <a:latin typeface="Georgia"/>
              </a:rPr>
              <a:t>like-for-like 2.500, i.e. 7.6% behind</a:t>
            </a:r>
          </a:p>
        </p:txBody>
      </p:sp>
      <p:sp>
        <p:nvSpPr>
          <p:cNvPr id="14" name="TextBox 13"/>
          <p:cNvSpPr txBox="1"/>
          <p:nvPr/>
        </p:nvSpPr>
        <p:spPr>
          <a:xfrm>
            <a:off x="685800" y="2514599"/>
            <a:ext cx="3291840" cy="237744"/>
          </a:xfrm>
          <a:prstGeom prst="rect">
            <a:avLst/>
          </a:prstGeom>
          <a:noFill/>
        </p:spPr>
        <p:txBody>
          <a:bodyPr wrap="square">
            <a:spAutoFit/>
          </a:bodyPr>
          <a:lstStyle/>
          <a:p>
            <a:pPr algn="l">
              <a:lnSpc>
                <a:spcPct val="100000"/>
              </a:lnSpc>
            </a:pPr>
            <a:r>
              <a:rPr sz="1150" b="0">
                <a:solidFill>
                  <a:srgbClr val="1A1A1A"/>
                </a:solidFill>
                <a:latin typeface="Georgia"/>
              </a:rPr>
              <a:t/>
            </a:r>
          </a:p>
        </p:txBody>
      </p:sp>
      <p:sp>
        <p:nvSpPr>
          <p:cNvPr id="15" name="TextBox 14"/>
          <p:cNvSpPr txBox="1"/>
          <p:nvPr/>
        </p:nvSpPr>
        <p:spPr>
          <a:xfrm>
            <a:off x="3977639" y="2514599"/>
            <a:ext cx="1737360" cy="237744"/>
          </a:xfrm>
          <a:prstGeom prst="rect">
            <a:avLst/>
          </a:prstGeom>
          <a:noFill/>
        </p:spPr>
        <p:txBody>
          <a:bodyPr wrap="square">
            <a:spAutoFit/>
          </a:bodyPr>
          <a:lstStyle/>
          <a:p>
            <a:pPr algn="r">
              <a:lnSpc>
                <a:spcPct val="100000"/>
              </a:lnSpc>
            </a:pPr>
            <a:r>
              <a:rPr sz="1150" b="0">
                <a:solidFill>
                  <a:srgbClr val="1A1A1A"/>
                </a:solidFill>
                <a:latin typeface="Georgia"/>
              </a:rPr>
              <a:t/>
            </a:r>
          </a:p>
        </p:txBody>
      </p:sp>
      <p:sp>
        <p:nvSpPr>
          <p:cNvPr id="16" name="TextBox 15"/>
          <p:cNvSpPr txBox="1"/>
          <p:nvPr/>
        </p:nvSpPr>
        <p:spPr>
          <a:xfrm>
            <a:off x="5715000" y="2514599"/>
            <a:ext cx="5852160" cy="237744"/>
          </a:xfrm>
          <a:prstGeom prst="rect">
            <a:avLst/>
          </a:prstGeom>
          <a:noFill/>
        </p:spPr>
        <p:txBody>
          <a:bodyPr wrap="square">
            <a:spAutoFit/>
          </a:bodyPr>
          <a:lstStyle/>
          <a:p>
            <a:pPr algn="r">
              <a:lnSpc>
                <a:spcPct val="100000"/>
              </a:lnSpc>
            </a:pPr>
            <a:r>
              <a:rPr sz="1150" b="0">
                <a:solidFill>
                  <a:srgbClr val="1A1A1A"/>
                </a:solidFill>
                <a:latin typeface="Georgia"/>
              </a:rPr>
              <a:t/>
            </a:r>
          </a:p>
        </p:txBody>
      </p:sp>
      <p:sp>
        <p:nvSpPr>
          <p:cNvPr id="17" name="TextBox 16"/>
          <p:cNvSpPr txBox="1"/>
          <p:nvPr/>
        </p:nvSpPr>
        <p:spPr>
          <a:xfrm>
            <a:off x="685800" y="2788919"/>
            <a:ext cx="3291840" cy="237744"/>
          </a:xfrm>
          <a:prstGeom prst="rect">
            <a:avLst/>
          </a:prstGeom>
          <a:noFill/>
        </p:spPr>
        <p:txBody>
          <a:bodyPr wrap="square">
            <a:spAutoFit/>
          </a:bodyPr>
          <a:lstStyle/>
          <a:p>
            <a:pPr algn="l">
              <a:lnSpc>
                <a:spcPct val="100000"/>
              </a:lnSpc>
            </a:pPr>
            <a:r>
              <a:rPr sz="1150" b="0">
                <a:solidFill>
                  <a:srgbClr val="1A1A1A"/>
                </a:solidFill>
                <a:latin typeface="Georgia"/>
              </a:rPr>
              <a:t>Less compute than v2</a:t>
            </a:r>
          </a:p>
        </p:txBody>
      </p:sp>
      <p:sp>
        <p:nvSpPr>
          <p:cNvPr id="18" name="TextBox 17"/>
          <p:cNvSpPr txBox="1"/>
          <p:nvPr/>
        </p:nvSpPr>
        <p:spPr>
          <a:xfrm>
            <a:off x="3977639" y="2788919"/>
            <a:ext cx="1737360" cy="237744"/>
          </a:xfrm>
          <a:prstGeom prst="rect">
            <a:avLst/>
          </a:prstGeom>
          <a:noFill/>
        </p:spPr>
        <p:txBody>
          <a:bodyPr wrap="square">
            <a:spAutoFit/>
          </a:bodyPr>
          <a:lstStyle/>
          <a:p>
            <a:pPr algn="r">
              <a:lnSpc>
                <a:spcPct val="100000"/>
              </a:lnSpc>
            </a:pPr>
            <a:r>
              <a:rPr sz="1150" b="0">
                <a:solidFill>
                  <a:srgbClr val="1A1A1A"/>
                </a:solidFill>
                <a:latin typeface="Georgia"/>
              </a:rPr>
              <a:t>PARTLY</a:t>
            </a:r>
          </a:p>
        </p:txBody>
      </p:sp>
      <p:sp>
        <p:nvSpPr>
          <p:cNvPr id="19" name="TextBox 18"/>
          <p:cNvSpPr txBox="1"/>
          <p:nvPr/>
        </p:nvSpPr>
        <p:spPr>
          <a:xfrm>
            <a:off x="5715000" y="2788919"/>
            <a:ext cx="5852160" cy="237744"/>
          </a:xfrm>
          <a:prstGeom prst="rect">
            <a:avLst/>
          </a:prstGeom>
          <a:noFill/>
        </p:spPr>
        <p:txBody>
          <a:bodyPr wrap="square">
            <a:spAutoFit/>
          </a:bodyPr>
          <a:lstStyle/>
          <a:p>
            <a:pPr algn="r">
              <a:lnSpc>
                <a:spcPct val="100000"/>
              </a:lnSpc>
            </a:pPr>
            <a:r>
              <a:rPr sz="1150" b="0">
                <a:solidFill>
                  <a:srgbClr val="1A1A1A"/>
                </a:solidFill>
                <a:latin typeface="Georgia"/>
              </a:rPr>
              <a:t>dense 11% slower; first query level</a:t>
            </a:r>
          </a:p>
        </p:txBody>
      </p:sp>
      <p:sp>
        <p:nvSpPr>
          <p:cNvPr id="20" name="TextBox 19"/>
          <p:cNvSpPr txBox="1"/>
          <p:nvPr/>
        </p:nvSpPr>
        <p:spPr>
          <a:xfrm>
            <a:off x="685800" y="3063239"/>
            <a:ext cx="3291840" cy="237744"/>
          </a:xfrm>
          <a:prstGeom prst="rect">
            <a:avLst/>
          </a:prstGeom>
          <a:noFill/>
        </p:spPr>
        <p:txBody>
          <a:bodyPr wrap="square">
            <a:spAutoFit/>
          </a:bodyPr>
          <a:lstStyle/>
          <a:p>
            <a:pPr algn="l">
              <a:lnSpc>
                <a:spcPct val="100000"/>
              </a:lnSpc>
            </a:pPr>
            <a:r>
              <a:rPr sz="1150" b="0">
                <a:solidFill>
                  <a:srgbClr val="1A1A1A"/>
                </a:solidFill>
                <a:latin typeface="Georgia"/>
              </a:rPr>
              <a:t/>
            </a:r>
          </a:p>
        </p:txBody>
      </p:sp>
      <p:sp>
        <p:nvSpPr>
          <p:cNvPr id="21" name="TextBox 20"/>
          <p:cNvSpPr txBox="1"/>
          <p:nvPr/>
        </p:nvSpPr>
        <p:spPr>
          <a:xfrm>
            <a:off x="3977639" y="3063239"/>
            <a:ext cx="1737360" cy="237744"/>
          </a:xfrm>
          <a:prstGeom prst="rect">
            <a:avLst/>
          </a:prstGeom>
          <a:noFill/>
        </p:spPr>
        <p:txBody>
          <a:bodyPr wrap="square">
            <a:spAutoFit/>
          </a:bodyPr>
          <a:lstStyle/>
          <a:p>
            <a:pPr algn="r">
              <a:lnSpc>
                <a:spcPct val="100000"/>
              </a:lnSpc>
            </a:pPr>
            <a:r>
              <a:rPr sz="1150" b="0">
                <a:solidFill>
                  <a:srgbClr val="1A1A1A"/>
                </a:solidFill>
                <a:latin typeface="Georgia"/>
              </a:rPr>
              <a:t/>
            </a:r>
          </a:p>
        </p:txBody>
      </p:sp>
      <p:sp>
        <p:nvSpPr>
          <p:cNvPr id="22" name="TextBox 21"/>
          <p:cNvSpPr txBox="1"/>
          <p:nvPr/>
        </p:nvSpPr>
        <p:spPr>
          <a:xfrm>
            <a:off x="5715000" y="3063239"/>
            <a:ext cx="5852160" cy="237744"/>
          </a:xfrm>
          <a:prstGeom prst="rect">
            <a:avLst/>
          </a:prstGeom>
          <a:noFill/>
        </p:spPr>
        <p:txBody>
          <a:bodyPr wrap="square">
            <a:spAutoFit/>
          </a:bodyPr>
          <a:lstStyle/>
          <a:p>
            <a:pPr algn="r">
              <a:lnSpc>
                <a:spcPct val="100000"/>
              </a:lnSpc>
            </a:pPr>
            <a:r>
              <a:rPr sz="1150" b="0">
                <a:solidFill>
                  <a:srgbClr val="1A1A1A"/>
                </a:solidFill>
                <a:latin typeface="Georgia"/>
              </a:rPr>
              <a:t>repeat query 27x cheaper (1.3 vs 33.3 ms)</a:t>
            </a:r>
          </a:p>
        </p:txBody>
      </p:sp>
      <p:sp>
        <p:nvSpPr>
          <p:cNvPr id="23" name="TextBox 22"/>
          <p:cNvSpPr txBox="1"/>
          <p:nvPr/>
        </p:nvSpPr>
        <p:spPr>
          <a:xfrm>
            <a:off x="685800" y="3337559"/>
            <a:ext cx="3291840" cy="237744"/>
          </a:xfrm>
          <a:prstGeom prst="rect">
            <a:avLst/>
          </a:prstGeom>
          <a:noFill/>
        </p:spPr>
        <p:txBody>
          <a:bodyPr wrap="square">
            <a:spAutoFit/>
          </a:bodyPr>
          <a:lstStyle/>
          <a:p>
            <a:pPr algn="l">
              <a:lnSpc>
                <a:spcPct val="100000"/>
              </a:lnSpc>
            </a:pPr>
            <a:r>
              <a:rPr sz="1150" b="0">
                <a:solidFill>
                  <a:srgbClr val="1A1A1A"/>
                </a:solidFill>
                <a:latin typeface="Georgia"/>
              </a:rPr>
              <a:t/>
            </a:r>
          </a:p>
        </p:txBody>
      </p:sp>
      <p:sp>
        <p:nvSpPr>
          <p:cNvPr id="24" name="TextBox 23"/>
          <p:cNvSpPr txBox="1"/>
          <p:nvPr/>
        </p:nvSpPr>
        <p:spPr>
          <a:xfrm>
            <a:off x="3977639" y="3337559"/>
            <a:ext cx="1737360" cy="237744"/>
          </a:xfrm>
          <a:prstGeom prst="rect">
            <a:avLst/>
          </a:prstGeom>
          <a:noFill/>
        </p:spPr>
        <p:txBody>
          <a:bodyPr wrap="square">
            <a:spAutoFit/>
          </a:bodyPr>
          <a:lstStyle/>
          <a:p>
            <a:pPr algn="r">
              <a:lnSpc>
                <a:spcPct val="100000"/>
              </a:lnSpc>
            </a:pPr>
            <a:r>
              <a:rPr sz="1150" b="0">
                <a:solidFill>
                  <a:srgbClr val="1A1A1A"/>
                </a:solidFill>
                <a:latin typeface="Georgia"/>
              </a:rPr>
              <a:t/>
            </a:r>
          </a:p>
        </p:txBody>
      </p:sp>
      <p:sp>
        <p:nvSpPr>
          <p:cNvPr id="25" name="TextBox 24"/>
          <p:cNvSpPr txBox="1"/>
          <p:nvPr/>
        </p:nvSpPr>
        <p:spPr>
          <a:xfrm>
            <a:off x="5715000" y="3337559"/>
            <a:ext cx="5852160" cy="237744"/>
          </a:xfrm>
          <a:prstGeom prst="rect">
            <a:avLst/>
          </a:prstGeom>
          <a:noFill/>
        </p:spPr>
        <p:txBody>
          <a:bodyPr wrap="square">
            <a:spAutoFit/>
          </a:bodyPr>
          <a:lstStyle/>
          <a:p>
            <a:pPr algn="r">
              <a:lnSpc>
                <a:spcPct val="100000"/>
              </a:lnSpc>
            </a:pPr>
            <a:r>
              <a:rPr sz="1150" b="0">
                <a:solidFill>
                  <a:srgbClr val="1A1A1A"/>
                </a:solidFill>
                <a:latin typeface="Georgia"/>
              </a:rPr>
              <a:t/>
            </a:r>
          </a:p>
        </p:txBody>
      </p:sp>
      <p:sp>
        <p:nvSpPr>
          <p:cNvPr id="26" name="TextBox 25"/>
          <p:cNvSpPr txBox="1"/>
          <p:nvPr/>
        </p:nvSpPr>
        <p:spPr>
          <a:xfrm>
            <a:off x="685800" y="3611879"/>
            <a:ext cx="3291840" cy="237744"/>
          </a:xfrm>
          <a:prstGeom prst="rect">
            <a:avLst/>
          </a:prstGeom>
          <a:noFill/>
        </p:spPr>
        <p:txBody>
          <a:bodyPr wrap="square">
            <a:spAutoFit/>
          </a:bodyPr>
          <a:lstStyle/>
          <a:p>
            <a:pPr algn="l">
              <a:lnSpc>
                <a:spcPct val="100000"/>
              </a:lnSpc>
            </a:pPr>
            <a:r>
              <a:rPr sz="1150" b="0">
                <a:solidFill>
                  <a:srgbClr val="1A1A1A"/>
                </a:solidFill>
                <a:latin typeface="Georgia"/>
              </a:rPr>
              <a:t>Runs on edge devices</a:t>
            </a:r>
          </a:p>
        </p:txBody>
      </p:sp>
      <p:sp>
        <p:nvSpPr>
          <p:cNvPr id="27" name="TextBox 26"/>
          <p:cNvSpPr txBox="1"/>
          <p:nvPr/>
        </p:nvSpPr>
        <p:spPr>
          <a:xfrm>
            <a:off x="3977639" y="3611879"/>
            <a:ext cx="1737360" cy="237744"/>
          </a:xfrm>
          <a:prstGeom prst="rect">
            <a:avLst/>
          </a:prstGeom>
          <a:noFill/>
        </p:spPr>
        <p:txBody>
          <a:bodyPr wrap="square">
            <a:spAutoFit/>
          </a:bodyPr>
          <a:lstStyle/>
          <a:p>
            <a:pPr algn="r">
              <a:lnSpc>
                <a:spcPct val="100000"/>
              </a:lnSpc>
            </a:pPr>
            <a:r>
              <a:rPr sz="1150" b="0">
                <a:solidFill>
                  <a:srgbClr val="1A1A1A"/>
                </a:solidFill>
                <a:latin typeface="Georgia"/>
              </a:rPr>
              <a:t>UNPROVEN</a:t>
            </a:r>
          </a:p>
        </p:txBody>
      </p:sp>
      <p:sp>
        <p:nvSpPr>
          <p:cNvPr id="28" name="TextBox 27"/>
          <p:cNvSpPr txBox="1"/>
          <p:nvPr/>
        </p:nvSpPr>
        <p:spPr>
          <a:xfrm>
            <a:off x="5715000" y="3611879"/>
            <a:ext cx="5852160" cy="237744"/>
          </a:xfrm>
          <a:prstGeom prst="rect">
            <a:avLst/>
          </a:prstGeom>
          <a:noFill/>
        </p:spPr>
        <p:txBody>
          <a:bodyPr wrap="square">
            <a:spAutoFit/>
          </a:bodyPr>
          <a:lstStyle/>
          <a:p>
            <a:pPr algn="r">
              <a:lnSpc>
                <a:spcPct val="100000"/>
              </a:lnSpc>
            </a:pPr>
            <a:r>
              <a:rPr sz="1150" b="0">
                <a:solidFill>
                  <a:srgbClr val="1A1A1A"/>
                </a:solidFill>
                <a:latin typeface="Georgia"/>
              </a:rPr>
              <a:t>all figures from a laptop RTX 4060</a:t>
            </a:r>
          </a:p>
        </p:txBody>
      </p:sp>
      <p:sp>
        <p:nvSpPr>
          <p:cNvPr id="29" name="TextBox 28"/>
          <p:cNvSpPr txBox="1"/>
          <p:nvPr/>
        </p:nvSpPr>
        <p:spPr>
          <a:xfrm>
            <a:off x="685800" y="3886199"/>
            <a:ext cx="3291840" cy="237744"/>
          </a:xfrm>
          <a:prstGeom prst="rect">
            <a:avLst/>
          </a:prstGeom>
          <a:noFill/>
        </p:spPr>
        <p:txBody>
          <a:bodyPr wrap="square">
            <a:spAutoFit/>
          </a:bodyPr>
          <a:lstStyle/>
          <a:p>
            <a:pPr algn="l">
              <a:lnSpc>
                <a:spcPct val="100000"/>
              </a:lnSpc>
            </a:pPr>
            <a:r>
              <a:rPr sz="1150" b="0">
                <a:solidFill>
                  <a:srgbClr val="1A1A1A"/>
                </a:solidFill>
                <a:latin typeface="Georgia"/>
              </a:rPr>
              <a:t/>
            </a:r>
          </a:p>
        </p:txBody>
      </p:sp>
      <p:sp>
        <p:nvSpPr>
          <p:cNvPr id="30" name="TextBox 29"/>
          <p:cNvSpPr txBox="1"/>
          <p:nvPr/>
        </p:nvSpPr>
        <p:spPr>
          <a:xfrm>
            <a:off x="3977639" y="3886199"/>
            <a:ext cx="1737360" cy="237744"/>
          </a:xfrm>
          <a:prstGeom prst="rect">
            <a:avLst/>
          </a:prstGeom>
          <a:noFill/>
        </p:spPr>
        <p:txBody>
          <a:bodyPr wrap="square">
            <a:spAutoFit/>
          </a:bodyPr>
          <a:lstStyle/>
          <a:p>
            <a:pPr algn="r">
              <a:lnSpc>
                <a:spcPct val="100000"/>
              </a:lnSpc>
            </a:pPr>
            <a:r>
              <a:rPr sz="1150" b="0">
                <a:solidFill>
                  <a:srgbClr val="1A1A1A"/>
                </a:solidFill>
                <a:latin typeface="Georgia"/>
              </a:rPr>
              <a:t/>
            </a:r>
          </a:p>
        </p:txBody>
      </p:sp>
      <p:sp>
        <p:nvSpPr>
          <p:cNvPr id="31" name="TextBox 30"/>
          <p:cNvSpPr txBox="1"/>
          <p:nvPr/>
        </p:nvSpPr>
        <p:spPr>
          <a:xfrm>
            <a:off x="5715000" y="3886199"/>
            <a:ext cx="5852160" cy="237744"/>
          </a:xfrm>
          <a:prstGeom prst="rect">
            <a:avLst/>
          </a:prstGeom>
          <a:noFill/>
        </p:spPr>
        <p:txBody>
          <a:bodyPr wrap="square">
            <a:spAutoFit/>
          </a:bodyPr>
          <a:lstStyle/>
          <a:p>
            <a:pPr algn="r">
              <a:lnSpc>
                <a:spcPct val="100000"/>
              </a:lnSpc>
            </a:pPr>
            <a:r>
              <a:rPr sz="1150" b="0">
                <a:solidFill>
                  <a:srgbClr val="1A1A1A"/>
                </a:solidFill>
                <a:latin typeface="Georgia"/>
              </a:rPr>
              <a:t>no Jetson measurement has been taken</a:t>
            </a:r>
          </a:p>
        </p:txBody>
      </p:sp>
      <p:sp>
        <p:nvSpPr>
          <p:cNvPr id="32" name="TextBox 31"/>
          <p:cNvSpPr txBox="1"/>
          <p:nvPr/>
        </p:nvSpPr>
        <p:spPr>
          <a:xfrm>
            <a:off x="685800" y="4434840"/>
            <a:ext cx="10881360" cy="365760"/>
          </a:xfrm>
          <a:prstGeom prst="rect">
            <a:avLst/>
          </a:prstGeom>
          <a:noFill/>
        </p:spPr>
        <p:txBody>
          <a:bodyPr wrap="square">
            <a:spAutoFit/>
          </a:bodyPr>
          <a:lstStyle/>
          <a:p>
            <a:pPr algn="l">
              <a:lnSpc>
                <a:spcPct val="100000"/>
              </a:lnSpc>
            </a:pPr>
            <a:r>
              <a:rPr sz="1250" b="1">
                <a:solidFill>
                  <a:srgbClr val="333333"/>
                </a:solidFill>
                <a:latin typeface="Georgia"/>
              </a:rPr>
              <a:t>What the project does deliver</a:t>
            </a:r>
          </a:p>
        </p:txBody>
      </p:sp>
      <p:sp>
        <p:nvSpPr>
          <p:cNvPr id="33" name="Rounded Rectangle 32"/>
          <p:cNvSpPr/>
          <p:nvPr/>
        </p:nvSpPr>
        <p:spPr>
          <a:xfrm>
            <a:off x="685800" y="4846320"/>
            <a:ext cx="3474720" cy="1005840"/>
          </a:xfrm>
          <a:prstGeom prst="roundRect">
            <a:avLst/>
          </a:prstGeom>
          <a:solidFill>
            <a:srgbClr val="EFEFEF"/>
          </a:solidFill>
          <a:ln w="952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050" b="0">
                <a:solidFill>
                  <a:srgbClr val="1A1A1A"/>
                </a:solidFill>
                <a:latin typeface="Georgia"/>
              </a:rPr>
              <a:t>Queryable output</a:t>
            </a:r>
          </a:p>
          <a:p>
            <a:pPr algn="ctr"/>
            <a:r>
              <a:rPr sz="1050" b="0">
                <a:solidFill>
                  <a:srgbClr val="1A1A1A"/>
                </a:solidFill>
                <a:latin typeface="Georgia"/>
              </a:rPr>
              <a:t/>
            </a:r>
          </a:p>
          <a:p>
            <a:pPr algn="ctr"/>
            <a:r>
              <a:rPr sz="1050" b="0">
                <a:solidFill>
                  <a:srgbClr val="1A1A1A"/>
                </a:solidFill>
                <a:latin typeface="Georgia"/>
              </a:rPr>
              <a:t>flow at any continuous coordinate, sparse equals dense exactly</a:t>
            </a:r>
          </a:p>
        </p:txBody>
      </p:sp>
      <p:sp>
        <p:nvSpPr>
          <p:cNvPr id="34" name="Rounded Rectangle 33"/>
          <p:cNvSpPr/>
          <p:nvPr/>
        </p:nvSpPr>
        <p:spPr>
          <a:xfrm>
            <a:off x="4343400" y="4846320"/>
            <a:ext cx="3474720" cy="1005840"/>
          </a:xfrm>
          <a:prstGeom prst="roundRect">
            <a:avLst/>
          </a:prstGeom>
          <a:solidFill>
            <a:srgbClr val="EFEFEF"/>
          </a:solidFill>
          <a:ln w="952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050" b="0">
                <a:solidFill>
                  <a:srgbClr val="1A1A1A"/>
                </a:solidFill>
                <a:latin typeface="Georgia"/>
              </a:rPr>
              <a:t>Cheap repeat access</a:t>
            </a:r>
          </a:p>
          <a:p>
            <a:pPr algn="ctr"/>
            <a:r>
              <a:rPr sz="1050" b="0">
                <a:solidFill>
                  <a:srgbClr val="1A1A1A"/>
                </a:solidFill>
                <a:latin typeface="Georgia"/>
              </a:rPr>
              <a:t/>
            </a:r>
          </a:p>
          <a:p>
            <a:pPr algn="ctr"/>
            <a:r>
              <a:rPr sz="1050" b="0">
                <a:solidFill>
                  <a:srgbClr val="1A1A1A"/>
                </a:solidFill>
                <a:latin typeface="Georgia"/>
              </a:rPr>
              <a:t>1.3 ms per further query batch on a cached frame</a:t>
            </a:r>
          </a:p>
        </p:txBody>
      </p:sp>
      <p:sp>
        <p:nvSpPr>
          <p:cNvPr id="35" name="Rounded Rectangle 34"/>
          <p:cNvSpPr/>
          <p:nvPr/>
        </p:nvSpPr>
        <p:spPr>
          <a:xfrm>
            <a:off x="8001000" y="4846320"/>
            <a:ext cx="3474720" cy="1005840"/>
          </a:xfrm>
          <a:prstGeom prst="roundRect">
            <a:avLst/>
          </a:prstGeom>
          <a:solidFill>
            <a:srgbClr val="EFEFEF"/>
          </a:solidFill>
          <a:ln w="952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050" b="0">
                <a:solidFill>
                  <a:srgbClr val="1A1A1A"/>
                </a:solidFill>
                <a:latin typeface="Georgia"/>
              </a:rPr>
              <a:t>Calibrated confidence</a:t>
            </a:r>
          </a:p>
          <a:p>
            <a:pPr algn="ctr"/>
            <a:r>
              <a:rPr sz="1050" b="0">
                <a:solidFill>
                  <a:srgbClr val="1A1A1A"/>
                </a:solidFill>
                <a:latin typeface="Georgia"/>
              </a:rPr>
              <a:t/>
            </a:r>
          </a:p>
          <a:p>
            <a:pPr algn="ctr"/>
            <a:r>
              <a:rPr sz="1050" b="0">
                <a:solidFill>
                  <a:srgbClr val="1A1A1A"/>
                </a:solidFill>
                <a:latin typeface="Georgia"/>
              </a:rPr>
              <a:t>per-query error estimate, monotonic against real error</a:t>
            </a:r>
          </a:p>
        </p:txBody>
      </p:sp>
      <p:sp>
        <p:nvSpPr>
          <p:cNvPr id="36" name="TextBox 35"/>
          <p:cNvSpPr txBox="1"/>
          <p:nvPr/>
        </p:nvSpPr>
        <p:spPr>
          <a:xfrm>
            <a:off x="685800" y="6419088"/>
            <a:ext cx="7315200" cy="274320"/>
          </a:xfrm>
          <a:prstGeom prst="rect">
            <a:avLst/>
          </a:prstGeom>
          <a:noFill/>
        </p:spPr>
        <p:txBody>
          <a:bodyPr wrap="square">
            <a:spAutoFit/>
          </a:bodyPr>
          <a:lstStyle/>
          <a:p>
            <a:pPr algn="l">
              <a:lnSpc>
                <a:spcPct val="100000"/>
              </a:lnSpc>
            </a:pPr>
            <a:r>
              <a:rPr sz="900" b="0">
                <a:solidFill>
                  <a:srgbClr val="8A8A8A"/>
                </a:solidFill>
                <a:latin typeface="Georgia"/>
              </a:rPr>
              <a:t>NeuFlow v3, S. Raghav Srinivasan</a:t>
            </a:r>
          </a:p>
        </p:txBody>
      </p:sp>
      <p:sp>
        <p:nvSpPr>
          <p:cNvPr id="37" name="TextBox 36"/>
          <p:cNvSpPr txBox="1"/>
          <p:nvPr/>
        </p:nvSpPr>
        <p:spPr>
          <a:xfrm>
            <a:off x="10607040" y="6419088"/>
            <a:ext cx="1097280" cy="274320"/>
          </a:xfrm>
          <a:prstGeom prst="rect">
            <a:avLst/>
          </a:prstGeom>
          <a:noFill/>
        </p:spPr>
        <p:txBody>
          <a:bodyPr wrap="square">
            <a:spAutoFit/>
          </a:bodyPr>
          <a:lstStyle/>
          <a:p>
            <a:pPr algn="l">
              <a:lnSpc>
                <a:spcPct val="100000"/>
              </a:lnSpc>
            </a:pPr>
            <a:r>
              <a:rPr sz="900" b="0">
                <a:solidFill>
                  <a:srgbClr val="8A8A8A"/>
                </a:solidFill>
                <a:latin typeface="Georgia"/>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384048"/>
            <a:ext cx="10515600" cy="274320"/>
          </a:xfrm>
          <a:prstGeom prst="rect">
            <a:avLst/>
          </a:prstGeom>
          <a:noFill/>
        </p:spPr>
        <p:txBody>
          <a:bodyPr wrap="square">
            <a:spAutoFit/>
          </a:bodyPr>
          <a:lstStyle/>
          <a:p>
            <a:pPr algn="l">
              <a:lnSpc>
                <a:spcPct val="100000"/>
              </a:lnSpc>
            </a:pPr>
            <a:r>
              <a:rPr sz="1050" b="1">
                <a:solidFill>
                  <a:srgbClr val="333333"/>
                </a:solidFill>
                <a:latin typeface="Georgia"/>
              </a:rPr>
              <a:t>LIMITATIONS</a:t>
            </a:r>
          </a:p>
        </p:txBody>
      </p:sp>
      <p:sp>
        <p:nvSpPr>
          <p:cNvPr id="3" name="TextBox 2"/>
          <p:cNvSpPr txBox="1"/>
          <p:nvPr/>
        </p:nvSpPr>
        <p:spPr>
          <a:xfrm>
            <a:off x="667512" y="658368"/>
            <a:ext cx="10881360" cy="731520"/>
          </a:xfrm>
          <a:prstGeom prst="rect">
            <a:avLst/>
          </a:prstGeom>
          <a:noFill/>
        </p:spPr>
        <p:txBody>
          <a:bodyPr wrap="square">
            <a:spAutoFit/>
          </a:bodyPr>
          <a:lstStyle/>
          <a:p>
            <a:pPr algn="l">
              <a:lnSpc>
                <a:spcPct val="100000"/>
              </a:lnSpc>
            </a:pPr>
            <a:r>
              <a:rPr sz="2400" b="1">
                <a:solidFill>
                  <a:srgbClr val="1A1A1A"/>
                </a:solidFill>
                <a:latin typeface="Georgia"/>
              </a:rPr>
              <a:t>What is not yet proven, stated plainly</a:t>
            </a:r>
          </a:p>
        </p:txBody>
      </p:sp>
      <p:sp>
        <p:nvSpPr>
          <p:cNvPr id="4" name="TextBox 3"/>
          <p:cNvSpPr txBox="1"/>
          <p:nvPr/>
        </p:nvSpPr>
        <p:spPr>
          <a:xfrm>
            <a:off x="685800" y="1645920"/>
            <a:ext cx="4023360" cy="274320"/>
          </a:xfrm>
          <a:prstGeom prst="rect">
            <a:avLst/>
          </a:prstGeom>
          <a:noFill/>
        </p:spPr>
        <p:txBody>
          <a:bodyPr wrap="square">
            <a:spAutoFit/>
          </a:bodyPr>
          <a:lstStyle/>
          <a:p>
            <a:pPr algn="l">
              <a:lnSpc>
                <a:spcPct val="100000"/>
              </a:lnSpc>
            </a:pPr>
            <a:r>
              <a:rPr sz="1150" b="1">
                <a:solidFill>
                  <a:srgbClr val="1A1A1A"/>
                </a:solidFill>
                <a:latin typeface="Georgia"/>
              </a:rPr>
              <a:t>Sub-pixel precision is worse than v2</a:t>
            </a:r>
          </a:p>
        </p:txBody>
      </p:sp>
      <p:sp>
        <p:nvSpPr>
          <p:cNvPr id="5" name="TextBox 4"/>
          <p:cNvSpPr txBox="1"/>
          <p:nvPr/>
        </p:nvSpPr>
        <p:spPr>
          <a:xfrm>
            <a:off x="4846320" y="1645920"/>
            <a:ext cx="6675120" cy="548640"/>
          </a:xfrm>
          <a:prstGeom prst="rect">
            <a:avLst/>
          </a:prstGeom>
          <a:noFill/>
        </p:spPr>
        <p:txBody>
          <a:bodyPr wrap="square">
            <a:spAutoFit/>
          </a:bodyPr>
          <a:lstStyle/>
          <a:p>
            <a:pPr algn="l">
              <a:lnSpc>
                <a:spcPct val="112000"/>
              </a:lnSpc>
            </a:pPr>
            <a:r>
              <a:rPr sz="1100" b="0">
                <a:solidFill>
                  <a:srgbClr val="1A1A1A"/>
                </a:solidFill>
                <a:latin typeface="Georgia"/>
              </a:rPr>
              <a:t>By 0.8 to 6.3 points of 1-pixel accuracy. Cause diagnosed (decoder never sees full-resolution input.</a:t>
            </a:r>
          </a:p>
        </p:txBody>
      </p:sp>
      <p:sp>
        <p:nvSpPr>
          <p:cNvPr id="6" name="TextBox 5"/>
          <p:cNvSpPr txBox="1"/>
          <p:nvPr/>
        </p:nvSpPr>
        <p:spPr>
          <a:xfrm>
            <a:off x="685800" y="2578608"/>
            <a:ext cx="4023360" cy="274320"/>
          </a:xfrm>
          <a:prstGeom prst="rect">
            <a:avLst/>
          </a:prstGeom>
          <a:noFill/>
        </p:spPr>
        <p:txBody>
          <a:bodyPr wrap="square">
            <a:spAutoFit/>
          </a:bodyPr>
          <a:lstStyle/>
          <a:p>
            <a:pPr algn="l">
              <a:lnSpc>
                <a:spcPct val="100000"/>
              </a:lnSpc>
            </a:pPr>
            <a:r>
              <a:rPr sz="1150" b="1">
                <a:solidFill>
                  <a:srgbClr val="1A1A1A"/>
                </a:solidFill>
                <a:latin typeface="Georgia"/>
              </a:rPr>
              <a:t>No edge-device measurement</a:t>
            </a:r>
          </a:p>
        </p:txBody>
      </p:sp>
      <p:sp>
        <p:nvSpPr>
          <p:cNvPr id="7" name="TextBox 6"/>
          <p:cNvSpPr txBox="1"/>
          <p:nvPr/>
        </p:nvSpPr>
        <p:spPr>
          <a:xfrm>
            <a:off x="4846320" y="2578608"/>
            <a:ext cx="6675120" cy="548640"/>
          </a:xfrm>
          <a:prstGeom prst="rect">
            <a:avLst/>
          </a:prstGeom>
          <a:noFill/>
        </p:spPr>
        <p:txBody>
          <a:bodyPr wrap="square">
            <a:spAutoFit/>
          </a:bodyPr>
          <a:lstStyle/>
          <a:p>
            <a:pPr algn="l">
              <a:lnSpc>
                <a:spcPct val="112000"/>
              </a:lnSpc>
            </a:pPr>
            <a:r>
              <a:rPr sz="1100" b="0">
                <a:solidFill>
                  <a:srgbClr val="1A1A1A"/>
                </a:solidFill>
                <a:latin typeface="Georgia"/>
              </a:rPr>
              <a:t>Every latency figure is from a laptop RTX 4060. The edge claim in the title is a design target, not a result.</a:t>
            </a:r>
          </a:p>
        </p:txBody>
      </p:sp>
      <p:sp>
        <p:nvSpPr>
          <p:cNvPr id="8" name="TextBox 7"/>
          <p:cNvSpPr txBox="1"/>
          <p:nvPr/>
        </p:nvSpPr>
        <p:spPr>
          <a:xfrm>
            <a:off x="685800" y="3511296"/>
            <a:ext cx="4023360" cy="274320"/>
          </a:xfrm>
          <a:prstGeom prst="rect">
            <a:avLst/>
          </a:prstGeom>
          <a:noFill/>
        </p:spPr>
        <p:txBody>
          <a:bodyPr wrap="square">
            <a:spAutoFit/>
          </a:bodyPr>
          <a:lstStyle/>
          <a:p>
            <a:pPr algn="l">
              <a:lnSpc>
                <a:spcPct val="100000"/>
              </a:lnSpc>
            </a:pPr>
            <a:r>
              <a:rPr sz="1150" b="1">
                <a:solidFill>
                  <a:srgbClr val="1A1A1A"/>
                </a:solidFill>
                <a:latin typeface="Georgia"/>
              </a:rPr>
              <a:t>Single evaluation domain</a:t>
            </a:r>
          </a:p>
        </p:txBody>
      </p:sp>
      <p:sp>
        <p:nvSpPr>
          <p:cNvPr id="9" name="TextBox 8"/>
          <p:cNvSpPr txBox="1"/>
          <p:nvPr/>
        </p:nvSpPr>
        <p:spPr>
          <a:xfrm>
            <a:off x="4846320" y="3511296"/>
            <a:ext cx="6675120" cy="548640"/>
          </a:xfrm>
          <a:prstGeom prst="rect">
            <a:avLst/>
          </a:prstGeom>
          <a:noFill/>
        </p:spPr>
        <p:txBody>
          <a:bodyPr wrap="square">
            <a:spAutoFit/>
          </a:bodyPr>
          <a:lstStyle/>
          <a:p>
            <a:pPr algn="l">
              <a:lnSpc>
                <a:spcPct val="112000"/>
              </a:lnSpc>
            </a:pPr>
            <a:r>
              <a:rPr sz="1100" b="0">
                <a:solidFill>
                  <a:srgbClr val="1A1A1A"/>
                </a:solidFill>
                <a:latin typeface="Georgia"/>
              </a:rPr>
              <a:t>All accuracy numbers are VKITTI2 Scene18+20. A synthetic driving benchmark is not evidence for field or survey imagery.</a:t>
            </a:r>
          </a:p>
        </p:txBody>
      </p:sp>
      <p:sp>
        <p:nvSpPr>
          <p:cNvPr id="10" name="TextBox 9"/>
          <p:cNvSpPr txBox="1"/>
          <p:nvPr/>
        </p:nvSpPr>
        <p:spPr>
          <a:xfrm>
            <a:off x="685800" y="4443984"/>
            <a:ext cx="4023360" cy="274320"/>
          </a:xfrm>
          <a:prstGeom prst="rect">
            <a:avLst/>
          </a:prstGeom>
          <a:noFill/>
        </p:spPr>
        <p:txBody>
          <a:bodyPr wrap="square">
            <a:spAutoFit/>
          </a:bodyPr>
          <a:lstStyle/>
          <a:p>
            <a:pPr algn="l">
              <a:lnSpc>
                <a:spcPct val="100000"/>
              </a:lnSpc>
            </a:pPr>
            <a:r>
              <a:rPr sz="1150" b="1">
                <a:solidFill>
                  <a:srgbClr val="1A1A1A"/>
                </a:solidFill>
                <a:latin typeface="Georgia"/>
              </a:rPr>
              <a:t>Spring run truncated</a:t>
            </a:r>
          </a:p>
        </p:txBody>
      </p:sp>
      <p:sp>
        <p:nvSpPr>
          <p:cNvPr id="11" name="TextBox 10"/>
          <p:cNvSpPr txBox="1"/>
          <p:nvPr/>
        </p:nvSpPr>
        <p:spPr>
          <a:xfrm>
            <a:off x="4846320" y="4443984"/>
            <a:ext cx="6675120" cy="548640"/>
          </a:xfrm>
          <a:prstGeom prst="rect">
            <a:avLst/>
          </a:prstGeom>
          <a:noFill/>
        </p:spPr>
        <p:txBody>
          <a:bodyPr wrap="square">
            <a:spAutoFit/>
          </a:bodyPr>
          <a:lstStyle/>
          <a:p>
            <a:pPr algn="l">
              <a:lnSpc>
                <a:spcPct val="112000"/>
              </a:lnSpc>
            </a:pPr>
            <a:r>
              <a:rPr sz="1100" b="0">
                <a:solidFill>
                  <a:srgbClr val="1A1A1A"/>
                </a:solidFill>
                <a:latin typeface="Georgia"/>
              </a:rPr>
              <a:t>Killed by the 8-hour wall clock at roughly 90k of 100k steps, so it is not directly comparable to the others.</a:t>
            </a:r>
          </a:p>
        </p:txBody>
      </p:sp>
      <p:sp>
        <p:nvSpPr>
          <p:cNvPr id="12" name="TextBox 11"/>
          <p:cNvSpPr txBox="1"/>
          <p:nvPr/>
        </p:nvSpPr>
        <p:spPr>
          <a:xfrm>
            <a:off x="685800" y="5376672"/>
            <a:ext cx="4023360" cy="274320"/>
          </a:xfrm>
          <a:prstGeom prst="rect">
            <a:avLst/>
          </a:prstGeom>
          <a:noFill/>
        </p:spPr>
        <p:txBody>
          <a:bodyPr wrap="square">
            <a:spAutoFit/>
          </a:bodyPr>
          <a:lstStyle/>
          <a:p>
            <a:pPr algn="l">
              <a:lnSpc>
                <a:spcPct val="100000"/>
              </a:lnSpc>
            </a:pPr>
            <a:r>
              <a:rPr sz="1150" b="1">
                <a:solidFill>
                  <a:srgbClr val="1A1A1A"/>
                </a:solidFill>
                <a:latin typeface="Georgia"/>
              </a:rPr>
              <a:t>One seed, and checkpoint noise the size of the effects</a:t>
            </a:r>
          </a:p>
        </p:txBody>
      </p:sp>
      <p:sp>
        <p:nvSpPr>
          <p:cNvPr id="13" name="TextBox 12"/>
          <p:cNvSpPr txBox="1"/>
          <p:nvPr/>
        </p:nvSpPr>
        <p:spPr>
          <a:xfrm>
            <a:off x="4846320" y="5376672"/>
            <a:ext cx="6675120" cy="548640"/>
          </a:xfrm>
          <a:prstGeom prst="rect">
            <a:avLst/>
          </a:prstGeom>
          <a:noFill/>
        </p:spPr>
        <p:txBody>
          <a:bodyPr wrap="square">
            <a:spAutoFit/>
          </a:bodyPr>
          <a:lstStyle/>
          <a:p>
            <a:pPr algn="l">
              <a:lnSpc>
                <a:spcPct val="112000"/>
              </a:lnSpc>
            </a:pPr>
            <a:r>
              <a:rPr sz="1100" b="0">
                <a:solidFill>
                  <a:srgbClr val="1A1A1A"/>
                </a:solidFill>
                <a:latin typeface="Georgia"/>
              </a:rPr>
              <a:t>Step 90k vs 100k of the same run moves EPE by up to 0.038 px, reversing two of the orderings. Nothing finer than about 0.05 px is resolvable here.</a:t>
            </a:r>
          </a:p>
        </p:txBody>
      </p:sp>
      <p:sp>
        <p:nvSpPr>
          <p:cNvPr id="14" name="TextBox 13"/>
          <p:cNvSpPr txBox="1"/>
          <p:nvPr/>
        </p:nvSpPr>
        <p:spPr>
          <a:xfrm>
            <a:off x="685800" y="6419088"/>
            <a:ext cx="7315200" cy="274320"/>
          </a:xfrm>
          <a:prstGeom prst="rect">
            <a:avLst/>
          </a:prstGeom>
          <a:noFill/>
        </p:spPr>
        <p:txBody>
          <a:bodyPr wrap="square">
            <a:spAutoFit/>
          </a:bodyPr>
          <a:lstStyle/>
          <a:p>
            <a:pPr algn="l">
              <a:lnSpc>
                <a:spcPct val="100000"/>
              </a:lnSpc>
            </a:pPr>
            <a:r>
              <a:rPr sz="900" b="0">
                <a:solidFill>
                  <a:srgbClr val="8A8A8A"/>
                </a:solidFill>
                <a:latin typeface="Georgia"/>
              </a:rPr>
              <a:t>NeuFlow v3, S. Raghav Srinivasan</a:t>
            </a:r>
          </a:p>
        </p:txBody>
      </p:sp>
      <p:sp>
        <p:nvSpPr>
          <p:cNvPr id="15" name="TextBox 14"/>
          <p:cNvSpPr txBox="1"/>
          <p:nvPr/>
        </p:nvSpPr>
        <p:spPr>
          <a:xfrm>
            <a:off x="10607040" y="6419088"/>
            <a:ext cx="1097280" cy="274320"/>
          </a:xfrm>
          <a:prstGeom prst="rect">
            <a:avLst/>
          </a:prstGeom>
          <a:noFill/>
        </p:spPr>
        <p:txBody>
          <a:bodyPr wrap="square">
            <a:spAutoFit/>
          </a:bodyPr>
          <a:lstStyle/>
          <a:p>
            <a:pPr algn="l">
              <a:lnSpc>
                <a:spcPct val="100000"/>
              </a:lnSpc>
            </a:pPr>
            <a:r>
              <a:rPr sz="900" b="0">
                <a:solidFill>
                  <a:srgbClr val="8A8A8A"/>
                </a:solidFill>
                <a:latin typeface="Georgia"/>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384048"/>
            <a:ext cx="10515600" cy="274320"/>
          </a:xfrm>
          <a:prstGeom prst="rect">
            <a:avLst/>
          </a:prstGeom>
          <a:noFill/>
        </p:spPr>
        <p:txBody>
          <a:bodyPr wrap="square">
            <a:spAutoFit/>
          </a:bodyPr>
          <a:lstStyle/>
          <a:p>
            <a:pPr algn="l">
              <a:lnSpc>
                <a:spcPct val="100000"/>
              </a:lnSpc>
            </a:pPr>
            <a:r>
              <a:rPr sz="1050" b="1">
                <a:solidFill>
                  <a:srgbClr val="333333"/>
                </a:solidFill>
                <a:latin typeface="Georgia"/>
              </a:rPr>
              <a:t>NEXT STEPS</a:t>
            </a:r>
          </a:p>
        </p:txBody>
      </p:sp>
      <p:sp>
        <p:nvSpPr>
          <p:cNvPr id="3" name="TextBox 2"/>
          <p:cNvSpPr txBox="1"/>
          <p:nvPr/>
        </p:nvSpPr>
        <p:spPr>
          <a:xfrm>
            <a:off x="667512" y="658368"/>
            <a:ext cx="10881360" cy="731520"/>
          </a:xfrm>
          <a:prstGeom prst="rect">
            <a:avLst/>
          </a:prstGeom>
          <a:noFill/>
        </p:spPr>
        <p:txBody>
          <a:bodyPr wrap="square">
            <a:spAutoFit/>
          </a:bodyPr>
          <a:lstStyle/>
          <a:p>
            <a:pPr algn="l">
              <a:lnSpc>
                <a:spcPct val="100000"/>
              </a:lnSpc>
            </a:pPr>
            <a:r>
              <a:rPr sz="2400" b="1">
                <a:solidFill>
                  <a:srgbClr val="1A1A1A"/>
                </a:solidFill>
                <a:latin typeface="Georgia"/>
              </a:rPr>
              <a:t>In priority order</a:t>
            </a:r>
          </a:p>
        </p:txBody>
      </p:sp>
      <p:sp>
        <p:nvSpPr>
          <p:cNvPr id="4" name="Rounded Rectangle 3"/>
          <p:cNvSpPr/>
          <p:nvPr/>
        </p:nvSpPr>
        <p:spPr>
          <a:xfrm>
            <a:off x="685800" y="1691640"/>
            <a:ext cx="384048" cy="384048"/>
          </a:xfrm>
          <a:prstGeom prst="roundRect">
            <a:avLst/>
          </a:prstGeom>
          <a:solidFill>
            <a:srgbClr val="333333"/>
          </a:solidFill>
          <a:ln w="952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200" b="1">
                <a:solidFill>
                  <a:srgbClr val="FFFFFF"/>
                </a:solidFill>
                <a:latin typeface="Georgia"/>
              </a:rPr>
              <a:t>1</a:t>
            </a:r>
          </a:p>
        </p:txBody>
      </p:sp>
      <p:sp>
        <p:nvSpPr>
          <p:cNvPr id="5" name="TextBox 4"/>
          <p:cNvSpPr txBox="1"/>
          <p:nvPr/>
        </p:nvSpPr>
        <p:spPr>
          <a:xfrm>
            <a:off x="1234440" y="1673352"/>
            <a:ext cx="3657600" cy="274320"/>
          </a:xfrm>
          <a:prstGeom prst="rect">
            <a:avLst/>
          </a:prstGeom>
          <a:noFill/>
        </p:spPr>
        <p:txBody>
          <a:bodyPr wrap="square">
            <a:spAutoFit/>
          </a:bodyPr>
          <a:lstStyle/>
          <a:p>
            <a:pPr algn="l">
              <a:lnSpc>
                <a:spcPct val="100000"/>
              </a:lnSpc>
            </a:pPr>
            <a:r>
              <a:rPr sz="1200" b="1">
                <a:solidFill>
                  <a:srgbClr val="1A1A1A"/>
                </a:solidFill>
                <a:latin typeface="Georgia"/>
              </a:rPr>
              <a:t>Full-resolution stem for the decoder</a:t>
            </a:r>
          </a:p>
        </p:txBody>
      </p:sp>
      <p:sp>
        <p:nvSpPr>
          <p:cNvPr id="6" name="TextBox 5"/>
          <p:cNvSpPr txBox="1"/>
          <p:nvPr/>
        </p:nvSpPr>
        <p:spPr>
          <a:xfrm>
            <a:off x="5029200" y="1673352"/>
            <a:ext cx="6492240" cy="822960"/>
          </a:xfrm>
          <a:prstGeom prst="rect">
            <a:avLst/>
          </a:prstGeom>
          <a:noFill/>
        </p:spPr>
        <p:txBody>
          <a:bodyPr wrap="square">
            <a:spAutoFit/>
          </a:bodyPr>
          <a:lstStyle/>
          <a:p>
            <a:pPr algn="l">
              <a:lnSpc>
                <a:spcPct val="112000"/>
              </a:lnSpc>
            </a:pPr>
            <a:r>
              <a:rPr sz="1100" b="0">
                <a:solidFill>
                  <a:srgbClr val="1A1A1A"/>
                </a:solidFill>
                <a:latin typeface="Georgia"/>
              </a:rPr>
              <a:t>Give the decoder a cheap full-resolution feature map so evidence actually varies within an 8x8 cell. This is the direct attack on the precision gap and on making continuous querying meaningful rather than nominal.</a:t>
            </a:r>
          </a:p>
        </p:txBody>
      </p:sp>
      <p:sp>
        <p:nvSpPr>
          <p:cNvPr id="7" name="Rounded Rectangle 6"/>
          <p:cNvSpPr/>
          <p:nvPr/>
        </p:nvSpPr>
        <p:spPr>
          <a:xfrm>
            <a:off x="685800" y="2862072"/>
            <a:ext cx="384048" cy="384048"/>
          </a:xfrm>
          <a:prstGeom prst="roundRect">
            <a:avLst/>
          </a:prstGeom>
          <a:solidFill>
            <a:srgbClr val="333333"/>
          </a:solidFill>
          <a:ln w="952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200" b="1">
                <a:solidFill>
                  <a:srgbClr val="FFFFFF"/>
                </a:solidFill>
                <a:latin typeface="Georgia"/>
              </a:rPr>
              <a:t>2</a:t>
            </a:r>
          </a:p>
        </p:txBody>
      </p:sp>
      <p:sp>
        <p:nvSpPr>
          <p:cNvPr id="8" name="TextBox 7"/>
          <p:cNvSpPr txBox="1"/>
          <p:nvPr/>
        </p:nvSpPr>
        <p:spPr>
          <a:xfrm>
            <a:off x="1234440" y="2843784"/>
            <a:ext cx="3657600" cy="274320"/>
          </a:xfrm>
          <a:prstGeom prst="rect">
            <a:avLst/>
          </a:prstGeom>
          <a:noFill/>
        </p:spPr>
        <p:txBody>
          <a:bodyPr wrap="square">
            <a:spAutoFit/>
          </a:bodyPr>
          <a:lstStyle/>
          <a:p>
            <a:pPr algn="l">
              <a:lnSpc>
                <a:spcPct val="100000"/>
              </a:lnSpc>
            </a:pPr>
            <a:r>
              <a:rPr sz="1200" b="1">
                <a:solidFill>
                  <a:srgbClr val="1A1A1A"/>
                </a:solidFill>
                <a:latin typeface="Georgia"/>
              </a:rPr>
              <a:t>Spring 4K evaluation</a:t>
            </a:r>
          </a:p>
        </p:txBody>
      </p:sp>
      <p:sp>
        <p:nvSpPr>
          <p:cNvPr id="9" name="TextBox 8"/>
          <p:cNvSpPr txBox="1"/>
          <p:nvPr/>
        </p:nvSpPr>
        <p:spPr>
          <a:xfrm>
            <a:off x="5029200" y="2843784"/>
            <a:ext cx="6492240" cy="822960"/>
          </a:xfrm>
          <a:prstGeom prst="rect">
            <a:avLst/>
          </a:prstGeom>
          <a:noFill/>
        </p:spPr>
        <p:txBody>
          <a:bodyPr wrap="square">
            <a:spAutoFit/>
          </a:bodyPr>
          <a:lstStyle/>
          <a:p>
            <a:pPr algn="l">
              <a:lnSpc>
                <a:spcPct val="112000"/>
              </a:lnSpc>
            </a:pPr>
            <a:r>
              <a:rPr sz="1100" b="0">
                <a:solidFill>
                  <a:srgbClr val="1A1A1A"/>
                </a:solidFill>
                <a:latin typeface="Georgia"/>
              </a:rPr>
              <a:t>Spring provides ground truth at twice the input resolution. v3 can be queried there natively; v2 structurally cannot. The one test that demonstrates a capability rather than a margin.</a:t>
            </a:r>
          </a:p>
        </p:txBody>
      </p:sp>
      <p:sp>
        <p:nvSpPr>
          <p:cNvPr id="10" name="Rounded Rectangle 9"/>
          <p:cNvSpPr/>
          <p:nvPr/>
        </p:nvSpPr>
        <p:spPr>
          <a:xfrm>
            <a:off x="685800" y="4032504"/>
            <a:ext cx="384048" cy="384048"/>
          </a:xfrm>
          <a:prstGeom prst="roundRect">
            <a:avLst/>
          </a:prstGeom>
          <a:solidFill>
            <a:srgbClr val="333333"/>
          </a:solidFill>
          <a:ln w="952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200" b="1">
                <a:solidFill>
                  <a:srgbClr val="FFFFFF"/>
                </a:solidFill>
                <a:latin typeface="Georgia"/>
              </a:rPr>
              <a:t>3</a:t>
            </a:r>
          </a:p>
        </p:txBody>
      </p:sp>
      <p:sp>
        <p:nvSpPr>
          <p:cNvPr id="11" name="TextBox 10"/>
          <p:cNvSpPr txBox="1"/>
          <p:nvPr/>
        </p:nvSpPr>
        <p:spPr>
          <a:xfrm>
            <a:off x="1234440" y="4014216"/>
            <a:ext cx="3657600" cy="274320"/>
          </a:xfrm>
          <a:prstGeom prst="rect">
            <a:avLst/>
          </a:prstGeom>
          <a:noFill/>
        </p:spPr>
        <p:txBody>
          <a:bodyPr wrap="square">
            <a:spAutoFit/>
          </a:bodyPr>
          <a:lstStyle/>
          <a:p>
            <a:pPr algn="l">
              <a:lnSpc>
                <a:spcPct val="100000"/>
              </a:lnSpc>
            </a:pPr>
            <a:r>
              <a:rPr sz="1200" b="1">
                <a:solidFill>
                  <a:srgbClr val="1A1A1A"/>
                </a:solidFill>
                <a:latin typeface="Georgia"/>
              </a:rPr>
              <a:t>Jetson measurement</a:t>
            </a:r>
          </a:p>
        </p:txBody>
      </p:sp>
      <p:sp>
        <p:nvSpPr>
          <p:cNvPr id="12" name="TextBox 11"/>
          <p:cNvSpPr txBox="1"/>
          <p:nvPr/>
        </p:nvSpPr>
        <p:spPr>
          <a:xfrm>
            <a:off x="5029200" y="4014216"/>
            <a:ext cx="6492240" cy="822960"/>
          </a:xfrm>
          <a:prstGeom prst="rect">
            <a:avLst/>
          </a:prstGeom>
          <a:noFill/>
        </p:spPr>
        <p:txBody>
          <a:bodyPr wrap="square">
            <a:spAutoFit/>
          </a:bodyPr>
          <a:lstStyle/>
          <a:p>
            <a:pPr algn="l">
              <a:lnSpc>
                <a:spcPct val="112000"/>
              </a:lnSpc>
            </a:pPr>
            <a:r>
              <a:rPr sz="1100" b="0">
                <a:solidFill>
                  <a:srgbClr val="1A1A1A"/>
                </a:solidFill>
                <a:latin typeface="Georgia"/>
              </a:rPr>
              <a:t>Converts the edge claim from a design target into a result, or refutes it.</a:t>
            </a:r>
          </a:p>
        </p:txBody>
      </p:sp>
      <p:sp>
        <p:nvSpPr>
          <p:cNvPr id="13" name="Rounded Rectangle 12"/>
          <p:cNvSpPr/>
          <p:nvPr/>
        </p:nvSpPr>
        <p:spPr>
          <a:xfrm>
            <a:off x="685800" y="5202936"/>
            <a:ext cx="384048" cy="384048"/>
          </a:xfrm>
          <a:prstGeom prst="roundRect">
            <a:avLst/>
          </a:prstGeom>
          <a:solidFill>
            <a:srgbClr val="333333"/>
          </a:solidFill>
          <a:ln w="952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200" b="1">
                <a:solidFill>
                  <a:srgbClr val="FFFFFF"/>
                </a:solidFill>
                <a:latin typeface="Georgia"/>
              </a:rPr>
              <a:t>4</a:t>
            </a:r>
          </a:p>
        </p:txBody>
      </p:sp>
      <p:sp>
        <p:nvSpPr>
          <p:cNvPr id="14" name="TextBox 13"/>
          <p:cNvSpPr txBox="1"/>
          <p:nvPr/>
        </p:nvSpPr>
        <p:spPr>
          <a:xfrm>
            <a:off x="1234440" y="5184648"/>
            <a:ext cx="3657600" cy="274320"/>
          </a:xfrm>
          <a:prstGeom prst="rect">
            <a:avLst/>
          </a:prstGeom>
          <a:noFill/>
        </p:spPr>
        <p:txBody>
          <a:bodyPr wrap="square">
            <a:spAutoFit/>
          </a:bodyPr>
          <a:lstStyle/>
          <a:p>
            <a:pPr algn="l">
              <a:lnSpc>
                <a:spcPct val="100000"/>
              </a:lnSpc>
            </a:pPr>
            <a:r>
              <a:rPr sz="1200" b="1">
                <a:solidFill>
                  <a:srgbClr val="1A1A1A"/>
                </a:solidFill>
                <a:latin typeface="Georgia"/>
              </a:rPr>
              <a:t>Field or survey imagery</a:t>
            </a:r>
          </a:p>
        </p:txBody>
      </p:sp>
      <p:sp>
        <p:nvSpPr>
          <p:cNvPr id="15" name="TextBox 14"/>
          <p:cNvSpPr txBox="1"/>
          <p:nvPr/>
        </p:nvSpPr>
        <p:spPr>
          <a:xfrm>
            <a:off x="5029200" y="5184648"/>
            <a:ext cx="6492240" cy="822960"/>
          </a:xfrm>
          <a:prstGeom prst="rect">
            <a:avLst/>
          </a:prstGeom>
          <a:noFill/>
        </p:spPr>
        <p:txBody>
          <a:bodyPr wrap="square">
            <a:spAutoFit/>
          </a:bodyPr>
          <a:lstStyle/>
          <a:p>
            <a:pPr algn="l">
              <a:lnSpc>
                <a:spcPct val="112000"/>
              </a:lnSpc>
            </a:pPr>
            <a:r>
              <a:rPr sz="1100" b="0">
                <a:solidFill>
                  <a:srgbClr val="1A1A1A"/>
                </a:solidFill>
                <a:latin typeface="Georgia"/>
              </a:rPr>
              <a:t>A registration demonstration on lab data would test the actual use case.</a:t>
            </a:r>
          </a:p>
        </p:txBody>
      </p:sp>
      <p:sp>
        <p:nvSpPr>
          <p:cNvPr id="16" name="TextBox 15"/>
          <p:cNvSpPr txBox="1"/>
          <p:nvPr/>
        </p:nvSpPr>
        <p:spPr>
          <a:xfrm>
            <a:off x="685800" y="6419088"/>
            <a:ext cx="7315200" cy="274320"/>
          </a:xfrm>
          <a:prstGeom prst="rect">
            <a:avLst/>
          </a:prstGeom>
          <a:noFill/>
        </p:spPr>
        <p:txBody>
          <a:bodyPr wrap="square">
            <a:spAutoFit/>
          </a:bodyPr>
          <a:lstStyle/>
          <a:p>
            <a:pPr algn="l">
              <a:lnSpc>
                <a:spcPct val="100000"/>
              </a:lnSpc>
            </a:pPr>
            <a:r>
              <a:rPr sz="900" b="0">
                <a:solidFill>
                  <a:srgbClr val="8A8A8A"/>
                </a:solidFill>
                <a:latin typeface="Georgia"/>
              </a:rPr>
              <a:t>NeuFlow v3, S. Raghav Srinivasan</a:t>
            </a:r>
          </a:p>
        </p:txBody>
      </p:sp>
      <p:sp>
        <p:nvSpPr>
          <p:cNvPr id="17" name="TextBox 16"/>
          <p:cNvSpPr txBox="1"/>
          <p:nvPr/>
        </p:nvSpPr>
        <p:spPr>
          <a:xfrm>
            <a:off x="10607040" y="6419088"/>
            <a:ext cx="1097280" cy="274320"/>
          </a:xfrm>
          <a:prstGeom prst="rect">
            <a:avLst/>
          </a:prstGeom>
          <a:noFill/>
        </p:spPr>
        <p:txBody>
          <a:bodyPr wrap="square">
            <a:spAutoFit/>
          </a:bodyPr>
          <a:lstStyle/>
          <a:p>
            <a:pPr algn="l">
              <a:lnSpc>
                <a:spcPct val="100000"/>
              </a:lnSpc>
            </a:pPr>
            <a:r>
              <a:rPr sz="900" b="0">
                <a:solidFill>
                  <a:srgbClr val="8A8A8A"/>
                </a:solidFill>
                <a:latin typeface="Georgia"/>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384048"/>
            <a:ext cx="10515600" cy="274320"/>
          </a:xfrm>
          <a:prstGeom prst="rect">
            <a:avLst/>
          </a:prstGeom>
          <a:noFill/>
        </p:spPr>
        <p:txBody>
          <a:bodyPr wrap="square">
            <a:spAutoFit/>
          </a:bodyPr>
          <a:lstStyle/>
          <a:p>
            <a:pPr algn="l">
              <a:lnSpc>
                <a:spcPct val="100000"/>
              </a:lnSpc>
            </a:pPr>
            <a:r>
              <a:rPr sz="1050" b="1">
                <a:solidFill>
                  <a:srgbClr val="333333"/>
                </a:solidFill>
                <a:latin typeface="Georgia"/>
              </a:rPr>
              <a:t>ANTICIPATED QUESTIONS</a:t>
            </a:r>
          </a:p>
        </p:txBody>
      </p:sp>
      <p:sp>
        <p:nvSpPr>
          <p:cNvPr id="3" name="TextBox 2"/>
          <p:cNvSpPr txBox="1"/>
          <p:nvPr/>
        </p:nvSpPr>
        <p:spPr>
          <a:xfrm>
            <a:off x="667512" y="658368"/>
            <a:ext cx="10881360" cy="731520"/>
          </a:xfrm>
          <a:prstGeom prst="rect">
            <a:avLst/>
          </a:prstGeom>
          <a:noFill/>
        </p:spPr>
        <p:txBody>
          <a:bodyPr wrap="square">
            <a:spAutoFit/>
          </a:bodyPr>
          <a:lstStyle/>
          <a:p>
            <a:pPr algn="l">
              <a:lnSpc>
                <a:spcPct val="100000"/>
              </a:lnSpc>
            </a:pPr>
            <a:r>
              <a:rPr sz="2400" b="1">
                <a:solidFill>
                  <a:srgbClr val="1A1A1A"/>
                </a:solidFill>
                <a:latin typeface="Georgia"/>
              </a:rPr>
              <a:t/>
            </a:r>
          </a:p>
        </p:txBody>
      </p:sp>
      <p:sp>
        <p:nvSpPr>
          <p:cNvPr id="4" name="TextBox 3"/>
          <p:cNvSpPr txBox="1"/>
          <p:nvPr/>
        </p:nvSpPr>
        <p:spPr>
          <a:xfrm>
            <a:off x="685800" y="1508760"/>
            <a:ext cx="10881360" cy="274320"/>
          </a:xfrm>
          <a:prstGeom prst="rect">
            <a:avLst/>
          </a:prstGeom>
          <a:noFill/>
        </p:spPr>
        <p:txBody>
          <a:bodyPr wrap="square">
            <a:spAutoFit/>
          </a:bodyPr>
          <a:lstStyle/>
          <a:p>
            <a:pPr algn="l">
              <a:lnSpc>
                <a:spcPct val="100000"/>
              </a:lnSpc>
            </a:pPr>
            <a:r>
              <a:rPr sz="1200" b="1">
                <a:solidFill>
                  <a:srgbClr val="1A1A1A"/>
                </a:solidFill>
                <a:latin typeface="Georgia"/>
              </a:rPr>
              <a:t>Why is flow defined between pixels at all?</a:t>
            </a:r>
          </a:p>
        </p:txBody>
      </p:sp>
      <p:sp>
        <p:nvSpPr>
          <p:cNvPr id="5" name="TextBox 4"/>
          <p:cNvSpPr txBox="1"/>
          <p:nvPr/>
        </p:nvSpPr>
        <p:spPr>
          <a:xfrm>
            <a:off x="868680" y="1810512"/>
            <a:ext cx="10607040" cy="594360"/>
          </a:xfrm>
          <a:prstGeom prst="rect">
            <a:avLst/>
          </a:prstGeom>
          <a:noFill/>
        </p:spPr>
        <p:txBody>
          <a:bodyPr wrap="square">
            <a:spAutoFit/>
          </a:bodyPr>
          <a:lstStyle/>
          <a:p>
            <a:pPr algn="l">
              <a:lnSpc>
                <a:spcPct val="112000"/>
              </a:lnSpc>
            </a:pPr>
            <a:r>
              <a:rPr sz="1100" b="0">
                <a:solidFill>
                  <a:srgbClr val="333333"/>
                </a:solidFill>
                <a:latin typeface="Georgia"/>
              </a:rPr>
              <a:t>Motion is continuous; the pixel grid is a sampling artefact. A corner tracked to (312.7, 188.2) is a real answer, and registration consumes it directly.</a:t>
            </a:r>
          </a:p>
        </p:txBody>
      </p:sp>
      <p:sp>
        <p:nvSpPr>
          <p:cNvPr id="6" name="TextBox 5"/>
          <p:cNvSpPr txBox="1"/>
          <p:nvPr/>
        </p:nvSpPr>
        <p:spPr>
          <a:xfrm>
            <a:off x="685800" y="2697480"/>
            <a:ext cx="10881360" cy="274320"/>
          </a:xfrm>
          <a:prstGeom prst="rect">
            <a:avLst/>
          </a:prstGeom>
          <a:noFill/>
        </p:spPr>
        <p:txBody>
          <a:bodyPr wrap="square">
            <a:spAutoFit/>
          </a:bodyPr>
          <a:lstStyle/>
          <a:p>
            <a:pPr algn="l">
              <a:lnSpc>
                <a:spcPct val="100000"/>
              </a:lnSpc>
            </a:pPr>
            <a:r>
              <a:rPr sz="1200" b="1">
                <a:solidFill>
                  <a:srgbClr val="1A1A1A"/>
                </a:solidFill>
                <a:latin typeface="Georgia"/>
              </a:rPr>
              <a:t>Why freeze the backbone?</a:t>
            </a:r>
          </a:p>
        </p:txBody>
      </p:sp>
      <p:sp>
        <p:nvSpPr>
          <p:cNvPr id="7" name="TextBox 6"/>
          <p:cNvSpPr txBox="1"/>
          <p:nvPr/>
        </p:nvSpPr>
        <p:spPr>
          <a:xfrm>
            <a:off x="868680" y="2999232"/>
            <a:ext cx="10607040" cy="594360"/>
          </a:xfrm>
          <a:prstGeom prst="rect">
            <a:avLst/>
          </a:prstGeom>
          <a:noFill/>
        </p:spPr>
        <p:txBody>
          <a:bodyPr wrap="square">
            <a:spAutoFit/>
          </a:bodyPr>
          <a:lstStyle/>
          <a:p>
            <a:pPr algn="l">
              <a:lnSpc>
                <a:spcPct val="112000"/>
              </a:lnSpc>
            </a:pPr>
            <a:r>
              <a:rPr sz="1100" b="0">
                <a:solidFill>
                  <a:srgbClr val="333333"/>
                </a:solidFill>
                <a:latin typeface="Georgia"/>
              </a:rPr>
              <a:t>To isolate the decoder as the only variable. Unfreezing diverged at batch 4 locally and has not been retried at scale.</a:t>
            </a:r>
          </a:p>
        </p:txBody>
      </p:sp>
      <p:sp>
        <p:nvSpPr>
          <p:cNvPr id="8" name="TextBox 7"/>
          <p:cNvSpPr txBox="1"/>
          <p:nvPr/>
        </p:nvSpPr>
        <p:spPr>
          <a:xfrm>
            <a:off x="685800" y="3886200"/>
            <a:ext cx="10881360" cy="274320"/>
          </a:xfrm>
          <a:prstGeom prst="rect">
            <a:avLst/>
          </a:prstGeom>
          <a:noFill/>
        </p:spPr>
        <p:txBody>
          <a:bodyPr wrap="square">
            <a:spAutoFit/>
          </a:bodyPr>
          <a:lstStyle/>
          <a:p>
            <a:pPr algn="l">
              <a:lnSpc>
                <a:spcPct val="100000"/>
              </a:lnSpc>
            </a:pPr>
            <a:r>
              <a:rPr sz="1200" b="1">
                <a:solidFill>
                  <a:srgbClr val="1A1A1A"/>
                </a:solidFill>
                <a:latin typeface="Georgia"/>
              </a:rPr>
              <a:t>Why is dense v3 slower than v2?</a:t>
            </a:r>
          </a:p>
        </p:txBody>
      </p:sp>
      <p:sp>
        <p:nvSpPr>
          <p:cNvPr id="9" name="TextBox 8"/>
          <p:cNvSpPr txBox="1"/>
          <p:nvPr/>
        </p:nvSpPr>
        <p:spPr>
          <a:xfrm>
            <a:off x="868680" y="4187952"/>
            <a:ext cx="10607040" cy="594360"/>
          </a:xfrm>
          <a:prstGeom prst="rect">
            <a:avLst/>
          </a:prstGeom>
          <a:noFill/>
        </p:spPr>
        <p:txBody>
          <a:bodyPr wrap="square">
            <a:spAutoFit/>
          </a:bodyPr>
          <a:lstStyle/>
          <a:p>
            <a:pPr algn="l">
              <a:lnSpc>
                <a:spcPct val="112000"/>
              </a:lnSpc>
            </a:pPr>
            <a:r>
              <a:rPr sz="1100" b="0">
                <a:solidFill>
                  <a:srgbClr val="333333"/>
                </a:solidFill>
                <a:latin typeface="Georgia"/>
              </a:rPr>
              <a:t>v2 upsamples with one convolution that shares work across neighbouring pixels. v3 answers each query independently, giving up that sharing to gain the ability to answer only what is asked.</a:t>
            </a:r>
          </a:p>
        </p:txBody>
      </p:sp>
      <p:sp>
        <p:nvSpPr>
          <p:cNvPr id="10" name="TextBox 9"/>
          <p:cNvSpPr txBox="1"/>
          <p:nvPr/>
        </p:nvSpPr>
        <p:spPr>
          <a:xfrm>
            <a:off x="685800" y="5074920"/>
            <a:ext cx="10881360" cy="274320"/>
          </a:xfrm>
          <a:prstGeom prst="rect">
            <a:avLst/>
          </a:prstGeom>
          <a:noFill/>
        </p:spPr>
        <p:txBody>
          <a:bodyPr wrap="square">
            <a:spAutoFit/>
          </a:bodyPr>
          <a:lstStyle/>
          <a:p>
            <a:pPr algn="l">
              <a:lnSpc>
                <a:spcPct val="100000"/>
              </a:lnSpc>
            </a:pPr>
            <a:r>
              <a:rPr sz="1200" b="1">
                <a:solidFill>
                  <a:srgbClr val="1A1A1A"/>
                </a:solidFill>
                <a:latin typeface="Georgia"/>
              </a:rPr>
              <a:t>Is a tie on EPE worth the added complexity?</a:t>
            </a:r>
          </a:p>
        </p:txBody>
      </p:sp>
      <p:sp>
        <p:nvSpPr>
          <p:cNvPr id="11" name="TextBox 10"/>
          <p:cNvSpPr txBox="1"/>
          <p:nvPr/>
        </p:nvSpPr>
        <p:spPr>
          <a:xfrm>
            <a:off x="868680" y="5376672"/>
            <a:ext cx="10607040" cy="594360"/>
          </a:xfrm>
          <a:prstGeom prst="rect">
            <a:avLst/>
          </a:prstGeom>
          <a:noFill/>
        </p:spPr>
        <p:txBody>
          <a:bodyPr wrap="square">
            <a:spAutoFit/>
          </a:bodyPr>
          <a:lstStyle/>
          <a:p>
            <a:pPr algn="l">
              <a:lnSpc>
                <a:spcPct val="112000"/>
              </a:lnSpc>
            </a:pPr>
            <a:r>
              <a:rPr sz="1100" b="0">
                <a:solidFill>
                  <a:srgbClr val="333333"/>
                </a:solidFill>
                <a:latin typeface="Georgia"/>
              </a:rPr>
              <a:t>Not on its own. It is worth it if you need queryability, cheap repeat access, or confidence values. For plain dense flow, v2 remains the better choice, and I would say so.</a:t>
            </a:r>
          </a:p>
        </p:txBody>
      </p:sp>
      <p:sp>
        <p:nvSpPr>
          <p:cNvPr id="12" name="TextBox 11"/>
          <p:cNvSpPr txBox="1"/>
          <p:nvPr/>
        </p:nvSpPr>
        <p:spPr>
          <a:xfrm>
            <a:off x="685800" y="6419088"/>
            <a:ext cx="7315200" cy="274320"/>
          </a:xfrm>
          <a:prstGeom prst="rect">
            <a:avLst/>
          </a:prstGeom>
          <a:noFill/>
        </p:spPr>
        <p:txBody>
          <a:bodyPr wrap="square">
            <a:spAutoFit/>
          </a:bodyPr>
          <a:lstStyle/>
          <a:p>
            <a:pPr algn="l">
              <a:lnSpc>
                <a:spcPct val="100000"/>
              </a:lnSpc>
            </a:pPr>
            <a:r>
              <a:rPr sz="900" b="0">
                <a:solidFill>
                  <a:srgbClr val="8A8A8A"/>
                </a:solidFill>
                <a:latin typeface="Georgia"/>
              </a:rPr>
              <a:t>NeuFlow v3, S. Raghav Srinivasan</a:t>
            </a:r>
          </a:p>
        </p:txBody>
      </p:sp>
      <p:sp>
        <p:nvSpPr>
          <p:cNvPr id="13" name="TextBox 12"/>
          <p:cNvSpPr txBox="1"/>
          <p:nvPr/>
        </p:nvSpPr>
        <p:spPr>
          <a:xfrm>
            <a:off x="10607040" y="6419088"/>
            <a:ext cx="1097280" cy="274320"/>
          </a:xfrm>
          <a:prstGeom prst="rect">
            <a:avLst/>
          </a:prstGeom>
          <a:noFill/>
        </p:spPr>
        <p:txBody>
          <a:bodyPr wrap="square">
            <a:spAutoFit/>
          </a:bodyPr>
          <a:lstStyle/>
          <a:p>
            <a:pPr algn="l">
              <a:lnSpc>
                <a:spcPct val="100000"/>
              </a:lnSpc>
            </a:pPr>
            <a:r>
              <a:rPr sz="900" b="0">
                <a:solidFill>
                  <a:srgbClr val="8A8A8A"/>
                </a:solidFill>
                <a:latin typeface="Georgia"/>
              </a:rPr>
              <a:t>20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