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version of where the project is. I replaced NeuFlow v2's fixed upsampler with a decoder you can query at any coordinate. The headline result is that this buys three capabilities v2 does not have, and costs 2.6 percent of mean accuracy, and I will show you both sides. The most interesting result is the third slide of results, on selective accuracy, so I would like to get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and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V100 it runs a full frame in 19.3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fourteen percent slower, and that mode is not what the decoder is for. A first sparse query is level with v2, because eighty-seven percent of the cost is the coarse pass, which both share and which cannot be skipped since global matching needs the whole image. The win is the fourth bar. Asking a second question about a frame you have already processed costs 2.6 milliseconds against v2's 19.3, because v2 keeps no state and has to redo everything. Anything that revisits a frame gets that: iterative registration, RANSAC refinement, a user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of queries and error on what remains falls to 1.06 pixels, against v2's 2.32 over the whole frame. So more than twice as accurate over eighty percent of the image. Keep only the most confident fifth and it is 0.48, close to five times better. Why this is not just a statistical trick: for registration and mapping you are choosing a few hundred points anyway, so declining to answer where the model is unsure costs you nothing. Same 2.35 million queries as the calibration bins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V100 or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but not fixed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Everything that follows is measured on held-out VKITTI2 scenes,</a:t>
            </a:r>
          </a:p>
          <a:p>
            <a:pPr algn="l">
              <a:lnSpc>
                <a:spcPct val="115000"/>
              </a:lnSpc>
            </a:pPr>
            <a:r>
              <a:rPr sz="1200" b="0">
                <a:solidFill>
                  <a:srgbClr val="1A1A1A"/>
                </a:solidFill>
                <a:latin typeface="Georgia"/>
              </a:rPr>
              <a:t>1,174 pairs, 460 million pixels.</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(V100,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19.3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(17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(2.6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2.6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 on the mean</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diagnosed and has a proposed fix.</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error over every pixel is also the</a:t>
            </a:r>
          </a:p>
          <a:p>
            <a:pPr algn="l">
              <a:lnSpc>
                <a:spcPct val="118000"/>
              </a:lnSpc>
            </a:pPr>
            <a:r>
              <a:rPr sz="1150" b="0">
                <a:solidFill>
                  <a:srgbClr val="1A1A1A"/>
                </a:solidFill>
                <a:latin typeface="Georgia"/>
              </a:rPr>
              <a:t>case the decoder is least suited to. Two</a:t>
            </a:r>
          </a:p>
          <a:p>
            <a:pPr algn="l">
              <a:lnSpc>
                <a:spcPct val="118000"/>
              </a:lnSpc>
            </a:pPr>
            <a:r>
              <a:rPr sz="1150" b="0">
                <a:solidFill>
                  <a:srgbClr val="1A1A1A"/>
                </a:solidFill>
                <a:latin typeface="Georgia"/>
              </a:rPr>
              <a:t>slides on, the same model is twice as</a:t>
            </a:r>
          </a:p>
          <a:p>
            <a:pPr algn="l">
              <a:lnSpc>
                <a:spcPct val="118000"/>
              </a:lnSpc>
            </a:pPr>
            <a:r>
              <a:rPr sz="1150" b="0">
                <a:solidFill>
                  <a:srgbClr val="1A1A1A"/>
                </a:solidFill>
                <a:latin typeface="Georgia"/>
              </a:rPr>
              <a:t>accurate as v2 over 80 percent of the</a:t>
            </a:r>
          </a:p>
          <a:p>
            <a:pPr algn="l">
              <a:lnSpc>
                <a:spcPct val="118000"/>
              </a:lnSpc>
            </a:pPr>
            <a:r>
              <a:rPr sz="1150" b="0">
                <a:solidFill>
                  <a:srgbClr val="1A1A1A"/>
                </a:solidFill>
                <a:latin typeface="Georgia"/>
              </a:rPr>
              <a:t>frame, once it is allowed to abstain.</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Front end verified bit-identical to v2 on all</a:t>
            </a:r>
          </a:p>
          <a:p>
            <a:pPr algn="ctr"/>
            <a:r>
              <a:rPr sz="1050" b="0">
                <a:solidFill>
                  <a:srgbClr val="1A1A1A"/>
                </a:solidFill>
                <a:latin typeface="Georgia"/>
              </a:rPr>
              <a:t>137 shared tensors, so this isolates the</a:t>
            </a:r>
          </a:p>
          <a:p>
            <a:pPr algn="ctr"/>
            <a:r>
              <a:rPr sz="1050" b="0">
                <a:solidFill>
                  <a:srgbClr val="1A1A1A"/>
                </a:solidFill>
                <a:latin typeface="Georgia"/>
              </a:rPr>
              <a:t>decoder and nothing else.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repeat queries are 7.7x cheaper</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output: v3 is 14%</a:t>
            </a:r>
          </a:p>
          <a:p>
            <a:pPr algn="l">
              <a:lnSpc>
                <a:spcPct val="118000"/>
              </a:lnSpc>
            </a:pPr>
            <a:r>
              <a:rPr sz="1150" b="0">
                <a:solidFill>
                  <a:srgbClr val="1A1A1A"/>
                </a:solidFill>
                <a:latin typeface="Georgia"/>
              </a:rPr>
              <a:t>slower. That mode is not</a:t>
            </a:r>
          </a:p>
          <a:p>
            <a:pPr algn="l">
              <a:lnSpc>
                <a:spcPct val="118000"/>
              </a:lnSpc>
            </a:pPr>
            <a:r>
              <a:rPr sz="1150" b="0">
                <a:solidFill>
                  <a:srgbClr val="1A1A1A"/>
                </a:solidFill>
                <a:latin typeface="Georgia"/>
              </a:rPr>
              <a:t>what the decoder is for.</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first sparse query is</a:t>
            </a:r>
          </a:p>
          <a:p>
            <a:pPr algn="l">
              <a:lnSpc>
                <a:spcPct val="118000"/>
              </a:lnSpc>
            </a:pPr>
            <a:r>
              <a:rPr sz="1150" b="0">
                <a:solidFill>
                  <a:srgbClr val="1A1A1A"/>
                </a:solidFill>
                <a:latin typeface="Georgia"/>
              </a:rPr>
              <a:t>level with v2: the coarse</a:t>
            </a:r>
          </a:p>
          <a:p>
            <a:pPr algn="l">
              <a:lnSpc>
                <a:spcPct val="118000"/>
              </a:lnSpc>
            </a:pPr>
            <a:r>
              <a:rPr sz="1150" b="0">
                <a:solidFill>
                  <a:srgbClr val="1A1A1A"/>
                </a:solidFill>
                <a:latin typeface="Georgia"/>
              </a:rPr>
              <a:t>pass dominates and is</a:t>
            </a:r>
          </a:p>
          <a:p>
            <a:pPr algn="l">
              <a:lnSpc>
                <a:spcPct val="118000"/>
              </a:lnSpc>
            </a:pPr>
            <a:r>
              <a:rPr sz="1150" b="0">
                <a:solidFill>
                  <a:srgbClr val="1A1A1A"/>
                </a:solidFill>
                <a:latin typeface="Georgia"/>
              </a:rPr>
              <a:t>shared by both.</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Everything after the first</a:t>
            </a:r>
          </a:p>
          <a:p>
            <a:pPr algn="l">
              <a:lnSpc>
                <a:spcPct val="118000"/>
              </a:lnSpc>
            </a:pPr>
            <a:r>
              <a:rPr sz="1150" b="0">
                <a:solidFill>
                  <a:srgbClr val="1A1A1A"/>
                </a:solidFill>
                <a:latin typeface="Georgia"/>
              </a:rPr>
              <a:t>query is where v3 wins.</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2.6 ms against 19.3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Confidence buys the accuracy back: 2.2x better over 80% of the frame</a:t>
            </a:r>
          </a:p>
        </p:txBody>
      </p:sp>
      <p:pic>
        <p:nvPicPr>
          <p:cNvPr id="4" name="Picture 3" descr="selective_accuracy.png"/>
          <p:cNvPicPr>
            <a:picLocks noChangeAspect="1"/>
          </p:cNvPicPr>
          <p:nvPr/>
        </p:nvPicPr>
        <p:blipFill>
          <a:blip r:embed="rId2"/>
          <a:stretch>
            <a:fillRect/>
          </a:stretch>
        </p:blipFill>
        <p:spPr>
          <a:xfrm>
            <a:off x="731520" y="1463040"/>
            <a:ext cx="7498079" cy="4068107"/>
          </a:xfrm>
          <a:prstGeom prst="rect">
            <a:avLst/>
          </a:prstGeom>
        </p:spPr>
      </p:pic>
      <p:sp>
        <p:nvSpPr>
          <p:cNvPr id="5" name="TextBox 4"/>
          <p:cNvSpPr txBox="1"/>
          <p:nvPr/>
        </p:nvSpPr>
        <p:spPr>
          <a:xfrm>
            <a:off x="8549640" y="1645920"/>
            <a:ext cx="3200400" cy="3291840"/>
          </a:xfrm>
          <a:prstGeom prst="rect">
            <a:avLst/>
          </a:prstGeom>
          <a:noFill/>
        </p:spPr>
        <p:txBody>
          <a:bodyPr wrap="square">
            <a:spAutoFit/>
          </a:bodyPr>
          <a:lstStyle/>
          <a:p>
            <a:pPr algn="l">
              <a:lnSpc>
                <a:spcPct val="118000"/>
              </a:lnSpc>
            </a:pPr>
            <a:r>
              <a:rPr sz="1150" b="0">
                <a:solidFill>
                  <a:srgbClr val="1A1A1A"/>
                </a:solidFill>
                <a:latin typeface="Georgia"/>
              </a:rPr>
              <a:t>Mean error over every pixel is</a:t>
            </a:r>
          </a:p>
          <a:p>
            <a:pPr algn="l">
              <a:lnSpc>
                <a:spcPct val="118000"/>
              </a:lnSpc>
            </a:pPr>
            <a:r>
              <a:rPr sz="1150" b="0">
                <a:solidFill>
                  <a:srgbClr val="1A1A1A"/>
                </a:solidFill>
                <a:latin typeface="Georgia"/>
              </a:rPr>
              <a:t>one operating point, and it is</a:t>
            </a:r>
          </a:p>
          <a:p>
            <a:pPr algn="l">
              <a:lnSpc>
                <a:spcPct val="118000"/>
              </a:lnSpc>
            </a:pPr>
            <a:r>
              <a:rPr sz="1150" b="0">
                <a:solidFill>
                  <a:srgbClr val="1A1A1A"/>
                </a:solidFill>
                <a:latin typeface="Georgia"/>
              </a:rPr>
              <a:t>the only one v2 has.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With a confidence value per</a:t>
            </a:r>
          </a:p>
          <a:p>
            <a:pPr algn="l">
              <a:lnSpc>
                <a:spcPct val="118000"/>
              </a:lnSpc>
            </a:pPr>
            <a:r>
              <a:rPr sz="1150" b="0">
                <a:solidFill>
                  <a:srgbClr val="1A1A1A"/>
                </a:solidFill>
                <a:latin typeface="Georgia"/>
              </a:rPr>
              <a:t>query, v3 has a curve.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Drop the least confident 20%</a:t>
            </a:r>
          </a:p>
          <a:p>
            <a:pPr algn="l">
              <a:lnSpc>
                <a:spcPct val="118000"/>
              </a:lnSpc>
            </a:pPr>
            <a:r>
              <a:rPr sz="1150" b="0">
                <a:solidFill>
                  <a:srgbClr val="1A1A1A"/>
                </a:solidFill>
                <a:latin typeface="Georgia"/>
              </a:rPr>
              <a:t>and error falls to 1.06 px,</a:t>
            </a:r>
          </a:p>
          <a:p>
            <a:pPr algn="l">
              <a:lnSpc>
                <a:spcPct val="118000"/>
              </a:lnSpc>
            </a:pPr>
            <a:r>
              <a:rPr sz="1150" b="0">
                <a:solidFill>
                  <a:srgbClr val="1A1A1A"/>
                </a:solidFill>
                <a:latin typeface="Georgia"/>
              </a:rPr>
              <a:t>against v2 at 2.32.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Keep the best fifth and it is</a:t>
            </a:r>
          </a:p>
          <a:p>
            <a:pPr algn="l">
              <a:lnSpc>
                <a:spcPct val="118000"/>
              </a:lnSpc>
            </a:pPr>
            <a:r>
              <a:rPr sz="1150" b="0">
                <a:solidFill>
                  <a:srgbClr val="1A1A1A"/>
                </a:solidFill>
                <a:latin typeface="Georgia"/>
              </a:rPr>
              <a:t>0.48 px, nearly 5x better.</a:t>
            </a:r>
          </a:p>
        </p:txBody>
      </p:sp>
      <p:sp>
        <p:nvSpPr>
          <p:cNvPr id="6" name="Rounded Rectangle 5"/>
          <p:cNvSpPr/>
          <p:nvPr/>
        </p:nvSpPr>
        <p:spPr>
          <a:xfrm>
            <a:off x="8549640" y="5120640"/>
            <a:ext cx="3200400" cy="9144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For registration and mapping,</a:t>
            </a:r>
          </a:p>
          <a:p>
            <a:pPr algn="ctr"/>
            <a:r>
              <a:rPr sz="1050" b="0">
                <a:solidFill>
                  <a:srgbClr val="0B6A63"/>
                </a:solidFill>
                <a:latin typeface="Georgia"/>
              </a:rPr>
              <a:t>where you pick your points</a:t>
            </a:r>
          </a:p>
          <a:p>
            <a:pPr algn="ctr"/>
            <a:r>
              <a:rPr sz="1050" b="0">
                <a:solidFill>
                  <a:srgbClr val="0B6A63"/>
                </a:solidFill>
                <a:latin typeface="Georgia"/>
              </a:rPr>
              <a:t>anyway, abstaining is free.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17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2.6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14%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7.7x cheaper (2.6 vs 19.3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V100 and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2.6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 but not fixed.</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V100 or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