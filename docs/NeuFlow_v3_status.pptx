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status report on my thesis project. I want to be upfront that the headline has changed since the last version of this deck. Earlier numbers were contaminated by a train-test leak and by a BatchNorm bug, and when I fixed both, two of my claims did not survive. I will show you what did survive and what did not, and I will be explicit about which comparisons are fair.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without paying for it elsewhere. Some of the answer is no, and I will show you 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19.6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spend a slide on this because it is the reason to believe anything that follows. Three defects. First, a train-test leak: two VKITTI2 scenes were in both the training set and the evaluation set, so models were being scored on frames they had trained on. Second, BatchNorm kept updating its running statistics even though the backbone was supposed to be frozen, which moved the coarse flow by 0.35 pixels, about seven times the effect I was trying to measure. Third, my runs differed in three things at once, so no comparison between them meant anything. All three are fixed, and there is now a pre-flight suite that checks all of it before a job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Three of these four bars are not wins. Dense v3 is twelve percent slower than v2, and I want to flag that an earlier version of this deck claimed v3 dense was faster. That measurement was taken before the BatchNorm fix and on a different GPU. It was wrong and I have withdrawn it. A first sparse query is level with v2, not faster, because the coarse pass dominates and you cannot avoid it. The real win is the fourth bar: asking a second question about a frame you have already processed costs 2.6 milliseconds against v2's 19.6, because v2 has no cached state and must redo everything.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the cleanest results in the project, because everything is held fixed except one thing. On the left, adding MPI-Sintel to the training mix made it slightly worse despite ten thousand extra pairs, so Sintel does not earn its place. On the right, adding the uncertainty head improved accuracy by two percent on identical data. That is a free gain from an auxiliary loss acting as a regulariser, and it also gives you a confidence signal,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This report answers that question with measurements, including</a:t>
            </a:r>
          </a:p>
          <a:p>
            <a:pPr algn="l">
              <a:lnSpc>
                <a:spcPct val="115000"/>
              </a:lnSpc>
            </a:pPr>
            <a:r>
              <a:rPr sz="1200" b="0">
                <a:solidFill>
                  <a:srgbClr val="1A1A1A"/>
                </a:solidFill>
                <a:latin typeface="Georgia"/>
              </a:rPr>
              <a:t>the places where the answer is no.</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19.6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METHODOLOGY</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 fixed before trusting any of these numbers</a:t>
            </a:r>
          </a:p>
        </p:txBody>
      </p:sp>
      <p:sp>
        <p:nvSpPr>
          <p:cNvPr id="4" name="TextBox 3"/>
          <p:cNvSpPr txBox="1"/>
          <p:nvPr/>
        </p:nvSpPr>
        <p:spPr>
          <a:xfrm>
            <a:off x="685800" y="1508760"/>
            <a:ext cx="10881360" cy="365760"/>
          </a:xfrm>
          <a:prstGeom prst="rect">
            <a:avLst/>
          </a:prstGeom>
          <a:noFill/>
        </p:spPr>
        <p:txBody>
          <a:bodyPr wrap="square">
            <a:spAutoFit/>
          </a:bodyPr>
          <a:lstStyle/>
          <a:p>
            <a:pPr algn="l">
              <a:lnSpc>
                <a:spcPct val="100000"/>
              </a:lnSpc>
            </a:pPr>
            <a:r>
              <a:rPr sz="1200" b="0">
                <a:solidFill>
                  <a:srgbClr val="1A1A1A"/>
                </a:solidFill>
                <a:latin typeface="Georgia"/>
              </a:rPr>
              <a:t>An earlier version of this deck reported better results. Those numbers were wrong. Three defects:</a:t>
            </a:r>
          </a:p>
        </p:txBody>
      </p:sp>
      <p:sp>
        <p:nvSpPr>
          <p:cNvPr id="5" name="TextBox 4"/>
          <p:cNvSpPr txBox="1"/>
          <p:nvPr/>
        </p:nvSpPr>
        <p:spPr>
          <a:xfrm>
            <a:off x="685800" y="2057400"/>
            <a:ext cx="4846320" cy="237744"/>
          </a:xfrm>
          <a:prstGeom prst="rect">
            <a:avLst/>
          </a:prstGeom>
          <a:noFill/>
        </p:spPr>
        <p:txBody>
          <a:bodyPr wrap="square">
            <a:spAutoFit/>
          </a:bodyPr>
          <a:lstStyle/>
          <a:p>
            <a:pPr algn="l">
              <a:lnSpc>
                <a:spcPct val="100000"/>
              </a:lnSpc>
            </a:pPr>
            <a:r>
              <a:rPr sz="1050" b="1">
                <a:solidFill>
                  <a:srgbClr val="1A1A1A"/>
                </a:solidFill>
                <a:latin typeface="Georgia"/>
              </a:rPr>
              <a:t>Defect</a:t>
            </a:r>
          </a:p>
        </p:txBody>
      </p:sp>
      <p:sp>
        <p:nvSpPr>
          <p:cNvPr id="6" name="TextBox 5"/>
          <p:cNvSpPr txBox="1"/>
          <p:nvPr/>
        </p:nvSpPr>
        <p:spPr>
          <a:xfrm>
            <a:off x="5532120" y="2057400"/>
            <a:ext cx="3200400" cy="237744"/>
          </a:xfrm>
          <a:prstGeom prst="rect">
            <a:avLst/>
          </a:prstGeom>
          <a:noFill/>
        </p:spPr>
        <p:txBody>
          <a:bodyPr wrap="square">
            <a:spAutoFit/>
          </a:bodyPr>
          <a:lstStyle/>
          <a:p>
            <a:pPr algn="r">
              <a:lnSpc>
                <a:spcPct val="100000"/>
              </a:lnSpc>
            </a:pPr>
            <a:r>
              <a:rPr sz="1050" b="1">
                <a:solidFill>
                  <a:srgbClr val="1A1A1A"/>
                </a:solidFill>
                <a:latin typeface="Georgia"/>
              </a:rPr>
              <a:t>Effect</a:t>
            </a:r>
          </a:p>
        </p:txBody>
      </p:sp>
      <p:sp>
        <p:nvSpPr>
          <p:cNvPr id="7" name="TextBox 6"/>
          <p:cNvSpPr txBox="1"/>
          <p:nvPr/>
        </p:nvSpPr>
        <p:spPr>
          <a:xfrm>
            <a:off x="8732520" y="2057400"/>
            <a:ext cx="2834640" cy="237744"/>
          </a:xfrm>
          <a:prstGeom prst="rect">
            <a:avLst/>
          </a:prstGeom>
          <a:noFill/>
        </p:spPr>
        <p:txBody>
          <a:bodyPr wrap="square">
            <a:spAutoFit/>
          </a:bodyPr>
          <a:lstStyle/>
          <a:p>
            <a:pPr algn="r">
              <a:lnSpc>
                <a:spcPct val="100000"/>
              </a:lnSpc>
            </a:pPr>
            <a:r>
              <a:rPr sz="1050" b="1">
                <a:solidFill>
                  <a:srgbClr val="1A1A1A"/>
                </a:solidFill>
                <a:latin typeface="Georgia"/>
              </a:rPr>
              <a:t>Fix</a:t>
            </a:r>
          </a:p>
        </p:txBody>
      </p:sp>
      <p:sp>
        <p:nvSpPr>
          <p:cNvPr id="8" name="Rectangle 7"/>
          <p:cNvSpPr/>
          <p:nvPr/>
        </p:nvSpPr>
        <p:spPr>
          <a:xfrm>
            <a:off x="685800" y="229514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31720"/>
            <a:ext cx="4846320" cy="237744"/>
          </a:xfrm>
          <a:prstGeom prst="rect">
            <a:avLst/>
          </a:prstGeom>
          <a:noFill/>
        </p:spPr>
        <p:txBody>
          <a:bodyPr wrap="square">
            <a:spAutoFit/>
          </a:bodyPr>
          <a:lstStyle/>
          <a:p>
            <a:pPr algn="l">
              <a:lnSpc>
                <a:spcPct val="100000"/>
              </a:lnSpc>
            </a:pPr>
            <a:r>
              <a:rPr sz="1050" b="0">
                <a:solidFill>
                  <a:srgbClr val="1A1A1A"/>
                </a:solidFill>
                <a:latin typeface="Georgia"/>
              </a:rPr>
              <a:t>Train/test leak: VKITTI2 Scene18 and 20</a:t>
            </a:r>
          </a:p>
        </p:txBody>
      </p:sp>
      <p:sp>
        <p:nvSpPr>
          <p:cNvPr id="10" name="TextBox 9"/>
          <p:cNvSpPr txBox="1"/>
          <p:nvPr/>
        </p:nvSpPr>
        <p:spPr>
          <a:xfrm>
            <a:off x="5532120" y="2331720"/>
            <a:ext cx="3200400" cy="237744"/>
          </a:xfrm>
          <a:prstGeom prst="rect">
            <a:avLst/>
          </a:prstGeom>
          <a:noFill/>
        </p:spPr>
        <p:txBody>
          <a:bodyPr wrap="square">
            <a:spAutoFit/>
          </a:bodyPr>
          <a:lstStyle/>
          <a:p>
            <a:pPr algn="r">
              <a:lnSpc>
                <a:spcPct val="100000"/>
              </a:lnSpc>
            </a:pPr>
            <a:r>
              <a:rPr sz="1050" b="0">
                <a:solidFill>
                  <a:srgbClr val="1A1A1A"/>
                </a:solidFill>
                <a:latin typeface="Georgia"/>
              </a:rPr>
              <a:t>models trained on the</a:t>
            </a:r>
          </a:p>
        </p:txBody>
      </p:sp>
      <p:sp>
        <p:nvSpPr>
          <p:cNvPr id="11" name="TextBox 10"/>
          <p:cNvSpPr txBox="1"/>
          <p:nvPr/>
        </p:nvSpPr>
        <p:spPr>
          <a:xfrm>
            <a:off x="8732520" y="2331720"/>
            <a:ext cx="2834640" cy="237744"/>
          </a:xfrm>
          <a:prstGeom prst="rect">
            <a:avLst/>
          </a:prstGeom>
          <a:noFill/>
        </p:spPr>
        <p:txBody>
          <a:bodyPr wrap="square">
            <a:spAutoFit/>
          </a:bodyPr>
          <a:lstStyle/>
          <a:p>
            <a:pPr algn="r">
              <a:lnSpc>
                <a:spcPct val="100000"/>
              </a:lnSpc>
            </a:pPr>
            <a:r>
              <a:rPr sz="1050" b="0">
                <a:solidFill>
                  <a:srgbClr val="1A1A1A"/>
                </a:solidFill>
                <a:latin typeface="Georgia"/>
              </a:rPr>
              <a:t>val scenes excluded;</a:t>
            </a:r>
          </a:p>
        </p:txBody>
      </p:sp>
      <p:sp>
        <p:nvSpPr>
          <p:cNvPr id="12" name="TextBox 11"/>
          <p:cNvSpPr txBox="1"/>
          <p:nvPr/>
        </p:nvSpPr>
        <p:spPr>
          <a:xfrm>
            <a:off x="685800" y="2606039"/>
            <a:ext cx="4846320" cy="237744"/>
          </a:xfrm>
          <a:prstGeom prst="rect">
            <a:avLst/>
          </a:prstGeom>
          <a:noFill/>
        </p:spPr>
        <p:txBody>
          <a:bodyPr wrap="square">
            <a:spAutoFit/>
          </a:bodyPr>
          <a:lstStyle/>
          <a:p>
            <a:pPr algn="l">
              <a:lnSpc>
                <a:spcPct val="100000"/>
              </a:lnSpc>
            </a:pPr>
            <a:r>
              <a:rPr sz="1050" b="0">
                <a:solidFill>
                  <a:srgbClr val="1A1A1A"/>
                </a:solidFill>
                <a:latin typeface="Georgia"/>
              </a:rPr>
              <a:t>were in both training and evaluation</a:t>
            </a:r>
          </a:p>
        </p:txBody>
      </p:sp>
      <p:sp>
        <p:nvSpPr>
          <p:cNvPr id="13" name="TextBox 12"/>
          <p:cNvSpPr txBox="1"/>
          <p:nvPr/>
        </p:nvSpPr>
        <p:spPr>
          <a:xfrm>
            <a:off x="5532120" y="2606039"/>
            <a:ext cx="3200400" cy="237744"/>
          </a:xfrm>
          <a:prstGeom prst="rect">
            <a:avLst/>
          </a:prstGeom>
          <a:noFill/>
        </p:spPr>
        <p:txBody>
          <a:bodyPr wrap="square">
            <a:spAutoFit/>
          </a:bodyPr>
          <a:lstStyle/>
          <a:p>
            <a:pPr algn="r">
              <a:lnSpc>
                <a:spcPct val="100000"/>
              </a:lnSpc>
            </a:pPr>
            <a:r>
              <a:rPr sz="1050" b="0">
                <a:solidFill>
                  <a:srgbClr val="1A1A1A"/>
                </a:solidFill>
                <a:latin typeface="Georgia"/>
              </a:rPr>
              <a:t>frames they were scored on</a:t>
            </a:r>
          </a:p>
        </p:txBody>
      </p:sp>
      <p:sp>
        <p:nvSpPr>
          <p:cNvPr id="14" name="TextBox 13"/>
          <p:cNvSpPr txBox="1"/>
          <p:nvPr/>
        </p:nvSpPr>
        <p:spPr>
          <a:xfrm>
            <a:off x="8732520" y="2606039"/>
            <a:ext cx="2834640" cy="237744"/>
          </a:xfrm>
          <a:prstGeom prst="rect">
            <a:avLst/>
          </a:prstGeom>
          <a:noFill/>
        </p:spPr>
        <p:txBody>
          <a:bodyPr wrap="square">
            <a:spAutoFit/>
          </a:bodyPr>
          <a:lstStyle/>
          <a:p>
            <a:pPr algn="r">
              <a:lnSpc>
                <a:spcPct val="100000"/>
              </a:lnSpc>
            </a:pPr>
            <a:r>
              <a:rPr sz="1050" b="0">
                <a:solidFill>
                  <a:srgbClr val="1A1A1A"/>
                </a:solidFill>
                <a:latin typeface="Georgia"/>
              </a:rPr>
              <a:t>checked at pair and frame level</a:t>
            </a:r>
          </a:p>
        </p:txBody>
      </p:sp>
      <p:sp>
        <p:nvSpPr>
          <p:cNvPr id="15" name="TextBox 14"/>
          <p:cNvSpPr txBox="1"/>
          <p:nvPr/>
        </p:nvSpPr>
        <p:spPr>
          <a:xfrm>
            <a:off x="685800" y="288035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16" name="TextBox 15"/>
          <p:cNvSpPr txBox="1"/>
          <p:nvPr/>
        </p:nvSpPr>
        <p:spPr>
          <a:xfrm>
            <a:off x="5532120" y="288035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7" name="TextBox 16"/>
          <p:cNvSpPr txBox="1"/>
          <p:nvPr/>
        </p:nvSpPr>
        <p:spPr>
          <a:xfrm>
            <a:off x="8732520" y="288035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8" name="TextBox 17"/>
          <p:cNvSpPr txBox="1"/>
          <p:nvPr/>
        </p:nvSpPr>
        <p:spPr>
          <a:xfrm>
            <a:off x="685800" y="3154679"/>
            <a:ext cx="4846320" cy="237744"/>
          </a:xfrm>
          <a:prstGeom prst="rect">
            <a:avLst/>
          </a:prstGeom>
          <a:noFill/>
        </p:spPr>
        <p:txBody>
          <a:bodyPr wrap="square">
            <a:spAutoFit/>
          </a:bodyPr>
          <a:lstStyle/>
          <a:p>
            <a:pPr algn="l">
              <a:lnSpc>
                <a:spcPct val="100000"/>
              </a:lnSpc>
            </a:pPr>
            <a:r>
              <a:rPr sz="1050" b="0">
                <a:solidFill>
                  <a:srgbClr val="1A1A1A"/>
                </a:solidFill>
                <a:latin typeface="Georgia"/>
              </a:rPr>
              <a:t>BatchNorm updated running statistics</a:t>
            </a:r>
          </a:p>
        </p:txBody>
      </p:sp>
      <p:sp>
        <p:nvSpPr>
          <p:cNvPr id="19" name="TextBox 18"/>
          <p:cNvSpPr txBox="1"/>
          <p:nvPr/>
        </p:nvSpPr>
        <p:spPr>
          <a:xfrm>
            <a:off x="5532120" y="3154679"/>
            <a:ext cx="3200400" cy="237744"/>
          </a:xfrm>
          <a:prstGeom prst="rect">
            <a:avLst/>
          </a:prstGeom>
          <a:noFill/>
        </p:spPr>
        <p:txBody>
          <a:bodyPr wrap="square">
            <a:spAutoFit/>
          </a:bodyPr>
          <a:lstStyle/>
          <a:p>
            <a:pPr algn="r">
              <a:lnSpc>
                <a:spcPct val="100000"/>
              </a:lnSpc>
            </a:pPr>
            <a:r>
              <a:rPr sz="1050" b="0">
                <a:solidFill>
                  <a:srgbClr val="1A1A1A"/>
                </a:solidFill>
                <a:latin typeface="Georgia"/>
              </a:rPr>
              <a:t>the "frozen" backbone drifted</a:t>
            </a:r>
          </a:p>
        </p:txBody>
      </p:sp>
      <p:sp>
        <p:nvSpPr>
          <p:cNvPr id="20" name="TextBox 19"/>
          <p:cNvSpPr txBox="1"/>
          <p:nvPr/>
        </p:nvSpPr>
        <p:spPr>
          <a:xfrm>
            <a:off x="8732520" y="3154679"/>
            <a:ext cx="2834640" cy="237744"/>
          </a:xfrm>
          <a:prstGeom prst="rect">
            <a:avLst/>
          </a:prstGeom>
          <a:noFill/>
        </p:spPr>
        <p:txBody>
          <a:bodyPr wrap="square">
            <a:spAutoFit/>
          </a:bodyPr>
          <a:lstStyle/>
          <a:p>
            <a:pPr algn="r">
              <a:lnSpc>
                <a:spcPct val="100000"/>
              </a:lnSpc>
            </a:pPr>
            <a:r>
              <a:rPr sz="1050" b="0">
                <a:solidFill>
                  <a:srgbClr val="1A1A1A"/>
                </a:solidFill>
                <a:latin typeface="Georgia"/>
              </a:rPr>
              <a:t>BN held in eval mode;</a:t>
            </a:r>
          </a:p>
        </p:txBody>
      </p:sp>
      <p:sp>
        <p:nvSpPr>
          <p:cNvPr id="21" name="TextBox 20"/>
          <p:cNvSpPr txBox="1"/>
          <p:nvPr/>
        </p:nvSpPr>
        <p:spPr>
          <a:xfrm>
            <a:off x="685800" y="3428999"/>
            <a:ext cx="4846320" cy="237744"/>
          </a:xfrm>
          <a:prstGeom prst="rect">
            <a:avLst/>
          </a:prstGeom>
          <a:noFill/>
        </p:spPr>
        <p:txBody>
          <a:bodyPr wrap="square">
            <a:spAutoFit/>
          </a:bodyPr>
          <a:lstStyle/>
          <a:p>
            <a:pPr algn="l">
              <a:lnSpc>
                <a:spcPct val="100000"/>
              </a:lnSpc>
            </a:pPr>
            <a:r>
              <a:rPr sz="1050" b="0">
                <a:solidFill>
                  <a:srgbClr val="1A1A1A"/>
                </a:solidFill>
                <a:latin typeface="Georgia"/>
              </a:rPr>
              <a:t>in train mode despite requires_grad=False</a:t>
            </a:r>
          </a:p>
        </p:txBody>
      </p:sp>
      <p:sp>
        <p:nvSpPr>
          <p:cNvPr id="22" name="TextBox 21"/>
          <p:cNvSpPr txBox="1"/>
          <p:nvPr/>
        </p:nvSpPr>
        <p:spPr>
          <a:xfrm>
            <a:off x="5532120" y="3428999"/>
            <a:ext cx="3200400" cy="237744"/>
          </a:xfrm>
          <a:prstGeom prst="rect">
            <a:avLst/>
          </a:prstGeom>
          <a:noFill/>
        </p:spPr>
        <p:txBody>
          <a:bodyPr wrap="square">
            <a:spAutoFit/>
          </a:bodyPr>
          <a:lstStyle/>
          <a:p>
            <a:pPr algn="r">
              <a:lnSpc>
                <a:spcPct val="100000"/>
              </a:lnSpc>
            </a:pPr>
            <a:r>
              <a:rPr sz="1050" b="0">
                <a:solidFill>
                  <a:srgbClr val="1A1A1A"/>
                </a:solidFill>
                <a:latin typeface="Georgia"/>
              </a:rPr>
              <a:t>0.35 px, 7x the effect studied</a:t>
            </a:r>
          </a:p>
        </p:txBody>
      </p:sp>
      <p:sp>
        <p:nvSpPr>
          <p:cNvPr id="23" name="TextBox 22"/>
          <p:cNvSpPr txBox="1"/>
          <p:nvPr/>
        </p:nvSpPr>
        <p:spPr>
          <a:xfrm>
            <a:off x="8732520" y="3428999"/>
            <a:ext cx="2834640" cy="237744"/>
          </a:xfrm>
          <a:prstGeom prst="rect">
            <a:avLst/>
          </a:prstGeom>
          <a:noFill/>
        </p:spPr>
        <p:txBody>
          <a:bodyPr wrap="square">
            <a:spAutoFit/>
          </a:bodyPr>
          <a:lstStyle/>
          <a:p>
            <a:pPr algn="r">
              <a:lnSpc>
                <a:spcPct val="100000"/>
              </a:lnSpc>
            </a:pPr>
            <a:r>
              <a:rPr sz="1050" b="0">
                <a:solidFill>
                  <a:srgbClr val="1A1A1A"/>
                </a:solidFill>
                <a:latin typeface="Georgia"/>
              </a:rPr>
              <a:t>verified drift is exactly 0</a:t>
            </a:r>
          </a:p>
        </p:txBody>
      </p:sp>
      <p:sp>
        <p:nvSpPr>
          <p:cNvPr id="24" name="TextBox 23"/>
          <p:cNvSpPr txBox="1"/>
          <p:nvPr/>
        </p:nvSpPr>
        <p:spPr>
          <a:xfrm>
            <a:off x="685800" y="370331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25" name="TextBox 24"/>
          <p:cNvSpPr txBox="1"/>
          <p:nvPr/>
        </p:nvSpPr>
        <p:spPr>
          <a:xfrm>
            <a:off x="5532120" y="370331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6" name="TextBox 25"/>
          <p:cNvSpPr txBox="1"/>
          <p:nvPr/>
        </p:nvSpPr>
        <p:spPr>
          <a:xfrm>
            <a:off x="8732520" y="370331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7" name="TextBox 26"/>
          <p:cNvSpPr txBox="1"/>
          <p:nvPr/>
        </p:nvSpPr>
        <p:spPr>
          <a:xfrm>
            <a:off x="685800" y="3977639"/>
            <a:ext cx="4846320" cy="237744"/>
          </a:xfrm>
          <a:prstGeom prst="rect">
            <a:avLst/>
          </a:prstGeom>
          <a:noFill/>
        </p:spPr>
        <p:txBody>
          <a:bodyPr wrap="square">
            <a:spAutoFit/>
          </a:bodyPr>
          <a:lstStyle/>
          <a:p>
            <a:pPr algn="l">
              <a:lnSpc>
                <a:spcPct val="100000"/>
              </a:lnSpc>
            </a:pPr>
            <a:r>
              <a:rPr sz="1050" b="0">
                <a:solidFill>
                  <a:srgbClr val="1A1A1A"/>
                </a:solidFill>
                <a:latin typeface="Georgia"/>
              </a:rPr>
              <a:t>Runs differed in three variables at once</a:t>
            </a:r>
          </a:p>
        </p:txBody>
      </p:sp>
      <p:sp>
        <p:nvSpPr>
          <p:cNvPr id="28" name="TextBox 27"/>
          <p:cNvSpPr txBox="1"/>
          <p:nvPr/>
        </p:nvSpPr>
        <p:spPr>
          <a:xfrm>
            <a:off x="5532120" y="3977639"/>
            <a:ext cx="3200400" cy="237744"/>
          </a:xfrm>
          <a:prstGeom prst="rect">
            <a:avLst/>
          </a:prstGeom>
          <a:noFill/>
        </p:spPr>
        <p:txBody>
          <a:bodyPr wrap="square">
            <a:spAutoFit/>
          </a:bodyPr>
          <a:lstStyle/>
          <a:p>
            <a:pPr algn="r">
              <a:lnSpc>
                <a:spcPct val="100000"/>
              </a:lnSpc>
            </a:pPr>
            <a:r>
              <a:rPr sz="1050" b="0">
                <a:solidFill>
                  <a:srgbClr val="1A1A1A"/>
                </a:solidFill>
                <a:latin typeface="Georgia"/>
              </a:rPr>
              <a:t>no comparison between them</a:t>
            </a:r>
          </a:p>
        </p:txBody>
      </p:sp>
      <p:sp>
        <p:nvSpPr>
          <p:cNvPr id="29" name="TextBox 28"/>
          <p:cNvSpPr txBox="1"/>
          <p:nvPr/>
        </p:nvSpPr>
        <p:spPr>
          <a:xfrm>
            <a:off x="8732520" y="3977639"/>
            <a:ext cx="2834640" cy="237744"/>
          </a:xfrm>
          <a:prstGeom prst="rect">
            <a:avLst/>
          </a:prstGeom>
          <a:noFill/>
        </p:spPr>
        <p:txBody>
          <a:bodyPr wrap="square">
            <a:spAutoFit/>
          </a:bodyPr>
          <a:lstStyle/>
          <a:p>
            <a:pPr algn="r">
              <a:lnSpc>
                <a:spcPct val="100000"/>
              </a:lnSpc>
            </a:pPr>
            <a:r>
              <a:rPr sz="1050" b="0">
                <a:solidFill>
                  <a:srgbClr val="1A1A1A"/>
                </a:solidFill>
                <a:latin typeface="Georgia"/>
              </a:rPr>
              <a:t>all runs generated from one</a:t>
            </a:r>
          </a:p>
        </p:txBody>
      </p:sp>
      <p:sp>
        <p:nvSpPr>
          <p:cNvPr id="30" name="TextBox 29"/>
          <p:cNvSpPr txBox="1"/>
          <p:nvPr/>
        </p:nvSpPr>
        <p:spPr>
          <a:xfrm>
            <a:off x="685800" y="4251959"/>
            <a:ext cx="4846320" cy="237744"/>
          </a:xfrm>
          <a:prstGeom prst="rect">
            <a:avLst/>
          </a:prstGeom>
          <a:noFill/>
        </p:spPr>
        <p:txBody>
          <a:bodyPr wrap="square">
            <a:spAutoFit/>
          </a:bodyPr>
          <a:lstStyle/>
          <a:p>
            <a:pPr algn="l">
              <a:lnSpc>
                <a:spcPct val="100000"/>
              </a:lnSpc>
            </a:pPr>
            <a:r>
              <a:rPr sz="1050" b="0">
                <a:solidFill>
                  <a:srgbClr val="1A1A1A"/>
                </a:solidFill>
                <a:latin typeface="Georgia"/>
              </a:rPr>
              <a:t>(data, batch size, refinement schedule)</a:t>
            </a:r>
          </a:p>
        </p:txBody>
      </p:sp>
      <p:sp>
        <p:nvSpPr>
          <p:cNvPr id="31" name="TextBox 30"/>
          <p:cNvSpPr txBox="1"/>
          <p:nvPr/>
        </p:nvSpPr>
        <p:spPr>
          <a:xfrm>
            <a:off x="5532120" y="4251959"/>
            <a:ext cx="3200400" cy="237744"/>
          </a:xfrm>
          <a:prstGeom prst="rect">
            <a:avLst/>
          </a:prstGeom>
          <a:noFill/>
        </p:spPr>
        <p:txBody>
          <a:bodyPr wrap="square">
            <a:spAutoFit/>
          </a:bodyPr>
          <a:lstStyle/>
          <a:p>
            <a:pPr algn="r">
              <a:lnSpc>
                <a:spcPct val="100000"/>
              </a:lnSpc>
            </a:pPr>
            <a:r>
              <a:rPr sz="1050" b="0">
                <a:solidFill>
                  <a:srgbClr val="1A1A1A"/>
                </a:solidFill>
                <a:latin typeface="Georgia"/>
              </a:rPr>
              <a:t>was valid</a:t>
            </a:r>
          </a:p>
        </p:txBody>
      </p:sp>
      <p:sp>
        <p:nvSpPr>
          <p:cNvPr id="32" name="TextBox 31"/>
          <p:cNvSpPr txBox="1"/>
          <p:nvPr/>
        </p:nvSpPr>
        <p:spPr>
          <a:xfrm>
            <a:off x="8732520" y="4251959"/>
            <a:ext cx="2834640" cy="237744"/>
          </a:xfrm>
          <a:prstGeom prst="rect">
            <a:avLst/>
          </a:prstGeom>
          <a:noFill/>
        </p:spPr>
        <p:txBody>
          <a:bodyPr wrap="square">
            <a:spAutoFit/>
          </a:bodyPr>
          <a:lstStyle/>
          <a:p>
            <a:pPr algn="r">
              <a:lnSpc>
                <a:spcPct val="100000"/>
              </a:lnSpc>
            </a:pPr>
            <a:r>
              <a:rPr sz="1050" b="0">
                <a:solidFill>
                  <a:srgbClr val="1A1A1A"/>
                </a:solidFill>
                <a:latin typeface="Georgia"/>
              </a:rPr>
              <a:t>template; one variable each</a:t>
            </a:r>
          </a:p>
        </p:txBody>
      </p:sp>
      <p:sp>
        <p:nvSpPr>
          <p:cNvPr id="33" name="Rounded Rectangle 32"/>
          <p:cNvSpPr/>
          <p:nvPr/>
        </p:nvSpPr>
        <p:spPr>
          <a:xfrm>
            <a:off x="685800" y="4892040"/>
            <a:ext cx="1083564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Everything from here on: 1,174 held-out pairs, 460M pixels, per-pixel metrics, seed 1234, identical hyperparameters.</a:t>
            </a:r>
          </a:p>
          <a:p>
            <a:pPr algn="ctr"/>
            <a:r>
              <a:rPr sz="1150" b="0">
                <a:solidFill>
                  <a:srgbClr val="1A1A1A"/>
                </a:solidFill>
                <a:latin typeface="Georgia"/>
              </a:rPr>
              <a:t>A 9-check pre-flight suite (scripts/verify_pipeline.py) passes on CPU and GPU before any training run starts.</a:t>
            </a:r>
          </a:p>
        </p:txBody>
      </p:sp>
      <p:sp>
        <p:nvSpPr>
          <p:cNvPr id="34" name="TextBox 3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5" name="TextBox 3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fair comparison is a tie</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Only the FlyingChairs run is a like-for-like</a:t>
            </a:r>
          </a:p>
          <a:p>
            <a:pPr algn="l">
              <a:lnSpc>
                <a:spcPct val="118000"/>
              </a:lnSpc>
            </a:pPr>
            <a:r>
              <a:rPr sz="1150" b="0">
                <a:solidFill>
                  <a:srgbClr val="1A1A1A"/>
                </a:solidFill>
                <a:latin typeface="Georgia"/>
              </a:rPr>
              <a:t>comparison with v2: it never saw driving</a:t>
            </a:r>
          </a:p>
          <a:p>
            <a:pPr algn="l">
              <a:lnSpc>
                <a:spcPct val="118000"/>
              </a:lnSpc>
            </a:pPr>
            <a:r>
              <a:rPr sz="1150" b="0">
                <a:solidFill>
                  <a:srgbClr val="1A1A1A"/>
                </a:solidFill>
                <a:latin typeface="Georgia"/>
              </a:rPr>
              <a:t>imagery, exactly as v2 never did.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It scores 2.286 against v2 at 2.324.</a:t>
            </a:r>
          </a:p>
          <a:p>
            <a:pPr algn="l">
              <a:lnSpc>
                <a:spcPct val="118000"/>
              </a:lnSpc>
            </a:pPr>
            <a:r>
              <a:rPr sz="1150" b="0">
                <a:solidFill>
                  <a:srgbClr val="1A1A1A"/>
                </a:solidFill>
                <a:latin typeface="Georgia"/>
              </a:rPr>
              <a:t>A 1.6% difference is a tie, not a win.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other three train on VKITTI2 imagery</a:t>
            </a:r>
          </a:p>
          <a:p>
            <a:pPr algn="l">
              <a:lnSpc>
                <a:spcPct val="118000"/>
              </a:lnSpc>
            </a:pPr>
            <a:r>
              <a:rPr sz="1150" b="0">
                <a:solidFill>
                  <a:srgbClr val="1A1A1A"/>
                </a:solidFill>
                <a:latin typeface="Georgia"/>
              </a:rPr>
              <a:t>from the same simulator and camera as the</a:t>
            </a:r>
          </a:p>
          <a:p>
            <a:pPr algn="l">
              <a:lnSpc>
                <a:spcPct val="118000"/>
              </a:lnSpc>
            </a:pPr>
            <a:r>
              <a:rPr sz="1150" b="0">
                <a:solidFill>
                  <a:srgbClr val="1A1A1A"/>
                </a:solidFill>
                <a:latin typeface="Georgia"/>
              </a:rPr>
              <a:t>test scenes. Their better numbers measure</a:t>
            </a:r>
          </a:p>
          <a:p>
            <a:pPr algn="l">
              <a:lnSpc>
                <a:spcPct val="118000"/>
              </a:lnSpc>
            </a:pPr>
            <a:r>
              <a:rPr sz="1150" b="0">
                <a:solidFill>
                  <a:srgbClr val="1A1A1A"/>
                </a:solidFill>
                <a:latin typeface="Georgia"/>
              </a:rPr>
              <a:t>domain advantage, not a better method,</a:t>
            </a:r>
          </a:p>
          <a:p>
            <a:pPr algn="l">
              <a:lnSpc>
                <a:spcPct val="118000"/>
              </a:lnSpc>
            </a:pPr>
            <a:r>
              <a:rPr sz="1150" b="0">
                <a:solidFill>
                  <a:srgbClr val="1A1A1A"/>
                </a:solidFill>
                <a:latin typeface="Georgia"/>
              </a:rPr>
              <a:t>and I do not present them as beating v2.</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Best overall: 2.104 px</a:t>
            </a:r>
          </a:p>
          <a:p>
            <a:pPr algn="ctr"/>
            <a:r>
              <a:rPr sz="1050" b="0">
                <a:solidFill>
                  <a:srgbClr val="1A1A1A"/>
                </a:solidFill>
                <a:latin typeface="Georgia"/>
              </a:rPr>
              <a:t>with uncertainty head,</a:t>
            </a:r>
          </a:p>
          <a:p>
            <a:pPr algn="ctr"/>
            <a:r>
              <a:rPr sz="1050" b="0">
                <a:solidFill>
                  <a:srgbClr val="1A1A1A"/>
                </a:solidFill>
                <a:latin typeface="Georgia"/>
              </a:rPr>
              <a:t>trained on FlyingChairs + VKITTI2 + Sintel</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one real win, and a claim I withdrew</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v3 is 12% slower</a:t>
            </a:r>
          </a:p>
          <a:p>
            <a:pPr algn="l">
              <a:lnSpc>
                <a:spcPct val="118000"/>
              </a:lnSpc>
            </a:pPr>
            <a:r>
              <a:rPr sz="1150" b="0">
                <a:solidFill>
                  <a:srgbClr val="1A1A1A"/>
                </a:solidFill>
                <a:latin typeface="Georgia"/>
              </a:rPr>
              <a:t>than v2. An earlier version</a:t>
            </a:r>
          </a:p>
          <a:p>
            <a:pPr algn="l">
              <a:lnSpc>
                <a:spcPct val="118000"/>
              </a:lnSpc>
            </a:pPr>
            <a:r>
              <a:rPr sz="1150" b="0">
                <a:solidFill>
                  <a:srgbClr val="1A1A1A"/>
                </a:solidFill>
                <a:latin typeface="Georgia"/>
              </a:rPr>
              <a:t>of this deck claimed the</a:t>
            </a:r>
          </a:p>
          <a:p>
            <a:pPr algn="l">
              <a:lnSpc>
                <a:spcPct val="118000"/>
              </a:lnSpc>
            </a:pPr>
            <a:r>
              <a:rPr sz="1150" b="0">
                <a:solidFill>
                  <a:srgbClr val="1A1A1A"/>
                </a:solidFill>
                <a:latin typeface="Georgia"/>
              </a:rPr>
              <a:t>opposite. That measurement</a:t>
            </a:r>
          </a:p>
          <a:p>
            <a:pPr algn="l">
              <a:lnSpc>
                <a:spcPct val="118000"/>
              </a:lnSpc>
            </a:pPr>
            <a:r>
              <a:rPr sz="1150" b="0">
                <a:solidFill>
                  <a:srgbClr val="1A1A1A"/>
                </a:solidFill>
                <a:latin typeface="Georgia"/>
              </a:rPr>
              <a:t>predated the BatchNorm fix</a:t>
            </a:r>
          </a:p>
          <a:p>
            <a:pPr algn="l">
              <a:lnSpc>
                <a:spcPct val="118000"/>
              </a:lnSpc>
            </a:pPr>
            <a:r>
              <a:rPr sz="1150" b="0">
                <a:solidFill>
                  <a:srgbClr val="1A1A1A"/>
                </a:solidFill>
                <a:latin typeface="Georgia"/>
              </a:rPr>
              <a:t>and used different</a:t>
            </a:r>
          </a:p>
          <a:p>
            <a:pPr algn="l">
              <a:lnSpc>
                <a:spcPct val="118000"/>
              </a:lnSpc>
            </a:pPr>
            <a:r>
              <a:rPr sz="1150" b="0">
                <a:solidFill>
                  <a:srgbClr val="1A1A1A"/>
                </a:solidFill>
                <a:latin typeface="Georgia"/>
              </a:rPr>
              <a:t>hardware. Withdrawn.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First sparse query: level</a:t>
            </a:r>
          </a:p>
          <a:p>
            <a:pPr algn="l">
              <a:lnSpc>
                <a:spcPct val="118000"/>
              </a:lnSpc>
            </a:pPr>
            <a:r>
              <a:rPr sz="1150" b="0">
                <a:solidFill>
                  <a:srgbClr val="1A1A1A"/>
                </a:solidFill>
                <a:latin typeface="Georgia"/>
              </a:rPr>
              <a:t>with v2, not faster.</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19.6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Two clean single-variable ablations</a:t>
            </a:r>
          </a:p>
        </p:txBody>
      </p:sp>
      <p:pic>
        <p:nvPicPr>
          <p:cNvPr id="4" name="Picture 3" descr="ablations.png"/>
          <p:cNvPicPr>
            <a:picLocks noChangeAspect="1"/>
          </p:cNvPicPr>
          <p:nvPr/>
        </p:nvPicPr>
        <p:blipFill>
          <a:blip r:embed="rId2"/>
          <a:stretch>
            <a:fillRect/>
          </a:stretch>
        </p:blipFill>
        <p:spPr>
          <a:xfrm>
            <a:off x="1051560" y="1554480"/>
            <a:ext cx="8778240" cy="3653588"/>
          </a:xfrm>
          <a:prstGeom prst="rect">
            <a:avLst/>
          </a:prstGeom>
        </p:spPr>
      </p:pic>
      <p:sp>
        <p:nvSpPr>
          <p:cNvPr id="5" name="TextBox 4"/>
          <p:cNvSpPr txBox="1"/>
          <p:nvPr/>
        </p:nvSpPr>
        <p:spPr>
          <a:xfrm>
            <a:off x="685800" y="5257800"/>
            <a:ext cx="10881360" cy="914400"/>
          </a:xfrm>
          <a:prstGeom prst="rect">
            <a:avLst/>
          </a:prstGeom>
          <a:noFill/>
        </p:spPr>
        <p:txBody>
          <a:bodyPr wrap="square">
            <a:spAutoFit/>
          </a:bodyPr>
          <a:lstStyle/>
          <a:p>
            <a:pPr algn="l">
              <a:lnSpc>
                <a:spcPct val="120000"/>
              </a:lnSpc>
            </a:pPr>
            <a:r>
              <a:rPr sz="1200" b="0">
                <a:solidFill>
                  <a:srgbClr val="1A1A1A"/>
                </a:solidFill>
                <a:latin typeface="Georgia"/>
              </a:rPr>
              <a:t>Both pairs are identical in seed, schedule and every hyperparameter; one thing changes.</a:t>
            </a:r>
          </a:p>
          <a:p>
            <a:pPr algn="l">
              <a:lnSpc>
                <a:spcPct val="120000"/>
              </a:lnSpc>
            </a:pPr>
            <a:r>
              <a:rPr sz="1200" b="0">
                <a:solidFill>
                  <a:srgbClr val="1A1A1A"/>
                </a:solidFill>
                <a:latin typeface="Georgia"/>
              </a:rPr>
              <a:t>Adding MPI-Sintel to the mix costs 0.4% despite 10,410 extra pairs, so it does not earn its place.</a:t>
            </a:r>
          </a:p>
          <a:p>
            <a:pPr algn="l">
              <a:lnSpc>
                <a:spcPct val="120000"/>
              </a:lnSpc>
            </a:pPr>
            <a:r>
              <a:rPr sz="1200" b="0">
                <a:solidFill>
                  <a:srgbClr val="1A1A1A"/>
                </a:solidFill>
                <a:latin typeface="Georgia"/>
              </a:rPr>
              <a:t>The uncertainty head gains 2.0% while also producing a confidence value, so it is kept.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0.31 px to 6.72 px,</a:t>
            </a:r>
          </a:p>
          <a:p>
            <a:pPr algn="l">
              <a:lnSpc>
                <a:spcPct val="118000"/>
              </a:lnSpc>
            </a:pPr>
            <a:r>
              <a:rPr sz="1150" b="0">
                <a:solidFill>
                  <a:srgbClr val="1A1A1A"/>
                </a:solidFill>
                <a:latin typeface="Georgia"/>
              </a:rPr>
              <a:t>a 21x span. Pearson r = 0.345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fair comparison is 2.286 vs 2.324, a tie</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better numbers require in-domain training data</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12%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19.6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per configuration</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Differences under about 0.05 px should not be over-read; I have not measured seed-to-seed variance.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