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Georgia"/>
              </a:rPr>
              <a:t>NeuFlow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1546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33333"/>
                </a:solidFill>
                <a:latin typeface="Georgia"/>
              </a:rPr>
              <a:t>Queryable optical flow for edge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A8A"/>
                </a:solidFill>
                <a:latin typeface="Georgia"/>
              </a:rPr>
              <a:t>Status update. NeuFlow v2 backbone (frozen) + an implicit decoder that answers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A8A"/>
                </a:solidFill>
                <a:latin typeface="Georgia"/>
              </a:rPr>
              <a:t>flow queries at arbitrary coordinates in O(N).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A8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A8A"/>
                </a:solidFill>
                <a:latin typeface="Georgia"/>
              </a:rPr>
              <a:t>Shriman Raghav Srinivasan, MS Robotics, Northeastern University, Field Robotics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Why query optical 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Optical flow tells you where each pixel in frame t moves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to in frame t+1.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Current networks always produce the full dense map at a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fixed resolution. A lot of tasks never use most of it: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•  registration wants a few hundred correspondences at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    points it picks itself (corners, texture)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•  sparse tracking only needs flow at feature points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•  mosaicking needs matches in overlap regions, ideally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    at sub-pixel positions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On a small GPU, computing 479k values to use 800 of them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is the difference between real time and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Idea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Keep everything in NeuFlow v2 that understands motion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(backbone, matching, refinement), frozen.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Swap only the last stage: instead of an upsampler that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always produces the full map, use a decoder that returns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flow at whatever coordinates you ask for.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Cost then scales with the number of queries, O(N),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instead of image area, O(HxW).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Pipeline: what stays from v2, 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Georgia"/>
              </a:rPr>
              <a:t>NeuFlow 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Image pair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(t, t+1)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95144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CNN backbone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features at 1/8, 1/16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399" y="2249424"/>
            <a:ext cx="21945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4487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Cross-attention +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global matching (1/16)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66743" y="2249424"/>
            <a:ext cx="21945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13832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Recurrent refinement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1 + 8 iterations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76088" y="2249424"/>
            <a:ext cx="21945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23176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Coarse flow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at 1/8 scale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85431" y="2249424"/>
            <a:ext cx="21945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Convex upsampler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fixed 8× grid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94776" y="2249424"/>
            <a:ext cx="21945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341864" y="187451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Dense flow map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H × W, always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04120" y="2249424"/>
            <a:ext cx="21945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59359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Georgia"/>
              </a:rPr>
              <a:t>NeuFlow v3 (this work)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Image pair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(t, t+1)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95144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CNN backbone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features at 1/8, 1/16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57399" y="4352544"/>
            <a:ext cx="21945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904487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Cross-attention +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global matching (1/16)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66743" y="4352544"/>
            <a:ext cx="21945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513832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Recurrent refinement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1 + 8 iterations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76088" y="4352544"/>
            <a:ext cx="21945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123176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Coarse flow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at 1/8 scale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85431" y="4352544"/>
            <a:ext cx="21945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32520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Implicit decoder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(next slide)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94776" y="4352544"/>
            <a:ext cx="21945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41864" y="3977639"/>
            <a:ext cx="1353312" cy="749808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Flow at N requested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coordinates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04120" y="4352544"/>
            <a:ext cx="21945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41080" y="5029200"/>
            <a:ext cx="1536192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1A1A1A"/>
                </a:solidFill>
                <a:latin typeface="Georgia"/>
              </a:rPr>
              <a:t>Queries (x, y) — any</a:t>
            </a:r>
          </a:p>
          <a:p>
            <a:pPr algn="ctr"/>
            <a:r>
              <a:rPr sz="900" b="0">
                <a:solidFill>
                  <a:srgbClr val="1A1A1A"/>
                </a:solidFill>
                <a:latin typeface="Georgia"/>
              </a:rPr>
              <a:t>continuous positions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409176" y="4764024"/>
            <a:ext cx="0" cy="246888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2648" y="3849624"/>
            <a:ext cx="7936992" cy="100584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1A1A1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920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A8A"/>
                </a:solidFill>
                <a:latin typeface="Georgia"/>
              </a:rPr>
              <a:t>Identical to v2, weights frozen. matching quality inherited, not retrained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715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A8A8A"/>
                </a:solidFill>
                <a:latin typeface="Georgia"/>
              </a:rPr>
              <a:t>replaced stage (dark)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Inside the decoder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Query (x, y)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continuous pixel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coordinate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44368" y="23774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Sample 3×3 windows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from 4 feature maps: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context · 1/8 · 1/16 ·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warped frame-1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96896" y="2811780"/>
            <a:ext cx="310895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202936" y="23774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Gated hierarchical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fusion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(InfiniDepth Eq. 3)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55464" y="2811780"/>
            <a:ext cx="310895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61504" y="23774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MLP → softmax over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9 neighbors + bilinear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Georgia"/>
              </a:rPr>
              <a:t>candidate (AnyFlow)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14032" y="2811780"/>
            <a:ext cx="310896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20072" y="237744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Convex blend of local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coarse-flow values</a:t>
            </a:r>
          </a:p>
          <a:p>
            <a:pPr algn="ctr"/>
            <a:r>
              <a:rPr sz="950" b="0">
                <a:solidFill>
                  <a:srgbClr val="1A1A1A"/>
                </a:solidFill>
                <a:latin typeface="Georgia"/>
              </a:rPr>
              <a:t>= flow(x, 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72599" y="2811780"/>
            <a:ext cx="310897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6576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Properties by construction, not by training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Bounded output: the result is a weighted average of nearby coarse-flow values, so a bad weighting degrades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gracefully instead of producing garbage. (The earlier unbounded head never trained above its own init.)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Exact init: bilinear interpolation is one particular weight setting, so the untrained decoder starts at 2.48 px EPE.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The v2 upsampler is the fixed-grid special case of this mechanism, so v2 accuracy is reachable in principle.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Starting point: no training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Input, VKITTI2 Scene18</a:t>
            </a:r>
          </a:p>
        </p:txBody>
      </p:sp>
      <p:pic>
        <p:nvPicPr>
          <p:cNvPr id="5" name="Picture 4" descr="scen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257800" cy="15910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783080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904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Ground truth</a:t>
            </a:r>
          </a:p>
        </p:txBody>
      </p:sp>
      <p:pic>
        <p:nvPicPr>
          <p:cNvPr id="8" name="Picture 7" descr="scene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257800" cy="15910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783080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210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NeuFlow v2, EPE 2.11 px</a:t>
            </a:r>
          </a:p>
        </p:txBody>
      </p:sp>
      <p:pic>
        <p:nvPicPr>
          <p:cNvPr id="11" name="Picture 10" descr="scen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13632"/>
            <a:ext cx="5257800" cy="15910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3913632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6210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NeuFlow v3 untrained, EPE 2.26 px</a:t>
            </a:r>
          </a:p>
        </p:txBody>
      </p:sp>
      <p:pic>
        <p:nvPicPr>
          <p:cNvPr id="14" name="Picture 13" descr="scene_v3_untrai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13632"/>
            <a:ext cx="5257800" cy="159105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63640" y="3913632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No decoder training at all: the bilinear-prior init already produces usable flow (2.48 px EPE over the full validation set,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0.15 px behind v2), with querying functional and exact. Every training run afterwards had to beat this to be accepted.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Trained on VKITTI2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Input, VKITTI2 Scene18</a:t>
            </a:r>
          </a:p>
        </p:txBody>
      </p:sp>
      <p:pic>
        <p:nvPicPr>
          <p:cNvPr id="5" name="Picture 4" descr="scen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257800" cy="15910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783080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904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Ground truth</a:t>
            </a:r>
          </a:p>
        </p:txBody>
      </p:sp>
      <p:pic>
        <p:nvPicPr>
          <p:cNvPr id="8" name="Picture 7" descr="scene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257800" cy="15910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783080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210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NeuFlow v2, EPE 2.11 px</a:t>
            </a:r>
          </a:p>
        </p:txBody>
      </p:sp>
      <p:pic>
        <p:nvPicPr>
          <p:cNvPr id="11" name="Picture 10" descr="scen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13632"/>
            <a:ext cx="5257800" cy="15910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3913632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6210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NeuFlow v3 (VKITTI2-trained), EPE 2.07 px</a:t>
            </a:r>
          </a:p>
        </p:txBody>
      </p:sp>
      <p:pic>
        <p:nvPicPr>
          <p:cNvPr id="14" name="Picture 13" descr="scene_v3_vkitti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13632"/>
            <a:ext cx="5257800" cy="159105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63640" y="3913632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Trained on 12,726 pairs: six VKITTI2 weather variants that share identical flow ground truth. Full-set result 2.39 px EPE,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the first checkpoint to improve on its own initialization, with no late-training collapse.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Trained and evaluated on FlyingChairs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84831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Georgia"/>
              </a:rPr>
              <a:t>Input, chairs val 00006</a:t>
            </a:r>
          </a:p>
        </p:txBody>
      </p:sp>
      <p:pic>
        <p:nvPicPr>
          <p:cNvPr id="5" name="Picture 4" descr="chairs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2670048" cy="20025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2377440"/>
            <a:ext cx="2670048" cy="200253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2084831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Georgia"/>
              </a:rPr>
              <a:t>Ground truth</a:t>
            </a:r>
          </a:p>
        </p:txBody>
      </p:sp>
      <p:pic>
        <p:nvPicPr>
          <p:cNvPr id="8" name="Picture 7" descr="chairs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377440"/>
            <a:ext cx="2670048" cy="20025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38728" y="2377440"/>
            <a:ext cx="2670048" cy="200253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2084831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Georgia"/>
              </a:rPr>
              <a:t>NeuFlow v2, EPE 1.42 px</a:t>
            </a:r>
          </a:p>
        </p:txBody>
      </p:sp>
      <p:pic>
        <p:nvPicPr>
          <p:cNvPr id="11" name="Picture 10" descr="chairs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377440"/>
            <a:ext cx="2670048" cy="20025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91656" y="2377440"/>
            <a:ext cx="2670048" cy="200253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44584" y="2084831"/>
            <a:ext cx="2670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Georgia"/>
              </a:rPr>
              <a:t>NeuFlow v3 (chairs), EPE 1.35 px</a:t>
            </a:r>
          </a:p>
        </p:txBody>
      </p:sp>
      <p:pic>
        <p:nvPicPr>
          <p:cNvPr id="14" name="Picture 13" descr="chairs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584" y="2377440"/>
            <a:ext cx="2670048" cy="20025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244584" y="2377440"/>
            <a:ext cx="2670048" cy="200253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Across the 640 held-out chairs validation pairs: v2 2.24 px EPE (78.7% within 1 px), chairs-trained v3 2.40 px (76.6%).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The same model transfers to VKITTI2 driving scenes at 2.28 px, below v2 there, without ever seeing a road in 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Trained on both datasets jointly (best model)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904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Input, VKITTI2 Scene18</a:t>
            </a:r>
          </a:p>
        </p:txBody>
      </p:sp>
      <p:pic>
        <p:nvPicPr>
          <p:cNvPr id="5" name="Picture 4" descr="scene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257800" cy="15910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1783080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4904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Ground truth</a:t>
            </a:r>
          </a:p>
        </p:txBody>
      </p:sp>
      <p:pic>
        <p:nvPicPr>
          <p:cNvPr id="8" name="Picture 7" descr="scene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257800" cy="15910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1783080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210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NeuFlow v2, EPE 2.11 px</a:t>
            </a:r>
          </a:p>
        </p:txBody>
      </p:sp>
      <p:pic>
        <p:nvPicPr>
          <p:cNvPr id="11" name="Picture 10" descr="scene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13632"/>
            <a:ext cx="5257800" cy="159105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5800" y="3913632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62102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NeuFlow v3 (mixed), EPE 2.06 px</a:t>
            </a:r>
          </a:p>
        </p:txBody>
      </p:sp>
      <p:pic>
        <p:nvPicPr>
          <p:cNvPr id="14" name="Picture 13" descr="scene_v3_m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13632"/>
            <a:ext cx="5257800" cy="159105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63640" y="3913632"/>
            <a:ext cx="5257800" cy="1591056"/>
          </a:xfrm>
          <a:prstGeom prst="rect">
            <a:avLst/>
          </a:prstGeom>
          <a:noFill/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Both datasets sampled together in every batch (34,958 pairs), evaluated on held-out VKITTI2: 2.18 px EPE, 6% better than v2,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76.4% within 1 px (v2: 77.6) and 3 px accuracy at parity. Sequential finetuning had failed at 2.50 px; joint sampling keeps both strengths.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v2 vs v3 on the same input</a:t>
            </a:r>
          </a:p>
        </p:txBody>
      </p:sp>
      <p:pic>
        <p:nvPicPr>
          <p:cNvPr id="4" name="Picture 3" descr="head_to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417320"/>
            <a:ext cx="9692640" cy="50647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FlyingChairs examples</a:t>
            </a:r>
          </a:p>
        </p:txBody>
      </p:sp>
      <p:pic>
        <p:nvPicPr>
          <p:cNvPr id="4" name="Picture 3" descr="chairs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0515600" cy="4120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8A8A"/>
                </a:solidFill>
                <a:latin typeface="Georgia"/>
              </a:rPr>
              <a:t>Large, varied synthetic displacements. the motion statistics that taught the decoder its error-tail robustness.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Summary across training setups</a:t>
            </a:r>
          </a:p>
        </p:txBody>
      </p:sp>
      <p:pic>
        <p:nvPicPr>
          <p:cNvPr id="4" name="Picture 3" descr="epe_by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6766560" cy="34250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645920"/>
            <a:ext cx="3840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Two informative negative results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Sequential finetuning (chairs, then VKITTI2)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reached 2.50 px. worse than either parent.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Joint sampling was the remedy, confirmed by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the mixed result.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Fourier position encoding changed nothing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(2.288 vs 2.275 px; 1 px accuracy identical).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The sub-pixel gap is therefore not caused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by missing positional information. one of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two candidate explanations eliminated by a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single controlled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Sparse vs dense, and what each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881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Dense output means the network computes flow for every pixel. 479,232 values for this input size. whether or not they are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needed. This is the only mode NeuFlow v2 has: its upsampler is a convolution that always produces the full map in one 37 ms pass.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Sparse output means computing flow only at N requested coordinates. Only v3 can do this: a 33 ms coarse pass shared by all queries,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then 1.6 ms per batch of up to ~2,000 points. The sparse values are not approximations. they equal the dense output exactly.</a:t>
            </a:r>
          </a:p>
        </p:txBody>
      </p:sp>
      <p:pic>
        <p:nvPicPr>
          <p:cNvPr id="5" name="Picture 4" descr="latency_v2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52928"/>
            <a:ext cx="6903720" cy="2822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29718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Reading the charts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Left: to get flow once, v2 dense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and v3 sparse cost the same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(~35 ms). v3 dense (327 ms) is an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evaluation mode, not a use case.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Right: once a pair is processed,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each further question costs v3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1.6 ms; v2 has no smaller unit of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work than the full 37 ms frame.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Video pipeline, 640x360 stream: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v3 sparse-800:  63.6 FPS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v2 dense:  60.3 FPS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v3 + motion boxes:  47.1 FPS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Parameters: 7.83 M (v3)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vs 9.03 M (v2).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FPS on a real video stream</a:t>
            </a:r>
          </a:p>
        </p:txBody>
      </p:sp>
      <p:pic>
        <p:nvPicPr>
          <p:cNvPr id="4" name="Picture 3" descr="fps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498079" cy="3427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7830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Sixty frame pairs of a 640x360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YouTube driving video, decoded,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transferred, and processed -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identical frames for every mode.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v3 answering 800 targeted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queries per pair outpaces v2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producing its full map, and the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live motion-detection mode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holds 47 FPS. three times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faster than a typical 15 FPS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survey camera.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How to query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A query is one continuous (x, y) coordinate; sub-pixel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positions are valid inputs. N ranges from 1 to the full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frame (479,232 at 384x1248). Decode cost is flat at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1.6 ms up to roughly 2,000 queries per call.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state = model.infer_coarse_state(img0, img1)   # once, 33 ms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flow  = model.decode_queries(state, query_coords=q)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    # q: [B, N, 2] pixel coords → [B, N, 2]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93192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Training configuration: batch size 4 (8 GB VRAM budget);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4,096 supervision queries per image, half placed at motion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boundaries; AdamW with a one-cycle schedule peaking at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2e-4; backbone frozen throughout.</a:t>
            </a:r>
          </a:p>
        </p:txBody>
      </p:sp>
      <p:pic>
        <p:nvPicPr>
          <p:cNvPr id="6" name="Picture 5" descr="query_gui_self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54480"/>
            <a:ext cx="4937760" cy="1490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3246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Interactive tool (PyQt5, in the repository):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•  Click any pixel for its flow; grid, boundary-adaptive,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    and dense-overlay modes; CSV export.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•  Region window: drag a rectangle. flow computed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    only inside the selection.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•  Video and YouTube sources with frame stepping and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    real-time playback: live flow-based motion boxes at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    47 FPS (640x360), ego-motion compensated.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•  System-resources tab: live FPS, latency, GPU, VRAM,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1A1A1A"/>
                </a:solidFill>
                <a:latin typeface="Georgia"/>
              </a:rPr>
              <a:t>    CPU, RAM graphs. VRAM stays flat while interacting.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The GUI</a:t>
            </a:r>
          </a:p>
        </p:txBody>
      </p:sp>
      <p:pic>
        <p:nvPicPr>
          <p:cNvPr id="4" name="Picture 3" descr="query_gui_self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5486400" cy="16565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A8A"/>
                </a:solidFill>
                <a:latin typeface="Georgia"/>
              </a:rPr>
              <a:t>Adaptive queries over a dense overlay with the magnitude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A8A"/>
                </a:solidFill>
                <a:latin typeface="Georgia"/>
              </a:rPr>
              <a:t>legend. several hundred answers from one cached state.</a:t>
            </a:r>
          </a:p>
        </p:txBody>
      </p:sp>
      <p:pic>
        <p:nvPicPr>
          <p:cNvPr id="6" name="Picture 5" descr="query_gui_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486400" cy="16502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35204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A8A"/>
                </a:solidFill>
                <a:latin typeface="Georgia"/>
              </a:rPr>
              <a:t>Playback with live motion detection: the translating region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8A8A"/>
                </a:solidFill>
                <a:latin typeface="Georgia"/>
              </a:rPr>
              <a:t>is boxed from the coarse flow at zero additional decode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0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A model selector switches between v3 and the v2 baseline in place: with v2, every interaction requires the full dense map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to have been computed; with v3, the same interactions are answered from the cached coarse state in ~1.6 ms. The difference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between the two architectures is directly felt in the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Live run on public video: motion detection with measurements</a:t>
            </a:r>
          </a:p>
        </p:txBody>
      </p:sp>
      <p:pic>
        <p:nvPicPr>
          <p:cNvPr id="4" name="Picture 3" descr="yt_run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5760720" cy="3240405"/>
          </a:xfrm>
          <a:prstGeom prst="rect">
            <a:avLst/>
          </a:prstGeom>
        </p:spPr>
      </p:pic>
      <p:pic>
        <p:nvPicPr>
          <p:cNvPr id="5" name="Picture 4" descr="yt_run_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54480"/>
            <a:ext cx="4846320" cy="36347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1206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Forty consecutive frame pairs of a public YouTube highway video (640x360), processed live in the GUI: mean 29.8 FPS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end to end with motion boxes on the moving vehicles. The resource graphs were sampled during the same run; GPU memory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stays flat at 769 MB because one cached backbone state serves every interaction.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V3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Attacking the frozen front-end: v3 sparse from 30 to 42 FPS</a:t>
            </a:r>
          </a:p>
        </p:txBody>
      </p:sp>
      <p:pic>
        <p:nvPicPr>
          <p:cNvPr id="4" name="Picture 3" descr="v2_speedup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835640" cy="34015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3492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v3 inherits its 33 ms coarse pass from v2; 62% of it is refinement iterations that stop paying after four. At (2,4), sparse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mode runs 41.8 FPS (52% faster than v2 full frame) at better accuracy. Dense mode was rebuilt: window projections folded into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per-image convs (exact), fusion on the 1/8 grid, stride-2 decode. Full-frame v3: 29.9 ms vs v2 36.4 ms at equal EPE (2.284 vs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A1A1A"/>
                </a:solidFill>
                <a:latin typeface="Georgia"/>
              </a:rPr>
              <a:t>2.288), or 39.6 ms at clearly better EPE (2.245). v3 now beats v2 on its own dense workload. Gap left: 1px acc (75.7 vs 77.4).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Where the three goals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Goal 1, beat v2 accuracy.  Done: 2.18 vs 2.32 px mean EPE (6% better) with mixed training.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1 px accuracy is within 1.2 points of v2 (76.4 vs 77.6) and 3 px is at parity.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Goal 2, less compute, edge-viable.  Done for the sparse workload: same latency as a v2 full frame,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13% fewer parameters, ~2.2 GB VRAM at inference, and repeat queries about 20x cheaper than v2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recomputing. Dense-output mode stays slower; not the target use.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Goal 3, do what v2 cannot.  Done: continuous-coordinate queries, output at any resolution, sparse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A1A"/>
                </a:solidFill>
                <a:latin typeface="Georgia"/>
              </a:rPr>
              <a:t>matches dense exactly, plus a working interactive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Planned work and two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Request 1. HPC access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The Spring benchmark provides ground truth at twice the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input resolution (1080p images, 4K flow). Evaluating there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tests above-input-resolution querying. a question a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fixed-resolution network cannot even accept. Its working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set (hundreds of GB) and batch-scale training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exceed the 8 GB laptop GPU this work has used so far.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With HPC access, in order: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Spring evaluation: v3 queried natively at 4K versus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v2 upsampled. the arbitrary-resolution claim, quantified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FlyingThings3D pretraining (the standard second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second stage; 80 GB, batch 8–16)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Longer mixed training at larger crops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Request 2. Field Robotics Lab survey data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The SeaBED AUV and UAV survey programs produce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exactly the data this method serves: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Sequential seafloor transect imagery (50–75% overlap,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slow motion, fine texture). registration and mosaicking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with sparse on-demand queries; the fine-motion regime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also stresses sub-pixel accuracy directly.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Nadir UAV survey sequences with GPS/IMU tags -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georegistration provides quantitative pseudo ground truth.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•  Vehicle navigation (DVL/INS) and camera calibration -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reprojection-based flow ground truth on static scenes,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    no manual labeling.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The ask is consecutive frames plus navigation data,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1A1A1A"/>
                </a:solidFill>
                <a:latin typeface="Georgia"/>
              </a:rPr>
              <a:t>not finished mosaics.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CURRENT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Algorithm updates in training now (no results yet)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Georgia"/>
              </a:rPr>
              <a:t>Five experiments queued on the university cluster (H200 GPUs, batch 16, 100K steps). All numbers pending: nothing below is a result until evaluated on the full validation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Refinement self-distillation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9659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The 8-iteration refinement loop is 59% of runtime and iterations 5-8 barely change the answer. Retrain ONLY the refinement module so 3 iterations reproduce its own 8-iteration output (teacher = the frozen model itself, no ground truth). If it holds, v3 sparse goes from 30 to ~44 FPS with the decoder untouched.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0720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Uncertainty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80720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One extra decoder output per query: the predicted error scale b. Trained by a self-calibrating loss (underestimate error and the loss explodes, overestimate and the log-penalty bites). Gives RANSAC/SLAM consumers a per-point trust signal and makes query selection principled. No baseline network offers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48456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Scale-up at the deployment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648456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The mixed-data recipe retrained at batch 16, 100K steps, at the exact iteration schedule used in deployment, removing a train/eval mismatch present in earlier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89704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Fair-comparison training (grand mix)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489704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Adds Sintel to the mix to approach v2 training distribution: addresses the data confound in current v3-vs-v2 accuracy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3095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Georgia"/>
              </a:rPr>
              <a:t>Spring 1080p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33095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Prerequisite for the above-input-resolution evaluation (4K ground truth) that only a queryable decoder can take.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CURRENT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The two mechanisms, as flowcharts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Georgia"/>
              </a:rPr>
              <a:t>Refinement self-distillation (trains only the refine module)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Image pair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Frozen model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8 iterations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60604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Trainable copy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3 iterations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Teacher coarse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338328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Student coarse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16052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L1 difference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= training loss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2331720"/>
            <a:ext cx="0" cy="27432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88920" y="2075688"/>
            <a:ext cx="1783080" cy="530352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37360" y="3108960"/>
            <a:ext cx="0" cy="27432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3108960"/>
            <a:ext cx="0" cy="27432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37360" y="3886200"/>
            <a:ext cx="1005840" cy="27432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566160" y="3886200"/>
            <a:ext cx="1005840" cy="27432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49377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No labels needed: the model supervises itself. Only the refinement weights update; backbone, matching and decoder stay frozen, so nothing already validated is at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A1A1A"/>
                </a:solidFill>
                <a:latin typeface="Georgia"/>
              </a:rPr>
              <a:t>Uncertainty head (one extra output channel)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Query features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(fused, 260-d)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697480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EFEFE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0">
                <a:solidFill>
                  <a:srgbClr val="1A1A1A"/>
                </a:solidFill>
                <a:latin typeface="Georgia"/>
              </a:rPr>
              <a:t>Head MLP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37744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10 blend weights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-&gt; flow (x, 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315468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1 scale channel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Georgia"/>
              </a:rPr>
              <a:t>-&gt; b = exp(s)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79" y="2331720"/>
            <a:ext cx="0" cy="36576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595360" y="2624328"/>
            <a:ext cx="640080" cy="210312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95360" y="3063240"/>
            <a:ext cx="640080" cy="338328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393192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Training loss per query:   |error| / b  +  2 log b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1A1A1A"/>
                </a:solidFill>
                <a:latin typeface="Georgia"/>
              </a:rPr>
              <a:t>If the head claims confidence (small b) and is wrong, the first term explodes; if it always claims ignorance (large b), the second term grows. The minimum is honest self-assessment: b learns to match the actual expected error. At initialization b = 1 px everywhere.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The complete algorithm, as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Consolas"/>
              </a:rPr>
              <a:t># ONCE per image pair  (~23 ms at 384x1248, RTX 4060)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f8, f16, ctx     = backbone(I0, I1)              # frozen v2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flow_s16         = global_match(cross_attn(f16))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for k in 1..K16: flow_s16 += refine16(corr(flow_s16), ctx)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flow_s8 = up2x(flow_s16)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for k in 1..K8:  flow_s8  += refine8(corr(flow_s8), ctx)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state = {f8, f16, ctx, warp_map, flow_s8}         # cached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Consolas"/>
              </a:rPr>
              <a:t># PER QUERY BATCH  (~1.6 ms for up to ~2,000 points)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for each query (x, y):                            # continuous coords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    feat   = sample(state, x, y)                  # bilinear, 260-d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    w[0..9], s = head(feat)                       # softmax weights + log-scale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    cand   = 3x3 coarse-flow neighborhood + bilinear value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    flow   = sum_i w[i] * cand[i]                 # bounded convex blend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    b      = exp(s)                               # predicted error, px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return flow[, b]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A1A1A"/>
                </a:solidFill>
                <a:latin typeface="Consolas"/>
              </a:rPr>
              <a:t># TRAINING (decoder only; backbone frozen)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queries ~ 50% at flow-gradient boundaries, 50% uniform (N=4096)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loss = sum_iters gamma^(T-t) * L1(flow_t, GT)     # gamma = 0.8</a:t>
            </a:r>
          </a:p>
          <a:p>
            <a:r>
              <a:rPr sz="1050">
                <a:solidFill>
                  <a:srgbClr val="1A1A1A"/>
                </a:solidFill>
                <a:latin typeface="Consolas"/>
              </a:rPr>
              <a:t>final iter with uncertainty:  |err|/b + 2 log b   # self-calibrating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333"/>
                </a:solidFill>
                <a:latin typeface="Georgia"/>
              </a:rPr>
              <a:t>Q&amp;A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1A1A"/>
                </a:solidFill>
                <a:latin typeface="Georgia"/>
              </a:rPr>
              <a:t>Questions I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Why is flow defined at non-integer coordinates?  Bilinear interpolation makes feature maps continuous functions of position;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an MLP composed with them is defined at every real (x, y). Integer pixels are the special case dense maps hard-code.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Why freeze the backbone?  Joint training is a moving-target problem requiring ~800K steps at InfiniDepth scale; at a 30K budget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the decoder diverges chasing shifting features (observed directly). Freezing also guarantees the v2 matching quality is inherited.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Is sparse output an approximation?  No. It is the same function evaluated at fewer points; agreement with dense output is exact.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Why did out-of-domain training beat in-domain training?  Mean EPE is dominated by the error tail. Diverse large motions train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tail robustness; five driving scenes train memorization. Joint training then combined both, as the mixed result shows.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What limits sub-pixel accuracy?  Not positional information. measured (PE ablation, null result). Remaining candidates: the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1/8-scale coarse flow bounds recoverable detail, and large-motion training never supervises sub-pixel discrimination.</a:t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02000"/>
              </a:lnSpc>
            </a:pPr>
            <a:r>
              <a:rPr sz="1150" b="0">
                <a:solidFill>
                  <a:srgbClr val="1A1A1A"/>
                </a:solidFill>
                <a:latin typeface="Georgia"/>
              </a:rPr>
              <a:t>Why batch size 4?  An 8 GB VRAM budget; the recipe is otherwise RAFT-standard and scales directly on larger GPUs.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NeuFlow v3, S. Srinivasan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8A8A"/>
                </a:solidFill>
                <a:latin typeface="Georgia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