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28600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1A1A1A"/>
                </a:solidFill>
                <a:latin typeface="Calibri"/>
              </a:rPr>
              <a:t>NeuFlow v3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315468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333333"/>
                </a:solidFill>
                <a:latin typeface="Calibri"/>
              </a:rPr>
              <a:t>Queryable optical flow for edge devices — status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3977639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8A8A8A"/>
                </a:solidFill>
                <a:latin typeface="Calibri"/>
              </a:rPr>
              <a:t>A frozen NeuFlow v2 pipeline extended with an implicit decoder that answers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8A8A8A"/>
                </a:solidFill>
                <a:latin typeface="Calibri"/>
              </a:rPr>
              <a:t>flow queries at arbitrary continuous coordinates in O(N) time.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8A8A8A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8A8A8A"/>
                </a:solidFill>
                <a:latin typeface="Calibri"/>
              </a:rPr>
              <a:t>Shriman Raghav Srinivasan · MS Robotics, Northeastern University · Field Robotics Lab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Calibri"/>
              </a:rPr>
              <a:t>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Calibri"/>
              </a:rPr>
              <a:t>The problem, from first principles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5577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Calibri"/>
              </a:rPr>
              <a:t>Optical flow answers one question: for a pixel in frame t,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Calibri"/>
              </a:rPr>
              <a:t>where is it in frame t+1?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Calibri"/>
              </a:rPr>
              <a:t>Every modern network answers it for all pixels at once,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Calibri"/>
              </a:rPr>
              <a:t>as a dense, fixed-resolution map. That design assumes the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Calibri"/>
              </a:rPr>
              <a:t>consumer wants every pixel. Many downstream tasks do not: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Calibri"/>
              </a:rPr>
              <a:t>•  Image registration needs hundreds of correspondences,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Calibri"/>
              </a:rPr>
              <a:t>    at well-textured locations of its own choosing.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Calibri"/>
              </a:rPr>
              <a:t>•  Sparse tracking needs flow at feature points only.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Calibri"/>
              </a:rPr>
              <a:t>•  Mapping pipelines need correspondences in survey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Calibri"/>
              </a:rPr>
              <a:t>    overlap regions, often at sub-pixel positions.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Calibri"/>
              </a:rPr>
              <a:t>On edge hardware, computing 479,000 answers to serve 800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Calibri"/>
              </a:rPr>
              <a:t>questions is the difference between real time and not.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0" y="1554480"/>
            <a:ext cx="4937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Calibri"/>
              </a:rPr>
              <a:t>The proposition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Calibri"/>
              </a:rPr>
              <a:t>Keep the part of NeuFlow v2 that understands motion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Calibri"/>
              </a:rPr>
              <a:t>(backbone, matching, refinement — frozen, unchanged).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Calibri"/>
              </a:rPr>
              <a:t>Replace only its final stage: instead of a fixed 8×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Calibri"/>
              </a:rPr>
              <a:t>upsampler that always produces a full map, attach a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Calibri"/>
              </a:rPr>
              <a:t>decoder that evaluates flow at requested coordinates.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Calibri"/>
              </a:rPr>
              <a:t>Cost then scales with the number of questions asked,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Calibri"/>
              </a:rPr>
              <a:t>O(N), rather than with image area, O(H×W).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5779008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333333"/>
                </a:solidFill>
                <a:latin typeface="Calibri"/>
              </a:rPr>
              <a:t>Takeaway   The contribution is a new operating point — accuracy, compute, and resolution decoupled — not a leaderboard entry.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Calibri"/>
              </a:rPr>
              <a:t>NeuFlow v3 · status report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Calibri"/>
              </a:rPr>
              <a:t>METHOD · ALGORITHM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Calibri"/>
              </a:rPr>
              <a:t>What is inherited, and what is replaced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904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A1A1A"/>
                </a:solidFill>
                <a:latin typeface="Calibri"/>
              </a:rPr>
              <a:t>NeuFlow v2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7451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Calibri"/>
              </a:rPr>
              <a:t>Image pair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Calibri"/>
              </a:rPr>
              <a:t>(t, t+1)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95144" y="187451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Calibri"/>
              </a:rPr>
              <a:t>CNN backbone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Calibri"/>
              </a:rPr>
              <a:t>features at 1/8, 1/16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057399" y="2249424"/>
            <a:ext cx="219457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4487" y="187451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Calibri"/>
              </a:rPr>
              <a:t>Cross-attention +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Calibri"/>
              </a:rPr>
              <a:t>global matching (1/16)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666743" y="2249424"/>
            <a:ext cx="219457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513832" y="187451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Calibri"/>
              </a:rPr>
              <a:t>Recurrent refinement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Calibri"/>
              </a:rPr>
              <a:t>1 + 8 iterations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276088" y="2249424"/>
            <a:ext cx="219456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123176" y="187451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Calibri"/>
              </a:rPr>
              <a:t>Coarse flow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Calibri"/>
              </a:rPr>
              <a:t>at 1/8 scale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85431" y="2249424"/>
            <a:ext cx="219457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732520" y="187451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333333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Convex upsampler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fixed 8× grid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494776" y="2249424"/>
            <a:ext cx="219456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10341864" y="187451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Calibri"/>
              </a:rPr>
              <a:t>Dense flow map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Calibri"/>
              </a:rPr>
              <a:t>H × W, always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0104120" y="2249424"/>
            <a:ext cx="219456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3593591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A1A1A"/>
                </a:solidFill>
                <a:latin typeface="Calibri"/>
              </a:rPr>
              <a:t>NeuFlow v3 (this work)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397763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Calibri"/>
              </a:rPr>
              <a:t>Image pair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Calibri"/>
              </a:rPr>
              <a:t>(t, t+1)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295144" y="397763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Calibri"/>
              </a:rPr>
              <a:t>CNN backbone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Calibri"/>
              </a:rPr>
              <a:t>features at 1/8, 1/16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057399" y="4352544"/>
            <a:ext cx="219457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3904487" y="397763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Calibri"/>
              </a:rPr>
              <a:t>Cross-attention +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Calibri"/>
              </a:rPr>
              <a:t>global matching (1/16)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666743" y="4352544"/>
            <a:ext cx="219457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5513832" y="397763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Calibri"/>
              </a:rPr>
              <a:t>Recurrent refinement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Calibri"/>
              </a:rPr>
              <a:t>1 + 8 iterations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276088" y="4352544"/>
            <a:ext cx="219456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7123176" y="397763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Calibri"/>
              </a:rPr>
              <a:t>Coarse flow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Calibri"/>
              </a:rPr>
              <a:t>at 1/8 scale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885431" y="4352544"/>
            <a:ext cx="219457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8732520" y="397763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333333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Implicit decoder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(next slide)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494776" y="4352544"/>
            <a:ext cx="219456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10341864" y="397763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Calibri"/>
              </a:rPr>
              <a:t>Flow at N requested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Calibri"/>
              </a:rPr>
              <a:t>coordinates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0104120" y="4352544"/>
            <a:ext cx="219456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641080" y="5029200"/>
            <a:ext cx="1536192" cy="502920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0">
                <a:solidFill>
                  <a:srgbClr val="1A1A1A"/>
                </a:solidFill>
                <a:latin typeface="Calibri"/>
              </a:rPr>
              <a:t>Queries (x, y) — any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Calibri"/>
              </a:rPr>
              <a:t>continuous positions</a:t>
            </a:r>
          </a:p>
        </p:txBody>
      </p:sp>
      <p:cxnSp>
        <p:nvCxnSpPr>
          <p:cNvPr id="33" name="Connector 32"/>
          <p:cNvCxnSpPr/>
          <p:nvPr/>
        </p:nvCxnSpPr>
        <p:spPr>
          <a:xfrm flipV="1">
            <a:off x="9409176" y="4764024"/>
            <a:ext cx="0" cy="246888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612648" y="3849624"/>
            <a:ext cx="7936992" cy="1005840"/>
          </a:xfrm>
          <a:prstGeom prst="roundRect">
            <a:avLst>
              <a:gd name="adj" fmla="val 12000"/>
            </a:avLst>
          </a:prstGeom>
          <a:noFill/>
          <a:ln w="12700">
            <a:solidFill>
              <a:srgbClr val="1A1A1A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1000" b="0">
                <a:solidFill>
                  <a:srgbClr val="1A1A1A"/>
                </a:solidFill>
                <a:latin typeface="Calibri"/>
              </a:rPr>
              <a:t/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4892040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A8A8A"/>
                </a:solidFill>
                <a:latin typeface="Calibri"/>
              </a:rPr>
              <a:t>Identical to v2, weights frozen — matching quality inherited, not retrained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2715768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A8A8A"/>
                </a:solidFill>
                <a:latin typeface="Calibri"/>
              </a:rPr>
              <a:t>replaced stage (dark)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0120" y="5779008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333333"/>
                </a:solidFill>
                <a:latin typeface="Calibri"/>
              </a:rPr>
              <a:t>Takeaway   One stage changes. Everything upstream of the 1/8-scale coarse flow is byte-identical to NeuFlow v2.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Calibri"/>
              </a:rPr>
              <a:t>NeuFlow v3 · status report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Calibri"/>
              </a:rPr>
              <a:t>METHOD · THE IMPLICIT DECODER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Calibri"/>
              </a:rPr>
              <a:t>From a coordinate to a flow value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37744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Calibri"/>
              </a:rPr>
              <a:t>Query (x, y)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Calibri"/>
              </a:rPr>
              <a:t>continuous pixel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Calibri"/>
              </a:rPr>
              <a:t>coordinate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944368" y="237744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Calibri"/>
              </a:rPr>
              <a:t>Sample 3×3 windows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Calibri"/>
              </a:rPr>
              <a:t>from 4 feature maps: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Calibri"/>
              </a:rPr>
              <a:t>context · 1/8 · 1/16 ·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Calibri"/>
              </a:rPr>
              <a:t>warped frame-1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96896" y="2811780"/>
            <a:ext cx="310895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202936" y="237744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Calibri"/>
              </a:rPr>
              <a:t>Gated hierarchical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Calibri"/>
              </a:rPr>
              <a:t>fusion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Calibri"/>
              </a:rPr>
              <a:t>(InfiniDepth Eq. 3)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855464" y="2811780"/>
            <a:ext cx="310895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461504" y="237744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333333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MLP → softmax over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9 neighbors + bilinear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candidate (AnyFlow)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114032" y="2811780"/>
            <a:ext cx="310896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720072" y="237744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Calibri"/>
              </a:rPr>
              <a:t>Convex blend of local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Calibri"/>
              </a:rPr>
              <a:t>coarse-flow values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Calibri"/>
              </a:rPr>
              <a:t>= flow(x, y)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372599" y="2811780"/>
            <a:ext cx="310897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3657600"/>
            <a:ext cx="108813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Properties by construction, not by training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•  Bounded output: the result is a weighted average of nearby coarse-flow values — a wrong weighting degrades gracefully;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    it cannot produce an arbitrary value. (The previous unbounded head never trained above its own initialization.)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•  Exact initialization: bilinear interpolation is one weight setting, so the untrained decoder scores a measured 2.48 px EPE.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•  v2-equivalence: v2’s convex upsampler is the fixed-grid special case of this mechanism, so v2’s accuracy is reachable.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5779008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333333"/>
                </a:solidFill>
                <a:latin typeface="Calibri"/>
              </a:rPr>
              <a:t>Takeaway   The head predicts how to blend evidence, not the answer itself — the single design change that made training productive.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Calibri"/>
              </a:rPr>
              <a:t>NeuFlow v3 · status report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Calibri"/>
              </a:rPr>
              <a:t>RESULTS · STAGE 0 OF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Calibri"/>
              </a:rPr>
              <a:t>Before any training: the initialization is the first result</a:t>
            </a:r>
          </a:p>
        </p:txBody>
      </p:sp>
      <p:pic>
        <p:nvPicPr>
          <p:cNvPr id="4" name="Picture 3" descr="stage_untrain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63040"/>
            <a:ext cx="7955279" cy="497870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869680" y="1554480"/>
            <a:ext cx="2743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With zero trained decoder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weights, v3 reproduces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bilinear upsampling of the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coarse flow: 2.48 px EPE,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0.15 px behind v2, with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querying already functional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and exact.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Every subsequent training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run is accepted only if it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improves on this number.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5779008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333333"/>
                </a:solidFill>
                <a:latin typeface="Calibri"/>
              </a:rPr>
              <a:t>Takeaway   Queryability costs +0.15 px EPE before a single gradient step. Training must earn its keep against this baseline.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Calibri"/>
              </a:rPr>
              <a:t>NeuFlow v3 · status report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Calibri"/>
              </a:rPr>
              <a:t>RESULTS · STAGE 1 OF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Calibri"/>
              </a:rPr>
              <a:t>Training on the target domain: VKITTI2, six appearance variants</a:t>
            </a:r>
          </a:p>
        </p:txBody>
      </p:sp>
      <p:pic>
        <p:nvPicPr>
          <p:cNvPr id="4" name="Picture 3" descr="stage_vkitti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63040"/>
            <a:ext cx="7955279" cy="497870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869680" y="1554480"/>
            <a:ext cx="2743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Six same-trajectory weather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variants share identical flow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ground truth — appearance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augmentation at no labeling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cost. 12,726 pairs.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2.39 px EPE: the first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checkpoint in this project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to improve on its own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initialization, with no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late-training collapse.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Limitation: five scenes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teach scene-specific detail;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the error tail barely moves.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5779008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333333"/>
                </a:solidFill>
                <a:latin typeface="Calibri"/>
              </a:rPr>
              <a:t>Takeaway   A correct head plus sufficient data variety turned training from harmful to net-positive: 2.48 to 2.39 px.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Calibri"/>
              </a:rPr>
              <a:t>NeuFlow v3 · status report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Calibri"/>
              </a:rPr>
              <a:t>RESULTS · STAGE 2 OF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Calibri"/>
              </a:rPr>
              <a:t>Training out of domain: FlyingChairs only</a:t>
            </a:r>
          </a:p>
        </p:txBody>
      </p:sp>
      <p:pic>
        <p:nvPicPr>
          <p:cNvPr id="4" name="Picture 3" descr="stage_chai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63040"/>
            <a:ext cx="7955279" cy="497870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869680" y="1554480"/>
            <a:ext cx="2743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22,232 synthetic pairs with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no roads, no vehicles, and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no shared statistics with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the evaluation domain.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2.28 px EPE on VKITTI2 —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below NeuFlow v2 (2.32).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Motion diversity, not domain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familiarity, is what the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decoder needed: varied large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displacements suppress the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error tail that dominates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mean EPE.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Cost: 1 px accuracy drops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to 69.7% (v2: 77.6%).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5779008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333333"/>
                </a:solidFill>
                <a:latin typeface="Calibri"/>
              </a:rPr>
              <a:t>Takeaway   The decoder generalizes: trained without a single driving frame, it outperforms v2 on driving data.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Calibri"/>
              </a:rPr>
              <a:t>NeuFlow v3 · status report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Calibri"/>
              </a:rPr>
              <a:t>RESULTS · STAGE 3 OF 4 · BEST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Calibri"/>
              </a:rPr>
              <a:t>Joint training on both datasets: the strengths combine</a:t>
            </a:r>
          </a:p>
        </p:txBody>
      </p:sp>
      <p:pic>
        <p:nvPicPr>
          <p:cNvPr id="4" name="Picture 3" descr="stage_mix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63040"/>
            <a:ext cx="7955279" cy="497870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869680" y="1554480"/>
            <a:ext cx="2743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34,958 pairs, both datasets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sampled jointly in every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batch (sequential finetuning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had failed at 2.50 px —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the second dataset erased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the first).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2.18 px EPE — 6% better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than v2.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76.4% 1 px accuracy —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within 1.2 points of v2.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89.6% 3 px accuracy —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at parity.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Chairs contributes tail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robustness; VKITTI2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contributes precision;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joint exposure keeps both.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5779008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333333"/>
                </a:solidFill>
                <a:latin typeface="Calibri"/>
              </a:rPr>
              <a:t>Takeaway   The best v3 model beats v2 on mean accuracy and matches its precision — while remaining queryable and smaller.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Calibri"/>
              </a:rPr>
              <a:t>NeuFlow v3 · status report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Calibri"/>
              </a:rPr>
              <a:t>RESULTS ·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Calibri"/>
              </a:rPr>
              <a:t>All training regimes against the v2 reference</a:t>
            </a:r>
          </a:p>
        </p:txBody>
      </p:sp>
      <p:pic>
        <p:nvPicPr>
          <p:cNvPr id="4" name="Picture 3" descr="epe_by_reg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554480"/>
            <a:ext cx="6766560" cy="34250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0" y="1645920"/>
            <a:ext cx="38404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Two informative negative results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Sequential finetuning (chairs, then VKITTI2)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reached 2.50 px — worse than either parent.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Joint sampling was the remedy, confirmed by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the mixed result.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Fourier position encoding changed nothing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(2.288 vs 2.275 px; 1 px accuracy identical).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The sub-pixel gap is therefore not caused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by missing positional information — one of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two candidate explanations eliminated by a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single controlled run.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5779008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333333"/>
                </a:solidFill>
                <a:latin typeface="Calibri"/>
              </a:rPr>
              <a:t>Takeaway   Each experiment either improved the model or eliminated a hypothesis; none was wasted compute.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Calibri"/>
              </a:rPr>
              <a:t>NeuFlow v3 · status report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Calibri"/>
              </a:rPr>
              <a:t>EFFICIENCY · WHAT “SPARSE” AND “DENSE” MEAN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Calibri"/>
              </a:rPr>
              <a:t>Compute cost under identical conditions (RTX 4060, fp16, 384×1248)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81328"/>
            <a:ext cx="1088136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Dense output means the network computes flow for every pixel — 479,232 values for this input size — whether or not they are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needed. This is the only mode NeuFlow v2 has: its upsampler is a convolution that always produces the full map in one 37 ms pass.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Sparse output means computing flow only at N requested coordinates. Only v3 can do this: a 33 ms coarse pass shared by all queries,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then 1.6 ms per batch of up to ~2,000 points. The sparse values are not approximations — they equal the dense output exactly.</a:t>
            </a:r>
          </a:p>
        </p:txBody>
      </p:sp>
      <p:pic>
        <p:nvPicPr>
          <p:cNvPr id="5" name="Picture 4" descr="latency_v2_v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852928"/>
            <a:ext cx="6903720" cy="28223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818120" y="2971800"/>
            <a:ext cx="3749039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>Reading the charts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>Left: to get flow once, v2 dense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>and v3 sparse cost the same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>(~35 ms). v3 dense (327 ms) is an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>evaluation mode, not a use case.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>Right: once a pair is processed,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>each further question costs v3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>1.6 ms; v2 has no smaller unit of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>work than the full 37 ms frame.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>Video pipeline, 640×360 stream: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>v3 sparse-800:  63.6 FPS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>v2 dense:  60.3 FPS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>v3 + motion boxes:  47.1 FPS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>Parameters: 7.83 M (v3)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>vs 9.03 M (v2).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5779008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333333"/>
                </a:solidFill>
                <a:latin typeface="Calibri"/>
              </a:rPr>
              <a:t>Takeaway   v2 sells flow only by the full frame; v3 sells it by the question — at the same price for the first one and ~20× less for each after.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Calibri"/>
              </a:rPr>
              <a:t>NeuFlow v3 · status report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Calibri"/>
              </a:rPr>
              <a:t>INTERFACE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Calibri"/>
              </a:rPr>
              <a:t>Querying in practice: sizes, API, and interactive demonstration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56692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A query is one continuous (x, y) coordinate; sub-pixel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positions are valid inputs. N ranges from 1 to the full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frame (479,232 at 384×1248). Decode cost is flat at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1.6 ms up to roughly 2,000 queries per call.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state = model.infer_coarse_state(img0, img1)   # once, 33 ms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flow  = model.decode_queries(state, query_coords=q)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        # q: [B, N, 2] pixel coords → [B, N, 2]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931920"/>
            <a:ext cx="56692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Training configuration: batch size 4 (8 GB VRAM budget);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4,096 supervision queries per image, half placed at motion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boundaries; AdamW with a one-cycle schedule peaking at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2e-4; backbone frozen throughout.</a:t>
            </a:r>
          </a:p>
        </p:txBody>
      </p:sp>
      <p:pic>
        <p:nvPicPr>
          <p:cNvPr id="6" name="Picture 5" descr="query_gui_self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554480"/>
            <a:ext cx="4937760" cy="149087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675120" y="3246120"/>
            <a:ext cx="49377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A1A1A"/>
                </a:solidFill>
                <a:latin typeface="Calibri"/>
              </a:rPr>
              <a:t>Interactive tool (PyQt5, in the repository): click any pixel</a:t>
            </a:r>
          </a:p>
          <a:p>
            <a:pPr algn="l">
              <a:lnSpc>
                <a:spcPct val="100000"/>
              </a:lnSpc>
            </a:pPr>
            <a:r>
              <a:rPr sz="1100" b="0">
                <a:solidFill>
                  <a:srgbClr val="1A1A1A"/>
                </a:solidFill>
                <a:latin typeface="Calibri"/>
              </a:rPr>
              <a:t>for its flow; grid, boundary-adaptive, and dense-overlay</a:t>
            </a:r>
          </a:p>
          <a:p>
            <a:pPr algn="l">
              <a:lnSpc>
                <a:spcPct val="100000"/>
              </a:lnSpc>
            </a:pPr>
            <a:r>
              <a:rPr sz="1100" b="0">
                <a:solidFill>
                  <a:srgbClr val="1A1A1A"/>
                </a:solidFill>
                <a:latin typeface="Calibri"/>
              </a:rPr>
              <a:t>modes; CSV export. Feasible only because of the two-pass</a:t>
            </a:r>
          </a:p>
          <a:p>
            <a:pPr algn="l">
              <a:lnSpc>
                <a:spcPct val="100000"/>
              </a:lnSpc>
            </a:pPr>
            <a:r>
              <a:rPr sz="1100" b="0">
                <a:solidFill>
                  <a:srgbClr val="1A1A1A"/>
                </a:solidFill>
                <a:latin typeface="Calibri"/>
              </a:rPr>
              <a:t>design — every interaction reuses the cached backbone state.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5779008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333333"/>
                </a:solidFill>
                <a:latin typeface="Calibri"/>
              </a:rPr>
              <a:t>Takeaway   The same API serves a robot asking for 800 correspondences and a human inspecting one pixel.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Calibri"/>
              </a:rPr>
              <a:t>NeuFlow v3 · status report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Calibri"/>
              </a:rPr>
              <a:t>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Calibri"/>
              </a:rPr>
              <a:t>Standing of the three stated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91640"/>
            <a:ext cx="107899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Calibri"/>
              </a:rPr>
              <a:t>Objective 1 — exceed NeuFlow v2’s accuracy.  Met: 2.18 vs 2.32 px mean EPE (6% better) with mixed-dataset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Calibri"/>
              </a:rPr>
              <a:t>training. Sub-pixel precision is within 1.2 points of v2 (76.4% vs 77.6%) and 3 px accuracy is at parity.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Calibri"/>
              </a:rPr>
              <a:t>Objective 2 — lower compute, edge-viable.  Met for the intended workload: sparse answers arrive at v2’s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Calibri"/>
              </a:rPr>
              <a:t>full-frame latency with 13% fewer parameters and ~2.2 GB inference VRAM; repeated queries are ~20×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Calibri"/>
              </a:rPr>
              <a:t>cheaper than v2 recomputation. Dense-output mode remains slower and is explicitly out of scope.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Calibri"/>
              </a:rPr>
              <a:t>Objective 3 — capability that v2 cannot express.  Delivered: continuous-coordinate queries, resolution-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Calibri"/>
              </a:rPr>
              <a:t>independent output, exact sparse/dense agreement, and an interactive demonstration tool.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5779008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333333"/>
                </a:solidFill>
                <a:latin typeface="Calibri"/>
              </a:rPr>
              <a:t>Takeaway   All three objectives are met or within measurement noise; remaining work is validation breadth, not capability.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Calibri"/>
              </a:rPr>
              <a:t>NeuFlow v3 · status report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Calibri"/>
              </a:rPr>
              <a:t>NEXT STEPS AND REQUESTS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Calibri"/>
              </a:rPr>
              <a:t>Planned validation, and what it requires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5577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Request 1 — HPC access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The Spring benchmark provides ground truth at twice the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input resolution (1080p images, 4K flow). Evaluating there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tests above-input-resolution querying — a question a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fixed-resolution network cannot even accept. The dataset’s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working set (hundreds of GB) and batch-scale training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exceed the 8 GB laptop GPU this work has used so far.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With HPC access, in order: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•  Spring evaluation: v3 queried natively at 4K versus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    v2 upsampled — the arbitrary-resolution claim, quantified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•  FlyingThings3D pretraining (the standard curriculum’s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    second stage; 80 GB, batch 8–16)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•  Longer mixed training at larger crops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0" y="155448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Request 2 — Field Robotics Lab survey data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The lab’s SeaBED AUV and UAV survey programs produce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exactly the data this method serves: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•  Sequential seafloor transect imagery (50–75% overlap,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    slow motion, fine texture) — registration and mosaicking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    with sparse on-demand queries; the fine-motion regime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    also stresses sub-pixel accuracy directly.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•  Nadir UAV survey sequences with GPS/IMU tags —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    georegistration provides quantitative pseudo ground truth.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•  Vehicle navigation (DVL/INS) and camera calibration —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    reprojection-based flow ground truth on static scenes,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    no manual labeling.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The ask is consecutive frames plus navigation data,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not finished mosaics.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5779008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333333"/>
                </a:solidFill>
                <a:latin typeface="Calibri"/>
              </a:rPr>
              <a:t>Takeaway   Validation on public benchmarks is done on laptop hardware; both requests convert the method into thesis-scale evidence.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Calibri"/>
              </a:rPr>
              <a:t>NeuFlow v3 · status report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Calibri"/>
              </a:rPr>
              <a:t>ANTICIPATED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Calibri"/>
              </a:rPr>
              <a:t>First-principles 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8760"/>
            <a:ext cx="10881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>Why is flow defined at non-integer coordinates?  Bilinear interpolation makes feature maps continuous functions of position;</a:t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>an MLP composed with them is defined at every real (x, y). Integer pixels are the special case dense maps hard-code.</a:t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>Why freeze the backbone?  Joint training is a moving-target problem requiring ~800K steps at InfiniDepth’s scale; at a 30K budget</a:t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>the decoder diverges chasing shifting features (observed directly). Freezing also guarantees v2’s matching quality is inherited.</a:t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>Is sparse output an approximation?  No. It is the same function evaluated at fewer points; agreement with dense output is exact.</a:t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>Why did out-of-domain training beat in-domain training?  Mean EPE is dominated by the error tail. Diverse large motions train</a:t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>tail robustness; five driving scenes train memorization. Joint training then combined both, as the mixed result shows.</a:t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>What limits sub-pixel accuracy?  Not positional information — measured (PE ablation, null result). Remaining candidates: the</a:t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>1/8-scale coarse flow bounds recoverable detail, and large-motion training never supervises sub-pixel discrimination.</a:t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>Why batch size 4?  An 8 GB VRAM budget; the recipe is otherwise RAFT-standard and scales directly on larger GPUs.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5779008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333333"/>
                </a:solidFill>
                <a:latin typeface="Calibri"/>
              </a:rPr>
              <a:t>Takeaway   Full derivations and the complete question list: docs/NeuFlow_v3_Report.md, sections 5–6.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Calibri"/>
              </a:rPr>
              <a:t>NeuFlow v3 · status report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