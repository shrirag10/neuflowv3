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status report on my thesis project. I want to be upfront that the headline has changed since the last version of this deck. Earlier numbers were contaminated by a train-test leak and by a BatchNorm bug, and when I fixed both, two of my claims did not survive. I will show you what did survive and what did not, and I will be explicit about which comparisons are fair.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motivation is unchanged and I still believe it. Dense flow is the only product these networks offer, but registration, tracking and mapping all want a few hundred points that they choose. The question is whether you can make the output queryable without paying for it elsewhere. Some of the answer is no, and I will show you 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NeuFlow v2 is the lab's real-time flow network. Backbone, matching, refinement, then a convex upsampler that turns 1/8 resolution flow into full resolution. I freeze everything up to the coarse flow and change only the last stage. On our V100 it runs a full frame in 19.6 milliseconds at 2.324 pixels of error. Its limitation is structural: the output is always the same size and always costs the same, whether you need one pixel or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only in the last stage. Phase one is v2 exactly as it is, run once and cached. Phase two takes a coordinate, samples feature windows around it, and predicts weights that blend the nine neighbouring coarse flow values plus a bilinear one. Because it is a convex blend it cannot hallucinate motion. And because phase one is cached, asking a second question about the same frame is cheap. That caching is the property that turns out to matter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spend a slide on this because it is the reason to believe anything that follows. Three defects. First, a train-test leak: two VKITTI2 scenes were in both the training set and the evaluation set, so models were being scored on frames they had trained on. Second, BatchNorm kept updating its running statistics even though the backbone was supposed to be frozen, which moved the coarse flow by 0.35 pixels, about seven times the effect I was trying to measure. Third, my runs differed in three things at once, so no comparison between them meant anything. All three are fixed, and there is now a pre-flight suite that checks all of it before a job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accuracy picture. The teal bar is the only fair comparison, because that model trained on FlyingChairs alone and never saw a road, just as v2 never saw VKITTI2. It gets 2.286 against v2's 2.324. That is a tie. The grey bars are better, down to 2.104, but they trained on VKITTI2 scenes from the same simulator as the test set, so that is a domain advantage rather than a better method. I could have shown you only the 2.104 number and claimed a ten percent win. It would not have been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cost. On one-pixel accuracy v3 is below v2 everywhere, by up to six points. Mean error hides it, because v3 makes fewer catastrophic errors, which drags the average down while it is actually less precise on most pixels. I know the cause: the decoder's finest input is at one-eighth resolution, so inside an eight by eight cell it is looking at almost the same evidence wherever you query. The v2 upsampler reads the full resolution image directly. I tested whether it was simply missing positional information by adding a Fourier encoding, and it changed nothing, which rules that explanation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Three of these four bars are not wins. Dense v3 is twelve percent slower than v2, and I want to flag that an earlier version of this deck claimed v3 dense was faster. That measurement was taken before the BatchNorm fix and on a different GPU. It was wrong and I have withdrawn it. A first sparse query is level with v2, not faster, because the coarse pass dominates and you cannot avoid it. The real win is the fourth bar: asking a second question about a frame you have already processed costs 2.6 milliseconds against v2's 19.6, because v2 has no cached state and must redo everything.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the cleanest results in the project, because everything is held fixed except one thing. On the left, adding MPI-Sintel to the training mix made it slightly worse despite ten thousand extra pairs, so Sintel does not earn its place. On the right, adding the uncertainty head improved accuracy by two percent on identical data. That is a free gain from an auxiliary loss acting as a regulariser, and it also gives you a confidence signal,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capability I am most confident about. The head predicts an error scale for every query alongside the flow itself. When you bin queries by predicted uncertainty, the actual error rises monotonically from 0.22 pixels in the confident bin to 7.4 in the least confident. It is not perfectly correlated, r is 0.38, but it is clearly informative and it is directly usable: weight correspondences in RANSAC, drop unreliable ones, or send more queries where the model is unsure. v2 has no equivalent output, so there is nothing to compare it against.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not arithmetic, so you get two thousand points for the price of eight hundred. Above about ten thousand points it becomes compute bound and you should just use dense mode.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You load a video, step to a frame, drag a box, and it computes flow in that box. Two modes. Query mode runs the full coarse pass and decodes only inside the box, which is exact. Crop mode feeds just the box through the whole pipeline, so the cost scales with the area you asked for,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scorecard against what I set out to do, and two of three are not met. Better accuracy: not met, the fair comparison is a tie. Less compute: partly, dense is slower, a first query is level, but repeat queries are nearly eight times cheaper. Edge capable: unproven, everything I have measured is on a V100 or a laptop 4060 and I have not touched a Jetson. What the project does deliver is the three things at the bottom: output you can query at any coordinate, cheap repeat access to a cached frame, and a calibrated confidence value. Those are real and they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Precision is worse than v2 and I have diagnosed but not fixed it. There is no edge device measurement at all, so the word edge in my title is a design target and not a result. Everything is evaluated on one synthetic driving dataset, which says little about field imagery. The Spring run was cut off by the cluster wall clock. And I have one seed per configuration, so please do not read too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priority order. First, give the decoder a full resolution feature map. That is the direct attack on the precision gap, and it also matters because right now querying between pixels returns something close to interpolation, so the arbitrary coordinate claim is thinner than it sounds. Second, the Spring dataset gives ground truth at twice the input resolution, which v3 can be queried at natively and v2 structurally cannot. That is the one test that shows a capability rather than a margin. Third, actually measure a Jetson. Fourth, try it on real survey imagery.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questions I expect. Why flow between pixels: because motion is continuous and the grid is an artefact of sampling. Why freeze the backbone: to keep the decoder as the only variable, and because unfreezing diverged when I tried it. Why is dense slower: because v2's convolution shares work between neighbouring pixels and my decoder deliberately gives that up in exchange for answering only what is asked. And the hardest one, is a tie worth the complexity. On its own, no. If you want plain dense flow, use v2, and I will say that plainly. It is worth it if you need queryability, cheap repeat access, or a confidence signal.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914400"/>
          </a:xfrm>
          <a:prstGeom prst="rect">
            <a:avLst/>
          </a:prstGeom>
          <a:noFill/>
        </p:spPr>
        <p:txBody>
          <a:bodyPr wrap="square">
            <a:spAutoFit/>
          </a:bodyPr>
          <a:lstStyle/>
          <a:p>
            <a:pPr algn="l">
              <a:lnSpc>
                <a:spcPct val="100000"/>
              </a:lnSpc>
            </a:pPr>
            <a:r>
              <a:rPr sz="4400" b="1">
                <a:solidFill>
                  <a:srgbClr val="1A1A1A"/>
                </a:solidFill>
                <a:latin typeface="Georgia"/>
              </a:rPr>
              <a:t>NeuFlow v3</a:t>
            </a:r>
          </a:p>
        </p:txBody>
      </p:sp>
      <p:sp>
        <p:nvSpPr>
          <p:cNvPr id="3" name="TextBox 2"/>
          <p:cNvSpPr txBox="1"/>
          <p:nvPr/>
        </p:nvSpPr>
        <p:spPr>
          <a:xfrm>
            <a:off x="868680" y="2880360"/>
            <a:ext cx="10515600" cy="457200"/>
          </a:xfrm>
          <a:prstGeom prst="rect">
            <a:avLst/>
          </a:prstGeom>
          <a:noFill/>
        </p:spPr>
        <p:txBody>
          <a:bodyPr wrap="square">
            <a:spAutoFit/>
          </a:bodyPr>
          <a:lstStyle/>
          <a:p>
            <a:pPr algn="l">
              <a:lnSpc>
                <a:spcPct val="100000"/>
              </a:lnSpc>
            </a:pPr>
            <a:r>
              <a:rPr sz="1700" b="0">
                <a:solidFill>
                  <a:srgbClr val="333333"/>
                </a:solidFill>
                <a:latin typeface="Georgia"/>
              </a:rPr>
              <a:t>A queryable, uncertainty-aware flow decoder for edge robotics</a:t>
            </a:r>
          </a:p>
        </p:txBody>
      </p:sp>
      <p:sp>
        <p:nvSpPr>
          <p:cNvPr id="4" name="Rectangle 3"/>
          <p:cNvSpPr/>
          <p:nvPr/>
        </p:nvSpPr>
        <p:spPr>
          <a:xfrm>
            <a:off x="868680" y="3520440"/>
            <a:ext cx="589788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3703320"/>
            <a:ext cx="10058400" cy="914400"/>
          </a:xfrm>
          <a:prstGeom prst="rect">
            <a:avLst/>
          </a:prstGeom>
          <a:noFill/>
        </p:spPr>
        <p:txBody>
          <a:bodyPr wrap="square">
            <a:spAutoFit/>
          </a:bodyPr>
          <a:lstStyle/>
          <a:p>
            <a:pPr algn="l">
              <a:lnSpc>
                <a:spcPct val="100000"/>
              </a:lnSpc>
            </a:pPr>
            <a:r>
              <a:rPr sz="1250" b="0">
                <a:solidFill>
                  <a:srgbClr val="1A1A1A"/>
                </a:solidFill>
                <a:latin typeface="Georgia"/>
              </a:rPr>
              <a:t>One frozen NeuFlow v2 backbone, its fixed upsampler replaced by a decoder that</a:t>
            </a:r>
          </a:p>
          <a:p>
            <a:pPr algn="l">
              <a:lnSpc>
                <a:spcPct val="100000"/>
              </a:lnSpc>
            </a:pPr>
            <a:r>
              <a:rPr sz="1250" b="0">
                <a:solidFill>
                  <a:srgbClr val="1A1A1A"/>
                </a:solidFill>
                <a:latin typeface="Georgia"/>
              </a:rPr>
              <a:t>answers flow queries at arbitrary continuous coordinates in O(N).</a:t>
            </a:r>
          </a:p>
        </p:txBody>
      </p:sp>
      <p:sp>
        <p:nvSpPr>
          <p:cNvPr id="6" name="TextBox 5"/>
          <p:cNvSpPr txBox="1"/>
          <p:nvPr/>
        </p:nvSpPr>
        <p:spPr>
          <a:xfrm>
            <a:off x="868680" y="5715000"/>
            <a:ext cx="10058400" cy="365760"/>
          </a:xfrm>
          <a:prstGeom prst="rect">
            <a:avLst/>
          </a:prstGeom>
          <a:noFill/>
        </p:spPr>
        <p:txBody>
          <a:bodyPr wrap="square">
            <a:spAutoFit/>
          </a:bodyPr>
          <a:lstStyle/>
          <a:p>
            <a:pPr algn="l">
              <a:lnSpc>
                <a:spcPct val="100000"/>
              </a:lnSpc>
            </a:pPr>
            <a:r>
              <a:rPr sz="1100" b="0">
                <a:solidFill>
                  <a:srgbClr val="8A8A8A"/>
                </a:solidFill>
                <a:latin typeface="Georgia"/>
              </a:rPr>
              <a:t>Shriman Raghav Srinivasan   ·   MS Robotics, Northeastern University   ·   Field Robotics Lab   ·   August 2026</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MOTIVATION</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Most tasks never use most of a dense flow map</a:t>
            </a:r>
          </a:p>
        </p:txBody>
      </p:sp>
      <p:sp>
        <p:nvSpPr>
          <p:cNvPr id="4" name="TextBox 3"/>
          <p:cNvSpPr txBox="1"/>
          <p:nvPr/>
        </p:nvSpPr>
        <p:spPr>
          <a:xfrm>
            <a:off x="685800" y="1600200"/>
            <a:ext cx="5120640" cy="3108960"/>
          </a:xfrm>
          <a:prstGeom prst="rect">
            <a:avLst/>
          </a:prstGeom>
          <a:noFill/>
        </p:spPr>
        <p:txBody>
          <a:bodyPr wrap="square">
            <a:spAutoFit/>
          </a:bodyPr>
          <a:lstStyle/>
          <a:p>
            <a:pPr algn="l">
              <a:lnSpc>
                <a:spcPct val="115000"/>
              </a:lnSpc>
            </a:pPr>
            <a:r>
              <a:rPr sz="1200" b="0">
                <a:solidFill>
                  <a:srgbClr val="1A1A1A"/>
                </a:solidFill>
                <a:latin typeface="Georgia"/>
              </a:rPr>
              <a:t>Optical flow tells you where each pixel moves between two frames.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Every modern network computes all of them, at one fixed resolution.</a:t>
            </a:r>
          </a:p>
          <a:p>
            <a:pPr algn="l">
              <a:lnSpc>
                <a:spcPct val="115000"/>
              </a:lnSpc>
            </a:pPr>
            <a:r>
              <a:rPr sz="1200" b="0">
                <a:solidFill>
                  <a:srgbClr val="1A1A1A"/>
                </a:solidFill>
                <a:latin typeface="Georgia"/>
              </a:rPr>
              <a:t>A lot of downstream work does not need that:</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image registration wants a few hundred correspondences at</a:t>
            </a:r>
          </a:p>
          <a:p>
            <a:pPr algn="l">
              <a:lnSpc>
                <a:spcPct val="115000"/>
              </a:lnSpc>
            </a:pPr>
            <a:r>
              <a:rPr sz="1200" b="0">
                <a:solidFill>
                  <a:srgbClr val="1A1A1A"/>
                </a:solidFill>
                <a:latin typeface="Georgia"/>
              </a:rPr>
              <a:t>   points it chooses itself</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sparse tracking needs flow at feature points only</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   survey mosaicking needs matches in overlap regions, often at</a:t>
            </a:r>
          </a:p>
          <a:p>
            <a:pPr algn="l">
              <a:lnSpc>
                <a:spcPct val="115000"/>
              </a:lnSpc>
            </a:pPr>
            <a:r>
              <a:rPr sz="1200" b="0">
                <a:solidFill>
                  <a:srgbClr val="1A1A1A"/>
                </a:solidFill>
                <a:latin typeface="Georgia"/>
              </a:rPr>
              <a:t>   sub-pixel positions</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On a small GPU, computing 479,232 values to use 800 of them is</a:t>
            </a:r>
          </a:p>
          <a:p>
            <a:pPr algn="l">
              <a:lnSpc>
                <a:spcPct val="115000"/>
              </a:lnSpc>
            </a:pPr>
            <a:r>
              <a:rPr sz="1200" b="0">
                <a:solidFill>
                  <a:srgbClr val="1A1A1A"/>
                </a:solidFill>
                <a:latin typeface="Georgia"/>
              </a:rPr>
              <a:t>the difference between real time and not.</a:t>
            </a:r>
          </a:p>
        </p:txBody>
      </p:sp>
      <p:sp>
        <p:nvSpPr>
          <p:cNvPr id="5" name="Rounded Rectangle 4"/>
          <p:cNvSpPr/>
          <p:nvPr/>
        </p:nvSpPr>
        <p:spPr>
          <a:xfrm>
            <a:off x="6400800" y="1691640"/>
            <a:ext cx="512064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A1A1A"/>
                </a:solidFill>
                <a:latin typeface="Georgia"/>
              </a:rPr>
              <a:t>The question</a:t>
            </a:r>
          </a:p>
          <a:p>
            <a:pPr algn="ctr"/>
            <a:r>
              <a:rPr sz="1200" b="0">
                <a:solidFill>
                  <a:srgbClr val="1A1A1A"/>
                </a:solidFill>
                <a:latin typeface="Georgia"/>
              </a:rPr>
              <a:t/>
            </a:r>
          </a:p>
          <a:p>
            <a:pPr algn="ctr"/>
            <a:r>
              <a:rPr sz="1200" b="0">
                <a:solidFill>
                  <a:srgbClr val="1A1A1A"/>
                </a:solidFill>
                <a:latin typeface="Georgia"/>
              </a:rPr>
              <a:t>Can the final stage be replaced by something you query,</a:t>
            </a:r>
          </a:p>
          <a:p>
            <a:pPr algn="ctr"/>
            <a:r>
              <a:rPr sz="1200" b="0">
                <a:solidFill>
                  <a:srgbClr val="1A1A1A"/>
                </a:solidFill>
                <a:latin typeface="Georgia"/>
              </a:rPr>
              <a:t>without giving up accuracy or speed?</a:t>
            </a:r>
          </a:p>
        </p:txBody>
      </p:sp>
      <p:sp>
        <p:nvSpPr>
          <p:cNvPr id="6" name="TextBox 5"/>
          <p:cNvSpPr txBox="1"/>
          <p:nvPr/>
        </p:nvSpPr>
        <p:spPr>
          <a:xfrm>
            <a:off x="6400800" y="3200400"/>
            <a:ext cx="5120640" cy="2377440"/>
          </a:xfrm>
          <a:prstGeom prst="rect">
            <a:avLst/>
          </a:prstGeom>
          <a:noFill/>
        </p:spPr>
        <p:txBody>
          <a:bodyPr wrap="square">
            <a:spAutoFit/>
          </a:bodyPr>
          <a:lstStyle/>
          <a:p>
            <a:pPr algn="l">
              <a:lnSpc>
                <a:spcPct val="115000"/>
              </a:lnSpc>
            </a:pPr>
            <a:r>
              <a:rPr sz="1200" b="0">
                <a:solidFill>
                  <a:srgbClr val="1A1A1A"/>
                </a:solidFill>
                <a:latin typeface="Georgia"/>
              </a:rPr>
              <a:t>Keep everything in v2 that understands motion, frozen.</a:t>
            </a:r>
          </a:p>
          <a:p>
            <a:pPr algn="l">
              <a:lnSpc>
                <a:spcPct val="115000"/>
              </a:lnSpc>
            </a:pPr>
            <a:r>
              <a:rPr sz="1200" b="0">
                <a:solidFill>
                  <a:srgbClr val="1A1A1A"/>
                </a:solidFill>
                <a:latin typeface="Georgia"/>
              </a:rPr>
              <a:t>Replace only the upsampler with a decoder evaluated at requested</a:t>
            </a:r>
          </a:p>
          <a:p>
            <a:pPr algn="l">
              <a:lnSpc>
                <a:spcPct val="115000"/>
              </a:lnSpc>
            </a:pPr>
            <a:r>
              <a:rPr sz="1200" b="0">
                <a:solidFill>
                  <a:srgbClr val="1A1A1A"/>
                </a:solidFill>
                <a:latin typeface="Georgia"/>
              </a:rPr>
              <a:t>coordinates, so cost scales with the number of questions asked</a:t>
            </a:r>
          </a:p>
          <a:p>
            <a:pPr algn="l">
              <a:lnSpc>
                <a:spcPct val="115000"/>
              </a:lnSpc>
            </a:pPr>
            <a:r>
              <a:rPr sz="1200" b="0">
                <a:solidFill>
                  <a:srgbClr val="1A1A1A"/>
                </a:solidFill>
                <a:latin typeface="Georgia"/>
              </a:rPr>
              <a:t>rather than with image area.</a:t>
            </a:r>
          </a:p>
          <a:p>
            <a:pPr algn="l">
              <a:lnSpc>
                <a:spcPct val="115000"/>
              </a:lnSpc>
            </a:pPr>
            <a:r>
              <a:rPr sz="1200" b="0">
                <a:solidFill>
                  <a:srgbClr val="1A1A1A"/>
                </a:solidFill>
                <a:latin typeface="Georgia"/>
              </a:rPr>
              <a:t/>
            </a:r>
          </a:p>
          <a:p>
            <a:pPr algn="l">
              <a:lnSpc>
                <a:spcPct val="115000"/>
              </a:lnSpc>
            </a:pPr>
            <a:r>
              <a:rPr sz="1200" b="0">
                <a:solidFill>
                  <a:srgbClr val="1A1A1A"/>
                </a:solidFill>
                <a:latin typeface="Georgia"/>
              </a:rPr>
              <a:t>This report answers that question with measurements, including</a:t>
            </a:r>
          </a:p>
          <a:p>
            <a:pPr algn="l">
              <a:lnSpc>
                <a:spcPct val="115000"/>
              </a:lnSpc>
            </a:pPr>
            <a:r>
              <a:rPr sz="1200" b="0">
                <a:solidFill>
                  <a:srgbClr val="1A1A1A"/>
                </a:solidFill>
                <a:latin typeface="Georgia"/>
              </a:rPr>
              <a:t>the places where the answer is no.</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NeuFlow v2: the foundation, kept frozen</a:t>
            </a:r>
          </a:p>
        </p:txBody>
      </p:sp>
      <p:sp>
        <p:nvSpPr>
          <p:cNvPr id="4" name="Rounded Rectangle 3"/>
          <p:cNvSpPr/>
          <p:nvPr/>
        </p:nvSpPr>
        <p:spPr>
          <a:xfrm>
            <a:off x="68580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Image pair</a:t>
            </a:r>
          </a:p>
          <a:p>
            <a:pPr algn="ctr"/>
            <a:r>
              <a:rPr sz="1050" b="0">
                <a:solidFill>
                  <a:srgbClr val="1A1A1A"/>
                </a:solidFill>
                <a:latin typeface="Georgia"/>
              </a:rPr>
              <a:t/>
            </a:r>
          </a:p>
          <a:p>
            <a:pPr algn="ctr"/>
            <a:r>
              <a:rPr sz="1050" b="0">
                <a:solidFill>
                  <a:srgbClr val="1A1A1A"/>
                </a:solidFill>
                <a:latin typeface="Georgia"/>
              </a:rPr>
              <a:t>two frames</a:t>
            </a:r>
          </a:p>
        </p:txBody>
      </p:sp>
      <p:sp>
        <p:nvSpPr>
          <p:cNvPr id="5" name="Rounded Rectangle 4"/>
          <p:cNvSpPr/>
          <p:nvPr/>
        </p:nvSpPr>
        <p:spPr>
          <a:xfrm>
            <a:off x="301752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CNN backbone</a:t>
            </a:r>
          </a:p>
          <a:p>
            <a:pPr algn="ctr"/>
            <a:r>
              <a:rPr sz="1050" b="0">
                <a:solidFill>
                  <a:srgbClr val="1A1A1A"/>
                </a:solidFill>
                <a:latin typeface="Georgia"/>
              </a:rPr>
              <a:t/>
            </a:r>
          </a:p>
          <a:p>
            <a:pPr algn="ctr"/>
            <a:r>
              <a:rPr sz="1050" b="0">
                <a:solidFill>
                  <a:srgbClr val="1A1A1A"/>
                </a:solidFill>
                <a:latin typeface="Georgia"/>
              </a:rPr>
              <a:t>features at</a:t>
            </a:r>
          </a:p>
          <a:p>
            <a:pPr algn="ctr"/>
            <a:r>
              <a:rPr sz="1050" b="0">
                <a:solidFill>
                  <a:srgbClr val="1A1A1A"/>
                </a:solidFill>
                <a:latin typeface="Georgia"/>
              </a:rPr>
              <a:t>1/8 and 1/16</a:t>
            </a:r>
          </a:p>
        </p:txBody>
      </p:sp>
      <p:sp>
        <p:nvSpPr>
          <p:cNvPr id="6" name="Rounded Rectangle 5"/>
          <p:cNvSpPr/>
          <p:nvPr/>
        </p:nvSpPr>
        <p:spPr>
          <a:xfrm>
            <a:off x="534924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Cross-attention</a:t>
            </a:r>
          </a:p>
          <a:p>
            <a:pPr algn="ctr"/>
            <a:r>
              <a:rPr sz="1050" b="0">
                <a:solidFill>
                  <a:srgbClr val="1A1A1A"/>
                </a:solidFill>
                <a:latin typeface="Georgia"/>
              </a:rPr>
              <a:t>+ global match</a:t>
            </a:r>
          </a:p>
          <a:p>
            <a:pPr algn="ctr"/>
            <a:r>
              <a:rPr sz="1050" b="0">
                <a:solidFill>
                  <a:srgbClr val="1A1A1A"/>
                </a:solidFill>
                <a:latin typeface="Georgia"/>
              </a:rPr>
              <a:t/>
            </a:r>
          </a:p>
          <a:p>
            <a:pPr algn="ctr"/>
            <a:r>
              <a:rPr sz="1050" b="0">
                <a:solidFill>
                  <a:srgbClr val="1A1A1A"/>
                </a:solidFill>
                <a:latin typeface="Georgia"/>
              </a:rPr>
              <a:t>initial flow</a:t>
            </a:r>
          </a:p>
        </p:txBody>
      </p:sp>
      <p:sp>
        <p:nvSpPr>
          <p:cNvPr id="7" name="Rounded Rectangle 6"/>
          <p:cNvSpPr/>
          <p:nvPr/>
        </p:nvSpPr>
        <p:spPr>
          <a:xfrm>
            <a:off x="7680960" y="1783080"/>
            <a:ext cx="2011680" cy="12344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Refinement</a:t>
            </a:r>
          </a:p>
          <a:p>
            <a:pPr algn="ctr"/>
            <a:r>
              <a:rPr sz="1050" b="0">
                <a:solidFill>
                  <a:srgbClr val="1A1A1A"/>
                </a:solidFill>
                <a:latin typeface="Georgia"/>
              </a:rPr>
              <a:t/>
            </a:r>
          </a:p>
          <a:p>
            <a:pPr algn="ctr"/>
            <a:r>
              <a:rPr sz="1050" b="0">
                <a:solidFill>
                  <a:srgbClr val="1A1A1A"/>
                </a:solidFill>
                <a:latin typeface="Georgia"/>
              </a:rPr>
              <a:t>1x at 1/16</a:t>
            </a:r>
          </a:p>
          <a:p>
            <a:pPr algn="ctr"/>
            <a:r>
              <a:rPr sz="1050" b="0">
                <a:solidFill>
                  <a:srgbClr val="1A1A1A"/>
                </a:solidFill>
                <a:latin typeface="Georgia"/>
              </a:rPr>
              <a:t>8x at 1/8</a:t>
            </a:r>
          </a:p>
        </p:txBody>
      </p:sp>
      <p:sp>
        <p:nvSpPr>
          <p:cNvPr id="8" name="Rounded Rectangle 7"/>
          <p:cNvSpPr/>
          <p:nvPr/>
        </p:nvSpPr>
        <p:spPr>
          <a:xfrm>
            <a:off x="10012680" y="1783080"/>
            <a:ext cx="2011680" cy="123444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Coarse flow</a:t>
            </a:r>
          </a:p>
          <a:p>
            <a:pPr algn="ctr"/>
            <a:r>
              <a:rPr sz="1050" b="1">
                <a:solidFill>
                  <a:srgbClr val="FFFFFF"/>
                </a:solidFill>
                <a:latin typeface="Georgia"/>
              </a:rPr>
              <a:t/>
            </a:r>
          </a:p>
          <a:p>
            <a:pPr algn="ctr"/>
            <a:r>
              <a:rPr sz="1050" b="1">
                <a:solidFill>
                  <a:srgbClr val="FFFFFF"/>
                </a:solidFill>
                <a:latin typeface="Georgia"/>
              </a:rPr>
              <a:t>at 1/8</a:t>
            </a:r>
          </a:p>
          <a:p>
            <a:pPr algn="ctr"/>
            <a:r>
              <a:rPr sz="1050" b="1">
                <a:solidFill>
                  <a:srgbClr val="FFFFFF"/>
                </a:solidFill>
                <a:latin typeface="Georgia"/>
              </a:rPr>
              <a:t>resolution</a:t>
            </a:r>
          </a:p>
        </p:txBody>
      </p:sp>
      <p:sp>
        <p:nvSpPr>
          <p:cNvPr id="9" name="TextBox 8"/>
          <p:cNvSpPr txBox="1"/>
          <p:nvPr/>
        </p:nvSpPr>
        <p:spPr>
          <a:xfrm>
            <a:off x="271576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0" name="TextBox 9"/>
          <p:cNvSpPr txBox="1"/>
          <p:nvPr/>
        </p:nvSpPr>
        <p:spPr>
          <a:xfrm>
            <a:off x="504748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1" name="TextBox 10"/>
          <p:cNvSpPr txBox="1"/>
          <p:nvPr/>
        </p:nvSpPr>
        <p:spPr>
          <a:xfrm>
            <a:off x="737920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2" name="TextBox 11"/>
          <p:cNvSpPr txBox="1"/>
          <p:nvPr/>
        </p:nvSpPr>
        <p:spPr>
          <a:xfrm>
            <a:off x="9710928" y="2212848"/>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685800" y="3337560"/>
            <a:ext cx="10881360" cy="411480"/>
          </a:xfrm>
          <a:prstGeom prst="rect">
            <a:avLst/>
          </a:prstGeom>
          <a:noFill/>
        </p:spPr>
        <p:txBody>
          <a:bodyPr wrap="square">
            <a:spAutoFit/>
          </a:bodyPr>
          <a:lstStyle/>
          <a:p>
            <a:pPr algn="l">
              <a:lnSpc>
                <a:spcPct val="100000"/>
              </a:lnSpc>
            </a:pPr>
            <a:r>
              <a:rPr sz="1200" b="0">
                <a:solidFill>
                  <a:srgbClr val="1A1A1A"/>
                </a:solidFill>
                <a:latin typeface="Georgia"/>
              </a:rPr>
              <a:t>All of the above is v2, unmodified, with its weights frozen. v3 replaces only what comes next.</a:t>
            </a:r>
          </a:p>
        </p:txBody>
      </p:sp>
      <p:sp>
        <p:nvSpPr>
          <p:cNvPr id="14" name="TextBox 13"/>
          <p:cNvSpPr txBox="1"/>
          <p:nvPr/>
        </p:nvSpPr>
        <p:spPr>
          <a:xfrm>
            <a:off x="685800" y="3931920"/>
            <a:ext cx="4206240" cy="237744"/>
          </a:xfrm>
          <a:prstGeom prst="rect">
            <a:avLst/>
          </a:prstGeom>
          <a:noFill/>
        </p:spPr>
        <p:txBody>
          <a:bodyPr wrap="square">
            <a:spAutoFit/>
          </a:bodyPr>
          <a:lstStyle/>
          <a:p>
            <a:pPr algn="l">
              <a:lnSpc>
                <a:spcPct val="100000"/>
              </a:lnSpc>
            </a:pPr>
            <a:r>
              <a:rPr sz="1150" b="1">
                <a:solidFill>
                  <a:srgbClr val="1A1A1A"/>
                </a:solidFill>
                <a:latin typeface="Georgia"/>
              </a:rPr>
              <a:t>Measured on our hardware (V100, fp16, 384x1248)</a:t>
            </a:r>
          </a:p>
        </p:txBody>
      </p:sp>
      <p:sp>
        <p:nvSpPr>
          <p:cNvPr id="15" name="TextBox 14"/>
          <p:cNvSpPr txBox="1"/>
          <p:nvPr/>
        </p:nvSpPr>
        <p:spPr>
          <a:xfrm>
            <a:off x="4892040" y="3931920"/>
            <a:ext cx="1371600" cy="237744"/>
          </a:xfrm>
          <a:prstGeom prst="rect">
            <a:avLst/>
          </a:prstGeom>
          <a:noFill/>
        </p:spPr>
        <p:txBody>
          <a:bodyPr wrap="square">
            <a:spAutoFit/>
          </a:bodyPr>
          <a:lstStyle/>
          <a:p>
            <a:pPr algn="r">
              <a:lnSpc>
                <a:spcPct val="100000"/>
              </a:lnSpc>
            </a:pPr>
            <a:r>
              <a:rPr sz="1150" b="1">
                <a:solidFill>
                  <a:srgbClr val="1A1A1A"/>
                </a:solidFill>
                <a:latin typeface="Georgia"/>
              </a:rPr>
              <a:t/>
            </a:r>
          </a:p>
        </p:txBody>
      </p:sp>
      <p:sp>
        <p:nvSpPr>
          <p:cNvPr id="16" name="Rectangle 15"/>
          <p:cNvSpPr/>
          <p:nvPr/>
        </p:nvSpPr>
        <p:spPr>
          <a:xfrm>
            <a:off x="685800" y="4169663"/>
            <a:ext cx="557784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206240"/>
            <a:ext cx="4206240" cy="237744"/>
          </a:xfrm>
          <a:prstGeom prst="rect">
            <a:avLst/>
          </a:prstGeom>
          <a:noFill/>
        </p:spPr>
        <p:txBody>
          <a:bodyPr wrap="square">
            <a:spAutoFit/>
          </a:bodyPr>
          <a:lstStyle/>
          <a:p>
            <a:pPr algn="l">
              <a:lnSpc>
                <a:spcPct val="100000"/>
              </a:lnSpc>
            </a:pPr>
            <a:r>
              <a:rPr sz="1150" b="0">
                <a:solidFill>
                  <a:srgbClr val="1A1A1A"/>
                </a:solidFill>
                <a:latin typeface="Georgia"/>
              </a:rPr>
              <a:t>Latency, full frame</a:t>
            </a:r>
          </a:p>
        </p:txBody>
      </p:sp>
      <p:sp>
        <p:nvSpPr>
          <p:cNvPr id="18" name="TextBox 17"/>
          <p:cNvSpPr txBox="1"/>
          <p:nvPr/>
        </p:nvSpPr>
        <p:spPr>
          <a:xfrm>
            <a:off x="4892040" y="4206240"/>
            <a:ext cx="1371600" cy="237744"/>
          </a:xfrm>
          <a:prstGeom prst="rect">
            <a:avLst/>
          </a:prstGeom>
          <a:noFill/>
        </p:spPr>
        <p:txBody>
          <a:bodyPr wrap="square">
            <a:spAutoFit/>
          </a:bodyPr>
          <a:lstStyle/>
          <a:p>
            <a:pPr algn="r">
              <a:lnSpc>
                <a:spcPct val="100000"/>
              </a:lnSpc>
            </a:pPr>
            <a:r>
              <a:rPr sz="1150" b="0">
                <a:solidFill>
                  <a:srgbClr val="1A1A1A"/>
                </a:solidFill>
                <a:latin typeface="Georgia"/>
              </a:rPr>
              <a:t>19.6 ms</a:t>
            </a:r>
          </a:p>
        </p:txBody>
      </p:sp>
      <p:sp>
        <p:nvSpPr>
          <p:cNvPr id="19" name="TextBox 18"/>
          <p:cNvSpPr txBox="1"/>
          <p:nvPr/>
        </p:nvSpPr>
        <p:spPr>
          <a:xfrm>
            <a:off x="685800" y="4480559"/>
            <a:ext cx="4206240" cy="237744"/>
          </a:xfrm>
          <a:prstGeom prst="rect">
            <a:avLst/>
          </a:prstGeom>
          <a:noFill/>
        </p:spPr>
        <p:txBody>
          <a:bodyPr wrap="square">
            <a:spAutoFit/>
          </a:bodyPr>
          <a:lstStyle/>
          <a:p>
            <a:pPr algn="l">
              <a:lnSpc>
                <a:spcPct val="100000"/>
              </a:lnSpc>
            </a:pPr>
            <a:r>
              <a:rPr sz="1150" b="0">
                <a:solidFill>
                  <a:srgbClr val="1A1A1A"/>
                </a:solidFill>
                <a:latin typeface="Georgia"/>
              </a:rPr>
              <a:t>Parameters</a:t>
            </a:r>
          </a:p>
        </p:txBody>
      </p:sp>
      <p:sp>
        <p:nvSpPr>
          <p:cNvPr id="20" name="TextBox 19"/>
          <p:cNvSpPr txBox="1"/>
          <p:nvPr/>
        </p:nvSpPr>
        <p:spPr>
          <a:xfrm>
            <a:off x="4892040" y="4480559"/>
            <a:ext cx="1371600" cy="237744"/>
          </a:xfrm>
          <a:prstGeom prst="rect">
            <a:avLst/>
          </a:prstGeom>
          <a:noFill/>
        </p:spPr>
        <p:txBody>
          <a:bodyPr wrap="square">
            <a:spAutoFit/>
          </a:bodyPr>
          <a:lstStyle/>
          <a:p>
            <a:pPr algn="r">
              <a:lnSpc>
                <a:spcPct val="100000"/>
              </a:lnSpc>
            </a:pPr>
            <a:r>
              <a:rPr sz="1150" b="0">
                <a:solidFill>
                  <a:srgbClr val="1A1A1A"/>
                </a:solidFill>
                <a:latin typeface="Georgia"/>
              </a:rPr>
              <a:t>9.03 M</a:t>
            </a:r>
          </a:p>
        </p:txBody>
      </p:sp>
      <p:sp>
        <p:nvSpPr>
          <p:cNvPr id="21" name="TextBox 20"/>
          <p:cNvSpPr txBox="1"/>
          <p:nvPr/>
        </p:nvSpPr>
        <p:spPr>
          <a:xfrm>
            <a:off x="685800" y="4754879"/>
            <a:ext cx="4206240" cy="237744"/>
          </a:xfrm>
          <a:prstGeom prst="rect">
            <a:avLst/>
          </a:prstGeom>
          <a:noFill/>
        </p:spPr>
        <p:txBody>
          <a:bodyPr wrap="square">
            <a:spAutoFit/>
          </a:bodyPr>
          <a:lstStyle/>
          <a:p>
            <a:pPr algn="l">
              <a:lnSpc>
                <a:spcPct val="100000"/>
              </a:lnSpc>
            </a:pPr>
            <a:r>
              <a:rPr sz="1150" b="0">
                <a:solidFill>
                  <a:srgbClr val="1A1A1A"/>
                </a:solidFill>
                <a:latin typeface="Georgia"/>
              </a:rPr>
              <a:t>Mean EPE, VKITTI2 Scene18+20</a:t>
            </a:r>
          </a:p>
        </p:txBody>
      </p:sp>
      <p:sp>
        <p:nvSpPr>
          <p:cNvPr id="22" name="TextBox 21"/>
          <p:cNvSpPr txBox="1"/>
          <p:nvPr/>
        </p:nvSpPr>
        <p:spPr>
          <a:xfrm>
            <a:off x="4892040" y="4754879"/>
            <a:ext cx="1371600" cy="237744"/>
          </a:xfrm>
          <a:prstGeom prst="rect">
            <a:avLst/>
          </a:prstGeom>
          <a:noFill/>
        </p:spPr>
        <p:txBody>
          <a:bodyPr wrap="square">
            <a:spAutoFit/>
          </a:bodyPr>
          <a:lstStyle/>
          <a:p>
            <a:pPr algn="r">
              <a:lnSpc>
                <a:spcPct val="100000"/>
              </a:lnSpc>
            </a:pPr>
            <a:r>
              <a:rPr sz="1150" b="0">
                <a:solidFill>
                  <a:srgbClr val="1A1A1A"/>
                </a:solidFill>
                <a:latin typeface="Georgia"/>
              </a:rPr>
              <a:t>2.324 px</a:t>
            </a:r>
          </a:p>
        </p:txBody>
      </p:sp>
      <p:sp>
        <p:nvSpPr>
          <p:cNvPr id="23" name="TextBox 22"/>
          <p:cNvSpPr txBox="1"/>
          <p:nvPr/>
        </p:nvSpPr>
        <p:spPr>
          <a:xfrm>
            <a:off x="685800" y="5029199"/>
            <a:ext cx="4206240" cy="237744"/>
          </a:xfrm>
          <a:prstGeom prst="rect">
            <a:avLst/>
          </a:prstGeom>
          <a:noFill/>
        </p:spPr>
        <p:txBody>
          <a:bodyPr wrap="square">
            <a:spAutoFit/>
          </a:bodyPr>
          <a:lstStyle/>
          <a:p>
            <a:pPr algn="l">
              <a:lnSpc>
                <a:spcPct val="100000"/>
              </a:lnSpc>
            </a:pPr>
            <a:r>
              <a:rPr sz="1150" b="0">
                <a:solidFill>
                  <a:srgbClr val="1A1A1A"/>
                </a:solidFill>
                <a:latin typeface="Georgia"/>
              </a:rPr>
              <a:t>Pixels within 1 px</a:t>
            </a:r>
          </a:p>
        </p:txBody>
      </p:sp>
      <p:sp>
        <p:nvSpPr>
          <p:cNvPr id="24" name="TextBox 23"/>
          <p:cNvSpPr txBox="1"/>
          <p:nvPr/>
        </p:nvSpPr>
        <p:spPr>
          <a:xfrm>
            <a:off x="4892040" y="5029199"/>
            <a:ext cx="1371600" cy="237744"/>
          </a:xfrm>
          <a:prstGeom prst="rect">
            <a:avLst/>
          </a:prstGeom>
          <a:noFill/>
        </p:spPr>
        <p:txBody>
          <a:bodyPr wrap="square">
            <a:spAutoFit/>
          </a:bodyPr>
          <a:lstStyle/>
          <a:p>
            <a:pPr algn="r">
              <a:lnSpc>
                <a:spcPct val="100000"/>
              </a:lnSpc>
            </a:pPr>
            <a:r>
              <a:rPr sz="1150" b="0">
                <a:solidFill>
                  <a:srgbClr val="1A1A1A"/>
                </a:solidFill>
                <a:latin typeface="Georgia"/>
              </a:rPr>
              <a:t>77.63%</a:t>
            </a:r>
          </a:p>
        </p:txBody>
      </p:sp>
      <p:sp>
        <p:nvSpPr>
          <p:cNvPr id="25" name="Rounded Rectangle 24"/>
          <p:cNvSpPr/>
          <p:nvPr/>
        </p:nvSpPr>
        <p:spPr>
          <a:xfrm>
            <a:off x="6400800" y="3977639"/>
            <a:ext cx="5120640" cy="137160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The structural limit</a:t>
            </a:r>
          </a:p>
          <a:p>
            <a:pPr algn="ctr"/>
            <a:r>
              <a:rPr sz="1150" b="0">
                <a:solidFill>
                  <a:srgbClr val="1A1A1A"/>
                </a:solidFill>
                <a:latin typeface="Georgia"/>
              </a:rPr>
              <a:t/>
            </a:r>
          </a:p>
          <a:p>
            <a:pPr algn="ctr"/>
            <a:r>
              <a:rPr sz="1150" b="0">
                <a:solidFill>
                  <a:srgbClr val="1A1A1A"/>
                </a:solidFill>
                <a:latin typeface="Georgia"/>
              </a:rPr>
              <a:t>Output resolution and cost are fixed at design time.</a:t>
            </a:r>
          </a:p>
          <a:p>
            <a:pPr algn="ctr"/>
            <a:r>
              <a:rPr sz="1150" b="0">
                <a:solidFill>
                  <a:srgbClr val="1A1A1A"/>
                </a:solidFill>
                <a:latin typeface="Georgia"/>
              </a:rPr>
              <a:t>There is no cheap way to ask a smaller question, and no</a:t>
            </a:r>
          </a:p>
          <a:p>
            <a:pPr algn="ctr"/>
            <a:r>
              <a:rPr sz="1150" b="0">
                <a:solidFill>
                  <a:srgbClr val="1A1A1A"/>
                </a:solidFill>
                <a:latin typeface="Georgia"/>
              </a:rPr>
              <a:t>way at all to ask a finer-resolution one.</a:t>
            </a:r>
          </a:p>
        </p:txBody>
      </p:sp>
      <p:sp>
        <p:nvSpPr>
          <p:cNvPr id="26" name="TextBox 2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27" name="TextBox 2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v3 changes: a decoder you query</a:t>
            </a:r>
          </a:p>
        </p:txBody>
      </p:sp>
      <p:sp>
        <p:nvSpPr>
          <p:cNvPr id="4" name="TextBox 3"/>
          <p:cNvSpPr txBox="1"/>
          <p:nvPr/>
        </p:nvSpPr>
        <p:spPr>
          <a:xfrm>
            <a:off x="685800" y="1554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1, once per frame pair (17 ms, all of v2, cached)</a:t>
            </a:r>
          </a:p>
        </p:txBody>
      </p:sp>
      <p:sp>
        <p:nvSpPr>
          <p:cNvPr id="5" name="Rounded Rectangle 4"/>
          <p:cNvSpPr/>
          <p:nvPr/>
        </p:nvSpPr>
        <p:spPr>
          <a:xfrm>
            <a:off x="685800" y="1920240"/>
            <a:ext cx="10835640" cy="5486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frozen v2 backbone  -&gt;  coarse flow + feature maps, held in memory</a:t>
            </a:r>
          </a:p>
        </p:txBody>
      </p:sp>
      <p:sp>
        <p:nvSpPr>
          <p:cNvPr id="6" name="TextBox 5"/>
          <p:cNvSpPr txBox="1"/>
          <p:nvPr/>
        </p:nvSpPr>
        <p:spPr>
          <a:xfrm>
            <a:off x="685800" y="2697480"/>
            <a:ext cx="10881360" cy="365760"/>
          </a:xfrm>
          <a:prstGeom prst="rect">
            <a:avLst/>
          </a:prstGeom>
          <a:noFill/>
        </p:spPr>
        <p:txBody>
          <a:bodyPr wrap="square">
            <a:spAutoFit/>
          </a:bodyPr>
          <a:lstStyle/>
          <a:p>
            <a:pPr algn="l">
              <a:lnSpc>
                <a:spcPct val="100000"/>
              </a:lnSpc>
            </a:pPr>
            <a:r>
              <a:rPr sz="1150" b="1">
                <a:solidFill>
                  <a:srgbClr val="333333"/>
                </a:solidFill>
                <a:latin typeface="Georgia"/>
              </a:rPr>
              <a:t>Phase 2, once per query batch (2.6 ms for up to 2,048 points, O(N))</a:t>
            </a:r>
          </a:p>
        </p:txBody>
      </p:sp>
      <p:sp>
        <p:nvSpPr>
          <p:cNvPr id="7" name="Rounded Rectangle 6"/>
          <p:cNvSpPr/>
          <p:nvPr/>
        </p:nvSpPr>
        <p:spPr>
          <a:xfrm>
            <a:off x="68580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 (x, y)</a:t>
            </a:r>
          </a:p>
          <a:p>
            <a:pPr algn="ctr"/>
            <a:r>
              <a:rPr sz="1050" b="0">
                <a:solidFill>
                  <a:srgbClr val="1A1A1A"/>
                </a:solidFill>
                <a:latin typeface="Georgia"/>
              </a:rPr>
              <a:t/>
            </a:r>
          </a:p>
          <a:p>
            <a:pPr algn="ctr"/>
            <a:r>
              <a:rPr sz="1050" b="0">
                <a:solidFill>
                  <a:srgbClr val="1A1A1A"/>
                </a:solidFill>
                <a:latin typeface="Georgia"/>
              </a:rPr>
              <a:t>any continuous</a:t>
            </a:r>
          </a:p>
          <a:p>
            <a:pPr algn="ctr"/>
            <a:r>
              <a:rPr sz="1050" b="0">
                <a:solidFill>
                  <a:srgbClr val="1A1A1A"/>
                </a:solidFill>
                <a:latin typeface="Georgia"/>
              </a:rPr>
              <a:t>coordinate</a:t>
            </a:r>
          </a:p>
        </p:txBody>
      </p:sp>
      <p:sp>
        <p:nvSpPr>
          <p:cNvPr id="8" name="Rounded Rectangle 7"/>
          <p:cNvSpPr/>
          <p:nvPr/>
        </p:nvSpPr>
        <p:spPr>
          <a:xfrm>
            <a:off x="288036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Sample features</a:t>
            </a:r>
          </a:p>
          <a:p>
            <a:pPr algn="ctr"/>
            <a:r>
              <a:rPr sz="1050" b="0">
                <a:solidFill>
                  <a:srgbClr val="1A1A1A"/>
                </a:solidFill>
                <a:latin typeface="Georgia"/>
              </a:rPr>
              <a:t/>
            </a:r>
          </a:p>
          <a:p>
            <a:pPr algn="ctr"/>
            <a:r>
              <a:rPr sz="1050" b="0">
                <a:solidFill>
                  <a:srgbClr val="1A1A1A"/>
                </a:solidFill>
                <a:latin typeface="Georgia"/>
              </a:rPr>
              <a:t>3x3 windows,</a:t>
            </a:r>
          </a:p>
          <a:p>
            <a:pPr algn="ctr"/>
            <a:r>
              <a:rPr sz="1050" b="0">
                <a:solidFill>
                  <a:srgbClr val="1A1A1A"/>
                </a:solidFill>
                <a:latin typeface="Georgia"/>
              </a:rPr>
              <a:t>4 sources</a:t>
            </a:r>
          </a:p>
        </p:txBody>
      </p:sp>
      <p:sp>
        <p:nvSpPr>
          <p:cNvPr id="9" name="Rounded Rectangle 8"/>
          <p:cNvSpPr/>
          <p:nvPr/>
        </p:nvSpPr>
        <p:spPr>
          <a:xfrm>
            <a:off x="507492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Fuse + head</a:t>
            </a:r>
          </a:p>
          <a:p>
            <a:pPr algn="ctr"/>
            <a:r>
              <a:rPr sz="1050" b="0">
                <a:solidFill>
                  <a:srgbClr val="1A1A1A"/>
                </a:solidFill>
                <a:latin typeface="Georgia"/>
              </a:rPr>
              <a:t/>
            </a:r>
          </a:p>
          <a:p>
            <a:pPr algn="ctr"/>
            <a:r>
              <a:rPr sz="1050" b="0">
                <a:solidFill>
                  <a:srgbClr val="1A1A1A"/>
                </a:solidFill>
                <a:latin typeface="Georgia"/>
              </a:rPr>
              <a:t>gated MLP</a:t>
            </a:r>
          </a:p>
        </p:txBody>
      </p:sp>
      <p:sp>
        <p:nvSpPr>
          <p:cNvPr id="10" name="Rounded Rectangle 9"/>
          <p:cNvSpPr/>
          <p:nvPr/>
        </p:nvSpPr>
        <p:spPr>
          <a:xfrm>
            <a:off x="7269480" y="3063240"/>
            <a:ext cx="1965960" cy="118872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Convex blend</a:t>
            </a:r>
          </a:p>
          <a:p>
            <a:pPr algn="ctr"/>
            <a:r>
              <a:rPr sz="1050" b="0">
                <a:solidFill>
                  <a:srgbClr val="1A1A1A"/>
                </a:solidFill>
                <a:latin typeface="Georgia"/>
              </a:rPr>
              <a:t/>
            </a:r>
          </a:p>
          <a:p>
            <a:pPr algn="ctr"/>
            <a:r>
              <a:rPr sz="1050" b="0">
                <a:solidFill>
                  <a:srgbClr val="1A1A1A"/>
                </a:solidFill>
                <a:latin typeface="Georgia"/>
              </a:rPr>
              <a:t>weights over 9</a:t>
            </a:r>
          </a:p>
          <a:p>
            <a:pPr algn="ctr"/>
            <a:r>
              <a:rPr sz="1050" b="0">
                <a:solidFill>
                  <a:srgbClr val="1A1A1A"/>
                </a:solidFill>
                <a:latin typeface="Georgia"/>
              </a:rPr>
              <a:t>candidates + 1</a:t>
            </a:r>
          </a:p>
        </p:txBody>
      </p:sp>
      <p:sp>
        <p:nvSpPr>
          <p:cNvPr id="11" name="Rounded Rectangle 10"/>
          <p:cNvSpPr/>
          <p:nvPr/>
        </p:nvSpPr>
        <p:spPr>
          <a:xfrm>
            <a:off x="9464040" y="3063240"/>
            <a:ext cx="1965960" cy="1188720"/>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1">
                <a:solidFill>
                  <a:srgbClr val="FFFFFF"/>
                </a:solidFill>
                <a:latin typeface="Georgia"/>
              </a:rPr>
              <a:t>Flow + b</a:t>
            </a:r>
          </a:p>
          <a:p>
            <a:pPr algn="ctr"/>
            <a:r>
              <a:rPr sz="1050" b="1">
                <a:solidFill>
                  <a:srgbClr val="FFFFFF"/>
                </a:solidFill>
                <a:latin typeface="Georgia"/>
              </a:rPr>
              <a:t/>
            </a:r>
          </a:p>
          <a:p>
            <a:pPr algn="ctr"/>
            <a:r>
              <a:rPr sz="1050" b="1">
                <a:solidFill>
                  <a:srgbClr val="FFFFFF"/>
                </a:solidFill>
                <a:latin typeface="Georgia"/>
              </a:rPr>
              <a:t>per-point flow</a:t>
            </a:r>
          </a:p>
          <a:p>
            <a:pPr algn="ctr"/>
            <a:r>
              <a:rPr sz="1050" b="1">
                <a:solidFill>
                  <a:srgbClr val="FFFFFF"/>
                </a:solidFill>
                <a:latin typeface="Georgia"/>
              </a:rPr>
              <a:t>and confidence</a:t>
            </a:r>
          </a:p>
        </p:txBody>
      </p:sp>
      <p:sp>
        <p:nvSpPr>
          <p:cNvPr id="12" name="TextBox 11"/>
          <p:cNvSpPr txBox="1"/>
          <p:nvPr/>
        </p:nvSpPr>
        <p:spPr>
          <a:xfrm>
            <a:off x="267004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3" name="TextBox 12"/>
          <p:cNvSpPr txBox="1"/>
          <p:nvPr/>
        </p:nvSpPr>
        <p:spPr>
          <a:xfrm>
            <a:off x="486460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4" name="TextBox 13"/>
          <p:cNvSpPr txBox="1"/>
          <p:nvPr/>
        </p:nvSpPr>
        <p:spPr>
          <a:xfrm>
            <a:off x="705916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5" name="TextBox 14"/>
          <p:cNvSpPr txBox="1"/>
          <p:nvPr/>
        </p:nvSpPr>
        <p:spPr>
          <a:xfrm>
            <a:off x="9253728" y="3456432"/>
            <a:ext cx="274320" cy="274320"/>
          </a:xfrm>
          <a:prstGeom prst="rect">
            <a:avLst/>
          </a:prstGeom>
          <a:noFill/>
        </p:spPr>
        <p:txBody>
          <a:bodyPr wrap="square">
            <a:spAutoFit/>
          </a:bodyPr>
          <a:lstStyle/>
          <a:p>
            <a:pPr algn="l">
              <a:lnSpc>
                <a:spcPct val="100000"/>
              </a:lnSpc>
            </a:pPr>
            <a:r>
              <a:rPr sz="1500" b="1">
                <a:solidFill>
                  <a:srgbClr val="8A8A8A"/>
                </a:solidFill>
                <a:latin typeface="Georgia"/>
              </a:rPr>
              <a:t>&gt;</a:t>
            </a:r>
          </a:p>
        </p:txBody>
      </p:sp>
      <p:sp>
        <p:nvSpPr>
          <p:cNvPr id="16" name="TextBox 15"/>
          <p:cNvSpPr txBox="1"/>
          <p:nvPr/>
        </p:nvSpPr>
        <p:spPr>
          <a:xfrm>
            <a:off x="685800" y="4572000"/>
            <a:ext cx="10881360" cy="1371600"/>
          </a:xfrm>
          <a:prstGeom prst="rect">
            <a:avLst/>
          </a:prstGeom>
          <a:noFill/>
        </p:spPr>
        <p:txBody>
          <a:bodyPr wrap="square">
            <a:spAutoFit/>
          </a:bodyPr>
          <a:lstStyle/>
          <a:p>
            <a:pPr algn="l">
              <a:lnSpc>
                <a:spcPct val="120000"/>
              </a:lnSpc>
            </a:pPr>
            <a:r>
              <a:rPr sz="1200" b="0">
                <a:solidFill>
                  <a:srgbClr val="1A1A1A"/>
                </a:solidFill>
                <a:latin typeface="Georgia"/>
              </a:rPr>
              <a:t>Three properties follow. Queries are continuous, so (312.7, 188.2) is as valid as (312, 188).</a:t>
            </a:r>
          </a:p>
          <a:p>
            <a:pPr algn="l">
              <a:lnSpc>
                <a:spcPct val="120000"/>
              </a:lnSpc>
            </a:pPr>
            <a:r>
              <a:rPr sz="1200" b="0">
                <a:solidFill>
                  <a:srgbClr val="1A1A1A"/>
                </a:solidFill>
                <a:latin typeface="Georgia"/>
              </a:rPr>
              <a:t>The output is a convex blend of neighbouring coarse-flow values, so it cannot invent motion</a:t>
            </a:r>
          </a:p>
          <a:p>
            <a:pPr algn="l">
              <a:lnSpc>
                <a:spcPct val="120000"/>
              </a:lnSpc>
            </a:pPr>
            <a:r>
              <a:rPr sz="1200" b="0">
                <a:solidFill>
                  <a:srgbClr val="1A1A1A"/>
                </a:solidFill>
                <a:latin typeface="Georgia"/>
              </a:rPr>
              <a:t>that is not locally supported. And the cached state means a second query batch on the same</a:t>
            </a:r>
          </a:p>
          <a:p>
            <a:pPr algn="l">
              <a:lnSpc>
                <a:spcPct val="120000"/>
              </a:lnSpc>
            </a:pPr>
            <a:r>
              <a:rPr sz="1200" b="0">
                <a:solidFill>
                  <a:srgbClr val="1A1A1A"/>
                </a:solidFill>
                <a:latin typeface="Georgia"/>
              </a:rPr>
              <a:t>frame costs 2.6 ms rather than a full recomputation.</a:t>
            </a:r>
          </a:p>
        </p:txBody>
      </p:sp>
      <p:sp>
        <p:nvSpPr>
          <p:cNvPr id="17" name="TextBox 1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8" name="TextBox 1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METHODOLOGY</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 fixed before trusting any of these numbers</a:t>
            </a:r>
          </a:p>
        </p:txBody>
      </p:sp>
      <p:sp>
        <p:nvSpPr>
          <p:cNvPr id="4" name="TextBox 3"/>
          <p:cNvSpPr txBox="1"/>
          <p:nvPr/>
        </p:nvSpPr>
        <p:spPr>
          <a:xfrm>
            <a:off x="685800" y="1508760"/>
            <a:ext cx="10881360" cy="365760"/>
          </a:xfrm>
          <a:prstGeom prst="rect">
            <a:avLst/>
          </a:prstGeom>
          <a:noFill/>
        </p:spPr>
        <p:txBody>
          <a:bodyPr wrap="square">
            <a:spAutoFit/>
          </a:bodyPr>
          <a:lstStyle/>
          <a:p>
            <a:pPr algn="l">
              <a:lnSpc>
                <a:spcPct val="100000"/>
              </a:lnSpc>
            </a:pPr>
            <a:r>
              <a:rPr sz="1200" b="0">
                <a:solidFill>
                  <a:srgbClr val="1A1A1A"/>
                </a:solidFill>
                <a:latin typeface="Georgia"/>
              </a:rPr>
              <a:t>An earlier version of this deck reported better results. Those numbers were wrong. Three defects:</a:t>
            </a:r>
          </a:p>
        </p:txBody>
      </p:sp>
      <p:sp>
        <p:nvSpPr>
          <p:cNvPr id="5" name="TextBox 4"/>
          <p:cNvSpPr txBox="1"/>
          <p:nvPr/>
        </p:nvSpPr>
        <p:spPr>
          <a:xfrm>
            <a:off x="685800" y="2057400"/>
            <a:ext cx="4846320" cy="237744"/>
          </a:xfrm>
          <a:prstGeom prst="rect">
            <a:avLst/>
          </a:prstGeom>
          <a:noFill/>
        </p:spPr>
        <p:txBody>
          <a:bodyPr wrap="square">
            <a:spAutoFit/>
          </a:bodyPr>
          <a:lstStyle/>
          <a:p>
            <a:pPr algn="l">
              <a:lnSpc>
                <a:spcPct val="100000"/>
              </a:lnSpc>
            </a:pPr>
            <a:r>
              <a:rPr sz="1050" b="1">
                <a:solidFill>
                  <a:srgbClr val="1A1A1A"/>
                </a:solidFill>
                <a:latin typeface="Georgia"/>
              </a:rPr>
              <a:t>Defect</a:t>
            </a:r>
          </a:p>
        </p:txBody>
      </p:sp>
      <p:sp>
        <p:nvSpPr>
          <p:cNvPr id="6" name="TextBox 5"/>
          <p:cNvSpPr txBox="1"/>
          <p:nvPr/>
        </p:nvSpPr>
        <p:spPr>
          <a:xfrm>
            <a:off x="5532120" y="2057400"/>
            <a:ext cx="3200400" cy="237744"/>
          </a:xfrm>
          <a:prstGeom prst="rect">
            <a:avLst/>
          </a:prstGeom>
          <a:noFill/>
        </p:spPr>
        <p:txBody>
          <a:bodyPr wrap="square">
            <a:spAutoFit/>
          </a:bodyPr>
          <a:lstStyle/>
          <a:p>
            <a:pPr algn="r">
              <a:lnSpc>
                <a:spcPct val="100000"/>
              </a:lnSpc>
            </a:pPr>
            <a:r>
              <a:rPr sz="1050" b="1">
                <a:solidFill>
                  <a:srgbClr val="1A1A1A"/>
                </a:solidFill>
                <a:latin typeface="Georgia"/>
              </a:rPr>
              <a:t>Effect</a:t>
            </a:r>
          </a:p>
        </p:txBody>
      </p:sp>
      <p:sp>
        <p:nvSpPr>
          <p:cNvPr id="7" name="TextBox 6"/>
          <p:cNvSpPr txBox="1"/>
          <p:nvPr/>
        </p:nvSpPr>
        <p:spPr>
          <a:xfrm>
            <a:off x="8732520" y="2057400"/>
            <a:ext cx="2834640" cy="237744"/>
          </a:xfrm>
          <a:prstGeom prst="rect">
            <a:avLst/>
          </a:prstGeom>
          <a:noFill/>
        </p:spPr>
        <p:txBody>
          <a:bodyPr wrap="square">
            <a:spAutoFit/>
          </a:bodyPr>
          <a:lstStyle/>
          <a:p>
            <a:pPr algn="r">
              <a:lnSpc>
                <a:spcPct val="100000"/>
              </a:lnSpc>
            </a:pPr>
            <a:r>
              <a:rPr sz="1050" b="1">
                <a:solidFill>
                  <a:srgbClr val="1A1A1A"/>
                </a:solidFill>
                <a:latin typeface="Georgia"/>
              </a:rPr>
              <a:t>Fix</a:t>
            </a:r>
          </a:p>
        </p:txBody>
      </p:sp>
      <p:sp>
        <p:nvSpPr>
          <p:cNvPr id="8" name="Rectangle 7"/>
          <p:cNvSpPr/>
          <p:nvPr/>
        </p:nvSpPr>
        <p:spPr>
          <a:xfrm>
            <a:off x="685800" y="229514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331720"/>
            <a:ext cx="4846320" cy="237744"/>
          </a:xfrm>
          <a:prstGeom prst="rect">
            <a:avLst/>
          </a:prstGeom>
          <a:noFill/>
        </p:spPr>
        <p:txBody>
          <a:bodyPr wrap="square">
            <a:spAutoFit/>
          </a:bodyPr>
          <a:lstStyle/>
          <a:p>
            <a:pPr algn="l">
              <a:lnSpc>
                <a:spcPct val="100000"/>
              </a:lnSpc>
            </a:pPr>
            <a:r>
              <a:rPr sz="1050" b="0">
                <a:solidFill>
                  <a:srgbClr val="1A1A1A"/>
                </a:solidFill>
                <a:latin typeface="Georgia"/>
              </a:rPr>
              <a:t>Train/test leak: VKITTI2 Scene18 and 20</a:t>
            </a:r>
          </a:p>
        </p:txBody>
      </p:sp>
      <p:sp>
        <p:nvSpPr>
          <p:cNvPr id="10" name="TextBox 9"/>
          <p:cNvSpPr txBox="1"/>
          <p:nvPr/>
        </p:nvSpPr>
        <p:spPr>
          <a:xfrm>
            <a:off x="5532120" y="2331720"/>
            <a:ext cx="3200400" cy="237744"/>
          </a:xfrm>
          <a:prstGeom prst="rect">
            <a:avLst/>
          </a:prstGeom>
          <a:noFill/>
        </p:spPr>
        <p:txBody>
          <a:bodyPr wrap="square">
            <a:spAutoFit/>
          </a:bodyPr>
          <a:lstStyle/>
          <a:p>
            <a:pPr algn="r">
              <a:lnSpc>
                <a:spcPct val="100000"/>
              </a:lnSpc>
            </a:pPr>
            <a:r>
              <a:rPr sz="1050" b="0">
                <a:solidFill>
                  <a:srgbClr val="1A1A1A"/>
                </a:solidFill>
                <a:latin typeface="Georgia"/>
              </a:rPr>
              <a:t>models trained on the</a:t>
            </a:r>
          </a:p>
        </p:txBody>
      </p:sp>
      <p:sp>
        <p:nvSpPr>
          <p:cNvPr id="11" name="TextBox 10"/>
          <p:cNvSpPr txBox="1"/>
          <p:nvPr/>
        </p:nvSpPr>
        <p:spPr>
          <a:xfrm>
            <a:off x="8732520" y="2331720"/>
            <a:ext cx="2834640" cy="237744"/>
          </a:xfrm>
          <a:prstGeom prst="rect">
            <a:avLst/>
          </a:prstGeom>
          <a:noFill/>
        </p:spPr>
        <p:txBody>
          <a:bodyPr wrap="square">
            <a:spAutoFit/>
          </a:bodyPr>
          <a:lstStyle/>
          <a:p>
            <a:pPr algn="r">
              <a:lnSpc>
                <a:spcPct val="100000"/>
              </a:lnSpc>
            </a:pPr>
            <a:r>
              <a:rPr sz="1050" b="0">
                <a:solidFill>
                  <a:srgbClr val="1A1A1A"/>
                </a:solidFill>
                <a:latin typeface="Georgia"/>
              </a:rPr>
              <a:t>val scenes excluded;</a:t>
            </a:r>
          </a:p>
        </p:txBody>
      </p:sp>
      <p:sp>
        <p:nvSpPr>
          <p:cNvPr id="12" name="TextBox 11"/>
          <p:cNvSpPr txBox="1"/>
          <p:nvPr/>
        </p:nvSpPr>
        <p:spPr>
          <a:xfrm>
            <a:off x="685800" y="2606039"/>
            <a:ext cx="4846320" cy="237744"/>
          </a:xfrm>
          <a:prstGeom prst="rect">
            <a:avLst/>
          </a:prstGeom>
          <a:noFill/>
        </p:spPr>
        <p:txBody>
          <a:bodyPr wrap="square">
            <a:spAutoFit/>
          </a:bodyPr>
          <a:lstStyle/>
          <a:p>
            <a:pPr algn="l">
              <a:lnSpc>
                <a:spcPct val="100000"/>
              </a:lnSpc>
            </a:pPr>
            <a:r>
              <a:rPr sz="1050" b="0">
                <a:solidFill>
                  <a:srgbClr val="1A1A1A"/>
                </a:solidFill>
                <a:latin typeface="Georgia"/>
              </a:rPr>
              <a:t>were in both training and evaluation</a:t>
            </a:r>
          </a:p>
        </p:txBody>
      </p:sp>
      <p:sp>
        <p:nvSpPr>
          <p:cNvPr id="13" name="TextBox 12"/>
          <p:cNvSpPr txBox="1"/>
          <p:nvPr/>
        </p:nvSpPr>
        <p:spPr>
          <a:xfrm>
            <a:off x="5532120" y="2606039"/>
            <a:ext cx="3200400" cy="237744"/>
          </a:xfrm>
          <a:prstGeom prst="rect">
            <a:avLst/>
          </a:prstGeom>
          <a:noFill/>
        </p:spPr>
        <p:txBody>
          <a:bodyPr wrap="square">
            <a:spAutoFit/>
          </a:bodyPr>
          <a:lstStyle/>
          <a:p>
            <a:pPr algn="r">
              <a:lnSpc>
                <a:spcPct val="100000"/>
              </a:lnSpc>
            </a:pPr>
            <a:r>
              <a:rPr sz="1050" b="0">
                <a:solidFill>
                  <a:srgbClr val="1A1A1A"/>
                </a:solidFill>
                <a:latin typeface="Georgia"/>
              </a:rPr>
              <a:t>frames they were scored on</a:t>
            </a:r>
          </a:p>
        </p:txBody>
      </p:sp>
      <p:sp>
        <p:nvSpPr>
          <p:cNvPr id="14" name="TextBox 13"/>
          <p:cNvSpPr txBox="1"/>
          <p:nvPr/>
        </p:nvSpPr>
        <p:spPr>
          <a:xfrm>
            <a:off x="8732520" y="2606039"/>
            <a:ext cx="2834640" cy="237744"/>
          </a:xfrm>
          <a:prstGeom prst="rect">
            <a:avLst/>
          </a:prstGeom>
          <a:noFill/>
        </p:spPr>
        <p:txBody>
          <a:bodyPr wrap="square">
            <a:spAutoFit/>
          </a:bodyPr>
          <a:lstStyle/>
          <a:p>
            <a:pPr algn="r">
              <a:lnSpc>
                <a:spcPct val="100000"/>
              </a:lnSpc>
            </a:pPr>
            <a:r>
              <a:rPr sz="1050" b="0">
                <a:solidFill>
                  <a:srgbClr val="1A1A1A"/>
                </a:solidFill>
                <a:latin typeface="Georgia"/>
              </a:rPr>
              <a:t>checked at pair and frame level</a:t>
            </a:r>
          </a:p>
        </p:txBody>
      </p:sp>
      <p:sp>
        <p:nvSpPr>
          <p:cNvPr id="15" name="TextBox 14"/>
          <p:cNvSpPr txBox="1"/>
          <p:nvPr/>
        </p:nvSpPr>
        <p:spPr>
          <a:xfrm>
            <a:off x="685800" y="288035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16" name="TextBox 15"/>
          <p:cNvSpPr txBox="1"/>
          <p:nvPr/>
        </p:nvSpPr>
        <p:spPr>
          <a:xfrm>
            <a:off x="5532120" y="288035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7" name="TextBox 16"/>
          <p:cNvSpPr txBox="1"/>
          <p:nvPr/>
        </p:nvSpPr>
        <p:spPr>
          <a:xfrm>
            <a:off x="8732520" y="288035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18" name="TextBox 17"/>
          <p:cNvSpPr txBox="1"/>
          <p:nvPr/>
        </p:nvSpPr>
        <p:spPr>
          <a:xfrm>
            <a:off x="685800" y="3154679"/>
            <a:ext cx="4846320" cy="237744"/>
          </a:xfrm>
          <a:prstGeom prst="rect">
            <a:avLst/>
          </a:prstGeom>
          <a:noFill/>
        </p:spPr>
        <p:txBody>
          <a:bodyPr wrap="square">
            <a:spAutoFit/>
          </a:bodyPr>
          <a:lstStyle/>
          <a:p>
            <a:pPr algn="l">
              <a:lnSpc>
                <a:spcPct val="100000"/>
              </a:lnSpc>
            </a:pPr>
            <a:r>
              <a:rPr sz="1050" b="0">
                <a:solidFill>
                  <a:srgbClr val="1A1A1A"/>
                </a:solidFill>
                <a:latin typeface="Georgia"/>
              </a:rPr>
              <a:t>BatchNorm updated running statistics</a:t>
            </a:r>
          </a:p>
        </p:txBody>
      </p:sp>
      <p:sp>
        <p:nvSpPr>
          <p:cNvPr id="19" name="TextBox 18"/>
          <p:cNvSpPr txBox="1"/>
          <p:nvPr/>
        </p:nvSpPr>
        <p:spPr>
          <a:xfrm>
            <a:off x="5532120" y="3154679"/>
            <a:ext cx="3200400" cy="237744"/>
          </a:xfrm>
          <a:prstGeom prst="rect">
            <a:avLst/>
          </a:prstGeom>
          <a:noFill/>
        </p:spPr>
        <p:txBody>
          <a:bodyPr wrap="square">
            <a:spAutoFit/>
          </a:bodyPr>
          <a:lstStyle/>
          <a:p>
            <a:pPr algn="r">
              <a:lnSpc>
                <a:spcPct val="100000"/>
              </a:lnSpc>
            </a:pPr>
            <a:r>
              <a:rPr sz="1050" b="0">
                <a:solidFill>
                  <a:srgbClr val="1A1A1A"/>
                </a:solidFill>
                <a:latin typeface="Georgia"/>
              </a:rPr>
              <a:t>the "frozen" backbone drifted</a:t>
            </a:r>
          </a:p>
        </p:txBody>
      </p:sp>
      <p:sp>
        <p:nvSpPr>
          <p:cNvPr id="20" name="TextBox 19"/>
          <p:cNvSpPr txBox="1"/>
          <p:nvPr/>
        </p:nvSpPr>
        <p:spPr>
          <a:xfrm>
            <a:off x="8732520" y="3154679"/>
            <a:ext cx="2834640" cy="237744"/>
          </a:xfrm>
          <a:prstGeom prst="rect">
            <a:avLst/>
          </a:prstGeom>
          <a:noFill/>
        </p:spPr>
        <p:txBody>
          <a:bodyPr wrap="square">
            <a:spAutoFit/>
          </a:bodyPr>
          <a:lstStyle/>
          <a:p>
            <a:pPr algn="r">
              <a:lnSpc>
                <a:spcPct val="100000"/>
              </a:lnSpc>
            </a:pPr>
            <a:r>
              <a:rPr sz="1050" b="0">
                <a:solidFill>
                  <a:srgbClr val="1A1A1A"/>
                </a:solidFill>
                <a:latin typeface="Georgia"/>
              </a:rPr>
              <a:t>BN held in eval mode;</a:t>
            </a:r>
          </a:p>
        </p:txBody>
      </p:sp>
      <p:sp>
        <p:nvSpPr>
          <p:cNvPr id="21" name="TextBox 20"/>
          <p:cNvSpPr txBox="1"/>
          <p:nvPr/>
        </p:nvSpPr>
        <p:spPr>
          <a:xfrm>
            <a:off x="685800" y="3428999"/>
            <a:ext cx="4846320" cy="237744"/>
          </a:xfrm>
          <a:prstGeom prst="rect">
            <a:avLst/>
          </a:prstGeom>
          <a:noFill/>
        </p:spPr>
        <p:txBody>
          <a:bodyPr wrap="square">
            <a:spAutoFit/>
          </a:bodyPr>
          <a:lstStyle/>
          <a:p>
            <a:pPr algn="l">
              <a:lnSpc>
                <a:spcPct val="100000"/>
              </a:lnSpc>
            </a:pPr>
            <a:r>
              <a:rPr sz="1050" b="0">
                <a:solidFill>
                  <a:srgbClr val="1A1A1A"/>
                </a:solidFill>
                <a:latin typeface="Georgia"/>
              </a:rPr>
              <a:t>in train mode despite requires_grad=False</a:t>
            </a:r>
          </a:p>
        </p:txBody>
      </p:sp>
      <p:sp>
        <p:nvSpPr>
          <p:cNvPr id="22" name="TextBox 21"/>
          <p:cNvSpPr txBox="1"/>
          <p:nvPr/>
        </p:nvSpPr>
        <p:spPr>
          <a:xfrm>
            <a:off x="5532120" y="3428999"/>
            <a:ext cx="3200400" cy="237744"/>
          </a:xfrm>
          <a:prstGeom prst="rect">
            <a:avLst/>
          </a:prstGeom>
          <a:noFill/>
        </p:spPr>
        <p:txBody>
          <a:bodyPr wrap="square">
            <a:spAutoFit/>
          </a:bodyPr>
          <a:lstStyle/>
          <a:p>
            <a:pPr algn="r">
              <a:lnSpc>
                <a:spcPct val="100000"/>
              </a:lnSpc>
            </a:pPr>
            <a:r>
              <a:rPr sz="1050" b="0">
                <a:solidFill>
                  <a:srgbClr val="1A1A1A"/>
                </a:solidFill>
                <a:latin typeface="Georgia"/>
              </a:rPr>
              <a:t>0.35 px, 7x the effect studied</a:t>
            </a:r>
          </a:p>
        </p:txBody>
      </p:sp>
      <p:sp>
        <p:nvSpPr>
          <p:cNvPr id="23" name="TextBox 22"/>
          <p:cNvSpPr txBox="1"/>
          <p:nvPr/>
        </p:nvSpPr>
        <p:spPr>
          <a:xfrm>
            <a:off x="8732520" y="3428999"/>
            <a:ext cx="2834640" cy="237744"/>
          </a:xfrm>
          <a:prstGeom prst="rect">
            <a:avLst/>
          </a:prstGeom>
          <a:noFill/>
        </p:spPr>
        <p:txBody>
          <a:bodyPr wrap="square">
            <a:spAutoFit/>
          </a:bodyPr>
          <a:lstStyle/>
          <a:p>
            <a:pPr algn="r">
              <a:lnSpc>
                <a:spcPct val="100000"/>
              </a:lnSpc>
            </a:pPr>
            <a:r>
              <a:rPr sz="1050" b="0">
                <a:solidFill>
                  <a:srgbClr val="1A1A1A"/>
                </a:solidFill>
                <a:latin typeface="Georgia"/>
              </a:rPr>
              <a:t>verified drift is exactly 0</a:t>
            </a:r>
          </a:p>
        </p:txBody>
      </p:sp>
      <p:sp>
        <p:nvSpPr>
          <p:cNvPr id="24" name="TextBox 23"/>
          <p:cNvSpPr txBox="1"/>
          <p:nvPr/>
        </p:nvSpPr>
        <p:spPr>
          <a:xfrm>
            <a:off x="685800" y="3703319"/>
            <a:ext cx="4846320" cy="237744"/>
          </a:xfrm>
          <a:prstGeom prst="rect">
            <a:avLst/>
          </a:prstGeom>
          <a:noFill/>
        </p:spPr>
        <p:txBody>
          <a:bodyPr wrap="square">
            <a:spAutoFit/>
          </a:bodyPr>
          <a:lstStyle/>
          <a:p>
            <a:pPr algn="l">
              <a:lnSpc>
                <a:spcPct val="100000"/>
              </a:lnSpc>
            </a:pPr>
            <a:r>
              <a:rPr sz="1050" b="0">
                <a:solidFill>
                  <a:srgbClr val="1A1A1A"/>
                </a:solidFill>
                <a:latin typeface="Georgia"/>
              </a:rPr>
              <a:t/>
            </a:r>
          </a:p>
        </p:txBody>
      </p:sp>
      <p:sp>
        <p:nvSpPr>
          <p:cNvPr id="25" name="TextBox 24"/>
          <p:cNvSpPr txBox="1"/>
          <p:nvPr/>
        </p:nvSpPr>
        <p:spPr>
          <a:xfrm>
            <a:off x="5532120" y="3703319"/>
            <a:ext cx="320040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6" name="TextBox 25"/>
          <p:cNvSpPr txBox="1"/>
          <p:nvPr/>
        </p:nvSpPr>
        <p:spPr>
          <a:xfrm>
            <a:off x="8732520" y="3703319"/>
            <a:ext cx="2834640" cy="237744"/>
          </a:xfrm>
          <a:prstGeom prst="rect">
            <a:avLst/>
          </a:prstGeom>
          <a:noFill/>
        </p:spPr>
        <p:txBody>
          <a:bodyPr wrap="square">
            <a:spAutoFit/>
          </a:bodyPr>
          <a:lstStyle/>
          <a:p>
            <a:pPr algn="r">
              <a:lnSpc>
                <a:spcPct val="100000"/>
              </a:lnSpc>
            </a:pPr>
            <a:r>
              <a:rPr sz="1050" b="0">
                <a:solidFill>
                  <a:srgbClr val="1A1A1A"/>
                </a:solidFill>
                <a:latin typeface="Georgia"/>
              </a:rPr>
              <a:t/>
            </a:r>
          </a:p>
        </p:txBody>
      </p:sp>
      <p:sp>
        <p:nvSpPr>
          <p:cNvPr id="27" name="TextBox 26"/>
          <p:cNvSpPr txBox="1"/>
          <p:nvPr/>
        </p:nvSpPr>
        <p:spPr>
          <a:xfrm>
            <a:off x="685800" y="3977639"/>
            <a:ext cx="4846320" cy="237744"/>
          </a:xfrm>
          <a:prstGeom prst="rect">
            <a:avLst/>
          </a:prstGeom>
          <a:noFill/>
        </p:spPr>
        <p:txBody>
          <a:bodyPr wrap="square">
            <a:spAutoFit/>
          </a:bodyPr>
          <a:lstStyle/>
          <a:p>
            <a:pPr algn="l">
              <a:lnSpc>
                <a:spcPct val="100000"/>
              </a:lnSpc>
            </a:pPr>
            <a:r>
              <a:rPr sz="1050" b="0">
                <a:solidFill>
                  <a:srgbClr val="1A1A1A"/>
                </a:solidFill>
                <a:latin typeface="Georgia"/>
              </a:rPr>
              <a:t>Runs differed in three variables at once</a:t>
            </a:r>
          </a:p>
        </p:txBody>
      </p:sp>
      <p:sp>
        <p:nvSpPr>
          <p:cNvPr id="28" name="TextBox 27"/>
          <p:cNvSpPr txBox="1"/>
          <p:nvPr/>
        </p:nvSpPr>
        <p:spPr>
          <a:xfrm>
            <a:off x="5532120" y="3977639"/>
            <a:ext cx="3200400" cy="237744"/>
          </a:xfrm>
          <a:prstGeom prst="rect">
            <a:avLst/>
          </a:prstGeom>
          <a:noFill/>
        </p:spPr>
        <p:txBody>
          <a:bodyPr wrap="square">
            <a:spAutoFit/>
          </a:bodyPr>
          <a:lstStyle/>
          <a:p>
            <a:pPr algn="r">
              <a:lnSpc>
                <a:spcPct val="100000"/>
              </a:lnSpc>
            </a:pPr>
            <a:r>
              <a:rPr sz="1050" b="0">
                <a:solidFill>
                  <a:srgbClr val="1A1A1A"/>
                </a:solidFill>
                <a:latin typeface="Georgia"/>
              </a:rPr>
              <a:t>no comparison between them</a:t>
            </a:r>
          </a:p>
        </p:txBody>
      </p:sp>
      <p:sp>
        <p:nvSpPr>
          <p:cNvPr id="29" name="TextBox 28"/>
          <p:cNvSpPr txBox="1"/>
          <p:nvPr/>
        </p:nvSpPr>
        <p:spPr>
          <a:xfrm>
            <a:off x="8732520" y="3977639"/>
            <a:ext cx="2834640" cy="237744"/>
          </a:xfrm>
          <a:prstGeom prst="rect">
            <a:avLst/>
          </a:prstGeom>
          <a:noFill/>
        </p:spPr>
        <p:txBody>
          <a:bodyPr wrap="square">
            <a:spAutoFit/>
          </a:bodyPr>
          <a:lstStyle/>
          <a:p>
            <a:pPr algn="r">
              <a:lnSpc>
                <a:spcPct val="100000"/>
              </a:lnSpc>
            </a:pPr>
            <a:r>
              <a:rPr sz="1050" b="0">
                <a:solidFill>
                  <a:srgbClr val="1A1A1A"/>
                </a:solidFill>
                <a:latin typeface="Georgia"/>
              </a:rPr>
              <a:t>all runs generated from one</a:t>
            </a:r>
          </a:p>
        </p:txBody>
      </p:sp>
      <p:sp>
        <p:nvSpPr>
          <p:cNvPr id="30" name="TextBox 29"/>
          <p:cNvSpPr txBox="1"/>
          <p:nvPr/>
        </p:nvSpPr>
        <p:spPr>
          <a:xfrm>
            <a:off x="685800" y="4251959"/>
            <a:ext cx="4846320" cy="237744"/>
          </a:xfrm>
          <a:prstGeom prst="rect">
            <a:avLst/>
          </a:prstGeom>
          <a:noFill/>
        </p:spPr>
        <p:txBody>
          <a:bodyPr wrap="square">
            <a:spAutoFit/>
          </a:bodyPr>
          <a:lstStyle/>
          <a:p>
            <a:pPr algn="l">
              <a:lnSpc>
                <a:spcPct val="100000"/>
              </a:lnSpc>
            </a:pPr>
            <a:r>
              <a:rPr sz="1050" b="0">
                <a:solidFill>
                  <a:srgbClr val="1A1A1A"/>
                </a:solidFill>
                <a:latin typeface="Georgia"/>
              </a:rPr>
              <a:t>(data, batch size, refinement schedule)</a:t>
            </a:r>
          </a:p>
        </p:txBody>
      </p:sp>
      <p:sp>
        <p:nvSpPr>
          <p:cNvPr id="31" name="TextBox 30"/>
          <p:cNvSpPr txBox="1"/>
          <p:nvPr/>
        </p:nvSpPr>
        <p:spPr>
          <a:xfrm>
            <a:off x="5532120" y="4251959"/>
            <a:ext cx="3200400" cy="237744"/>
          </a:xfrm>
          <a:prstGeom prst="rect">
            <a:avLst/>
          </a:prstGeom>
          <a:noFill/>
        </p:spPr>
        <p:txBody>
          <a:bodyPr wrap="square">
            <a:spAutoFit/>
          </a:bodyPr>
          <a:lstStyle/>
          <a:p>
            <a:pPr algn="r">
              <a:lnSpc>
                <a:spcPct val="100000"/>
              </a:lnSpc>
            </a:pPr>
            <a:r>
              <a:rPr sz="1050" b="0">
                <a:solidFill>
                  <a:srgbClr val="1A1A1A"/>
                </a:solidFill>
                <a:latin typeface="Georgia"/>
              </a:rPr>
              <a:t>was valid</a:t>
            </a:r>
          </a:p>
        </p:txBody>
      </p:sp>
      <p:sp>
        <p:nvSpPr>
          <p:cNvPr id="32" name="TextBox 31"/>
          <p:cNvSpPr txBox="1"/>
          <p:nvPr/>
        </p:nvSpPr>
        <p:spPr>
          <a:xfrm>
            <a:off x="8732520" y="4251959"/>
            <a:ext cx="2834640" cy="237744"/>
          </a:xfrm>
          <a:prstGeom prst="rect">
            <a:avLst/>
          </a:prstGeom>
          <a:noFill/>
        </p:spPr>
        <p:txBody>
          <a:bodyPr wrap="square">
            <a:spAutoFit/>
          </a:bodyPr>
          <a:lstStyle/>
          <a:p>
            <a:pPr algn="r">
              <a:lnSpc>
                <a:spcPct val="100000"/>
              </a:lnSpc>
            </a:pPr>
            <a:r>
              <a:rPr sz="1050" b="0">
                <a:solidFill>
                  <a:srgbClr val="1A1A1A"/>
                </a:solidFill>
                <a:latin typeface="Georgia"/>
              </a:rPr>
              <a:t>template; one variable each</a:t>
            </a:r>
          </a:p>
        </p:txBody>
      </p:sp>
      <p:sp>
        <p:nvSpPr>
          <p:cNvPr id="33" name="Rounded Rectangle 32"/>
          <p:cNvSpPr/>
          <p:nvPr/>
        </p:nvSpPr>
        <p:spPr>
          <a:xfrm>
            <a:off x="685800" y="4892040"/>
            <a:ext cx="1083564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0">
                <a:solidFill>
                  <a:srgbClr val="1A1A1A"/>
                </a:solidFill>
                <a:latin typeface="Georgia"/>
              </a:rPr>
              <a:t>Everything from here on: 1,174 held-out pairs, 460M pixels, per-pixel metrics, seed 1234, identical hyperparameters.</a:t>
            </a:r>
          </a:p>
          <a:p>
            <a:pPr algn="ctr"/>
            <a:r>
              <a:rPr sz="1150" b="0">
                <a:solidFill>
                  <a:srgbClr val="1A1A1A"/>
                </a:solidFill>
                <a:latin typeface="Georgia"/>
              </a:rPr>
              <a:t>A 9-check pre-flight suite (scripts/verify_pipeline.py) passes on CPU and GPU before any training run starts.</a:t>
            </a:r>
          </a:p>
        </p:txBody>
      </p:sp>
      <p:sp>
        <p:nvSpPr>
          <p:cNvPr id="34" name="TextBox 3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5" name="TextBox 3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Accuracy: the fair comparison is a tie</a:t>
            </a:r>
          </a:p>
        </p:txBody>
      </p:sp>
      <p:pic>
        <p:nvPicPr>
          <p:cNvPr id="4" name="Picture 3" descr="accuracy_bars.png"/>
          <p:cNvPicPr>
            <a:picLocks noChangeAspect="1"/>
          </p:cNvPicPr>
          <p:nvPr/>
        </p:nvPicPr>
        <p:blipFill>
          <a:blip r:embed="rId2"/>
          <a:stretch>
            <a:fillRect/>
          </a:stretch>
        </p:blipFill>
        <p:spPr>
          <a:xfrm>
            <a:off x="731520" y="1463040"/>
            <a:ext cx="6675120" cy="3675066"/>
          </a:xfrm>
          <a:prstGeom prst="rect">
            <a:avLst/>
          </a:prstGeom>
        </p:spPr>
      </p:pic>
      <p:sp>
        <p:nvSpPr>
          <p:cNvPr id="5" name="TextBox 4"/>
          <p:cNvSpPr txBox="1"/>
          <p:nvPr/>
        </p:nvSpPr>
        <p:spPr>
          <a:xfrm>
            <a:off x="7680960" y="1600200"/>
            <a:ext cx="3931920" cy="3291840"/>
          </a:xfrm>
          <a:prstGeom prst="rect">
            <a:avLst/>
          </a:prstGeom>
          <a:noFill/>
        </p:spPr>
        <p:txBody>
          <a:bodyPr wrap="square">
            <a:spAutoFit/>
          </a:bodyPr>
          <a:lstStyle/>
          <a:p>
            <a:pPr algn="l">
              <a:lnSpc>
                <a:spcPct val="118000"/>
              </a:lnSpc>
            </a:pPr>
            <a:r>
              <a:rPr sz="1150" b="0">
                <a:solidFill>
                  <a:srgbClr val="1A1A1A"/>
                </a:solidFill>
                <a:latin typeface="Georgia"/>
              </a:rPr>
              <a:t>Only the FlyingChairs run is a like-for-like</a:t>
            </a:r>
          </a:p>
          <a:p>
            <a:pPr algn="l">
              <a:lnSpc>
                <a:spcPct val="118000"/>
              </a:lnSpc>
            </a:pPr>
            <a:r>
              <a:rPr sz="1150" b="0">
                <a:solidFill>
                  <a:srgbClr val="1A1A1A"/>
                </a:solidFill>
                <a:latin typeface="Georgia"/>
              </a:rPr>
              <a:t>comparison with v2: it never saw driving</a:t>
            </a:r>
          </a:p>
          <a:p>
            <a:pPr algn="l">
              <a:lnSpc>
                <a:spcPct val="118000"/>
              </a:lnSpc>
            </a:pPr>
            <a:r>
              <a:rPr sz="1150" b="0">
                <a:solidFill>
                  <a:srgbClr val="1A1A1A"/>
                </a:solidFill>
                <a:latin typeface="Georgia"/>
              </a:rPr>
              <a:t>imagery, exactly as v2 never did.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It scores 2.286 against v2 at 2.324.</a:t>
            </a:r>
          </a:p>
          <a:p>
            <a:pPr algn="l">
              <a:lnSpc>
                <a:spcPct val="118000"/>
              </a:lnSpc>
            </a:pPr>
            <a:r>
              <a:rPr sz="1150" b="0">
                <a:solidFill>
                  <a:srgbClr val="1A1A1A"/>
                </a:solidFill>
                <a:latin typeface="Georgia"/>
              </a:rPr>
              <a:t>A 1.6% difference is a tie, not a win.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other three train on VKITTI2 imagery</a:t>
            </a:r>
          </a:p>
          <a:p>
            <a:pPr algn="l">
              <a:lnSpc>
                <a:spcPct val="118000"/>
              </a:lnSpc>
            </a:pPr>
            <a:r>
              <a:rPr sz="1150" b="0">
                <a:solidFill>
                  <a:srgbClr val="1A1A1A"/>
                </a:solidFill>
                <a:latin typeface="Georgia"/>
              </a:rPr>
              <a:t>from the same simulator and camera as the</a:t>
            </a:r>
          </a:p>
          <a:p>
            <a:pPr algn="l">
              <a:lnSpc>
                <a:spcPct val="118000"/>
              </a:lnSpc>
            </a:pPr>
            <a:r>
              <a:rPr sz="1150" b="0">
                <a:solidFill>
                  <a:srgbClr val="1A1A1A"/>
                </a:solidFill>
                <a:latin typeface="Georgia"/>
              </a:rPr>
              <a:t>test scenes. Their better numbers measure</a:t>
            </a:r>
          </a:p>
          <a:p>
            <a:pPr algn="l">
              <a:lnSpc>
                <a:spcPct val="118000"/>
              </a:lnSpc>
            </a:pPr>
            <a:r>
              <a:rPr sz="1150" b="0">
                <a:solidFill>
                  <a:srgbClr val="1A1A1A"/>
                </a:solidFill>
                <a:latin typeface="Georgia"/>
              </a:rPr>
              <a:t>domain advantage, not a better method,</a:t>
            </a:r>
          </a:p>
          <a:p>
            <a:pPr algn="l">
              <a:lnSpc>
                <a:spcPct val="118000"/>
              </a:lnSpc>
            </a:pPr>
            <a:r>
              <a:rPr sz="1150" b="0">
                <a:solidFill>
                  <a:srgbClr val="1A1A1A"/>
                </a:solidFill>
                <a:latin typeface="Georgia"/>
              </a:rPr>
              <a:t>and I do not present them as beating v2.</a:t>
            </a:r>
          </a:p>
        </p:txBody>
      </p:sp>
      <p:sp>
        <p:nvSpPr>
          <p:cNvPr id="6" name="Rounded Rectangle 5"/>
          <p:cNvSpPr/>
          <p:nvPr/>
        </p:nvSpPr>
        <p:spPr>
          <a:xfrm>
            <a:off x="7680960" y="4983480"/>
            <a:ext cx="3931920" cy="86868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Best overall: 2.104 px</a:t>
            </a:r>
          </a:p>
          <a:p>
            <a:pPr algn="ctr"/>
            <a:r>
              <a:rPr sz="1050" b="0">
                <a:solidFill>
                  <a:srgbClr val="1A1A1A"/>
                </a:solidFill>
                <a:latin typeface="Georgia"/>
              </a:rPr>
              <a:t>with uncertainty head,</a:t>
            </a:r>
          </a:p>
          <a:p>
            <a:pPr algn="ctr"/>
            <a:r>
              <a:rPr sz="1050" b="0">
                <a:solidFill>
                  <a:srgbClr val="1A1A1A"/>
                </a:solidFill>
                <a:latin typeface="Georgia"/>
              </a:rPr>
              <a:t>trained on FlyingChairs + VKITTI2 + Sintel</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The cost: sub-pixel precision, unresolved</a:t>
            </a:r>
          </a:p>
        </p:txBody>
      </p:sp>
      <p:pic>
        <p:nvPicPr>
          <p:cNvPr id="4" name="Picture 3" descr="precision_bars.png"/>
          <p:cNvPicPr>
            <a:picLocks noChangeAspect="1"/>
          </p:cNvPicPr>
          <p:nvPr/>
        </p:nvPicPr>
        <p:blipFill>
          <a:blip r:embed="rId2"/>
          <a:stretch>
            <a:fillRect/>
          </a:stretch>
        </p:blipFill>
        <p:spPr>
          <a:xfrm>
            <a:off x="731520" y="1463040"/>
            <a:ext cx="6675120" cy="3677821"/>
          </a:xfrm>
          <a:prstGeom prst="rect">
            <a:avLst/>
          </a:prstGeom>
        </p:spPr>
      </p:pic>
      <p:sp>
        <p:nvSpPr>
          <p:cNvPr id="5" name="TextBox 4"/>
          <p:cNvSpPr txBox="1"/>
          <p:nvPr/>
        </p:nvSpPr>
        <p:spPr>
          <a:xfrm>
            <a:off x="7680960" y="1600200"/>
            <a:ext cx="3931920" cy="3840480"/>
          </a:xfrm>
          <a:prstGeom prst="rect">
            <a:avLst/>
          </a:prstGeom>
          <a:noFill/>
        </p:spPr>
        <p:txBody>
          <a:bodyPr wrap="square">
            <a:spAutoFit/>
          </a:bodyPr>
          <a:lstStyle/>
          <a:p>
            <a:pPr algn="l">
              <a:lnSpc>
                <a:spcPct val="118000"/>
              </a:lnSpc>
            </a:pPr>
            <a:r>
              <a:rPr sz="1150" b="0">
                <a:solidFill>
                  <a:srgbClr val="1A1A1A"/>
                </a:solidFill>
                <a:latin typeface="Georgia"/>
              </a:rPr>
              <a:t>v3 sits below v2 on 1-pixel accuracy in</a:t>
            </a:r>
          </a:p>
          <a:p>
            <a:pPr algn="l">
              <a:lnSpc>
                <a:spcPct val="118000"/>
              </a:lnSpc>
            </a:pPr>
            <a:r>
              <a:rPr sz="1150" b="0">
                <a:solidFill>
                  <a:srgbClr val="1A1A1A"/>
                </a:solidFill>
                <a:latin typeface="Georgia"/>
              </a:rPr>
              <a:t>every configuration, by 0.8 to 6.3 points.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Mean EPE hides this: v3 has fewer large</a:t>
            </a:r>
          </a:p>
          <a:p>
            <a:pPr algn="l">
              <a:lnSpc>
                <a:spcPct val="118000"/>
              </a:lnSpc>
            </a:pPr>
            <a:r>
              <a:rPr sz="1150" b="0">
                <a:solidFill>
                  <a:srgbClr val="1A1A1A"/>
                </a:solidFill>
                <a:latin typeface="Georgia"/>
              </a:rPr>
              <a:t>errors, which pulls the mean down, while</a:t>
            </a:r>
          </a:p>
          <a:p>
            <a:pPr algn="l">
              <a:lnSpc>
                <a:spcPct val="118000"/>
              </a:lnSpc>
            </a:pPr>
            <a:r>
              <a:rPr sz="1150" b="0">
                <a:solidFill>
                  <a:srgbClr val="1A1A1A"/>
                </a:solidFill>
                <a:latin typeface="Georgia"/>
              </a:rPr>
              <a:t>being less exact on the majority of pixels.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Diagnosed cause: the decoder never sees</a:t>
            </a:r>
          </a:p>
          <a:p>
            <a:pPr algn="l">
              <a:lnSpc>
                <a:spcPct val="118000"/>
              </a:lnSpc>
            </a:pPr>
            <a:r>
              <a:rPr sz="1150" b="0">
                <a:solidFill>
                  <a:srgbClr val="1A1A1A"/>
                </a:solidFill>
                <a:latin typeface="Georgia"/>
              </a:rPr>
              <a:t>the full-resolution image. Its finest input</a:t>
            </a:r>
          </a:p>
          <a:p>
            <a:pPr algn="l">
              <a:lnSpc>
                <a:spcPct val="118000"/>
              </a:lnSpc>
            </a:pPr>
            <a:r>
              <a:rPr sz="1150" b="0">
                <a:solidFill>
                  <a:srgbClr val="1A1A1A"/>
                </a:solidFill>
                <a:latin typeface="Georgia"/>
              </a:rPr>
              <a:t>is at 1/8 scale, so within an 8x8 cell the</a:t>
            </a:r>
          </a:p>
          <a:p>
            <a:pPr algn="l">
              <a:lnSpc>
                <a:spcPct val="118000"/>
              </a:lnSpc>
            </a:pPr>
            <a:r>
              <a:rPr sz="1150" b="0">
                <a:solidFill>
                  <a:srgbClr val="1A1A1A"/>
                </a:solidFill>
                <a:latin typeface="Georgia"/>
              </a:rPr>
              <a:t>evidence barely changes. v2 upsampler</a:t>
            </a:r>
          </a:p>
          <a:p>
            <a:pPr algn="l">
              <a:lnSpc>
                <a:spcPct val="118000"/>
              </a:lnSpc>
            </a:pPr>
            <a:r>
              <a:rPr sz="1150" b="0">
                <a:solidFill>
                  <a:srgbClr val="1A1A1A"/>
                </a:solidFill>
                <a:latin typeface="Georgia"/>
              </a:rPr>
              <a:t>reads the full-resolution frame directly.</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 Fourier positional encoding was tried</a:t>
            </a:r>
          </a:p>
          <a:p>
            <a:pPr algn="l">
              <a:lnSpc>
                <a:spcPct val="118000"/>
              </a:lnSpc>
            </a:pPr>
            <a:r>
              <a:rPr sz="1150" b="0">
                <a:solidFill>
                  <a:srgbClr val="1A1A1A"/>
                </a:solidFill>
                <a:latin typeface="Georgia"/>
              </a:rPr>
              <a:t>and made no difference, which rules out</a:t>
            </a:r>
          </a:p>
          <a:p>
            <a:pPr algn="l">
              <a:lnSpc>
                <a:spcPct val="118000"/>
              </a:lnSpc>
            </a:pPr>
            <a:r>
              <a:rPr sz="1150" b="0">
                <a:solidFill>
                  <a:srgbClr val="1A1A1A"/>
                </a:solidFill>
                <a:latin typeface="Georgia"/>
              </a:rPr>
              <a:t>missing positional signal as the cause.</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Speed: one real win, and a claim I withdrew</a:t>
            </a:r>
          </a:p>
        </p:txBody>
      </p:sp>
      <p:pic>
        <p:nvPicPr>
          <p:cNvPr id="4" name="Picture 3" descr="speed_bars.png"/>
          <p:cNvPicPr>
            <a:picLocks noChangeAspect="1"/>
          </p:cNvPicPr>
          <p:nvPr/>
        </p:nvPicPr>
        <p:blipFill>
          <a:blip r:embed="rId2"/>
          <a:stretch>
            <a:fillRect/>
          </a:stretch>
        </p:blipFill>
        <p:spPr>
          <a:xfrm>
            <a:off x="1188720" y="1463040"/>
            <a:ext cx="7406640" cy="3665913"/>
          </a:xfrm>
          <a:prstGeom prst="rect">
            <a:avLst/>
          </a:prstGeom>
        </p:spPr>
      </p:pic>
      <p:sp>
        <p:nvSpPr>
          <p:cNvPr id="5" name="TextBox 4"/>
          <p:cNvSpPr txBox="1"/>
          <p:nvPr/>
        </p:nvSpPr>
        <p:spPr>
          <a:xfrm>
            <a:off x="8869680" y="1645920"/>
            <a:ext cx="2834640" cy="2743200"/>
          </a:xfrm>
          <a:prstGeom prst="rect">
            <a:avLst/>
          </a:prstGeom>
          <a:noFill/>
        </p:spPr>
        <p:txBody>
          <a:bodyPr wrap="square">
            <a:spAutoFit/>
          </a:bodyPr>
          <a:lstStyle/>
          <a:p>
            <a:pPr algn="l">
              <a:lnSpc>
                <a:spcPct val="118000"/>
              </a:lnSpc>
            </a:pPr>
            <a:r>
              <a:rPr sz="1150" b="0">
                <a:solidFill>
                  <a:srgbClr val="1A1A1A"/>
                </a:solidFill>
                <a:latin typeface="Georgia"/>
              </a:rPr>
              <a:t>Dense: v3 is 12% slower</a:t>
            </a:r>
          </a:p>
          <a:p>
            <a:pPr algn="l">
              <a:lnSpc>
                <a:spcPct val="118000"/>
              </a:lnSpc>
            </a:pPr>
            <a:r>
              <a:rPr sz="1150" b="0">
                <a:solidFill>
                  <a:srgbClr val="1A1A1A"/>
                </a:solidFill>
                <a:latin typeface="Georgia"/>
              </a:rPr>
              <a:t>than v2. An earlier version</a:t>
            </a:r>
          </a:p>
          <a:p>
            <a:pPr algn="l">
              <a:lnSpc>
                <a:spcPct val="118000"/>
              </a:lnSpc>
            </a:pPr>
            <a:r>
              <a:rPr sz="1150" b="0">
                <a:solidFill>
                  <a:srgbClr val="1A1A1A"/>
                </a:solidFill>
                <a:latin typeface="Georgia"/>
              </a:rPr>
              <a:t>of this deck claimed the</a:t>
            </a:r>
          </a:p>
          <a:p>
            <a:pPr algn="l">
              <a:lnSpc>
                <a:spcPct val="118000"/>
              </a:lnSpc>
            </a:pPr>
            <a:r>
              <a:rPr sz="1150" b="0">
                <a:solidFill>
                  <a:srgbClr val="1A1A1A"/>
                </a:solidFill>
                <a:latin typeface="Georgia"/>
              </a:rPr>
              <a:t>opposite. That measurement</a:t>
            </a:r>
          </a:p>
          <a:p>
            <a:pPr algn="l">
              <a:lnSpc>
                <a:spcPct val="118000"/>
              </a:lnSpc>
            </a:pPr>
            <a:r>
              <a:rPr sz="1150" b="0">
                <a:solidFill>
                  <a:srgbClr val="1A1A1A"/>
                </a:solidFill>
                <a:latin typeface="Georgia"/>
              </a:rPr>
              <a:t>predated the BatchNorm fix</a:t>
            </a:r>
          </a:p>
          <a:p>
            <a:pPr algn="l">
              <a:lnSpc>
                <a:spcPct val="118000"/>
              </a:lnSpc>
            </a:pPr>
            <a:r>
              <a:rPr sz="1150" b="0">
                <a:solidFill>
                  <a:srgbClr val="1A1A1A"/>
                </a:solidFill>
                <a:latin typeface="Georgia"/>
              </a:rPr>
              <a:t>and used different</a:t>
            </a:r>
          </a:p>
          <a:p>
            <a:pPr algn="l">
              <a:lnSpc>
                <a:spcPct val="118000"/>
              </a:lnSpc>
            </a:pPr>
            <a:r>
              <a:rPr sz="1150" b="0">
                <a:solidFill>
                  <a:srgbClr val="1A1A1A"/>
                </a:solidFill>
                <a:latin typeface="Georgia"/>
              </a:rPr>
              <a:t>hardware. Withdrawn.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First sparse query: level</a:t>
            </a:r>
          </a:p>
          <a:p>
            <a:pPr algn="l">
              <a:lnSpc>
                <a:spcPct val="118000"/>
              </a:lnSpc>
            </a:pPr>
            <a:r>
              <a:rPr sz="1150" b="0">
                <a:solidFill>
                  <a:srgbClr val="1A1A1A"/>
                </a:solidFill>
                <a:latin typeface="Georgia"/>
              </a:rPr>
              <a:t>with v2, not faster.</a:t>
            </a:r>
          </a:p>
        </p:txBody>
      </p:sp>
      <p:sp>
        <p:nvSpPr>
          <p:cNvPr id="6" name="Rounded Rectangle 5"/>
          <p:cNvSpPr/>
          <p:nvPr/>
        </p:nvSpPr>
        <p:spPr>
          <a:xfrm>
            <a:off x="8869680" y="4572000"/>
            <a:ext cx="2834640" cy="12801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0B6A63"/>
                </a:solidFill>
                <a:latin typeface="Georgia"/>
              </a:rPr>
              <a:t>The genuine win</a:t>
            </a:r>
          </a:p>
          <a:p>
            <a:pPr algn="ctr"/>
            <a:r>
              <a:rPr sz="1050" b="0">
                <a:solidFill>
                  <a:srgbClr val="0B6A63"/>
                </a:solidFill>
                <a:latin typeface="Georgia"/>
              </a:rPr>
              <a:t/>
            </a:r>
          </a:p>
          <a:p>
            <a:pPr algn="ctr"/>
            <a:r>
              <a:rPr sz="1050" b="0">
                <a:solidFill>
                  <a:srgbClr val="0B6A63"/>
                </a:solidFill>
                <a:latin typeface="Georgia"/>
              </a:rPr>
              <a:t>A second query on an</a:t>
            </a:r>
          </a:p>
          <a:p>
            <a:pPr algn="ctr"/>
            <a:r>
              <a:rPr sz="1050" b="0">
                <a:solidFill>
                  <a:srgbClr val="0B6A63"/>
                </a:solidFill>
                <a:latin typeface="Georgia"/>
              </a:rPr>
              <a:t>already-processed frame:</a:t>
            </a:r>
          </a:p>
          <a:p>
            <a:pPr algn="ctr"/>
            <a:r>
              <a:rPr sz="1050" b="0">
                <a:solidFill>
                  <a:srgbClr val="0B6A63"/>
                </a:solidFill>
                <a:latin typeface="Georgia"/>
              </a:rPr>
              <a:t>2.6 ms against 19.6 ms.</a:t>
            </a:r>
          </a:p>
          <a:p>
            <a:pPr algn="ctr"/>
            <a:r>
              <a:rPr sz="1050" b="0">
                <a:solidFill>
                  <a:srgbClr val="0B6A63"/>
                </a:solidFill>
                <a:latin typeface="Georgia"/>
              </a:rPr>
              <a:t>v2 has no cached state.</a:t>
            </a:r>
          </a:p>
        </p:txBody>
      </p:sp>
      <p:sp>
        <p:nvSpPr>
          <p:cNvPr id="7" name="TextBox 6"/>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8" name="TextBox 7"/>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Two clean single-variable ablations</a:t>
            </a:r>
          </a:p>
        </p:txBody>
      </p:sp>
      <p:pic>
        <p:nvPicPr>
          <p:cNvPr id="4" name="Picture 3" descr="ablations.png"/>
          <p:cNvPicPr>
            <a:picLocks noChangeAspect="1"/>
          </p:cNvPicPr>
          <p:nvPr/>
        </p:nvPicPr>
        <p:blipFill>
          <a:blip r:embed="rId2"/>
          <a:stretch>
            <a:fillRect/>
          </a:stretch>
        </p:blipFill>
        <p:spPr>
          <a:xfrm>
            <a:off x="1051560" y="1554480"/>
            <a:ext cx="8778240" cy="3653588"/>
          </a:xfrm>
          <a:prstGeom prst="rect">
            <a:avLst/>
          </a:prstGeom>
        </p:spPr>
      </p:pic>
      <p:sp>
        <p:nvSpPr>
          <p:cNvPr id="5" name="TextBox 4"/>
          <p:cNvSpPr txBox="1"/>
          <p:nvPr/>
        </p:nvSpPr>
        <p:spPr>
          <a:xfrm>
            <a:off x="685800" y="5257800"/>
            <a:ext cx="10881360" cy="914400"/>
          </a:xfrm>
          <a:prstGeom prst="rect">
            <a:avLst/>
          </a:prstGeom>
          <a:noFill/>
        </p:spPr>
        <p:txBody>
          <a:bodyPr wrap="square">
            <a:spAutoFit/>
          </a:bodyPr>
          <a:lstStyle/>
          <a:p>
            <a:pPr algn="l">
              <a:lnSpc>
                <a:spcPct val="120000"/>
              </a:lnSpc>
            </a:pPr>
            <a:r>
              <a:rPr sz="1200" b="0">
                <a:solidFill>
                  <a:srgbClr val="1A1A1A"/>
                </a:solidFill>
                <a:latin typeface="Georgia"/>
              </a:rPr>
              <a:t>Both pairs are identical in seed, schedule and every hyperparameter; one thing changes.</a:t>
            </a:r>
          </a:p>
          <a:p>
            <a:pPr algn="l">
              <a:lnSpc>
                <a:spcPct val="120000"/>
              </a:lnSpc>
            </a:pPr>
            <a:r>
              <a:rPr sz="1200" b="0">
                <a:solidFill>
                  <a:srgbClr val="1A1A1A"/>
                </a:solidFill>
                <a:latin typeface="Georgia"/>
              </a:rPr>
              <a:t>Adding MPI-Sintel to the mix costs 0.4% despite 10,410 extra pairs, so it does not earn its place.</a:t>
            </a:r>
          </a:p>
          <a:p>
            <a:pPr algn="l">
              <a:lnSpc>
                <a:spcPct val="120000"/>
              </a:lnSpc>
            </a:pPr>
            <a:r>
              <a:rPr sz="1200" b="0">
                <a:solidFill>
                  <a:srgbClr val="1A1A1A"/>
                </a:solidFill>
                <a:latin typeface="Georgia"/>
              </a:rPr>
              <a:t>The uncertainty head gains 2.0% while also producing a confidence value, so it is kept.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RESULTS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 calibrated confidence signal v2 cannot express</a:t>
            </a:r>
          </a:p>
        </p:txBody>
      </p:sp>
      <p:pic>
        <p:nvPicPr>
          <p:cNvPr id="4" name="Picture 3" descr="calibration_bars.png"/>
          <p:cNvPicPr>
            <a:picLocks noChangeAspect="1"/>
          </p:cNvPicPr>
          <p:nvPr/>
        </p:nvPicPr>
        <p:blipFill>
          <a:blip r:embed="rId2"/>
          <a:stretch>
            <a:fillRect/>
          </a:stretch>
        </p:blipFill>
        <p:spPr>
          <a:xfrm>
            <a:off x="731520" y="1554480"/>
            <a:ext cx="6766560" cy="3568283"/>
          </a:xfrm>
          <a:prstGeom prst="rect">
            <a:avLst/>
          </a:prstGeom>
        </p:spPr>
      </p:pic>
      <p:sp>
        <p:nvSpPr>
          <p:cNvPr id="5" name="TextBox 4"/>
          <p:cNvSpPr txBox="1"/>
          <p:nvPr/>
        </p:nvSpPr>
        <p:spPr>
          <a:xfrm>
            <a:off x="7772400" y="1691640"/>
            <a:ext cx="3840480" cy="3291840"/>
          </a:xfrm>
          <a:prstGeom prst="rect">
            <a:avLst/>
          </a:prstGeom>
          <a:noFill/>
        </p:spPr>
        <p:txBody>
          <a:bodyPr wrap="square">
            <a:spAutoFit/>
          </a:bodyPr>
          <a:lstStyle/>
          <a:p>
            <a:pPr algn="l">
              <a:lnSpc>
                <a:spcPct val="118000"/>
              </a:lnSpc>
            </a:pPr>
            <a:r>
              <a:rPr sz="1150" b="0">
                <a:solidFill>
                  <a:srgbClr val="1A1A1A"/>
                </a:solidFill>
                <a:latin typeface="Georgia"/>
              </a:rPr>
              <a:t>The head predicts a per-query error</a:t>
            </a:r>
          </a:p>
          <a:p>
            <a:pPr algn="l">
              <a:lnSpc>
                <a:spcPct val="118000"/>
              </a:lnSpc>
            </a:pPr>
            <a:r>
              <a:rPr sz="1150" b="0">
                <a:solidFill>
                  <a:srgbClr val="1A1A1A"/>
                </a:solidFill>
                <a:latin typeface="Georgia"/>
              </a:rPr>
              <a:t>scale b alongside each flow value,</a:t>
            </a:r>
          </a:p>
          <a:p>
            <a:pPr algn="l">
              <a:lnSpc>
                <a:spcPct val="118000"/>
              </a:lnSpc>
            </a:pPr>
            <a:r>
              <a:rPr sz="1150" b="0">
                <a:solidFill>
                  <a:srgbClr val="1A1A1A"/>
                </a:solidFill>
                <a:latin typeface="Georgia"/>
              </a:rPr>
              <a:t>trained with a Laplace likelihood.</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Binned by predicted b, real error rises</a:t>
            </a:r>
          </a:p>
          <a:p>
            <a:pPr algn="l">
              <a:lnSpc>
                <a:spcPct val="118000"/>
              </a:lnSpc>
            </a:pPr>
            <a:r>
              <a:rPr sz="1150" b="0">
                <a:solidFill>
                  <a:srgbClr val="1A1A1A"/>
                </a:solidFill>
                <a:latin typeface="Georgia"/>
              </a:rPr>
              <a:t>monotonically from 0.22 px to 7.38 px.</a:t>
            </a:r>
          </a:p>
          <a:p>
            <a:pPr algn="l">
              <a:lnSpc>
                <a:spcPct val="118000"/>
              </a:lnSpc>
            </a:pPr>
            <a:r>
              <a:rPr sz="1150" b="0">
                <a:solidFill>
                  <a:srgbClr val="1A1A1A"/>
                </a:solidFill>
                <a:latin typeface="Georgia"/>
              </a:rPr>
              <a:t>Pearson r = 0.38 over 2.35M samples.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This is usable: weight correspondences</a:t>
            </a:r>
          </a:p>
          <a:p>
            <a:pPr algn="l">
              <a:lnSpc>
                <a:spcPct val="118000"/>
              </a:lnSpc>
            </a:pPr>
            <a:r>
              <a:rPr sz="1150" b="0">
                <a:solidFill>
                  <a:srgbClr val="1A1A1A"/>
                </a:solidFill>
                <a:latin typeface="Georgia"/>
              </a:rPr>
              <a:t>in RANSAC, reject unreliable matches,</a:t>
            </a:r>
          </a:p>
          <a:p>
            <a:pPr algn="l">
              <a:lnSpc>
                <a:spcPct val="118000"/>
              </a:lnSpc>
            </a:pPr>
            <a:r>
              <a:rPr sz="1150" b="0">
                <a:solidFill>
                  <a:srgbClr val="1A1A1A"/>
                </a:solidFill>
                <a:latin typeface="Georgia"/>
              </a:rPr>
              <a:t>or steer queries toward uncertain areas.</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v2 emits flow only. There is no</a:t>
            </a:r>
          </a:p>
          <a:p>
            <a:pPr algn="l">
              <a:lnSpc>
                <a:spcPct val="118000"/>
              </a:lnSpc>
            </a:pPr>
            <a:r>
              <a:rPr sz="1150" b="0">
                <a:solidFill>
                  <a:srgbClr val="1A1A1A"/>
                </a:solidFill>
                <a:latin typeface="Georgia"/>
              </a:rPr>
              <a:t>equivalent quantity to compare against.</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a query costs, and how you make one</a:t>
            </a:r>
          </a:p>
        </p:txBody>
      </p:sp>
      <p:pic>
        <p:nvPicPr>
          <p:cNvPr id="4" name="Picture 3" descr="decode_flat.png"/>
          <p:cNvPicPr>
            <a:picLocks noChangeAspect="1"/>
          </p:cNvPicPr>
          <p:nvPr/>
        </p:nvPicPr>
        <p:blipFill>
          <a:blip r:embed="rId2"/>
          <a:stretch>
            <a:fillRect/>
          </a:stretch>
        </p:blipFill>
        <p:spPr>
          <a:xfrm>
            <a:off x="731520" y="1508760"/>
            <a:ext cx="6400800" cy="3231565"/>
          </a:xfrm>
          <a:prstGeom prst="rect">
            <a:avLst/>
          </a:prstGeom>
        </p:spPr>
      </p:pic>
      <p:sp>
        <p:nvSpPr>
          <p:cNvPr id="5" name="TextBox 4"/>
          <p:cNvSpPr txBox="1"/>
          <p:nvPr/>
        </p:nvSpPr>
        <p:spPr>
          <a:xfrm>
            <a:off x="7406640" y="1645920"/>
            <a:ext cx="4206240" cy="365760"/>
          </a:xfrm>
          <a:prstGeom prst="rect">
            <a:avLst/>
          </a:prstGeom>
          <a:noFill/>
        </p:spPr>
        <p:txBody>
          <a:bodyPr wrap="square">
            <a:spAutoFit/>
          </a:bodyPr>
          <a:lstStyle/>
          <a:p>
            <a:pPr algn="l">
              <a:lnSpc>
                <a:spcPct val="100000"/>
              </a:lnSpc>
            </a:pPr>
            <a:r>
              <a:rPr sz="1200" b="1">
                <a:solidFill>
                  <a:srgbClr val="333333"/>
                </a:solidFill>
                <a:latin typeface="Georgia"/>
              </a:rPr>
              <a:t>The entire API</a:t>
            </a:r>
          </a:p>
        </p:txBody>
      </p:sp>
      <p:sp>
        <p:nvSpPr>
          <p:cNvPr id="6" name="Rounded Rectangle 5"/>
          <p:cNvSpPr/>
          <p:nvPr/>
        </p:nvSpPr>
        <p:spPr>
          <a:xfrm>
            <a:off x="7406640" y="2011680"/>
            <a:ext cx="4206240" cy="173736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0">
                <a:solidFill>
                  <a:srgbClr val="1A1A1A"/>
                </a:solidFill>
                <a:latin typeface="Georgia"/>
              </a:rPr>
              <a:t>state = model.infer_coarse_state(img0, img1)</a:t>
            </a:r>
          </a:p>
          <a:p>
            <a:pPr algn="ctr"/>
            <a:r>
              <a:rPr sz="1000" b="0">
                <a:solidFill>
                  <a:srgbClr val="1A1A1A"/>
                </a:solidFill>
                <a:latin typeface="Georgia"/>
              </a:rPr>
              <a:t>                                  once, 17 ms</a:t>
            </a:r>
          </a:p>
          <a:p>
            <a:pPr algn="ctr"/>
            <a:r>
              <a:rPr sz="1000" b="0">
                <a:solidFill>
                  <a:srgbClr val="1A1A1A"/>
                </a:solidFill>
                <a:latin typeface="Georgia"/>
              </a:rPr>
              <a:t/>
            </a:r>
          </a:p>
          <a:p>
            <a:pPr algn="ctr"/>
            <a:r>
              <a:rPr sz="1000" b="0">
                <a:solidFill>
                  <a:srgbClr val="1A1A1A"/>
                </a:solidFill>
                <a:latin typeface="Georgia"/>
              </a:rPr>
              <a:t>flow  = model.decode_queries(</a:t>
            </a:r>
          </a:p>
          <a:p>
            <a:pPr algn="ctr"/>
            <a:r>
              <a:rPr sz="1000" b="0">
                <a:solidFill>
                  <a:srgbClr val="1A1A1A"/>
                </a:solidFill>
                <a:latin typeface="Georgia"/>
              </a:rPr>
              <a:t>            state, query_coords=q)</a:t>
            </a:r>
          </a:p>
          <a:p>
            <a:pPr algn="ctr"/>
            <a:r>
              <a:rPr sz="1000" b="0">
                <a:solidFill>
                  <a:srgbClr val="1A1A1A"/>
                </a:solidFill>
                <a:latin typeface="Georgia"/>
              </a:rPr>
              <a:t>            q: [B, N, 2] -&gt; [B, N, 2], 2.6 ms</a:t>
            </a:r>
          </a:p>
          <a:p>
            <a:pPr algn="ctr"/>
            <a:r>
              <a:rPr sz="1000" b="0">
                <a:solidFill>
                  <a:srgbClr val="1A1A1A"/>
                </a:solidFill>
                <a:latin typeface="Georgia"/>
              </a:rPr>
              <a:t/>
            </a:r>
          </a:p>
          <a:p>
            <a:pPr algn="ctr"/>
            <a:r>
              <a:rPr sz="1000" b="0">
                <a:solidFill>
                  <a:srgbClr val="1A1A1A"/>
                </a:solidFill>
                <a:latin typeface="Georgia"/>
              </a:rPr>
              <a:t>flow, b = ... (return_uncertainty=True)</a:t>
            </a:r>
          </a:p>
        </p:txBody>
      </p:sp>
      <p:sp>
        <p:nvSpPr>
          <p:cNvPr id="7" name="TextBox 6"/>
          <p:cNvSpPr txBox="1"/>
          <p:nvPr/>
        </p:nvSpPr>
        <p:spPr>
          <a:xfrm>
            <a:off x="7406640" y="3931920"/>
            <a:ext cx="4206240" cy="1828800"/>
          </a:xfrm>
          <a:prstGeom prst="rect">
            <a:avLst/>
          </a:prstGeom>
          <a:noFill/>
        </p:spPr>
        <p:txBody>
          <a:bodyPr wrap="square">
            <a:spAutoFit/>
          </a:bodyPr>
          <a:lstStyle/>
          <a:p>
            <a:pPr algn="l">
              <a:lnSpc>
                <a:spcPct val="118000"/>
              </a:lnSpc>
            </a:pPr>
            <a:r>
              <a:rPr sz="1150" b="0">
                <a:solidFill>
                  <a:srgbClr val="1A1A1A"/>
                </a:solidFill>
                <a:latin typeface="Georgia"/>
              </a:rPr>
              <a:t>Decode cost is flat from 800 to 2,048</a:t>
            </a:r>
          </a:p>
          <a:p>
            <a:pPr algn="l">
              <a:lnSpc>
                <a:spcPct val="118000"/>
              </a:lnSpc>
            </a:pPr>
            <a:r>
              <a:rPr sz="1150" b="0">
                <a:solidFill>
                  <a:srgbClr val="1A1A1A"/>
                </a:solidFill>
                <a:latin typeface="Georgia"/>
              </a:rPr>
              <a:t>queries, so it is bound by kernel launch</a:t>
            </a:r>
          </a:p>
          <a:p>
            <a:pPr algn="l">
              <a:lnSpc>
                <a:spcPct val="118000"/>
              </a:lnSpc>
            </a:pPr>
            <a:r>
              <a:rPr sz="1150" b="0">
                <a:solidFill>
                  <a:srgbClr val="1A1A1A"/>
                </a:solidFill>
                <a:latin typeface="Georgia"/>
              </a:rPr>
              <a:t>overhead rather than compute. You get</a:t>
            </a:r>
          </a:p>
          <a:p>
            <a:pPr algn="l">
              <a:lnSpc>
                <a:spcPct val="118000"/>
              </a:lnSpc>
            </a:pPr>
            <a:r>
              <a:rPr sz="1150" b="0">
                <a:solidFill>
                  <a:srgbClr val="1A1A1A"/>
                </a:solidFill>
                <a:latin typeface="Georgia"/>
              </a:rPr>
              <a:t>2,048 points for the price of 800.</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Above roughly 10,000 points the decode</a:t>
            </a:r>
          </a:p>
          <a:p>
            <a:pPr algn="l">
              <a:lnSpc>
                <a:spcPct val="118000"/>
              </a:lnSpc>
            </a:pPr>
            <a:r>
              <a:rPr sz="1150" b="0">
                <a:solidFill>
                  <a:srgbClr val="1A1A1A"/>
                </a:solidFill>
                <a:latin typeface="Georgia"/>
              </a:rPr>
              <a:t>becomes compute-bound and dense mode</a:t>
            </a:r>
          </a:p>
          <a:p>
            <a:pPr algn="l">
              <a:lnSpc>
                <a:spcPct val="118000"/>
              </a:lnSpc>
            </a:pPr>
            <a:r>
              <a:rPr sz="1150" b="0">
                <a:solidFill>
                  <a:srgbClr val="1A1A1A"/>
                </a:solidFill>
                <a:latin typeface="Georgia"/>
              </a:rPr>
              <a:t>is the better choice.</a:t>
            </a:r>
          </a:p>
        </p:txBody>
      </p:sp>
      <p:sp>
        <p:nvSpPr>
          <p:cNvPr id="8" name="TextBox 7"/>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9" name="TextBox 8"/>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INTERFACE</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Working tool: draw a region, get flow there</a:t>
            </a:r>
          </a:p>
        </p:txBody>
      </p:sp>
      <p:pic>
        <p:nvPicPr>
          <p:cNvPr id="4" name="Picture 3" descr="region_gui_window.png"/>
          <p:cNvPicPr>
            <a:picLocks noChangeAspect="1"/>
          </p:cNvPicPr>
          <p:nvPr/>
        </p:nvPicPr>
        <p:blipFill>
          <a:blip r:embed="rId2"/>
          <a:stretch>
            <a:fillRect/>
          </a:stretch>
        </p:blipFill>
        <p:spPr>
          <a:xfrm>
            <a:off x="731520" y="1508760"/>
            <a:ext cx="6949440" cy="3716489"/>
          </a:xfrm>
          <a:prstGeom prst="rect">
            <a:avLst/>
          </a:prstGeom>
        </p:spPr>
      </p:pic>
      <p:sp>
        <p:nvSpPr>
          <p:cNvPr id="5" name="TextBox 4"/>
          <p:cNvSpPr txBox="1"/>
          <p:nvPr/>
        </p:nvSpPr>
        <p:spPr>
          <a:xfrm>
            <a:off x="7955279" y="1645920"/>
            <a:ext cx="3657600" cy="4023360"/>
          </a:xfrm>
          <a:prstGeom prst="rect">
            <a:avLst/>
          </a:prstGeom>
          <a:noFill/>
        </p:spPr>
        <p:txBody>
          <a:bodyPr wrap="square">
            <a:spAutoFit/>
          </a:bodyPr>
          <a:lstStyle/>
          <a:p>
            <a:pPr algn="l">
              <a:lnSpc>
                <a:spcPct val="118000"/>
              </a:lnSpc>
            </a:pPr>
            <a:r>
              <a:rPr sz="1150" b="0">
                <a:solidFill>
                  <a:srgbClr val="1A1A1A"/>
                </a:solidFill>
                <a:latin typeface="Georgia"/>
              </a:rPr>
              <a:t>Load a video, step frame by frame,</a:t>
            </a:r>
          </a:p>
          <a:p>
            <a:pPr algn="l">
              <a:lnSpc>
                <a:spcPct val="118000"/>
              </a:lnSpc>
            </a:pPr>
            <a:r>
              <a:rPr sz="1150" b="0">
                <a:solidFill>
                  <a:srgbClr val="1A1A1A"/>
                </a:solidFill>
                <a:latin typeface="Georgia"/>
              </a:rPr>
              <a:t>drag a box, get flow for that region.</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Two modes, both timed live:</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QUERY decodes only inside the box</a:t>
            </a:r>
          </a:p>
          <a:p>
            <a:pPr algn="l">
              <a:lnSpc>
                <a:spcPct val="118000"/>
              </a:lnSpc>
            </a:pPr>
            <a:r>
              <a:rPr sz="1150" b="0">
                <a:solidFill>
                  <a:srgbClr val="1A1A1A"/>
                </a:solidFill>
                <a:latin typeface="Georgia"/>
              </a:rPr>
              <a:t>against a full-frame coarse pass. Exact.</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CROP feeds only the box through the</a:t>
            </a:r>
          </a:p>
          <a:p>
            <a:pPr algn="l">
              <a:lnSpc>
                <a:spcPct val="118000"/>
              </a:lnSpc>
            </a:pPr>
            <a:r>
              <a:rPr sz="1150" b="0">
                <a:solidFill>
                  <a:srgbClr val="1A1A1A"/>
                </a:solidFill>
                <a:latin typeface="Georgia"/>
              </a:rPr>
              <a:t>whole pipeline, so cost scales with the</a:t>
            </a:r>
          </a:p>
          <a:p>
            <a:pPr algn="l">
              <a:lnSpc>
                <a:spcPct val="118000"/>
              </a:lnSpc>
            </a:pPr>
            <a:r>
              <a:rPr sz="1150" b="0">
                <a:solidFill>
                  <a:srgbClr val="1A1A1A"/>
                </a:solidFill>
                <a:latin typeface="Georgia"/>
              </a:rPr>
              <a:t>area requested, at the price of losing</a:t>
            </a:r>
          </a:p>
          <a:p>
            <a:pPr algn="l">
              <a:lnSpc>
                <a:spcPct val="118000"/>
              </a:lnSpc>
            </a:pPr>
            <a:r>
              <a:rPr sz="1150" b="0">
                <a:solidFill>
                  <a:srgbClr val="1A1A1A"/>
                </a:solidFill>
                <a:latin typeface="Georgia"/>
              </a:rPr>
              <a:t>context outside the crop.</a:t>
            </a:r>
          </a:p>
          <a:p>
            <a:pPr algn="l">
              <a:lnSpc>
                <a:spcPct val="118000"/>
              </a:lnSpc>
            </a:pPr>
            <a:r>
              <a:rPr sz="1150" b="0">
                <a:solidFill>
                  <a:srgbClr val="1A1A1A"/>
                </a:solidFill>
                <a:latin typeface="Georgia"/>
              </a:rPr>
              <a:t/>
            </a:r>
          </a:p>
          <a:p>
            <a:pPr algn="l">
              <a:lnSpc>
                <a:spcPct val="118000"/>
              </a:lnSpc>
            </a:pPr>
            <a:r>
              <a:rPr sz="1150" b="0">
                <a:solidFill>
                  <a:srgbClr val="1A1A1A"/>
                </a:solidFill>
                <a:latin typeface="Georgia"/>
              </a:rPr>
              <a:t>The panel shows where the time goes</a:t>
            </a:r>
          </a:p>
          <a:p>
            <a:pPr algn="l">
              <a:lnSpc>
                <a:spcPct val="118000"/>
              </a:lnSpc>
            </a:pPr>
            <a:r>
              <a:rPr sz="1150" b="0">
                <a:solidFill>
                  <a:srgbClr val="1A1A1A"/>
                </a:solidFill>
                <a:latin typeface="Georgia"/>
              </a:rPr>
              <a:t>rather than asserting a speed-up.</a:t>
            </a:r>
          </a:p>
        </p:txBody>
      </p:sp>
      <p:sp>
        <p:nvSpPr>
          <p:cNvPr id="6" name="TextBox 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7" name="TextBox 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ASSESSMENT</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Against the three objectives I set</a:t>
            </a:r>
          </a:p>
        </p:txBody>
      </p:sp>
      <p:sp>
        <p:nvSpPr>
          <p:cNvPr id="4" name="TextBox 3"/>
          <p:cNvSpPr txBox="1"/>
          <p:nvPr/>
        </p:nvSpPr>
        <p:spPr>
          <a:xfrm>
            <a:off x="685800" y="1691640"/>
            <a:ext cx="3291840" cy="237744"/>
          </a:xfrm>
          <a:prstGeom prst="rect">
            <a:avLst/>
          </a:prstGeom>
          <a:noFill/>
        </p:spPr>
        <p:txBody>
          <a:bodyPr wrap="square">
            <a:spAutoFit/>
          </a:bodyPr>
          <a:lstStyle/>
          <a:p>
            <a:pPr algn="l">
              <a:lnSpc>
                <a:spcPct val="100000"/>
              </a:lnSpc>
            </a:pPr>
            <a:r>
              <a:rPr sz="1150" b="1">
                <a:solidFill>
                  <a:srgbClr val="1A1A1A"/>
                </a:solidFill>
                <a:latin typeface="Georgia"/>
              </a:rPr>
              <a:t>Objective</a:t>
            </a:r>
          </a:p>
        </p:txBody>
      </p:sp>
      <p:sp>
        <p:nvSpPr>
          <p:cNvPr id="5" name="TextBox 4"/>
          <p:cNvSpPr txBox="1"/>
          <p:nvPr/>
        </p:nvSpPr>
        <p:spPr>
          <a:xfrm>
            <a:off x="3977639" y="1691640"/>
            <a:ext cx="1737360" cy="237744"/>
          </a:xfrm>
          <a:prstGeom prst="rect">
            <a:avLst/>
          </a:prstGeom>
          <a:noFill/>
        </p:spPr>
        <p:txBody>
          <a:bodyPr wrap="square">
            <a:spAutoFit/>
          </a:bodyPr>
          <a:lstStyle/>
          <a:p>
            <a:pPr algn="r">
              <a:lnSpc>
                <a:spcPct val="100000"/>
              </a:lnSpc>
            </a:pPr>
            <a:r>
              <a:rPr sz="1150" b="1">
                <a:solidFill>
                  <a:srgbClr val="1A1A1A"/>
                </a:solidFill>
                <a:latin typeface="Georgia"/>
              </a:rPr>
              <a:t>Verdict</a:t>
            </a:r>
          </a:p>
        </p:txBody>
      </p:sp>
      <p:sp>
        <p:nvSpPr>
          <p:cNvPr id="6" name="TextBox 5"/>
          <p:cNvSpPr txBox="1"/>
          <p:nvPr/>
        </p:nvSpPr>
        <p:spPr>
          <a:xfrm>
            <a:off x="5715000" y="1691640"/>
            <a:ext cx="5852160" cy="237744"/>
          </a:xfrm>
          <a:prstGeom prst="rect">
            <a:avLst/>
          </a:prstGeom>
          <a:noFill/>
        </p:spPr>
        <p:txBody>
          <a:bodyPr wrap="square">
            <a:spAutoFit/>
          </a:bodyPr>
          <a:lstStyle/>
          <a:p>
            <a:pPr algn="r">
              <a:lnSpc>
                <a:spcPct val="100000"/>
              </a:lnSpc>
            </a:pPr>
            <a:r>
              <a:rPr sz="1150" b="1">
                <a:solidFill>
                  <a:srgbClr val="1A1A1A"/>
                </a:solidFill>
                <a:latin typeface="Georgia"/>
              </a:rPr>
              <a:t>Evidence</a:t>
            </a:r>
          </a:p>
        </p:txBody>
      </p:sp>
      <p:sp>
        <p:nvSpPr>
          <p:cNvPr id="7" name="Rectangle 6"/>
          <p:cNvSpPr/>
          <p:nvPr/>
        </p:nvSpPr>
        <p:spPr>
          <a:xfrm>
            <a:off x="685800" y="1929384"/>
            <a:ext cx="10881360" cy="952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3291840" cy="237744"/>
          </a:xfrm>
          <a:prstGeom prst="rect">
            <a:avLst/>
          </a:prstGeom>
          <a:noFill/>
        </p:spPr>
        <p:txBody>
          <a:bodyPr wrap="square">
            <a:spAutoFit/>
          </a:bodyPr>
          <a:lstStyle/>
          <a:p>
            <a:pPr algn="l">
              <a:lnSpc>
                <a:spcPct val="100000"/>
              </a:lnSpc>
            </a:pPr>
            <a:r>
              <a:rPr sz="1150" b="0">
                <a:solidFill>
                  <a:srgbClr val="1A1A1A"/>
                </a:solidFill>
                <a:latin typeface="Georgia"/>
              </a:rPr>
              <a:t>Better accuracy than v2</a:t>
            </a:r>
          </a:p>
        </p:txBody>
      </p:sp>
      <p:sp>
        <p:nvSpPr>
          <p:cNvPr id="9" name="TextBox 8"/>
          <p:cNvSpPr txBox="1"/>
          <p:nvPr/>
        </p:nvSpPr>
        <p:spPr>
          <a:xfrm>
            <a:off x="3977639" y="1965960"/>
            <a:ext cx="1737360" cy="237744"/>
          </a:xfrm>
          <a:prstGeom prst="rect">
            <a:avLst/>
          </a:prstGeom>
          <a:noFill/>
        </p:spPr>
        <p:txBody>
          <a:bodyPr wrap="square">
            <a:spAutoFit/>
          </a:bodyPr>
          <a:lstStyle/>
          <a:p>
            <a:pPr algn="r">
              <a:lnSpc>
                <a:spcPct val="100000"/>
              </a:lnSpc>
            </a:pPr>
            <a:r>
              <a:rPr sz="1150" b="0">
                <a:solidFill>
                  <a:srgbClr val="1A1A1A"/>
                </a:solidFill>
                <a:latin typeface="Georgia"/>
              </a:rPr>
              <a:t>NOT MET</a:t>
            </a:r>
          </a:p>
        </p:txBody>
      </p:sp>
      <p:sp>
        <p:nvSpPr>
          <p:cNvPr id="10" name="TextBox 9"/>
          <p:cNvSpPr txBox="1"/>
          <p:nvPr/>
        </p:nvSpPr>
        <p:spPr>
          <a:xfrm>
            <a:off x="5715000" y="1965960"/>
            <a:ext cx="5852160" cy="237744"/>
          </a:xfrm>
          <a:prstGeom prst="rect">
            <a:avLst/>
          </a:prstGeom>
          <a:noFill/>
        </p:spPr>
        <p:txBody>
          <a:bodyPr wrap="square">
            <a:spAutoFit/>
          </a:bodyPr>
          <a:lstStyle/>
          <a:p>
            <a:pPr algn="r">
              <a:lnSpc>
                <a:spcPct val="100000"/>
              </a:lnSpc>
            </a:pPr>
            <a:r>
              <a:rPr sz="1150" b="0">
                <a:solidFill>
                  <a:srgbClr val="1A1A1A"/>
                </a:solidFill>
                <a:latin typeface="Georgia"/>
              </a:rPr>
              <a:t>fair comparison is 2.286 vs 2.324, a tie</a:t>
            </a:r>
          </a:p>
        </p:txBody>
      </p:sp>
      <p:sp>
        <p:nvSpPr>
          <p:cNvPr id="11" name="TextBox 10"/>
          <p:cNvSpPr txBox="1"/>
          <p:nvPr/>
        </p:nvSpPr>
        <p:spPr>
          <a:xfrm>
            <a:off x="685800" y="224027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2" name="TextBox 11"/>
          <p:cNvSpPr txBox="1"/>
          <p:nvPr/>
        </p:nvSpPr>
        <p:spPr>
          <a:xfrm>
            <a:off x="3977639" y="224027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3" name="TextBox 12"/>
          <p:cNvSpPr txBox="1"/>
          <p:nvPr/>
        </p:nvSpPr>
        <p:spPr>
          <a:xfrm>
            <a:off x="5715000" y="2240279"/>
            <a:ext cx="5852160" cy="237744"/>
          </a:xfrm>
          <a:prstGeom prst="rect">
            <a:avLst/>
          </a:prstGeom>
          <a:noFill/>
        </p:spPr>
        <p:txBody>
          <a:bodyPr wrap="square">
            <a:spAutoFit/>
          </a:bodyPr>
          <a:lstStyle/>
          <a:p>
            <a:pPr algn="r">
              <a:lnSpc>
                <a:spcPct val="100000"/>
              </a:lnSpc>
            </a:pPr>
            <a:r>
              <a:rPr sz="1150" b="0">
                <a:solidFill>
                  <a:srgbClr val="1A1A1A"/>
                </a:solidFill>
                <a:latin typeface="Georgia"/>
              </a:rPr>
              <a:t>better numbers require in-domain training data</a:t>
            </a:r>
          </a:p>
        </p:txBody>
      </p:sp>
      <p:sp>
        <p:nvSpPr>
          <p:cNvPr id="14" name="TextBox 13"/>
          <p:cNvSpPr txBox="1"/>
          <p:nvPr/>
        </p:nvSpPr>
        <p:spPr>
          <a:xfrm>
            <a:off x="685800" y="25145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15" name="TextBox 14"/>
          <p:cNvSpPr txBox="1"/>
          <p:nvPr/>
        </p:nvSpPr>
        <p:spPr>
          <a:xfrm>
            <a:off x="3977639" y="25145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6" name="TextBox 15"/>
          <p:cNvSpPr txBox="1"/>
          <p:nvPr/>
        </p:nvSpPr>
        <p:spPr>
          <a:xfrm>
            <a:off x="5715000" y="251459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17" name="TextBox 16"/>
          <p:cNvSpPr txBox="1"/>
          <p:nvPr/>
        </p:nvSpPr>
        <p:spPr>
          <a:xfrm>
            <a:off x="685800" y="2788919"/>
            <a:ext cx="3291840" cy="237744"/>
          </a:xfrm>
          <a:prstGeom prst="rect">
            <a:avLst/>
          </a:prstGeom>
          <a:noFill/>
        </p:spPr>
        <p:txBody>
          <a:bodyPr wrap="square">
            <a:spAutoFit/>
          </a:bodyPr>
          <a:lstStyle/>
          <a:p>
            <a:pPr algn="l">
              <a:lnSpc>
                <a:spcPct val="100000"/>
              </a:lnSpc>
            </a:pPr>
            <a:r>
              <a:rPr sz="1150" b="0">
                <a:solidFill>
                  <a:srgbClr val="1A1A1A"/>
                </a:solidFill>
                <a:latin typeface="Georgia"/>
              </a:rPr>
              <a:t>Less compute than v2</a:t>
            </a:r>
          </a:p>
        </p:txBody>
      </p:sp>
      <p:sp>
        <p:nvSpPr>
          <p:cNvPr id="18" name="TextBox 17"/>
          <p:cNvSpPr txBox="1"/>
          <p:nvPr/>
        </p:nvSpPr>
        <p:spPr>
          <a:xfrm>
            <a:off x="3977639" y="2788919"/>
            <a:ext cx="1737360" cy="237744"/>
          </a:xfrm>
          <a:prstGeom prst="rect">
            <a:avLst/>
          </a:prstGeom>
          <a:noFill/>
        </p:spPr>
        <p:txBody>
          <a:bodyPr wrap="square">
            <a:spAutoFit/>
          </a:bodyPr>
          <a:lstStyle/>
          <a:p>
            <a:pPr algn="r">
              <a:lnSpc>
                <a:spcPct val="100000"/>
              </a:lnSpc>
            </a:pPr>
            <a:r>
              <a:rPr sz="1150" b="0">
                <a:solidFill>
                  <a:srgbClr val="1A1A1A"/>
                </a:solidFill>
                <a:latin typeface="Georgia"/>
              </a:rPr>
              <a:t>PARTLY</a:t>
            </a:r>
          </a:p>
        </p:txBody>
      </p:sp>
      <p:sp>
        <p:nvSpPr>
          <p:cNvPr id="19" name="TextBox 18"/>
          <p:cNvSpPr txBox="1"/>
          <p:nvPr/>
        </p:nvSpPr>
        <p:spPr>
          <a:xfrm>
            <a:off x="5715000" y="2788919"/>
            <a:ext cx="5852160" cy="237744"/>
          </a:xfrm>
          <a:prstGeom prst="rect">
            <a:avLst/>
          </a:prstGeom>
          <a:noFill/>
        </p:spPr>
        <p:txBody>
          <a:bodyPr wrap="square">
            <a:spAutoFit/>
          </a:bodyPr>
          <a:lstStyle/>
          <a:p>
            <a:pPr algn="r">
              <a:lnSpc>
                <a:spcPct val="100000"/>
              </a:lnSpc>
            </a:pPr>
            <a:r>
              <a:rPr sz="1150" b="0">
                <a:solidFill>
                  <a:srgbClr val="1A1A1A"/>
                </a:solidFill>
                <a:latin typeface="Georgia"/>
              </a:rPr>
              <a:t>dense 12% slower; first query level</a:t>
            </a:r>
          </a:p>
        </p:txBody>
      </p:sp>
      <p:sp>
        <p:nvSpPr>
          <p:cNvPr id="20" name="TextBox 19"/>
          <p:cNvSpPr txBox="1"/>
          <p:nvPr/>
        </p:nvSpPr>
        <p:spPr>
          <a:xfrm>
            <a:off x="685800" y="306323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1" name="TextBox 20"/>
          <p:cNvSpPr txBox="1"/>
          <p:nvPr/>
        </p:nvSpPr>
        <p:spPr>
          <a:xfrm>
            <a:off x="3977639" y="306323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2" name="TextBox 21"/>
          <p:cNvSpPr txBox="1"/>
          <p:nvPr/>
        </p:nvSpPr>
        <p:spPr>
          <a:xfrm>
            <a:off x="5715000" y="3063239"/>
            <a:ext cx="5852160" cy="237744"/>
          </a:xfrm>
          <a:prstGeom prst="rect">
            <a:avLst/>
          </a:prstGeom>
          <a:noFill/>
        </p:spPr>
        <p:txBody>
          <a:bodyPr wrap="square">
            <a:spAutoFit/>
          </a:bodyPr>
          <a:lstStyle/>
          <a:p>
            <a:pPr algn="r">
              <a:lnSpc>
                <a:spcPct val="100000"/>
              </a:lnSpc>
            </a:pPr>
            <a:r>
              <a:rPr sz="1150" b="0">
                <a:solidFill>
                  <a:srgbClr val="1A1A1A"/>
                </a:solidFill>
                <a:latin typeface="Georgia"/>
              </a:rPr>
              <a:t>repeat query 7.7x cheaper (2.6 vs 19.6 ms)</a:t>
            </a:r>
          </a:p>
        </p:txBody>
      </p:sp>
      <p:sp>
        <p:nvSpPr>
          <p:cNvPr id="23" name="TextBox 22"/>
          <p:cNvSpPr txBox="1"/>
          <p:nvPr/>
        </p:nvSpPr>
        <p:spPr>
          <a:xfrm>
            <a:off x="685800" y="333755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24" name="TextBox 23"/>
          <p:cNvSpPr txBox="1"/>
          <p:nvPr/>
        </p:nvSpPr>
        <p:spPr>
          <a:xfrm>
            <a:off x="3977639" y="333755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5" name="TextBox 24"/>
          <p:cNvSpPr txBox="1"/>
          <p:nvPr/>
        </p:nvSpPr>
        <p:spPr>
          <a:xfrm>
            <a:off x="5715000" y="3337559"/>
            <a:ext cx="58521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26" name="TextBox 25"/>
          <p:cNvSpPr txBox="1"/>
          <p:nvPr/>
        </p:nvSpPr>
        <p:spPr>
          <a:xfrm>
            <a:off x="685800" y="3611879"/>
            <a:ext cx="3291840" cy="237744"/>
          </a:xfrm>
          <a:prstGeom prst="rect">
            <a:avLst/>
          </a:prstGeom>
          <a:noFill/>
        </p:spPr>
        <p:txBody>
          <a:bodyPr wrap="square">
            <a:spAutoFit/>
          </a:bodyPr>
          <a:lstStyle/>
          <a:p>
            <a:pPr algn="l">
              <a:lnSpc>
                <a:spcPct val="100000"/>
              </a:lnSpc>
            </a:pPr>
            <a:r>
              <a:rPr sz="1150" b="0">
                <a:solidFill>
                  <a:srgbClr val="1A1A1A"/>
                </a:solidFill>
                <a:latin typeface="Georgia"/>
              </a:rPr>
              <a:t>Runs on edge devices</a:t>
            </a:r>
          </a:p>
        </p:txBody>
      </p:sp>
      <p:sp>
        <p:nvSpPr>
          <p:cNvPr id="27" name="TextBox 26"/>
          <p:cNvSpPr txBox="1"/>
          <p:nvPr/>
        </p:nvSpPr>
        <p:spPr>
          <a:xfrm>
            <a:off x="3977639" y="3611879"/>
            <a:ext cx="1737360" cy="237744"/>
          </a:xfrm>
          <a:prstGeom prst="rect">
            <a:avLst/>
          </a:prstGeom>
          <a:noFill/>
        </p:spPr>
        <p:txBody>
          <a:bodyPr wrap="square">
            <a:spAutoFit/>
          </a:bodyPr>
          <a:lstStyle/>
          <a:p>
            <a:pPr algn="r">
              <a:lnSpc>
                <a:spcPct val="100000"/>
              </a:lnSpc>
            </a:pPr>
            <a:r>
              <a:rPr sz="1150" b="0">
                <a:solidFill>
                  <a:srgbClr val="1A1A1A"/>
                </a:solidFill>
                <a:latin typeface="Georgia"/>
              </a:rPr>
              <a:t>UNPROVEN</a:t>
            </a:r>
          </a:p>
        </p:txBody>
      </p:sp>
      <p:sp>
        <p:nvSpPr>
          <p:cNvPr id="28" name="TextBox 27"/>
          <p:cNvSpPr txBox="1"/>
          <p:nvPr/>
        </p:nvSpPr>
        <p:spPr>
          <a:xfrm>
            <a:off x="5715000" y="3611879"/>
            <a:ext cx="5852160" cy="237744"/>
          </a:xfrm>
          <a:prstGeom prst="rect">
            <a:avLst/>
          </a:prstGeom>
          <a:noFill/>
        </p:spPr>
        <p:txBody>
          <a:bodyPr wrap="square">
            <a:spAutoFit/>
          </a:bodyPr>
          <a:lstStyle/>
          <a:p>
            <a:pPr algn="r">
              <a:lnSpc>
                <a:spcPct val="100000"/>
              </a:lnSpc>
            </a:pPr>
            <a:r>
              <a:rPr sz="1150" b="0">
                <a:solidFill>
                  <a:srgbClr val="1A1A1A"/>
                </a:solidFill>
                <a:latin typeface="Georgia"/>
              </a:rPr>
              <a:t>all figures from V100 and RTX 4060</a:t>
            </a:r>
          </a:p>
        </p:txBody>
      </p:sp>
      <p:sp>
        <p:nvSpPr>
          <p:cNvPr id="29" name="TextBox 28"/>
          <p:cNvSpPr txBox="1"/>
          <p:nvPr/>
        </p:nvSpPr>
        <p:spPr>
          <a:xfrm>
            <a:off x="685800" y="3886199"/>
            <a:ext cx="3291840" cy="237744"/>
          </a:xfrm>
          <a:prstGeom prst="rect">
            <a:avLst/>
          </a:prstGeom>
          <a:noFill/>
        </p:spPr>
        <p:txBody>
          <a:bodyPr wrap="square">
            <a:spAutoFit/>
          </a:bodyPr>
          <a:lstStyle/>
          <a:p>
            <a:pPr algn="l">
              <a:lnSpc>
                <a:spcPct val="100000"/>
              </a:lnSpc>
            </a:pPr>
            <a:r>
              <a:rPr sz="1150" b="0">
                <a:solidFill>
                  <a:srgbClr val="1A1A1A"/>
                </a:solidFill>
                <a:latin typeface="Georgia"/>
              </a:rPr>
              <a:t/>
            </a:r>
          </a:p>
        </p:txBody>
      </p:sp>
      <p:sp>
        <p:nvSpPr>
          <p:cNvPr id="30" name="TextBox 29"/>
          <p:cNvSpPr txBox="1"/>
          <p:nvPr/>
        </p:nvSpPr>
        <p:spPr>
          <a:xfrm>
            <a:off x="3977639" y="3886199"/>
            <a:ext cx="1737360" cy="237744"/>
          </a:xfrm>
          <a:prstGeom prst="rect">
            <a:avLst/>
          </a:prstGeom>
          <a:noFill/>
        </p:spPr>
        <p:txBody>
          <a:bodyPr wrap="square">
            <a:spAutoFit/>
          </a:bodyPr>
          <a:lstStyle/>
          <a:p>
            <a:pPr algn="r">
              <a:lnSpc>
                <a:spcPct val="100000"/>
              </a:lnSpc>
            </a:pPr>
            <a:r>
              <a:rPr sz="1150" b="0">
                <a:solidFill>
                  <a:srgbClr val="1A1A1A"/>
                </a:solidFill>
                <a:latin typeface="Georgia"/>
              </a:rPr>
              <a:t/>
            </a:r>
          </a:p>
        </p:txBody>
      </p:sp>
      <p:sp>
        <p:nvSpPr>
          <p:cNvPr id="31" name="TextBox 30"/>
          <p:cNvSpPr txBox="1"/>
          <p:nvPr/>
        </p:nvSpPr>
        <p:spPr>
          <a:xfrm>
            <a:off x="5715000" y="3886199"/>
            <a:ext cx="5852160" cy="237744"/>
          </a:xfrm>
          <a:prstGeom prst="rect">
            <a:avLst/>
          </a:prstGeom>
          <a:noFill/>
        </p:spPr>
        <p:txBody>
          <a:bodyPr wrap="square">
            <a:spAutoFit/>
          </a:bodyPr>
          <a:lstStyle/>
          <a:p>
            <a:pPr algn="r">
              <a:lnSpc>
                <a:spcPct val="100000"/>
              </a:lnSpc>
            </a:pPr>
            <a:r>
              <a:rPr sz="1150" b="0">
                <a:solidFill>
                  <a:srgbClr val="1A1A1A"/>
                </a:solidFill>
                <a:latin typeface="Georgia"/>
              </a:rPr>
              <a:t>no Jetson measurement has been taken</a:t>
            </a:r>
          </a:p>
        </p:txBody>
      </p:sp>
      <p:sp>
        <p:nvSpPr>
          <p:cNvPr id="32" name="TextBox 31"/>
          <p:cNvSpPr txBox="1"/>
          <p:nvPr/>
        </p:nvSpPr>
        <p:spPr>
          <a:xfrm>
            <a:off x="685800" y="4434840"/>
            <a:ext cx="10881360" cy="365760"/>
          </a:xfrm>
          <a:prstGeom prst="rect">
            <a:avLst/>
          </a:prstGeom>
          <a:noFill/>
        </p:spPr>
        <p:txBody>
          <a:bodyPr wrap="square">
            <a:spAutoFit/>
          </a:bodyPr>
          <a:lstStyle/>
          <a:p>
            <a:pPr algn="l">
              <a:lnSpc>
                <a:spcPct val="100000"/>
              </a:lnSpc>
            </a:pPr>
            <a:r>
              <a:rPr sz="1250" b="1">
                <a:solidFill>
                  <a:srgbClr val="333333"/>
                </a:solidFill>
                <a:latin typeface="Georgia"/>
              </a:rPr>
              <a:t>What the project does deliver</a:t>
            </a:r>
          </a:p>
        </p:txBody>
      </p:sp>
      <p:sp>
        <p:nvSpPr>
          <p:cNvPr id="33" name="Rounded Rectangle 32"/>
          <p:cNvSpPr/>
          <p:nvPr/>
        </p:nvSpPr>
        <p:spPr>
          <a:xfrm>
            <a:off x="6858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Queryable output</a:t>
            </a:r>
          </a:p>
          <a:p>
            <a:pPr algn="ctr"/>
            <a:r>
              <a:rPr sz="1050" b="0">
                <a:solidFill>
                  <a:srgbClr val="1A1A1A"/>
                </a:solidFill>
                <a:latin typeface="Georgia"/>
              </a:rPr>
              <a:t/>
            </a:r>
          </a:p>
          <a:p>
            <a:pPr algn="ctr"/>
            <a:r>
              <a:rPr sz="1050" b="0">
                <a:solidFill>
                  <a:srgbClr val="1A1A1A"/>
                </a:solidFill>
                <a:latin typeface="Georgia"/>
              </a:rPr>
              <a:t>flow at any continuous coordinate, sparse equals dense exactly</a:t>
            </a:r>
          </a:p>
        </p:txBody>
      </p:sp>
      <p:sp>
        <p:nvSpPr>
          <p:cNvPr id="34" name="Rounded Rectangle 33"/>
          <p:cNvSpPr/>
          <p:nvPr/>
        </p:nvSpPr>
        <p:spPr>
          <a:xfrm>
            <a:off x="43434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Cheap repeat access</a:t>
            </a:r>
          </a:p>
          <a:p>
            <a:pPr algn="ctr"/>
            <a:r>
              <a:rPr sz="1050" b="0">
                <a:solidFill>
                  <a:srgbClr val="1A1A1A"/>
                </a:solidFill>
                <a:latin typeface="Georgia"/>
              </a:rPr>
              <a:t/>
            </a:r>
          </a:p>
          <a:p>
            <a:pPr algn="ctr"/>
            <a:r>
              <a:rPr sz="1050" b="0">
                <a:solidFill>
                  <a:srgbClr val="1A1A1A"/>
                </a:solidFill>
                <a:latin typeface="Georgia"/>
              </a:rPr>
              <a:t>2.6 ms per further query batch on a cached frame</a:t>
            </a:r>
          </a:p>
        </p:txBody>
      </p:sp>
      <p:sp>
        <p:nvSpPr>
          <p:cNvPr id="35" name="Rounded Rectangle 34"/>
          <p:cNvSpPr/>
          <p:nvPr/>
        </p:nvSpPr>
        <p:spPr>
          <a:xfrm>
            <a:off x="8001000" y="4846320"/>
            <a:ext cx="3474720" cy="1005840"/>
          </a:xfrm>
          <a:prstGeom prst="roundRect">
            <a:avLst/>
          </a:prstGeom>
          <a:solidFill>
            <a:srgbClr val="EFEFEF"/>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50" b="0">
                <a:solidFill>
                  <a:srgbClr val="1A1A1A"/>
                </a:solidFill>
                <a:latin typeface="Georgia"/>
              </a:rPr>
              <a:t>Calibrated confidence</a:t>
            </a:r>
          </a:p>
          <a:p>
            <a:pPr algn="ctr"/>
            <a:r>
              <a:rPr sz="1050" b="0">
                <a:solidFill>
                  <a:srgbClr val="1A1A1A"/>
                </a:solidFill>
                <a:latin typeface="Georgia"/>
              </a:rPr>
              <a:t/>
            </a:r>
          </a:p>
          <a:p>
            <a:pPr algn="ctr"/>
            <a:r>
              <a:rPr sz="1050" b="0">
                <a:solidFill>
                  <a:srgbClr val="1A1A1A"/>
                </a:solidFill>
                <a:latin typeface="Georgia"/>
              </a:rPr>
              <a:t>per-query error estimate, monotonic against real error</a:t>
            </a:r>
          </a:p>
        </p:txBody>
      </p:sp>
      <p:sp>
        <p:nvSpPr>
          <p:cNvPr id="36" name="TextBox 3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37" name="TextBox 3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LIMITATIONS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What is not yet proven, stated plainly</a:t>
            </a:r>
          </a:p>
        </p:txBody>
      </p:sp>
      <p:sp>
        <p:nvSpPr>
          <p:cNvPr id="4" name="TextBox 3"/>
          <p:cNvSpPr txBox="1"/>
          <p:nvPr/>
        </p:nvSpPr>
        <p:spPr>
          <a:xfrm>
            <a:off x="685800" y="1645920"/>
            <a:ext cx="4023360" cy="274320"/>
          </a:xfrm>
          <a:prstGeom prst="rect">
            <a:avLst/>
          </a:prstGeom>
          <a:noFill/>
        </p:spPr>
        <p:txBody>
          <a:bodyPr wrap="square">
            <a:spAutoFit/>
          </a:bodyPr>
          <a:lstStyle/>
          <a:p>
            <a:pPr algn="l">
              <a:lnSpc>
                <a:spcPct val="100000"/>
              </a:lnSpc>
            </a:pPr>
            <a:r>
              <a:rPr sz="1150" b="1">
                <a:solidFill>
                  <a:srgbClr val="1A1A1A"/>
                </a:solidFill>
                <a:latin typeface="Georgia"/>
              </a:rPr>
              <a:t>Sub-pixel precision is worse than v2</a:t>
            </a:r>
          </a:p>
        </p:txBody>
      </p:sp>
      <p:sp>
        <p:nvSpPr>
          <p:cNvPr id="5" name="TextBox 4"/>
          <p:cNvSpPr txBox="1"/>
          <p:nvPr/>
        </p:nvSpPr>
        <p:spPr>
          <a:xfrm>
            <a:off x="4846320" y="1645920"/>
            <a:ext cx="6675120" cy="548640"/>
          </a:xfrm>
          <a:prstGeom prst="rect">
            <a:avLst/>
          </a:prstGeom>
          <a:noFill/>
        </p:spPr>
        <p:txBody>
          <a:bodyPr wrap="square">
            <a:spAutoFit/>
          </a:bodyPr>
          <a:lstStyle/>
          <a:p>
            <a:pPr algn="l">
              <a:lnSpc>
                <a:spcPct val="112000"/>
              </a:lnSpc>
            </a:pPr>
            <a:r>
              <a:rPr sz="1100" b="0">
                <a:solidFill>
                  <a:srgbClr val="1A1A1A"/>
                </a:solidFill>
                <a:latin typeface="Georgia"/>
              </a:rPr>
              <a:t>By 0.8 to 6.3 points of 1-pixel accuracy. Cause diagnosed (decoder never sees full-resolution input) but not fixed.</a:t>
            </a:r>
          </a:p>
        </p:txBody>
      </p:sp>
      <p:sp>
        <p:nvSpPr>
          <p:cNvPr id="6" name="TextBox 5"/>
          <p:cNvSpPr txBox="1"/>
          <p:nvPr/>
        </p:nvSpPr>
        <p:spPr>
          <a:xfrm>
            <a:off x="685800" y="2578608"/>
            <a:ext cx="4023360" cy="274320"/>
          </a:xfrm>
          <a:prstGeom prst="rect">
            <a:avLst/>
          </a:prstGeom>
          <a:noFill/>
        </p:spPr>
        <p:txBody>
          <a:bodyPr wrap="square">
            <a:spAutoFit/>
          </a:bodyPr>
          <a:lstStyle/>
          <a:p>
            <a:pPr algn="l">
              <a:lnSpc>
                <a:spcPct val="100000"/>
              </a:lnSpc>
            </a:pPr>
            <a:r>
              <a:rPr sz="1150" b="1">
                <a:solidFill>
                  <a:srgbClr val="1A1A1A"/>
                </a:solidFill>
                <a:latin typeface="Georgia"/>
              </a:rPr>
              <a:t>No edge-device measurement</a:t>
            </a:r>
          </a:p>
        </p:txBody>
      </p:sp>
      <p:sp>
        <p:nvSpPr>
          <p:cNvPr id="7" name="TextBox 6"/>
          <p:cNvSpPr txBox="1"/>
          <p:nvPr/>
        </p:nvSpPr>
        <p:spPr>
          <a:xfrm>
            <a:off x="4846320" y="2578608"/>
            <a:ext cx="6675120" cy="548640"/>
          </a:xfrm>
          <a:prstGeom prst="rect">
            <a:avLst/>
          </a:prstGeom>
          <a:noFill/>
        </p:spPr>
        <p:txBody>
          <a:bodyPr wrap="square">
            <a:spAutoFit/>
          </a:bodyPr>
          <a:lstStyle/>
          <a:p>
            <a:pPr algn="l">
              <a:lnSpc>
                <a:spcPct val="112000"/>
              </a:lnSpc>
            </a:pPr>
            <a:r>
              <a:rPr sz="1100" b="0">
                <a:solidFill>
                  <a:srgbClr val="1A1A1A"/>
                </a:solidFill>
                <a:latin typeface="Georgia"/>
              </a:rPr>
              <a:t>Every latency figure is V100 or RTX 4060. The edge claim in the title is a design target, not a result.</a:t>
            </a:r>
          </a:p>
        </p:txBody>
      </p:sp>
      <p:sp>
        <p:nvSpPr>
          <p:cNvPr id="8" name="TextBox 7"/>
          <p:cNvSpPr txBox="1"/>
          <p:nvPr/>
        </p:nvSpPr>
        <p:spPr>
          <a:xfrm>
            <a:off x="685800" y="3511296"/>
            <a:ext cx="4023360" cy="274320"/>
          </a:xfrm>
          <a:prstGeom prst="rect">
            <a:avLst/>
          </a:prstGeom>
          <a:noFill/>
        </p:spPr>
        <p:txBody>
          <a:bodyPr wrap="square">
            <a:spAutoFit/>
          </a:bodyPr>
          <a:lstStyle/>
          <a:p>
            <a:pPr algn="l">
              <a:lnSpc>
                <a:spcPct val="100000"/>
              </a:lnSpc>
            </a:pPr>
            <a:r>
              <a:rPr sz="1150" b="1">
                <a:solidFill>
                  <a:srgbClr val="1A1A1A"/>
                </a:solidFill>
                <a:latin typeface="Georgia"/>
              </a:rPr>
              <a:t>Single evaluation domain</a:t>
            </a:r>
          </a:p>
        </p:txBody>
      </p:sp>
      <p:sp>
        <p:nvSpPr>
          <p:cNvPr id="9" name="TextBox 8"/>
          <p:cNvSpPr txBox="1"/>
          <p:nvPr/>
        </p:nvSpPr>
        <p:spPr>
          <a:xfrm>
            <a:off x="4846320" y="3511296"/>
            <a:ext cx="6675120" cy="548640"/>
          </a:xfrm>
          <a:prstGeom prst="rect">
            <a:avLst/>
          </a:prstGeom>
          <a:noFill/>
        </p:spPr>
        <p:txBody>
          <a:bodyPr wrap="square">
            <a:spAutoFit/>
          </a:bodyPr>
          <a:lstStyle/>
          <a:p>
            <a:pPr algn="l">
              <a:lnSpc>
                <a:spcPct val="112000"/>
              </a:lnSpc>
            </a:pPr>
            <a:r>
              <a:rPr sz="1100" b="0">
                <a:solidFill>
                  <a:srgbClr val="1A1A1A"/>
                </a:solidFill>
                <a:latin typeface="Georgia"/>
              </a:rPr>
              <a:t>All accuracy numbers are VKITTI2 Scene18+20. A synthetic driving benchmark is not evidence for field or survey imagery.</a:t>
            </a:r>
          </a:p>
        </p:txBody>
      </p:sp>
      <p:sp>
        <p:nvSpPr>
          <p:cNvPr id="10" name="TextBox 9"/>
          <p:cNvSpPr txBox="1"/>
          <p:nvPr/>
        </p:nvSpPr>
        <p:spPr>
          <a:xfrm>
            <a:off x="685800" y="4443984"/>
            <a:ext cx="4023360" cy="274320"/>
          </a:xfrm>
          <a:prstGeom prst="rect">
            <a:avLst/>
          </a:prstGeom>
          <a:noFill/>
        </p:spPr>
        <p:txBody>
          <a:bodyPr wrap="square">
            <a:spAutoFit/>
          </a:bodyPr>
          <a:lstStyle/>
          <a:p>
            <a:pPr algn="l">
              <a:lnSpc>
                <a:spcPct val="100000"/>
              </a:lnSpc>
            </a:pPr>
            <a:r>
              <a:rPr sz="1150" b="1">
                <a:solidFill>
                  <a:srgbClr val="1A1A1A"/>
                </a:solidFill>
                <a:latin typeface="Georgia"/>
              </a:rPr>
              <a:t>Spring run truncated</a:t>
            </a:r>
          </a:p>
        </p:txBody>
      </p:sp>
      <p:sp>
        <p:nvSpPr>
          <p:cNvPr id="11" name="TextBox 10"/>
          <p:cNvSpPr txBox="1"/>
          <p:nvPr/>
        </p:nvSpPr>
        <p:spPr>
          <a:xfrm>
            <a:off x="4846320" y="4443984"/>
            <a:ext cx="6675120" cy="548640"/>
          </a:xfrm>
          <a:prstGeom prst="rect">
            <a:avLst/>
          </a:prstGeom>
          <a:noFill/>
        </p:spPr>
        <p:txBody>
          <a:bodyPr wrap="square">
            <a:spAutoFit/>
          </a:bodyPr>
          <a:lstStyle/>
          <a:p>
            <a:pPr algn="l">
              <a:lnSpc>
                <a:spcPct val="112000"/>
              </a:lnSpc>
            </a:pPr>
            <a:r>
              <a:rPr sz="1100" b="0">
                <a:solidFill>
                  <a:srgbClr val="1A1A1A"/>
                </a:solidFill>
                <a:latin typeface="Georgia"/>
              </a:rPr>
              <a:t>Killed by the 8-hour wall clock at roughly 90k of 100k steps, so it is not directly comparable to the others.</a:t>
            </a:r>
          </a:p>
        </p:txBody>
      </p:sp>
      <p:sp>
        <p:nvSpPr>
          <p:cNvPr id="12" name="TextBox 11"/>
          <p:cNvSpPr txBox="1"/>
          <p:nvPr/>
        </p:nvSpPr>
        <p:spPr>
          <a:xfrm>
            <a:off x="685800" y="5376672"/>
            <a:ext cx="4023360" cy="274320"/>
          </a:xfrm>
          <a:prstGeom prst="rect">
            <a:avLst/>
          </a:prstGeom>
          <a:noFill/>
        </p:spPr>
        <p:txBody>
          <a:bodyPr wrap="square">
            <a:spAutoFit/>
          </a:bodyPr>
          <a:lstStyle/>
          <a:p>
            <a:pPr algn="l">
              <a:lnSpc>
                <a:spcPct val="100000"/>
              </a:lnSpc>
            </a:pPr>
            <a:r>
              <a:rPr sz="1150" b="1">
                <a:solidFill>
                  <a:srgbClr val="1A1A1A"/>
                </a:solidFill>
                <a:latin typeface="Georgia"/>
              </a:rPr>
              <a:t>One seed per configuration</a:t>
            </a:r>
          </a:p>
        </p:txBody>
      </p:sp>
      <p:sp>
        <p:nvSpPr>
          <p:cNvPr id="13" name="TextBox 12"/>
          <p:cNvSpPr txBox="1"/>
          <p:nvPr/>
        </p:nvSpPr>
        <p:spPr>
          <a:xfrm>
            <a:off x="4846320" y="5376672"/>
            <a:ext cx="6675120" cy="548640"/>
          </a:xfrm>
          <a:prstGeom prst="rect">
            <a:avLst/>
          </a:prstGeom>
          <a:noFill/>
        </p:spPr>
        <p:txBody>
          <a:bodyPr wrap="square">
            <a:spAutoFit/>
          </a:bodyPr>
          <a:lstStyle/>
          <a:p>
            <a:pPr algn="l">
              <a:lnSpc>
                <a:spcPct val="112000"/>
              </a:lnSpc>
            </a:pPr>
            <a:r>
              <a:rPr sz="1100" b="0">
                <a:solidFill>
                  <a:srgbClr val="1A1A1A"/>
                </a:solidFill>
                <a:latin typeface="Georgia"/>
              </a:rPr>
              <a:t>Differences under about 0.05 px should not be over-read; I have not measured seed-to-seed variance.</a:t>
            </a:r>
          </a:p>
        </p:txBody>
      </p:sp>
      <p:sp>
        <p:nvSpPr>
          <p:cNvPr id="14" name="TextBox 13"/>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5" name="TextBox 14"/>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NEXT STEPS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In priority order</a:t>
            </a:r>
          </a:p>
        </p:txBody>
      </p:sp>
      <p:sp>
        <p:nvSpPr>
          <p:cNvPr id="4" name="Rounded Rectangle 3"/>
          <p:cNvSpPr/>
          <p:nvPr/>
        </p:nvSpPr>
        <p:spPr>
          <a:xfrm>
            <a:off x="685800" y="1691640"/>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1</a:t>
            </a:r>
          </a:p>
        </p:txBody>
      </p:sp>
      <p:sp>
        <p:nvSpPr>
          <p:cNvPr id="5" name="TextBox 4"/>
          <p:cNvSpPr txBox="1"/>
          <p:nvPr/>
        </p:nvSpPr>
        <p:spPr>
          <a:xfrm>
            <a:off x="1234440" y="1673352"/>
            <a:ext cx="3657600" cy="274320"/>
          </a:xfrm>
          <a:prstGeom prst="rect">
            <a:avLst/>
          </a:prstGeom>
          <a:noFill/>
        </p:spPr>
        <p:txBody>
          <a:bodyPr wrap="square">
            <a:spAutoFit/>
          </a:bodyPr>
          <a:lstStyle/>
          <a:p>
            <a:pPr algn="l">
              <a:lnSpc>
                <a:spcPct val="100000"/>
              </a:lnSpc>
            </a:pPr>
            <a:r>
              <a:rPr sz="1200" b="1">
                <a:solidFill>
                  <a:srgbClr val="1A1A1A"/>
                </a:solidFill>
                <a:latin typeface="Georgia"/>
              </a:rPr>
              <a:t>Full-resolution stem for the decoder</a:t>
            </a:r>
          </a:p>
        </p:txBody>
      </p:sp>
      <p:sp>
        <p:nvSpPr>
          <p:cNvPr id="6" name="TextBox 5"/>
          <p:cNvSpPr txBox="1"/>
          <p:nvPr/>
        </p:nvSpPr>
        <p:spPr>
          <a:xfrm>
            <a:off x="5029200" y="1673352"/>
            <a:ext cx="6492240" cy="822960"/>
          </a:xfrm>
          <a:prstGeom prst="rect">
            <a:avLst/>
          </a:prstGeom>
          <a:noFill/>
        </p:spPr>
        <p:txBody>
          <a:bodyPr wrap="square">
            <a:spAutoFit/>
          </a:bodyPr>
          <a:lstStyle/>
          <a:p>
            <a:pPr algn="l">
              <a:lnSpc>
                <a:spcPct val="112000"/>
              </a:lnSpc>
            </a:pPr>
            <a:r>
              <a:rPr sz="1100" b="0">
                <a:solidFill>
                  <a:srgbClr val="1A1A1A"/>
                </a:solidFill>
                <a:latin typeface="Georgia"/>
              </a:rPr>
              <a:t>Give the decoder a cheap full-resolution feature map so evidence actually varies within an 8x8 cell. This is the direct attack on the precision gap and on making continuous querying meaningful rather than nominal.</a:t>
            </a:r>
          </a:p>
        </p:txBody>
      </p:sp>
      <p:sp>
        <p:nvSpPr>
          <p:cNvPr id="7" name="Rounded Rectangle 6"/>
          <p:cNvSpPr/>
          <p:nvPr/>
        </p:nvSpPr>
        <p:spPr>
          <a:xfrm>
            <a:off x="685800" y="2862072"/>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2</a:t>
            </a:r>
          </a:p>
        </p:txBody>
      </p:sp>
      <p:sp>
        <p:nvSpPr>
          <p:cNvPr id="8" name="TextBox 7"/>
          <p:cNvSpPr txBox="1"/>
          <p:nvPr/>
        </p:nvSpPr>
        <p:spPr>
          <a:xfrm>
            <a:off x="1234440" y="2843784"/>
            <a:ext cx="3657600" cy="274320"/>
          </a:xfrm>
          <a:prstGeom prst="rect">
            <a:avLst/>
          </a:prstGeom>
          <a:noFill/>
        </p:spPr>
        <p:txBody>
          <a:bodyPr wrap="square">
            <a:spAutoFit/>
          </a:bodyPr>
          <a:lstStyle/>
          <a:p>
            <a:pPr algn="l">
              <a:lnSpc>
                <a:spcPct val="100000"/>
              </a:lnSpc>
            </a:pPr>
            <a:r>
              <a:rPr sz="1200" b="1">
                <a:solidFill>
                  <a:srgbClr val="1A1A1A"/>
                </a:solidFill>
                <a:latin typeface="Georgia"/>
              </a:rPr>
              <a:t>Spring 4K evaluation</a:t>
            </a:r>
          </a:p>
        </p:txBody>
      </p:sp>
      <p:sp>
        <p:nvSpPr>
          <p:cNvPr id="9" name="TextBox 8"/>
          <p:cNvSpPr txBox="1"/>
          <p:nvPr/>
        </p:nvSpPr>
        <p:spPr>
          <a:xfrm>
            <a:off x="5029200" y="2843784"/>
            <a:ext cx="6492240" cy="822960"/>
          </a:xfrm>
          <a:prstGeom prst="rect">
            <a:avLst/>
          </a:prstGeom>
          <a:noFill/>
        </p:spPr>
        <p:txBody>
          <a:bodyPr wrap="square">
            <a:spAutoFit/>
          </a:bodyPr>
          <a:lstStyle/>
          <a:p>
            <a:pPr algn="l">
              <a:lnSpc>
                <a:spcPct val="112000"/>
              </a:lnSpc>
            </a:pPr>
            <a:r>
              <a:rPr sz="1100" b="0">
                <a:solidFill>
                  <a:srgbClr val="1A1A1A"/>
                </a:solidFill>
                <a:latin typeface="Georgia"/>
              </a:rPr>
              <a:t>Spring provides ground truth at twice the input resolution. v3 can be queried there natively; v2 structurally cannot. The one test that demonstrates a capability rather than a margin.</a:t>
            </a:r>
          </a:p>
        </p:txBody>
      </p:sp>
      <p:sp>
        <p:nvSpPr>
          <p:cNvPr id="10" name="Rounded Rectangle 9"/>
          <p:cNvSpPr/>
          <p:nvPr/>
        </p:nvSpPr>
        <p:spPr>
          <a:xfrm>
            <a:off x="685800" y="4032504"/>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3</a:t>
            </a:r>
          </a:p>
        </p:txBody>
      </p:sp>
      <p:sp>
        <p:nvSpPr>
          <p:cNvPr id="11" name="TextBox 10"/>
          <p:cNvSpPr txBox="1"/>
          <p:nvPr/>
        </p:nvSpPr>
        <p:spPr>
          <a:xfrm>
            <a:off x="1234440" y="4014216"/>
            <a:ext cx="3657600" cy="274320"/>
          </a:xfrm>
          <a:prstGeom prst="rect">
            <a:avLst/>
          </a:prstGeom>
          <a:noFill/>
        </p:spPr>
        <p:txBody>
          <a:bodyPr wrap="square">
            <a:spAutoFit/>
          </a:bodyPr>
          <a:lstStyle/>
          <a:p>
            <a:pPr algn="l">
              <a:lnSpc>
                <a:spcPct val="100000"/>
              </a:lnSpc>
            </a:pPr>
            <a:r>
              <a:rPr sz="1200" b="1">
                <a:solidFill>
                  <a:srgbClr val="1A1A1A"/>
                </a:solidFill>
                <a:latin typeface="Georgia"/>
              </a:rPr>
              <a:t>Jetson measurement</a:t>
            </a:r>
          </a:p>
        </p:txBody>
      </p:sp>
      <p:sp>
        <p:nvSpPr>
          <p:cNvPr id="12" name="TextBox 11"/>
          <p:cNvSpPr txBox="1"/>
          <p:nvPr/>
        </p:nvSpPr>
        <p:spPr>
          <a:xfrm>
            <a:off x="5029200" y="4014216"/>
            <a:ext cx="6492240" cy="822960"/>
          </a:xfrm>
          <a:prstGeom prst="rect">
            <a:avLst/>
          </a:prstGeom>
          <a:noFill/>
        </p:spPr>
        <p:txBody>
          <a:bodyPr wrap="square">
            <a:spAutoFit/>
          </a:bodyPr>
          <a:lstStyle/>
          <a:p>
            <a:pPr algn="l">
              <a:lnSpc>
                <a:spcPct val="112000"/>
              </a:lnSpc>
            </a:pPr>
            <a:r>
              <a:rPr sz="1100" b="0">
                <a:solidFill>
                  <a:srgbClr val="1A1A1A"/>
                </a:solidFill>
                <a:latin typeface="Georgia"/>
              </a:rPr>
              <a:t>Converts the edge claim from a design target into a result, or refutes it.</a:t>
            </a:r>
          </a:p>
        </p:txBody>
      </p:sp>
      <p:sp>
        <p:nvSpPr>
          <p:cNvPr id="13" name="Rounded Rectangle 12"/>
          <p:cNvSpPr/>
          <p:nvPr/>
        </p:nvSpPr>
        <p:spPr>
          <a:xfrm>
            <a:off x="685800" y="5202936"/>
            <a:ext cx="384048" cy="384048"/>
          </a:xfrm>
          <a:prstGeom prst="roundRect">
            <a:avLst/>
          </a:prstGeom>
          <a:solidFill>
            <a:srgbClr val="333333"/>
          </a:solidFill>
          <a:ln w="952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latin typeface="Georgia"/>
              </a:rPr>
              <a:t>4</a:t>
            </a:r>
          </a:p>
        </p:txBody>
      </p:sp>
      <p:sp>
        <p:nvSpPr>
          <p:cNvPr id="14" name="TextBox 13"/>
          <p:cNvSpPr txBox="1"/>
          <p:nvPr/>
        </p:nvSpPr>
        <p:spPr>
          <a:xfrm>
            <a:off x="1234440" y="5184648"/>
            <a:ext cx="3657600" cy="274320"/>
          </a:xfrm>
          <a:prstGeom prst="rect">
            <a:avLst/>
          </a:prstGeom>
          <a:noFill/>
        </p:spPr>
        <p:txBody>
          <a:bodyPr wrap="square">
            <a:spAutoFit/>
          </a:bodyPr>
          <a:lstStyle/>
          <a:p>
            <a:pPr algn="l">
              <a:lnSpc>
                <a:spcPct val="100000"/>
              </a:lnSpc>
            </a:pPr>
            <a:r>
              <a:rPr sz="1200" b="1">
                <a:solidFill>
                  <a:srgbClr val="1A1A1A"/>
                </a:solidFill>
                <a:latin typeface="Georgia"/>
              </a:rPr>
              <a:t>Field or survey imagery</a:t>
            </a:r>
          </a:p>
        </p:txBody>
      </p:sp>
      <p:sp>
        <p:nvSpPr>
          <p:cNvPr id="15" name="TextBox 14"/>
          <p:cNvSpPr txBox="1"/>
          <p:nvPr/>
        </p:nvSpPr>
        <p:spPr>
          <a:xfrm>
            <a:off x="5029200" y="5184648"/>
            <a:ext cx="6492240" cy="822960"/>
          </a:xfrm>
          <a:prstGeom prst="rect">
            <a:avLst/>
          </a:prstGeom>
          <a:noFill/>
        </p:spPr>
        <p:txBody>
          <a:bodyPr wrap="square">
            <a:spAutoFit/>
          </a:bodyPr>
          <a:lstStyle/>
          <a:p>
            <a:pPr algn="l">
              <a:lnSpc>
                <a:spcPct val="112000"/>
              </a:lnSpc>
            </a:pPr>
            <a:r>
              <a:rPr sz="1100" b="0">
                <a:solidFill>
                  <a:srgbClr val="1A1A1A"/>
                </a:solidFill>
                <a:latin typeface="Georgia"/>
              </a:rPr>
              <a:t>A registration demonstration on lab data would test the actual use case.</a:t>
            </a:r>
          </a:p>
        </p:txBody>
      </p:sp>
      <p:sp>
        <p:nvSpPr>
          <p:cNvPr id="16" name="TextBox 15"/>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7" name="TextBox 16"/>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84048"/>
            <a:ext cx="10515600" cy="274320"/>
          </a:xfrm>
          <a:prstGeom prst="rect">
            <a:avLst/>
          </a:prstGeom>
          <a:noFill/>
        </p:spPr>
        <p:txBody>
          <a:bodyPr wrap="square">
            <a:spAutoFit/>
          </a:bodyPr>
          <a:lstStyle/>
          <a:p>
            <a:pPr algn="l">
              <a:lnSpc>
                <a:spcPct val="100000"/>
              </a:lnSpc>
            </a:pPr>
            <a:r>
              <a:rPr sz="1050" b="1">
                <a:solidFill>
                  <a:srgbClr val="333333"/>
                </a:solidFill>
                <a:latin typeface="Georgia"/>
              </a:rPr>
              <a:t>ANTICIPATED QUESTIONS</a:t>
            </a:r>
          </a:p>
        </p:txBody>
      </p:sp>
      <p:sp>
        <p:nvSpPr>
          <p:cNvPr id="3" name="TextBox 2"/>
          <p:cNvSpPr txBox="1"/>
          <p:nvPr/>
        </p:nvSpPr>
        <p:spPr>
          <a:xfrm>
            <a:off x="667512" y="658368"/>
            <a:ext cx="10881360" cy="731520"/>
          </a:xfrm>
          <a:prstGeom prst="rect">
            <a:avLst/>
          </a:prstGeom>
          <a:noFill/>
        </p:spPr>
        <p:txBody>
          <a:bodyPr wrap="square">
            <a:spAutoFit/>
          </a:bodyPr>
          <a:lstStyle/>
          <a:p>
            <a:pPr algn="l">
              <a:lnSpc>
                <a:spcPct val="100000"/>
              </a:lnSpc>
            </a:pPr>
            <a:r>
              <a:rPr sz="2400" b="1">
                <a:solidFill>
                  <a:srgbClr val="1A1A1A"/>
                </a:solidFill>
                <a:latin typeface="Georgia"/>
              </a:rPr>
              <a:t/>
            </a:r>
          </a:p>
        </p:txBody>
      </p:sp>
      <p:sp>
        <p:nvSpPr>
          <p:cNvPr id="4" name="TextBox 3"/>
          <p:cNvSpPr txBox="1"/>
          <p:nvPr/>
        </p:nvSpPr>
        <p:spPr>
          <a:xfrm>
            <a:off x="685800" y="150876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flow defined between pixels at all?</a:t>
            </a:r>
          </a:p>
        </p:txBody>
      </p:sp>
      <p:sp>
        <p:nvSpPr>
          <p:cNvPr id="5" name="TextBox 4"/>
          <p:cNvSpPr txBox="1"/>
          <p:nvPr/>
        </p:nvSpPr>
        <p:spPr>
          <a:xfrm>
            <a:off x="868680" y="1810512"/>
            <a:ext cx="10607040" cy="594360"/>
          </a:xfrm>
          <a:prstGeom prst="rect">
            <a:avLst/>
          </a:prstGeom>
          <a:noFill/>
        </p:spPr>
        <p:txBody>
          <a:bodyPr wrap="square">
            <a:spAutoFit/>
          </a:bodyPr>
          <a:lstStyle/>
          <a:p>
            <a:pPr algn="l">
              <a:lnSpc>
                <a:spcPct val="112000"/>
              </a:lnSpc>
            </a:pPr>
            <a:r>
              <a:rPr sz="1100" b="0">
                <a:solidFill>
                  <a:srgbClr val="333333"/>
                </a:solidFill>
                <a:latin typeface="Georgia"/>
              </a:rPr>
              <a:t>Motion is continuous; the pixel grid is a sampling artefact. A corner tracked to (312.7, 188.2) is a real answer, and registration consumes it directly.</a:t>
            </a:r>
          </a:p>
        </p:txBody>
      </p:sp>
      <p:sp>
        <p:nvSpPr>
          <p:cNvPr id="6" name="TextBox 5"/>
          <p:cNvSpPr txBox="1"/>
          <p:nvPr/>
        </p:nvSpPr>
        <p:spPr>
          <a:xfrm>
            <a:off x="685800" y="269748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freeze the backbone?</a:t>
            </a:r>
          </a:p>
        </p:txBody>
      </p:sp>
      <p:sp>
        <p:nvSpPr>
          <p:cNvPr id="7" name="TextBox 6"/>
          <p:cNvSpPr txBox="1"/>
          <p:nvPr/>
        </p:nvSpPr>
        <p:spPr>
          <a:xfrm>
            <a:off x="868680" y="2999232"/>
            <a:ext cx="10607040" cy="594360"/>
          </a:xfrm>
          <a:prstGeom prst="rect">
            <a:avLst/>
          </a:prstGeom>
          <a:noFill/>
        </p:spPr>
        <p:txBody>
          <a:bodyPr wrap="square">
            <a:spAutoFit/>
          </a:bodyPr>
          <a:lstStyle/>
          <a:p>
            <a:pPr algn="l">
              <a:lnSpc>
                <a:spcPct val="112000"/>
              </a:lnSpc>
            </a:pPr>
            <a:r>
              <a:rPr sz="1100" b="0">
                <a:solidFill>
                  <a:srgbClr val="333333"/>
                </a:solidFill>
                <a:latin typeface="Georgia"/>
              </a:rPr>
              <a:t>To isolate the decoder as the only variable. Unfreezing diverged at batch 4 locally and has not been retried at scale.</a:t>
            </a:r>
          </a:p>
        </p:txBody>
      </p:sp>
      <p:sp>
        <p:nvSpPr>
          <p:cNvPr id="8" name="TextBox 7"/>
          <p:cNvSpPr txBox="1"/>
          <p:nvPr/>
        </p:nvSpPr>
        <p:spPr>
          <a:xfrm>
            <a:off x="685800" y="3886200"/>
            <a:ext cx="10881360" cy="274320"/>
          </a:xfrm>
          <a:prstGeom prst="rect">
            <a:avLst/>
          </a:prstGeom>
          <a:noFill/>
        </p:spPr>
        <p:txBody>
          <a:bodyPr wrap="square">
            <a:spAutoFit/>
          </a:bodyPr>
          <a:lstStyle/>
          <a:p>
            <a:pPr algn="l">
              <a:lnSpc>
                <a:spcPct val="100000"/>
              </a:lnSpc>
            </a:pPr>
            <a:r>
              <a:rPr sz="1200" b="1">
                <a:solidFill>
                  <a:srgbClr val="1A1A1A"/>
                </a:solidFill>
                <a:latin typeface="Georgia"/>
              </a:rPr>
              <a:t>Why is dense v3 slower than v2?</a:t>
            </a:r>
          </a:p>
        </p:txBody>
      </p:sp>
      <p:sp>
        <p:nvSpPr>
          <p:cNvPr id="9" name="TextBox 8"/>
          <p:cNvSpPr txBox="1"/>
          <p:nvPr/>
        </p:nvSpPr>
        <p:spPr>
          <a:xfrm>
            <a:off x="868680" y="4187952"/>
            <a:ext cx="10607040" cy="594360"/>
          </a:xfrm>
          <a:prstGeom prst="rect">
            <a:avLst/>
          </a:prstGeom>
          <a:noFill/>
        </p:spPr>
        <p:txBody>
          <a:bodyPr wrap="square">
            <a:spAutoFit/>
          </a:bodyPr>
          <a:lstStyle/>
          <a:p>
            <a:pPr algn="l">
              <a:lnSpc>
                <a:spcPct val="112000"/>
              </a:lnSpc>
            </a:pPr>
            <a:r>
              <a:rPr sz="1100" b="0">
                <a:solidFill>
                  <a:srgbClr val="333333"/>
                </a:solidFill>
                <a:latin typeface="Georgia"/>
              </a:rPr>
              <a:t>v2 upsamples with one convolution that shares work across neighbouring pixels. v3 answers each query independently, giving up that sharing to gain the ability to answer only what is asked.</a:t>
            </a:r>
          </a:p>
        </p:txBody>
      </p:sp>
      <p:sp>
        <p:nvSpPr>
          <p:cNvPr id="10" name="TextBox 9"/>
          <p:cNvSpPr txBox="1"/>
          <p:nvPr/>
        </p:nvSpPr>
        <p:spPr>
          <a:xfrm>
            <a:off x="685800" y="5074920"/>
            <a:ext cx="10881360" cy="274320"/>
          </a:xfrm>
          <a:prstGeom prst="rect">
            <a:avLst/>
          </a:prstGeom>
          <a:noFill/>
        </p:spPr>
        <p:txBody>
          <a:bodyPr wrap="square">
            <a:spAutoFit/>
          </a:bodyPr>
          <a:lstStyle/>
          <a:p>
            <a:pPr algn="l">
              <a:lnSpc>
                <a:spcPct val="100000"/>
              </a:lnSpc>
            </a:pPr>
            <a:r>
              <a:rPr sz="1200" b="1">
                <a:solidFill>
                  <a:srgbClr val="1A1A1A"/>
                </a:solidFill>
                <a:latin typeface="Georgia"/>
              </a:rPr>
              <a:t>Is a tie on EPE worth the added complexity?</a:t>
            </a:r>
          </a:p>
        </p:txBody>
      </p:sp>
      <p:sp>
        <p:nvSpPr>
          <p:cNvPr id="11" name="TextBox 10"/>
          <p:cNvSpPr txBox="1"/>
          <p:nvPr/>
        </p:nvSpPr>
        <p:spPr>
          <a:xfrm>
            <a:off x="868680" y="5376672"/>
            <a:ext cx="10607040" cy="594360"/>
          </a:xfrm>
          <a:prstGeom prst="rect">
            <a:avLst/>
          </a:prstGeom>
          <a:noFill/>
        </p:spPr>
        <p:txBody>
          <a:bodyPr wrap="square">
            <a:spAutoFit/>
          </a:bodyPr>
          <a:lstStyle/>
          <a:p>
            <a:pPr algn="l">
              <a:lnSpc>
                <a:spcPct val="112000"/>
              </a:lnSpc>
            </a:pPr>
            <a:r>
              <a:rPr sz="1100" b="0">
                <a:solidFill>
                  <a:srgbClr val="333333"/>
                </a:solidFill>
                <a:latin typeface="Georgia"/>
              </a:rPr>
              <a:t>Not on its own. It is worth it if you need queryability, cheap repeat access, or confidence values. For plain dense flow, v2 remains the better choice, and I would say so.</a:t>
            </a:r>
          </a:p>
        </p:txBody>
      </p:sp>
      <p:sp>
        <p:nvSpPr>
          <p:cNvPr id="12" name="TextBox 11"/>
          <p:cNvSpPr txBox="1"/>
          <p:nvPr/>
        </p:nvSpPr>
        <p:spPr>
          <a:xfrm>
            <a:off x="685800" y="6419088"/>
            <a:ext cx="7315200" cy="274320"/>
          </a:xfrm>
          <a:prstGeom prst="rect">
            <a:avLst/>
          </a:prstGeom>
          <a:noFill/>
        </p:spPr>
        <p:txBody>
          <a:bodyPr wrap="square">
            <a:spAutoFit/>
          </a:bodyPr>
          <a:lstStyle/>
          <a:p>
            <a:pPr algn="l">
              <a:lnSpc>
                <a:spcPct val="100000"/>
              </a:lnSpc>
            </a:pPr>
            <a:r>
              <a:rPr sz="900" b="0">
                <a:solidFill>
                  <a:srgbClr val="8A8A8A"/>
                </a:solidFill>
                <a:latin typeface="Georgia"/>
              </a:rPr>
              <a:t>NeuFlow v3, S. Raghav Srinivasan</a:t>
            </a:r>
          </a:p>
        </p:txBody>
      </p:sp>
      <p:sp>
        <p:nvSpPr>
          <p:cNvPr id="13" name="TextBox 12"/>
          <p:cNvSpPr txBox="1"/>
          <p:nvPr/>
        </p:nvSpPr>
        <p:spPr>
          <a:xfrm>
            <a:off x="10607040" y="6419088"/>
            <a:ext cx="1097280" cy="274320"/>
          </a:xfrm>
          <a:prstGeom prst="rect">
            <a:avLst/>
          </a:prstGeom>
          <a:noFill/>
        </p:spPr>
        <p:txBody>
          <a:bodyPr wrap="square">
            <a:spAutoFit/>
          </a:bodyPr>
          <a:lstStyle/>
          <a:p>
            <a:pPr algn="l">
              <a:lnSpc>
                <a:spcPct val="100000"/>
              </a:lnSpc>
            </a:pPr>
            <a:r>
              <a:rPr sz="900" b="0">
                <a:solidFill>
                  <a:srgbClr val="8A8A8A"/>
                </a:solidFill>
                <a:latin typeface="Georgia"/>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